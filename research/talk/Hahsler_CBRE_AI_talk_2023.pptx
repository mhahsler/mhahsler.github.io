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9"/>
  </p:notesMasterIdLst>
  <p:sldIdLst>
    <p:sldId id="804" r:id="rId2"/>
    <p:sldId id="787" r:id="rId3"/>
    <p:sldId id="788" r:id="rId4"/>
    <p:sldId id="812" r:id="rId5"/>
    <p:sldId id="813" r:id="rId6"/>
    <p:sldId id="751" r:id="rId7"/>
    <p:sldId id="807" r:id="rId8"/>
    <p:sldId id="790" r:id="rId9"/>
    <p:sldId id="791" r:id="rId10"/>
    <p:sldId id="789" r:id="rId11"/>
    <p:sldId id="758" r:id="rId12"/>
    <p:sldId id="811" r:id="rId13"/>
    <p:sldId id="805" r:id="rId14"/>
    <p:sldId id="808" r:id="rId15"/>
    <p:sldId id="803" r:id="rId16"/>
    <p:sldId id="809" r:id="rId17"/>
    <p:sldId id="810" r:id="rId1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C0D4"/>
    <a:srgbClr val="61CCD7"/>
    <a:srgbClr val="46B7CE"/>
    <a:srgbClr val="5B9BD5"/>
    <a:srgbClr val="FFC000"/>
    <a:srgbClr val="0000FF"/>
    <a:srgbClr val="9900CC"/>
    <a:srgbClr val="009900"/>
    <a:srgbClr val="FF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64" autoAdjust="0"/>
    <p:restoredTop sz="85983" autoAdjust="0"/>
  </p:normalViewPr>
  <p:slideViewPr>
    <p:cSldViewPr>
      <p:cViewPr varScale="1">
        <p:scale>
          <a:sx n="77" d="100"/>
          <a:sy n="77" d="100"/>
        </p:scale>
        <p:origin x="1594" y="67"/>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4F427-7F24-468D-A0AA-84AFAFE170E5}" type="doc">
      <dgm:prSet loTypeId="urn:microsoft.com/office/officeart/2005/8/layout/hProcess9" loCatId="process" qsTypeId="urn:microsoft.com/office/officeart/2005/8/quickstyle/simple1" qsCatId="simple" csTypeId="urn:microsoft.com/office/officeart/2005/8/colors/colorful1" csCatId="colorful" phldr="1"/>
      <dgm:spPr/>
      <dgm:t>
        <a:bodyPr/>
        <a:lstStyle/>
        <a:p>
          <a:endParaRPr lang="en-US"/>
        </a:p>
      </dgm:t>
    </dgm:pt>
    <dgm:pt modelId="{C57B367D-75A9-4307-BDC4-EC6662ADEDC7}">
      <dgm:prSet/>
      <dgm:spPr/>
      <dgm:t>
        <a:bodyPr/>
        <a:lstStyle/>
        <a:p>
          <a:r>
            <a:rPr lang="en-US" dirty="0"/>
            <a:t>What is AI?</a:t>
          </a:r>
        </a:p>
      </dgm:t>
    </dgm:pt>
    <dgm:pt modelId="{32D01245-7B71-4FAB-BDDD-87CECB13EAD7}" type="parTrans" cxnId="{2BB90B5F-057E-4DE5-B6BB-06E6636B8ADC}">
      <dgm:prSet/>
      <dgm:spPr/>
      <dgm:t>
        <a:bodyPr/>
        <a:lstStyle/>
        <a:p>
          <a:endParaRPr lang="en-US"/>
        </a:p>
      </dgm:t>
    </dgm:pt>
    <dgm:pt modelId="{B22D4BDF-4327-4B39-91C2-021872DFEB1A}" type="sibTrans" cxnId="{2BB90B5F-057E-4DE5-B6BB-06E6636B8ADC}">
      <dgm:prSet/>
      <dgm:spPr/>
      <dgm:t>
        <a:bodyPr/>
        <a:lstStyle/>
        <a:p>
          <a:endParaRPr lang="en-US"/>
        </a:p>
      </dgm:t>
    </dgm:pt>
    <dgm:pt modelId="{771BAAD6-E2FC-4891-B816-2473445D8536}">
      <dgm:prSet/>
      <dgm:spPr/>
      <dgm:t>
        <a:bodyPr/>
        <a:lstStyle/>
        <a:p>
          <a:r>
            <a:rPr lang="en-US" dirty="0"/>
            <a:t>AI Today</a:t>
          </a:r>
        </a:p>
      </dgm:t>
    </dgm:pt>
    <dgm:pt modelId="{BBF3AA43-7194-46C1-9FCD-3851DA4257ED}" type="parTrans" cxnId="{0708A08D-5E6E-46CD-9C39-B949E8C0A128}">
      <dgm:prSet/>
      <dgm:spPr/>
      <dgm:t>
        <a:bodyPr/>
        <a:lstStyle/>
        <a:p>
          <a:endParaRPr lang="en-US"/>
        </a:p>
      </dgm:t>
    </dgm:pt>
    <dgm:pt modelId="{B103F5ED-BC79-45CE-AC88-045D3B69910D}" type="sibTrans" cxnId="{0708A08D-5E6E-46CD-9C39-B949E8C0A128}">
      <dgm:prSet/>
      <dgm:spPr/>
      <dgm:t>
        <a:bodyPr/>
        <a:lstStyle/>
        <a:p>
          <a:endParaRPr lang="en-US"/>
        </a:p>
      </dgm:t>
    </dgm:pt>
    <dgm:pt modelId="{BC7876E0-1339-4E8D-8D1A-0B7DF40F79F4}">
      <dgm:prSet/>
      <dgm:spPr/>
      <dgm:t>
        <a:bodyPr/>
        <a:lstStyle/>
        <a:p>
          <a:r>
            <a:rPr lang="en-US" dirty="0"/>
            <a:t>History of AI</a:t>
          </a:r>
        </a:p>
      </dgm:t>
    </dgm:pt>
    <dgm:pt modelId="{52EB788F-0317-4CF1-9AE3-F93D41E354C7}" type="parTrans" cxnId="{43F512B1-EC24-4195-862D-8F454499B872}">
      <dgm:prSet/>
      <dgm:spPr/>
      <dgm:t>
        <a:bodyPr/>
        <a:lstStyle/>
        <a:p>
          <a:endParaRPr lang="en-US"/>
        </a:p>
      </dgm:t>
    </dgm:pt>
    <dgm:pt modelId="{2304988C-619C-43C1-9C13-6570B1F9505B}" type="sibTrans" cxnId="{43F512B1-EC24-4195-862D-8F454499B872}">
      <dgm:prSet/>
      <dgm:spPr/>
      <dgm:t>
        <a:bodyPr/>
        <a:lstStyle/>
        <a:p>
          <a:endParaRPr lang="en-US"/>
        </a:p>
      </dgm:t>
    </dgm:pt>
    <dgm:pt modelId="{484C2E5F-357C-45EC-A610-C7715E706187}">
      <dgm:prSet/>
      <dgm:spPr/>
      <dgm:t>
        <a:bodyPr/>
        <a:lstStyle/>
        <a:p>
          <a:r>
            <a:rPr lang="en-US" dirty="0"/>
            <a:t>?</a:t>
          </a:r>
        </a:p>
      </dgm:t>
    </dgm:pt>
    <dgm:pt modelId="{92D2E41C-90C5-4B71-952E-A9873D55902A}" type="parTrans" cxnId="{FDF7F5EB-9483-4CC8-8B01-B99D1E218392}">
      <dgm:prSet/>
      <dgm:spPr/>
      <dgm:t>
        <a:bodyPr/>
        <a:lstStyle/>
        <a:p>
          <a:endParaRPr lang="en-US"/>
        </a:p>
      </dgm:t>
    </dgm:pt>
    <dgm:pt modelId="{430C3D35-EAA5-4E2A-8980-545E11F06A6D}" type="sibTrans" cxnId="{FDF7F5EB-9483-4CC8-8B01-B99D1E218392}">
      <dgm:prSet/>
      <dgm:spPr/>
      <dgm:t>
        <a:bodyPr/>
        <a:lstStyle/>
        <a:p>
          <a:endParaRPr lang="en-US"/>
        </a:p>
      </dgm:t>
    </dgm:pt>
    <dgm:pt modelId="{456894FD-DE19-40E7-920B-2E84BD52A86E}" type="pres">
      <dgm:prSet presAssocID="{2BE4F427-7F24-468D-A0AA-84AFAFE170E5}" presName="CompostProcess" presStyleCnt="0">
        <dgm:presLayoutVars>
          <dgm:dir/>
          <dgm:resizeHandles val="exact"/>
        </dgm:presLayoutVars>
      </dgm:prSet>
      <dgm:spPr/>
    </dgm:pt>
    <dgm:pt modelId="{9A0F9045-7893-4556-B3F3-5720C8ACC43F}" type="pres">
      <dgm:prSet presAssocID="{2BE4F427-7F24-468D-A0AA-84AFAFE170E5}" presName="arrow" presStyleLbl="bgShp" presStyleIdx="0" presStyleCnt="1"/>
      <dgm:spPr/>
    </dgm:pt>
    <dgm:pt modelId="{85852747-A014-41F5-A751-337B7574361E}" type="pres">
      <dgm:prSet presAssocID="{2BE4F427-7F24-468D-A0AA-84AFAFE170E5}" presName="linearProcess" presStyleCnt="0"/>
      <dgm:spPr/>
    </dgm:pt>
    <dgm:pt modelId="{EFC9B01B-7FB7-4350-A4D4-CCF5734A58FA}" type="pres">
      <dgm:prSet presAssocID="{C57B367D-75A9-4307-BDC4-EC6662ADEDC7}" presName="textNode" presStyleLbl="node1" presStyleIdx="0" presStyleCnt="4">
        <dgm:presLayoutVars>
          <dgm:bulletEnabled val="1"/>
        </dgm:presLayoutVars>
      </dgm:prSet>
      <dgm:spPr/>
    </dgm:pt>
    <dgm:pt modelId="{059C7F5C-2929-41AA-B321-421EAA87493E}" type="pres">
      <dgm:prSet presAssocID="{B22D4BDF-4327-4B39-91C2-021872DFEB1A}" presName="sibTrans" presStyleCnt="0"/>
      <dgm:spPr/>
    </dgm:pt>
    <dgm:pt modelId="{C53E8AC9-B3C2-4F22-A024-8206618BE8E9}" type="pres">
      <dgm:prSet presAssocID="{BC7876E0-1339-4E8D-8D1A-0B7DF40F79F4}" presName="textNode" presStyleLbl="node1" presStyleIdx="1" presStyleCnt="4">
        <dgm:presLayoutVars>
          <dgm:bulletEnabled val="1"/>
        </dgm:presLayoutVars>
      </dgm:prSet>
      <dgm:spPr/>
    </dgm:pt>
    <dgm:pt modelId="{8FE660C0-5113-487C-9112-86BBF4FB8EC6}" type="pres">
      <dgm:prSet presAssocID="{2304988C-619C-43C1-9C13-6570B1F9505B}" presName="sibTrans" presStyleCnt="0"/>
      <dgm:spPr/>
    </dgm:pt>
    <dgm:pt modelId="{2BC15CC0-AAFC-4719-8E3B-40296FCEF49B}" type="pres">
      <dgm:prSet presAssocID="{771BAAD6-E2FC-4891-B816-2473445D8536}" presName="textNode" presStyleLbl="node1" presStyleIdx="2" presStyleCnt="4">
        <dgm:presLayoutVars>
          <dgm:bulletEnabled val="1"/>
        </dgm:presLayoutVars>
      </dgm:prSet>
      <dgm:spPr/>
    </dgm:pt>
    <dgm:pt modelId="{CAC39E0B-490D-47C9-AE99-E89CE1B70BBC}" type="pres">
      <dgm:prSet presAssocID="{B103F5ED-BC79-45CE-AC88-045D3B69910D}" presName="sibTrans" presStyleCnt="0"/>
      <dgm:spPr/>
    </dgm:pt>
    <dgm:pt modelId="{5481297F-4CD0-49FE-9D47-1673202E0414}" type="pres">
      <dgm:prSet presAssocID="{484C2E5F-357C-45EC-A610-C7715E706187}" presName="textNode" presStyleLbl="node1" presStyleIdx="3" presStyleCnt="4">
        <dgm:presLayoutVars>
          <dgm:bulletEnabled val="1"/>
        </dgm:presLayoutVars>
      </dgm:prSet>
      <dgm:spPr/>
    </dgm:pt>
  </dgm:ptLst>
  <dgm:cxnLst>
    <dgm:cxn modelId="{2BB90B5F-057E-4DE5-B6BB-06E6636B8ADC}" srcId="{2BE4F427-7F24-468D-A0AA-84AFAFE170E5}" destId="{C57B367D-75A9-4307-BDC4-EC6662ADEDC7}" srcOrd="0" destOrd="0" parTransId="{32D01245-7B71-4FAB-BDDD-87CECB13EAD7}" sibTransId="{B22D4BDF-4327-4B39-91C2-021872DFEB1A}"/>
    <dgm:cxn modelId="{E90C7B49-E4BC-42FF-96CC-3143CF8FA5E7}" type="presOf" srcId="{BC7876E0-1339-4E8D-8D1A-0B7DF40F79F4}" destId="{C53E8AC9-B3C2-4F22-A024-8206618BE8E9}" srcOrd="0" destOrd="0" presId="urn:microsoft.com/office/officeart/2005/8/layout/hProcess9"/>
    <dgm:cxn modelId="{710A0E56-BE87-465B-896B-C80A39B1A297}" type="presOf" srcId="{C57B367D-75A9-4307-BDC4-EC6662ADEDC7}" destId="{EFC9B01B-7FB7-4350-A4D4-CCF5734A58FA}" srcOrd="0" destOrd="0" presId="urn:microsoft.com/office/officeart/2005/8/layout/hProcess9"/>
    <dgm:cxn modelId="{9FEB0057-F3AA-41E1-AF01-B0050ED0AC19}" type="presOf" srcId="{484C2E5F-357C-45EC-A610-C7715E706187}" destId="{5481297F-4CD0-49FE-9D47-1673202E0414}" srcOrd="0" destOrd="0" presId="urn:microsoft.com/office/officeart/2005/8/layout/hProcess9"/>
    <dgm:cxn modelId="{0708A08D-5E6E-46CD-9C39-B949E8C0A128}" srcId="{2BE4F427-7F24-468D-A0AA-84AFAFE170E5}" destId="{771BAAD6-E2FC-4891-B816-2473445D8536}" srcOrd="2" destOrd="0" parTransId="{BBF3AA43-7194-46C1-9FCD-3851DA4257ED}" sibTransId="{B103F5ED-BC79-45CE-AC88-045D3B69910D}"/>
    <dgm:cxn modelId="{7647D196-6149-4BB3-B07D-45A92A516A89}" type="presOf" srcId="{771BAAD6-E2FC-4891-B816-2473445D8536}" destId="{2BC15CC0-AAFC-4719-8E3B-40296FCEF49B}" srcOrd="0" destOrd="0" presId="urn:microsoft.com/office/officeart/2005/8/layout/hProcess9"/>
    <dgm:cxn modelId="{43F512B1-EC24-4195-862D-8F454499B872}" srcId="{2BE4F427-7F24-468D-A0AA-84AFAFE170E5}" destId="{BC7876E0-1339-4E8D-8D1A-0B7DF40F79F4}" srcOrd="1" destOrd="0" parTransId="{52EB788F-0317-4CF1-9AE3-F93D41E354C7}" sibTransId="{2304988C-619C-43C1-9C13-6570B1F9505B}"/>
    <dgm:cxn modelId="{441B0AC7-3369-4D3E-9641-A90C6C479B31}" type="presOf" srcId="{2BE4F427-7F24-468D-A0AA-84AFAFE170E5}" destId="{456894FD-DE19-40E7-920B-2E84BD52A86E}" srcOrd="0" destOrd="0" presId="urn:microsoft.com/office/officeart/2005/8/layout/hProcess9"/>
    <dgm:cxn modelId="{FDF7F5EB-9483-4CC8-8B01-B99D1E218392}" srcId="{2BE4F427-7F24-468D-A0AA-84AFAFE170E5}" destId="{484C2E5F-357C-45EC-A610-C7715E706187}" srcOrd="3" destOrd="0" parTransId="{92D2E41C-90C5-4B71-952E-A9873D55902A}" sibTransId="{430C3D35-EAA5-4E2A-8980-545E11F06A6D}"/>
    <dgm:cxn modelId="{FE2B6926-CA32-43F7-B980-B03707F2B1A5}" type="presParOf" srcId="{456894FD-DE19-40E7-920B-2E84BD52A86E}" destId="{9A0F9045-7893-4556-B3F3-5720C8ACC43F}" srcOrd="0" destOrd="0" presId="urn:microsoft.com/office/officeart/2005/8/layout/hProcess9"/>
    <dgm:cxn modelId="{20B18DA4-9495-4039-9B7B-E0FA9AC0940B}" type="presParOf" srcId="{456894FD-DE19-40E7-920B-2E84BD52A86E}" destId="{85852747-A014-41F5-A751-337B7574361E}" srcOrd="1" destOrd="0" presId="urn:microsoft.com/office/officeart/2005/8/layout/hProcess9"/>
    <dgm:cxn modelId="{FA7E017D-096E-4D25-B965-666949D94ECB}" type="presParOf" srcId="{85852747-A014-41F5-A751-337B7574361E}" destId="{EFC9B01B-7FB7-4350-A4D4-CCF5734A58FA}" srcOrd="0" destOrd="0" presId="urn:microsoft.com/office/officeart/2005/8/layout/hProcess9"/>
    <dgm:cxn modelId="{DB92AEBA-DCA6-47EA-A5A6-D48314D26FEF}" type="presParOf" srcId="{85852747-A014-41F5-A751-337B7574361E}" destId="{059C7F5C-2929-41AA-B321-421EAA87493E}" srcOrd="1" destOrd="0" presId="urn:microsoft.com/office/officeart/2005/8/layout/hProcess9"/>
    <dgm:cxn modelId="{4B6BA721-0E23-442D-AF6C-3FB4D1C926EF}" type="presParOf" srcId="{85852747-A014-41F5-A751-337B7574361E}" destId="{C53E8AC9-B3C2-4F22-A024-8206618BE8E9}" srcOrd="2" destOrd="0" presId="urn:microsoft.com/office/officeart/2005/8/layout/hProcess9"/>
    <dgm:cxn modelId="{EA6309E4-30DC-49C2-924C-1B8AD3BDFF30}" type="presParOf" srcId="{85852747-A014-41F5-A751-337B7574361E}" destId="{8FE660C0-5113-487C-9112-86BBF4FB8EC6}" srcOrd="3" destOrd="0" presId="urn:microsoft.com/office/officeart/2005/8/layout/hProcess9"/>
    <dgm:cxn modelId="{92095589-F9EE-4F0F-8C11-7BB308422210}" type="presParOf" srcId="{85852747-A014-41F5-A751-337B7574361E}" destId="{2BC15CC0-AAFC-4719-8E3B-40296FCEF49B}" srcOrd="4" destOrd="0" presId="urn:microsoft.com/office/officeart/2005/8/layout/hProcess9"/>
    <dgm:cxn modelId="{7574A896-755C-453A-821F-C19B09D260A8}" type="presParOf" srcId="{85852747-A014-41F5-A751-337B7574361E}" destId="{CAC39E0B-490D-47C9-AE99-E89CE1B70BBC}" srcOrd="5" destOrd="0" presId="urn:microsoft.com/office/officeart/2005/8/layout/hProcess9"/>
    <dgm:cxn modelId="{EDBE3374-D438-4A17-B0B8-2A2DDDC998D5}" type="presParOf" srcId="{85852747-A014-41F5-A751-337B7574361E}" destId="{5481297F-4CD0-49FE-9D47-1673202E0414}"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83E383-EAC6-45C5-B503-F26949076126}" type="doc">
      <dgm:prSet loTypeId="urn:microsoft.com/office/officeart/2005/8/layout/venn2" loCatId="relationship" qsTypeId="urn:microsoft.com/office/officeart/2005/8/quickstyle/simple4" qsCatId="simple" csTypeId="urn:microsoft.com/office/officeart/2005/8/colors/colorful1" csCatId="colorful" phldr="1"/>
      <dgm:spPr/>
      <dgm:t>
        <a:bodyPr/>
        <a:lstStyle/>
        <a:p>
          <a:endParaRPr lang="en-US"/>
        </a:p>
      </dgm:t>
    </dgm:pt>
    <dgm:pt modelId="{A1D37CFE-7203-4593-BAAC-1B5A53164047}">
      <dgm:prSet phldrT="[Text]" custT="1"/>
      <dgm:spPr/>
      <dgm:t>
        <a:bodyPr/>
        <a:lstStyle/>
        <a:p>
          <a:r>
            <a:rPr lang="en-US" sz="3600" b="1" dirty="0"/>
            <a:t>AI</a:t>
          </a:r>
        </a:p>
      </dgm:t>
    </dgm:pt>
    <dgm:pt modelId="{8CABB928-A3C3-4465-949A-8A0241769376}" type="parTrans" cxnId="{03F5AAC7-E230-4AF5-ADEA-A3B7D5F72B85}">
      <dgm:prSet/>
      <dgm:spPr/>
      <dgm:t>
        <a:bodyPr/>
        <a:lstStyle/>
        <a:p>
          <a:endParaRPr lang="en-US" sz="2000"/>
        </a:p>
      </dgm:t>
    </dgm:pt>
    <dgm:pt modelId="{4ABFC0DE-C700-4338-828B-37FD0E637504}" type="sibTrans" cxnId="{03F5AAC7-E230-4AF5-ADEA-A3B7D5F72B85}">
      <dgm:prSet/>
      <dgm:spPr/>
      <dgm:t>
        <a:bodyPr/>
        <a:lstStyle/>
        <a:p>
          <a:endParaRPr lang="en-US" sz="2000"/>
        </a:p>
      </dgm:t>
    </dgm:pt>
    <dgm:pt modelId="{CCB88F5E-EB0B-4D48-A0B8-1A5584120826}">
      <dgm:prSet phldrT="[Text]" custT="1"/>
      <dgm:spPr/>
      <dgm:t>
        <a:bodyPr/>
        <a:lstStyle/>
        <a:p>
          <a:r>
            <a:rPr lang="en-US" sz="3200" b="1" dirty="0"/>
            <a:t>ML</a:t>
          </a:r>
        </a:p>
      </dgm:t>
    </dgm:pt>
    <dgm:pt modelId="{0F30F670-F95F-4A04-921A-C5B4350123A1}" type="parTrans" cxnId="{BB0D9582-9FCE-4436-B9C6-7334920AE868}">
      <dgm:prSet/>
      <dgm:spPr/>
      <dgm:t>
        <a:bodyPr/>
        <a:lstStyle/>
        <a:p>
          <a:endParaRPr lang="en-US" sz="2000"/>
        </a:p>
      </dgm:t>
    </dgm:pt>
    <dgm:pt modelId="{9F1FD172-C666-4FDC-8A0E-54BD29A7F4FA}" type="sibTrans" cxnId="{BB0D9582-9FCE-4436-B9C6-7334920AE868}">
      <dgm:prSet/>
      <dgm:spPr/>
      <dgm:t>
        <a:bodyPr/>
        <a:lstStyle/>
        <a:p>
          <a:endParaRPr lang="en-US" sz="2000"/>
        </a:p>
      </dgm:t>
    </dgm:pt>
    <dgm:pt modelId="{97D7055F-6F10-430F-BC28-36D5D5F90C98}">
      <dgm:prSet phldrT="[Text]" custT="1"/>
      <dgm:spPr/>
      <dgm:t>
        <a:bodyPr/>
        <a:lstStyle/>
        <a:p>
          <a:r>
            <a:rPr lang="en-US" sz="2000" b="1" dirty="0"/>
            <a:t>DL</a:t>
          </a:r>
        </a:p>
      </dgm:t>
    </dgm:pt>
    <dgm:pt modelId="{0618C65F-08A2-48D0-830D-85A61BFBF782}" type="parTrans" cxnId="{1CBC99ED-299A-462A-9D01-5697C437C34F}">
      <dgm:prSet/>
      <dgm:spPr/>
      <dgm:t>
        <a:bodyPr/>
        <a:lstStyle/>
        <a:p>
          <a:endParaRPr lang="en-US" sz="2000"/>
        </a:p>
      </dgm:t>
    </dgm:pt>
    <dgm:pt modelId="{A9B5B801-C554-43BE-ACD1-C3508A272B87}" type="sibTrans" cxnId="{1CBC99ED-299A-462A-9D01-5697C437C34F}">
      <dgm:prSet/>
      <dgm:spPr/>
      <dgm:t>
        <a:bodyPr/>
        <a:lstStyle/>
        <a:p>
          <a:endParaRPr lang="en-US" sz="2000"/>
        </a:p>
      </dgm:t>
    </dgm:pt>
    <dgm:pt modelId="{974344DD-B806-4917-9AF7-0C596D3F45EB}" type="pres">
      <dgm:prSet presAssocID="{DC83E383-EAC6-45C5-B503-F26949076126}" presName="Name0" presStyleCnt="0">
        <dgm:presLayoutVars>
          <dgm:chMax val="7"/>
          <dgm:resizeHandles val="exact"/>
        </dgm:presLayoutVars>
      </dgm:prSet>
      <dgm:spPr/>
    </dgm:pt>
    <dgm:pt modelId="{FA6D13C6-9FB7-4AD5-A354-AD0C32929992}" type="pres">
      <dgm:prSet presAssocID="{DC83E383-EAC6-45C5-B503-F26949076126}" presName="comp1" presStyleCnt="0"/>
      <dgm:spPr/>
    </dgm:pt>
    <dgm:pt modelId="{EF45D22E-B2D9-4CC4-9A89-F7719E0B1F64}" type="pres">
      <dgm:prSet presAssocID="{DC83E383-EAC6-45C5-B503-F26949076126}" presName="circle1" presStyleLbl="node1" presStyleIdx="0" presStyleCnt="3" custScaleX="98066" custLinFactNeighborX="838" custLinFactNeighborY="1561"/>
      <dgm:spPr/>
    </dgm:pt>
    <dgm:pt modelId="{848AC83D-C031-423A-A620-B5E93E08813A}" type="pres">
      <dgm:prSet presAssocID="{DC83E383-EAC6-45C5-B503-F26949076126}" presName="c1text" presStyleLbl="node1" presStyleIdx="0" presStyleCnt="3">
        <dgm:presLayoutVars>
          <dgm:bulletEnabled val="1"/>
        </dgm:presLayoutVars>
      </dgm:prSet>
      <dgm:spPr/>
    </dgm:pt>
    <dgm:pt modelId="{DC1D51E6-C5E0-4967-A7FF-F5F779916A6E}" type="pres">
      <dgm:prSet presAssocID="{DC83E383-EAC6-45C5-B503-F26949076126}" presName="comp2" presStyleCnt="0"/>
      <dgm:spPr/>
    </dgm:pt>
    <dgm:pt modelId="{7F44D899-4995-42E7-8998-3B8A43C27BA4}" type="pres">
      <dgm:prSet presAssocID="{DC83E383-EAC6-45C5-B503-F26949076126}" presName="circle2" presStyleLbl="node1" presStyleIdx="1" presStyleCnt="3" custScaleX="72996" custScaleY="68818" custLinFactNeighborX="20108" custLinFactNeighborY="-5217"/>
      <dgm:spPr/>
    </dgm:pt>
    <dgm:pt modelId="{0BB1A1C7-D7BF-4674-99DE-2ACDDBF61A39}" type="pres">
      <dgm:prSet presAssocID="{DC83E383-EAC6-45C5-B503-F26949076126}" presName="c2text" presStyleLbl="node1" presStyleIdx="1" presStyleCnt="3">
        <dgm:presLayoutVars>
          <dgm:bulletEnabled val="1"/>
        </dgm:presLayoutVars>
      </dgm:prSet>
      <dgm:spPr/>
    </dgm:pt>
    <dgm:pt modelId="{EDD13BB5-84FA-4F29-B7DA-5FD149A89806}" type="pres">
      <dgm:prSet presAssocID="{DC83E383-EAC6-45C5-B503-F26949076126}" presName="comp3" presStyleCnt="0"/>
      <dgm:spPr/>
    </dgm:pt>
    <dgm:pt modelId="{86979C10-EE65-41B0-BD2A-4F9E1908E102}" type="pres">
      <dgm:prSet presAssocID="{DC83E383-EAC6-45C5-B503-F26949076126}" presName="circle3" presStyleLbl="node1" presStyleIdx="2" presStyleCnt="3" custScaleX="37463" custScaleY="37217" custLinFactNeighborX="37853" custLinFactNeighborY="-3145"/>
      <dgm:spPr/>
    </dgm:pt>
    <dgm:pt modelId="{E84B4E9A-62AE-4AB0-8246-9EBB8A9A0080}" type="pres">
      <dgm:prSet presAssocID="{DC83E383-EAC6-45C5-B503-F26949076126}" presName="c3text" presStyleLbl="node1" presStyleIdx="2" presStyleCnt="3">
        <dgm:presLayoutVars>
          <dgm:bulletEnabled val="1"/>
        </dgm:presLayoutVars>
      </dgm:prSet>
      <dgm:spPr/>
    </dgm:pt>
  </dgm:ptLst>
  <dgm:cxnLst>
    <dgm:cxn modelId="{B4111633-649C-4A23-8C0A-20893CBB7736}" type="presOf" srcId="{97D7055F-6F10-430F-BC28-36D5D5F90C98}" destId="{E84B4E9A-62AE-4AB0-8246-9EBB8A9A0080}" srcOrd="1" destOrd="0" presId="urn:microsoft.com/office/officeart/2005/8/layout/venn2"/>
    <dgm:cxn modelId="{61768E40-A035-47BA-9E3B-BCFD51E21EB5}" type="presOf" srcId="{DC83E383-EAC6-45C5-B503-F26949076126}" destId="{974344DD-B806-4917-9AF7-0C596D3F45EB}" srcOrd="0" destOrd="0" presId="urn:microsoft.com/office/officeart/2005/8/layout/venn2"/>
    <dgm:cxn modelId="{06A3267F-B598-4FBB-A24F-E0C2A4F91C56}" type="presOf" srcId="{CCB88F5E-EB0B-4D48-A0B8-1A5584120826}" destId="{7F44D899-4995-42E7-8998-3B8A43C27BA4}" srcOrd="0" destOrd="0" presId="urn:microsoft.com/office/officeart/2005/8/layout/venn2"/>
    <dgm:cxn modelId="{BB0D9582-9FCE-4436-B9C6-7334920AE868}" srcId="{DC83E383-EAC6-45C5-B503-F26949076126}" destId="{CCB88F5E-EB0B-4D48-A0B8-1A5584120826}" srcOrd="1" destOrd="0" parTransId="{0F30F670-F95F-4A04-921A-C5B4350123A1}" sibTransId="{9F1FD172-C666-4FDC-8A0E-54BD29A7F4FA}"/>
    <dgm:cxn modelId="{C947B08C-4F11-4358-8162-F96F2A57740F}" type="presOf" srcId="{A1D37CFE-7203-4593-BAAC-1B5A53164047}" destId="{848AC83D-C031-423A-A620-B5E93E08813A}" srcOrd="1" destOrd="0" presId="urn:microsoft.com/office/officeart/2005/8/layout/venn2"/>
    <dgm:cxn modelId="{36CBEB8C-F030-406C-83A5-693A073DB7F9}" type="presOf" srcId="{A1D37CFE-7203-4593-BAAC-1B5A53164047}" destId="{EF45D22E-B2D9-4CC4-9A89-F7719E0B1F64}" srcOrd="0" destOrd="0" presId="urn:microsoft.com/office/officeart/2005/8/layout/venn2"/>
    <dgm:cxn modelId="{882FD5A7-1E7A-4092-BE3F-2F46BF8C7B4C}" type="presOf" srcId="{97D7055F-6F10-430F-BC28-36D5D5F90C98}" destId="{86979C10-EE65-41B0-BD2A-4F9E1908E102}" srcOrd="0" destOrd="0" presId="urn:microsoft.com/office/officeart/2005/8/layout/venn2"/>
    <dgm:cxn modelId="{142609B3-2E77-432B-8F21-A9BA8AC6239F}" type="presOf" srcId="{CCB88F5E-EB0B-4D48-A0B8-1A5584120826}" destId="{0BB1A1C7-D7BF-4674-99DE-2ACDDBF61A39}" srcOrd="1" destOrd="0" presId="urn:microsoft.com/office/officeart/2005/8/layout/venn2"/>
    <dgm:cxn modelId="{03F5AAC7-E230-4AF5-ADEA-A3B7D5F72B85}" srcId="{DC83E383-EAC6-45C5-B503-F26949076126}" destId="{A1D37CFE-7203-4593-BAAC-1B5A53164047}" srcOrd="0" destOrd="0" parTransId="{8CABB928-A3C3-4465-949A-8A0241769376}" sibTransId="{4ABFC0DE-C700-4338-828B-37FD0E637504}"/>
    <dgm:cxn modelId="{1CBC99ED-299A-462A-9D01-5697C437C34F}" srcId="{DC83E383-EAC6-45C5-B503-F26949076126}" destId="{97D7055F-6F10-430F-BC28-36D5D5F90C98}" srcOrd="2" destOrd="0" parTransId="{0618C65F-08A2-48D0-830D-85A61BFBF782}" sibTransId="{A9B5B801-C554-43BE-ACD1-C3508A272B87}"/>
    <dgm:cxn modelId="{EEFDBA1B-D463-45E4-8762-C30C3B4B3C97}" type="presParOf" srcId="{974344DD-B806-4917-9AF7-0C596D3F45EB}" destId="{FA6D13C6-9FB7-4AD5-A354-AD0C32929992}" srcOrd="0" destOrd="0" presId="urn:microsoft.com/office/officeart/2005/8/layout/venn2"/>
    <dgm:cxn modelId="{3FD00C6C-1CC8-4525-9D5E-DD4CD1D6C412}" type="presParOf" srcId="{FA6D13C6-9FB7-4AD5-A354-AD0C32929992}" destId="{EF45D22E-B2D9-4CC4-9A89-F7719E0B1F64}" srcOrd="0" destOrd="0" presId="urn:microsoft.com/office/officeart/2005/8/layout/venn2"/>
    <dgm:cxn modelId="{55620E4C-754B-493A-8B8C-F9C58286F1CF}" type="presParOf" srcId="{FA6D13C6-9FB7-4AD5-A354-AD0C32929992}" destId="{848AC83D-C031-423A-A620-B5E93E08813A}" srcOrd="1" destOrd="0" presId="urn:microsoft.com/office/officeart/2005/8/layout/venn2"/>
    <dgm:cxn modelId="{756E7265-BC97-489A-BD6F-A4BE5865D7FF}" type="presParOf" srcId="{974344DD-B806-4917-9AF7-0C596D3F45EB}" destId="{DC1D51E6-C5E0-4967-A7FF-F5F779916A6E}" srcOrd="1" destOrd="0" presId="urn:microsoft.com/office/officeart/2005/8/layout/venn2"/>
    <dgm:cxn modelId="{21B266B4-04B2-4389-ADE1-18FD469B0CAF}" type="presParOf" srcId="{DC1D51E6-C5E0-4967-A7FF-F5F779916A6E}" destId="{7F44D899-4995-42E7-8998-3B8A43C27BA4}" srcOrd="0" destOrd="0" presId="urn:microsoft.com/office/officeart/2005/8/layout/venn2"/>
    <dgm:cxn modelId="{41ECBBC6-AAE5-4B24-95E8-1AF1E00786A1}" type="presParOf" srcId="{DC1D51E6-C5E0-4967-A7FF-F5F779916A6E}" destId="{0BB1A1C7-D7BF-4674-99DE-2ACDDBF61A39}" srcOrd="1" destOrd="0" presId="urn:microsoft.com/office/officeart/2005/8/layout/venn2"/>
    <dgm:cxn modelId="{8C3EA4C7-3623-4FB5-9BAA-24882AC7C753}" type="presParOf" srcId="{974344DD-B806-4917-9AF7-0C596D3F45EB}" destId="{EDD13BB5-84FA-4F29-B7DA-5FD149A89806}" srcOrd="2" destOrd="0" presId="urn:microsoft.com/office/officeart/2005/8/layout/venn2"/>
    <dgm:cxn modelId="{E7684C9E-D8B0-4A49-91BB-D07C2E1B4C55}" type="presParOf" srcId="{EDD13BB5-84FA-4F29-B7DA-5FD149A89806}" destId="{86979C10-EE65-41B0-BD2A-4F9E1908E102}" srcOrd="0" destOrd="0" presId="urn:microsoft.com/office/officeart/2005/8/layout/venn2"/>
    <dgm:cxn modelId="{45352422-301B-42B7-9BCA-95545895CC31}" type="presParOf" srcId="{EDD13BB5-84FA-4F29-B7DA-5FD149A89806}" destId="{E84B4E9A-62AE-4AB0-8246-9EBB8A9A0080}"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F9045-7893-4556-B3F3-5720C8ACC43F}">
      <dsp:nvSpPr>
        <dsp:cNvPr id="0" name=""/>
        <dsp:cNvSpPr/>
      </dsp:nvSpPr>
      <dsp:spPr>
        <a:xfrm>
          <a:off x="591502" y="0"/>
          <a:ext cx="6703695" cy="435133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9B01B-7FB7-4350-A4D4-CCF5734A58FA}">
      <dsp:nvSpPr>
        <dsp:cNvPr id="0" name=""/>
        <dsp:cNvSpPr/>
      </dsp:nvSpPr>
      <dsp:spPr>
        <a:xfrm>
          <a:off x="1519" y="1305401"/>
          <a:ext cx="1856831" cy="1740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What is AI?</a:t>
          </a:r>
        </a:p>
      </dsp:txBody>
      <dsp:txXfrm>
        <a:off x="86485" y="1390367"/>
        <a:ext cx="1686899" cy="1570603"/>
      </dsp:txXfrm>
    </dsp:sp>
    <dsp:sp modelId="{C53E8AC9-B3C2-4F22-A024-8206618BE8E9}">
      <dsp:nvSpPr>
        <dsp:cNvPr id="0" name=""/>
        <dsp:cNvSpPr/>
      </dsp:nvSpPr>
      <dsp:spPr>
        <a:xfrm>
          <a:off x="2010462" y="1305401"/>
          <a:ext cx="1856831" cy="1740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History of AI</a:t>
          </a:r>
        </a:p>
      </dsp:txBody>
      <dsp:txXfrm>
        <a:off x="2095428" y="1390367"/>
        <a:ext cx="1686899" cy="1570603"/>
      </dsp:txXfrm>
    </dsp:sp>
    <dsp:sp modelId="{2BC15CC0-AAFC-4719-8E3B-40296FCEF49B}">
      <dsp:nvSpPr>
        <dsp:cNvPr id="0" name=""/>
        <dsp:cNvSpPr/>
      </dsp:nvSpPr>
      <dsp:spPr>
        <a:xfrm>
          <a:off x="4019405" y="1305401"/>
          <a:ext cx="1856831" cy="17405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AI Today</a:t>
          </a:r>
        </a:p>
      </dsp:txBody>
      <dsp:txXfrm>
        <a:off x="4104371" y="1390367"/>
        <a:ext cx="1686899" cy="1570603"/>
      </dsp:txXfrm>
    </dsp:sp>
    <dsp:sp modelId="{5481297F-4CD0-49FE-9D47-1673202E0414}">
      <dsp:nvSpPr>
        <dsp:cNvPr id="0" name=""/>
        <dsp:cNvSpPr/>
      </dsp:nvSpPr>
      <dsp:spPr>
        <a:xfrm>
          <a:off x="6028349" y="1305401"/>
          <a:ext cx="1856831" cy="17405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t>
          </a:r>
        </a:p>
      </dsp:txBody>
      <dsp:txXfrm>
        <a:off x="6113315" y="1390367"/>
        <a:ext cx="1686899"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5D22E-B2D9-4CC4-9A89-F7719E0B1F64}">
      <dsp:nvSpPr>
        <dsp:cNvPr id="0" name=""/>
        <dsp:cNvSpPr/>
      </dsp:nvSpPr>
      <dsp:spPr>
        <a:xfrm>
          <a:off x="1700502" y="0"/>
          <a:ext cx="4273249" cy="4357524"/>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t>AI</a:t>
          </a:r>
        </a:p>
      </dsp:txBody>
      <dsp:txXfrm>
        <a:off x="3090376" y="217876"/>
        <a:ext cx="1493500" cy="653628"/>
      </dsp:txXfrm>
    </dsp:sp>
    <dsp:sp modelId="{7F44D899-4995-42E7-8998-3B8A43C27BA4}">
      <dsp:nvSpPr>
        <dsp:cNvPr id="0" name=""/>
        <dsp:cNvSpPr/>
      </dsp:nvSpPr>
      <dsp:spPr>
        <a:xfrm>
          <a:off x="3264962" y="1428418"/>
          <a:ext cx="2385613" cy="2249070"/>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b="1" kern="1200" dirty="0"/>
            <a:t>ML</a:t>
          </a:r>
        </a:p>
      </dsp:txBody>
      <dsp:txXfrm>
        <a:off x="3901921" y="1568985"/>
        <a:ext cx="1111695" cy="421700"/>
      </dsp:txXfrm>
    </dsp:sp>
    <dsp:sp modelId="{86979C10-EE65-41B0-BD2A-4F9E1908E102}">
      <dsp:nvSpPr>
        <dsp:cNvPr id="0" name=""/>
        <dsp:cNvSpPr/>
      </dsp:nvSpPr>
      <dsp:spPr>
        <a:xfrm>
          <a:off x="4217222" y="2794186"/>
          <a:ext cx="816229" cy="810869"/>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DL</a:t>
          </a:r>
        </a:p>
      </dsp:txBody>
      <dsp:txXfrm>
        <a:off x="4336757" y="2996903"/>
        <a:ext cx="577161" cy="40543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spcBef>
                <a:spcPct val="0"/>
              </a:spcBef>
              <a:defRPr sz="1300" b="0">
                <a:solidFill>
                  <a:schemeClr val="bg1"/>
                </a:solidFill>
                <a:latin typeface="Arial" charset="0"/>
              </a:defRPr>
            </a:lvl1pPr>
          </a:lstStyle>
          <a:p>
            <a:pPr>
              <a:defRPr/>
            </a:pPr>
            <a:endParaRPr lang="en-US"/>
          </a:p>
        </p:txBody>
      </p:sp>
      <p:sp>
        <p:nvSpPr>
          <p:cNvPr id="2662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spcBef>
                <a:spcPct val="0"/>
              </a:spcBef>
              <a:defRPr sz="1300" b="0">
                <a:solidFill>
                  <a:schemeClr val="bg1"/>
                </a:solidFill>
                <a:latin typeface="Arial"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662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63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spcBef>
                <a:spcPct val="0"/>
              </a:spcBef>
              <a:defRPr sz="1300" b="0">
                <a:solidFill>
                  <a:schemeClr val="bg1"/>
                </a:solidFill>
                <a:latin typeface="Arial" charset="0"/>
              </a:defRPr>
            </a:lvl1pPr>
          </a:lstStyle>
          <a:p>
            <a:pPr>
              <a:defRPr/>
            </a:pPr>
            <a:endParaRPr lang="en-US"/>
          </a:p>
        </p:txBody>
      </p:sp>
      <p:sp>
        <p:nvSpPr>
          <p:cNvPr id="2663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spcBef>
                <a:spcPct val="0"/>
              </a:spcBef>
              <a:defRPr sz="1300" b="0">
                <a:solidFill>
                  <a:schemeClr val="bg1"/>
                </a:solidFill>
                <a:latin typeface="Arial" charset="0"/>
              </a:defRPr>
            </a:lvl1pPr>
          </a:lstStyle>
          <a:p>
            <a:pPr>
              <a:defRPr/>
            </a:pPr>
            <a:fld id="{767FC3A7-0F7B-44C6-ACD4-A5FC741D946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latin typeface="Arial" pitchFamily="34" charset="0"/>
              </a:rPr>
              <a:pPr/>
              <a:t>6</a:t>
            </a:fld>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1257300" y="720725"/>
            <a:ext cx="4800600" cy="3600450"/>
          </a:xfrm>
          <a:ln/>
        </p:spPr>
      </p:sp>
      <p:sp>
        <p:nvSpPr>
          <p:cNvPr id="51203" name="Notes Placeholder 2"/>
          <p:cNvSpPr>
            <a:spLocks noGrp="1"/>
          </p:cNvSpPr>
          <p:nvPr>
            <p:ph type="body" idx="1"/>
          </p:nvPr>
        </p:nvSpPr>
        <p:spPr>
          <a:noFill/>
          <a:ln/>
        </p:spPr>
        <p:txBody>
          <a:bodyPr/>
          <a:lstStyle/>
          <a:p>
            <a:endParaRPr lang="en-US" dirty="0"/>
          </a:p>
        </p:txBody>
      </p:sp>
      <p:sp>
        <p:nvSpPr>
          <p:cNvPr id="51204" name="Slide Number Placeholder 3"/>
          <p:cNvSpPr>
            <a:spLocks noGrp="1"/>
          </p:cNvSpPr>
          <p:nvPr>
            <p:ph type="sldNum" sz="quarter" idx="5"/>
          </p:nvPr>
        </p:nvSpPr>
        <p:spPr>
          <a:noFill/>
        </p:spPr>
        <p:txBody>
          <a:bodyPr/>
          <a:lstStyle/>
          <a:p>
            <a:fld id="{F6914E40-AC29-42C3-8555-9EA329777EF1}" type="slidenum">
              <a:rPr lang="en-US" smtClean="0">
                <a:latin typeface="Arial" pitchFamily="34" charset="0"/>
              </a:rPr>
              <a:pPr/>
              <a:t>11</a:t>
            </a:fld>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1257300" y="720725"/>
            <a:ext cx="4800600" cy="3600450"/>
          </a:xfrm>
          <a:ln/>
        </p:spPr>
      </p:sp>
      <p:sp>
        <p:nvSpPr>
          <p:cNvPr id="47107" name="Notes Placeholder 2"/>
          <p:cNvSpPr>
            <a:spLocks noGrp="1"/>
          </p:cNvSpPr>
          <p:nvPr>
            <p:ph type="body" idx="1"/>
          </p:nvPr>
        </p:nvSpPr>
        <p:spPr>
          <a:noFill/>
          <a:ln/>
        </p:spPr>
        <p:txBody>
          <a:bodyPr/>
          <a:lstStyle/>
          <a:p>
            <a:endParaRPr lang="en-US" dirty="0"/>
          </a:p>
        </p:txBody>
      </p:sp>
      <p:sp>
        <p:nvSpPr>
          <p:cNvPr id="47108" name="Slide Number Placeholder 3"/>
          <p:cNvSpPr>
            <a:spLocks noGrp="1"/>
          </p:cNvSpPr>
          <p:nvPr>
            <p:ph type="sldNum" sz="quarter" idx="5"/>
          </p:nvPr>
        </p:nvSpPr>
        <p:spPr>
          <a:noFill/>
        </p:spPr>
        <p:txBody>
          <a:bodyPr/>
          <a:lstStyle/>
          <a:p>
            <a:fld id="{A687E8A5-776B-42C8-821D-233A9950CDEE}" type="slidenum">
              <a:rPr lang="en-US" smtClean="0">
                <a:latin typeface="Arial" pitchFamily="34" charset="0"/>
              </a:rPr>
              <a:pPr/>
              <a:t>12</a:t>
            </a:fld>
            <a:endParaRPr lang="en-US" dirty="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14</a:t>
            </a:fld>
            <a:endParaRPr lang="en-US"/>
          </a:p>
        </p:txBody>
      </p:sp>
    </p:spTree>
    <p:extLst>
      <p:ext uri="{BB962C8B-B14F-4D97-AF65-F5344CB8AC3E}">
        <p14:creationId xmlns:p14="http://schemas.microsoft.com/office/powerpoint/2010/main" val="1085463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0C20-5775-4E7F-A3EC-52E9A4EB182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6505B3E-D682-44EF-89F1-734091B1EB9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A182C89-6214-40BE-8A04-9B469B17E1E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939E172-3F0D-47F1-9BDE-DA9E38382E0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D841F75-FB2C-42B4-AEAA-5372A2475BAC}"/>
              </a:ext>
            </a:extLst>
          </p:cNvPr>
          <p:cNvSpPr>
            <a:spLocks noGrp="1"/>
          </p:cNvSpPr>
          <p:nvPr>
            <p:ph type="sldNum" sz="quarter" idx="12"/>
          </p:nvPr>
        </p:nvSpPr>
        <p:spPr/>
        <p:txBody>
          <a:bodyPr/>
          <a:lstStyle/>
          <a:p>
            <a:pPr>
              <a:defRPr/>
            </a:pPr>
            <a:fld id="{FBAC3F58-2633-43B5-944D-9A29CA4A9EC1}" type="slidenum">
              <a:rPr lang="en-US" smtClean="0"/>
              <a:pPr>
                <a:defRPr/>
              </a:pPr>
              <a:t>‹#›</a:t>
            </a:fld>
            <a:endParaRPr lang="en-US"/>
          </a:p>
        </p:txBody>
      </p:sp>
    </p:spTree>
    <p:extLst>
      <p:ext uri="{BB962C8B-B14F-4D97-AF65-F5344CB8AC3E}">
        <p14:creationId xmlns:p14="http://schemas.microsoft.com/office/powerpoint/2010/main" val="2914744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8261-F704-4585-AB72-4E29844A3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FB3A5E-74FB-424F-A8B7-4F1D02E38D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076DD-CE4C-4526-A04C-877ACE9A4F2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2D1B763-F512-4FE1-8603-DA323DBD6F6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3CBFC8E-9D9A-44B9-BE36-9FDA505BB964}"/>
              </a:ext>
            </a:extLst>
          </p:cNvPr>
          <p:cNvSpPr>
            <a:spLocks noGrp="1"/>
          </p:cNvSpPr>
          <p:nvPr>
            <p:ph type="sldNum" sz="quarter" idx="12"/>
          </p:nvPr>
        </p:nvSpPr>
        <p:spPr/>
        <p:txBody>
          <a:bodyPr/>
          <a:lstStyle/>
          <a:p>
            <a:pPr>
              <a:defRPr/>
            </a:pPr>
            <a:fld id="{80C49721-C3A1-4425-99EF-30C57743CC15}" type="slidenum">
              <a:rPr lang="en-US" smtClean="0"/>
              <a:pPr>
                <a:defRPr/>
              </a:pPr>
              <a:t>‹#›</a:t>
            </a:fld>
            <a:endParaRPr lang="en-US"/>
          </a:p>
        </p:txBody>
      </p:sp>
    </p:spTree>
    <p:extLst>
      <p:ext uri="{BB962C8B-B14F-4D97-AF65-F5344CB8AC3E}">
        <p14:creationId xmlns:p14="http://schemas.microsoft.com/office/powerpoint/2010/main" val="298921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628B-CC09-4A9C-8432-610F730272B2}"/>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56E4899-FCC3-4072-BFCF-49E77D2EAD0B}"/>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CB8505-546D-4BCD-BE40-BA17908EFFC2}"/>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A9E4AE3-8EA8-458A-B0A0-119C3465644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D903DC4-AE7C-448F-B123-64EE4BD6CADD}"/>
              </a:ext>
            </a:extLst>
          </p:cNvPr>
          <p:cNvSpPr>
            <a:spLocks noGrp="1"/>
          </p:cNvSpPr>
          <p:nvPr>
            <p:ph type="sldNum" sz="quarter" idx="12"/>
          </p:nvPr>
        </p:nvSpPr>
        <p:spPr/>
        <p:txBody>
          <a:bodyPr/>
          <a:lstStyle/>
          <a:p>
            <a:pPr>
              <a:defRPr/>
            </a:pPr>
            <a:fld id="{1876BB52-192B-4E7D-9E15-B5945998B30B}" type="slidenum">
              <a:rPr lang="en-US" smtClean="0"/>
              <a:pPr>
                <a:defRPr/>
              </a:pPr>
              <a:t>‹#›</a:t>
            </a:fld>
            <a:endParaRPr lang="en-US"/>
          </a:p>
        </p:txBody>
      </p:sp>
    </p:spTree>
    <p:extLst>
      <p:ext uri="{BB962C8B-B14F-4D97-AF65-F5344CB8AC3E}">
        <p14:creationId xmlns:p14="http://schemas.microsoft.com/office/powerpoint/2010/main" val="111460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4B85-73E1-412A-8A4C-6D85024B5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595AF5-619B-4A82-A03E-2F586264A21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972E35-414A-4074-A16D-AE6B5390751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A96B5D-4D4A-4851-A9EB-0D03FD25339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DCA047D-6661-4A8E-A75A-4DD41F87900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A20BB15-F810-4C9B-9C85-DBA1CE0FC913}"/>
              </a:ext>
            </a:extLst>
          </p:cNvPr>
          <p:cNvSpPr>
            <a:spLocks noGrp="1"/>
          </p:cNvSpPr>
          <p:nvPr>
            <p:ph type="sldNum" sz="quarter" idx="12"/>
          </p:nvPr>
        </p:nvSpPr>
        <p:spPr/>
        <p:txBody>
          <a:bodyPr/>
          <a:lstStyle/>
          <a:p>
            <a:pPr>
              <a:defRPr/>
            </a:pPr>
            <a:fld id="{E9634D7A-5DE0-40F6-876D-D2AFBCA76471}" type="slidenum">
              <a:rPr lang="en-US" smtClean="0"/>
              <a:pPr>
                <a:defRPr/>
              </a:pPr>
              <a:t>‹#›</a:t>
            </a:fld>
            <a:endParaRPr lang="en-US"/>
          </a:p>
        </p:txBody>
      </p:sp>
    </p:spTree>
    <p:extLst>
      <p:ext uri="{BB962C8B-B14F-4D97-AF65-F5344CB8AC3E}">
        <p14:creationId xmlns:p14="http://schemas.microsoft.com/office/powerpoint/2010/main" val="1640269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86BB-CFA5-4726-8A68-A7EF1D6EA079}"/>
              </a:ext>
            </a:extLst>
          </p:cNvPr>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5E137-DADD-4989-BC75-6FFB3AC462D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D7D472E-4BD4-451E-BD61-3856A4C9C4C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515214-CA2E-4C78-B5B8-9618FD00ED1B}"/>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0EB452F-F20A-42F1-AD7C-BF098708329A}"/>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BAE953-2A8B-4E09-A098-96632DB7EDFE}"/>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6E617EC1-64DD-406A-84BB-EC465D7BDC35}"/>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2E1D943-5BEC-451A-A2B0-67DAEBC0D6C2}"/>
              </a:ext>
            </a:extLst>
          </p:cNvPr>
          <p:cNvSpPr>
            <a:spLocks noGrp="1"/>
          </p:cNvSpPr>
          <p:nvPr>
            <p:ph type="sldNum" sz="quarter" idx="12"/>
          </p:nvPr>
        </p:nvSpPr>
        <p:spPr/>
        <p:txBody>
          <a:bodyPr/>
          <a:lstStyle/>
          <a:p>
            <a:pPr>
              <a:defRPr/>
            </a:pPr>
            <a:fld id="{9A733130-C1C8-4197-ACEE-A73DA10DD24F}" type="slidenum">
              <a:rPr lang="en-US" smtClean="0"/>
              <a:pPr>
                <a:defRPr/>
              </a:pPr>
              <a:t>‹#›</a:t>
            </a:fld>
            <a:endParaRPr lang="en-US"/>
          </a:p>
        </p:txBody>
      </p:sp>
    </p:spTree>
    <p:extLst>
      <p:ext uri="{BB962C8B-B14F-4D97-AF65-F5344CB8AC3E}">
        <p14:creationId xmlns:p14="http://schemas.microsoft.com/office/powerpoint/2010/main" val="1611892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9FD4-7EAD-446E-BFFE-71AD4C8503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04E90E-2DF4-47BB-BA90-62D6BC09C814}"/>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35CC46E8-B988-47F7-B4CB-E597899079E0}"/>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8EF839F5-D429-4352-AC06-7036273601D2}"/>
              </a:ext>
            </a:extLst>
          </p:cNvPr>
          <p:cNvSpPr>
            <a:spLocks noGrp="1"/>
          </p:cNvSpPr>
          <p:nvPr>
            <p:ph type="sldNum" sz="quarter" idx="12"/>
          </p:nvPr>
        </p:nvSpPr>
        <p:spPr/>
        <p:txBody>
          <a:bodyPr/>
          <a:lstStyle/>
          <a:p>
            <a:pPr>
              <a:defRPr/>
            </a:pPr>
            <a:fld id="{C08389DD-3A77-4664-9585-0D0E9A5EB606}" type="slidenum">
              <a:rPr lang="en-US" smtClean="0"/>
              <a:pPr>
                <a:defRPr/>
              </a:pPr>
              <a:t>‹#›</a:t>
            </a:fld>
            <a:endParaRPr lang="en-US"/>
          </a:p>
        </p:txBody>
      </p:sp>
    </p:spTree>
    <p:extLst>
      <p:ext uri="{BB962C8B-B14F-4D97-AF65-F5344CB8AC3E}">
        <p14:creationId xmlns:p14="http://schemas.microsoft.com/office/powerpoint/2010/main" val="1687233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44F640-8A63-4DD7-98CA-0DACD14D48BD}"/>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7C1B706A-2201-45BC-A281-CD27839A20B9}"/>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0AE2F5A9-E96F-4265-9FAF-B0F214FFB567}"/>
              </a:ext>
            </a:extLst>
          </p:cNvPr>
          <p:cNvSpPr>
            <a:spLocks noGrp="1"/>
          </p:cNvSpPr>
          <p:nvPr>
            <p:ph type="sldNum" sz="quarter" idx="12"/>
          </p:nvPr>
        </p:nvSpPr>
        <p:spPr/>
        <p:txBody>
          <a:bodyPr/>
          <a:lstStyle/>
          <a:p>
            <a:pPr>
              <a:defRPr/>
            </a:pPr>
            <a:fld id="{4B740A81-9E01-4FD9-8249-D9D456571D47}" type="slidenum">
              <a:rPr lang="en-US" smtClean="0"/>
              <a:pPr>
                <a:defRPr/>
              </a:pPr>
              <a:t>‹#›</a:t>
            </a:fld>
            <a:endParaRPr lang="en-US"/>
          </a:p>
        </p:txBody>
      </p:sp>
    </p:spTree>
    <p:extLst>
      <p:ext uri="{BB962C8B-B14F-4D97-AF65-F5344CB8AC3E}">
        <p14:creationId xmlns:p14="http://schemas.microsoft.com/office/powerpoint/2010/main" val="1059844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25891-F02F-4D9A-AC5A-C8EB5617933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E19C98B-F3B4-4C59-85DE-FD38E9BBEFF3}"/>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0D78FF-02AC-42B6-98BB-E57ADE59AC9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AF3261-9661-4D31-BDB4-D3BA017D45D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3F0B0389-7F45-472A-B9FC-04A3F8E0891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6DC56C9-503A-48B7-959E-6852AD2151F1}"/>
              </a:ext>
            </a:extLst>
          </p:cNvPr>
          <p:cNvSpPr>
            <a:spLocks noGrp="1"/>
          </p:cNvSpPr>
          <p:nvPr>
            <p:ph type="sldNum" sz="quarter" idx="12"/>
          </p:nvPr>
        </p:nvSpPr>
        <p:spPr/>
        <p:txBody>
          <a:bodyPr/>
          <a:lstStyle/>
          <a:p>
            <a:pPr>
              <a:defRPr/>
            </a:pPr>
            <a:fld id="{3306D5C0-30C3-4567-9087-D7285F18DEDD}" type="slidenum">
              <a:rPr lang="en-US" smtClean="0"/>
              <a:pPr>
                <a:defRPr/>
              </a:pPr>
              <a:t>‹#›</a:t>
            </a:fld>
            <a:endParaRPr lang="en-US"/>
          </a:p>
        </p:txBody>
      </p:sp>
    </p:spTree>
    <p:extLst>
      <p:ext uri="{BB962C8B-B14F-4D97-AF65-F5344CB8AC3E}">
        <p14:creationId xmlns:p14="http://schemas.microsoft.com/office/powerpoint/2010/main" val="930314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A5B35-1C5E-420B-9740-940022230FF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37EFF4-4C72-4378-B10E-C20254973480}"/>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45C104AE-4CF2-4B58-B75A-67C932C5776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86792F6-EF3E-44D6-A0F1-633AB65494A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E617120-CCDF-4DB3-909F-BA9F88CACC5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4EBA7C1-ADB7-4792-B51D-DF7FD1AA41B6}"/>
              </a:ext>
            </a:extLst>
          </p:cNvPr>
          <p:cNvSpPr>
            <a:spLocks noGrp="1"/>
          </p:cNvSpPr>
          <p:nvPr>
            <p:ph type="sldNum" sz="quarter" idx="12"/>
          </p:nvPr>
        </p:nvSpPr>
        <p:spPr/>
        <p:txBody>
          <a:bodyPr/>
          <a:lstStyle/>
          <a:p>
            <a:pPr>
              <a:defRPr/>
            </a:pPr>
            <a:fld id="{D59245C4-C502-4096-92D6-EC376ED5F3D1}" type="slidenum">
              <a:rPr lang="en-US" smtClean="0"/>
              <a:pPr>
                <a:defRPr/>
              </a:pPr>
              <a:t>‹#›</a:t>
            </a:fld>
            <a:endParaRPr lang="en-US"/>
          </a:p>
        </p:txBody>
      </p:sp>
    </p:spTree>
    <p:extLst>
      <p:ext uri="{BB962C8B-B14F-4D97-AF65-F5344CB8AC3E}">
        <p14:creationId xmlns:p14="http://schemas.microsoft.com/office/powerpoint/2010/main" val="1007194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26C67-AF82-4FC2-9F3C-B9503D0E82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A50696-A89C-4594-8FB6-CD9536D80B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6ADF9B-DF76-4C95-BB70-70C72A4C40CB}"/>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C1E2DDC-CC38-4490-9706-7372F90675D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066E73F-3C1B-47AA-A2E6-232F41284014}"/>
              </a:ext>
            </a:extLst>
          </p:cNvPr>
          <p:cNvSpPr>
            <a:spLocks noGrp="1"/>
          </p:cNvSpPr>
          <p:nvPr>
            <p:ph type="sldNum" sz="quarter" idx="12"/>
          </p:nvPr>
        </p:nvSpPr>
        <p:spPr/>
        <p:txBody>
          <a:bodyPr/>
          <a:lstStyle/>
          <a:p>
            <a:pPr>
              <a:defRPr/>
            </a:pPr>
            <a:fld id="{DDC7C65B-D709-43A0-BF27-CBEBE59D506B}" type="slidenum">
              <a:rPr lang="en-US" smtClean="0"/>
              <a:pPr>
                <a:defRPr/>
              </a:pPr>
              <a:t>‹#›</a:t>
            </a:fld>
            <a:endParaRPr lang="en-US"/>
          </a:p>
        </p:txBody>
      </p:sp>
    </p:spTree>
    <p:extLst>
      <p:ext uri="{BB962C8B-B14F-4D97-AF65-F5344CB8AC3E}">
        <p14:creationId xmlns:p14="http://schemas.microsoft.com/office/powerpoint/2010/main" val="1353841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9BF392-9F17-47F5-A177-2D789C2D4175}"/>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0C6891-CA4F-47D7-A137-A66B885D620A}"/>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1C21C2-F07D-4456-A15A-54C1E5F056D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C7B7394F-CD28-4ADC-9E46-D12CE62407C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5DFC2D4-35F0-4363-8F27-210FF6F0CF7B}"/>
              </a:ext>
            </a:extLst>
          </p:cNvPr>
          <p:cNvSpPr>
            <a:spLocks noGrp="1"/>
          </p:cNvSpPr>
          <p:nvPr>
            <p:ph type="sldNum" sz="quarter" idx="12"/>
          </p:nvPr>
        </p:nvSpPr>
        <p:spPr/>
        <p:txBody>
          <a:bodyPr/>
          <a:lstStyle/>
          <a:p>
            <a:pPr>
              <a:defRPr/>
            </a:pPr>
            <a:fld id="{E52BCF5F-F163-48A3-8709-B31AFB4E6F34}" type="slidenum">
              <a:rPr lang="en-US" smtClean="0"/>
              <a:pPr>
                <a:defRPr/>
              </a:pPr>
              <a:t>‹#›</a:t>
            </a:fld>
            <a:endParaRPr lang="en-US"/>
          </a:p>
        </p:txBody>
      </p:sp>
    </p:spTree>
    <p:extLst>
      <p:ext uri="{BB962C8B-B14F-4D97-AF65-F5344CB8AC3E}">
        <p14:creationId xmlns:p14="http://schemas.microsoft.com/office/powerpoint/2010/main" val="544409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2935CF-5EF8-49FE-BFEA-D6791D2E6F7A}"/>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D7E9ED-C2B6-4B12-AA78-EF10628BDB5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CF69CB-930A-4713-83D6-4F464BFD2857}"/>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F898A63-1BF4-4650-BE13-382534EA51F2}"/>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253CB9A7-AE34-478B-98FB-3550B805093F}"/>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DE62156-1480-49ED-B33B-CE1D8F42A3CD}" type="slidenum">
              <a:rPr lang="en-US" smtClean="0"/>
              <a:pPr>
                <a:defRPr/>
              </a:pPr>
              <a:t>‹#›</a:t>
            </a:fld>
            <a:endParaRPr lang="en-US"/>
          </a:p>
        </p:txBody>
      </p:sp>
    </p:spTree>
    <p:extLst>
      <p:ext uri="{BB962C8B-B14F-4D97-AF65-F5344CB8AC3E}">
        <p14:creationId xmlns:p14="http://schemas.microsoft.com/office/powerpoint/2010/main" val="83025357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michael.hahsler.net/"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Humanoid_robot" TargetMode="External"/><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hyperlink" Target="https://en.wikipedia.org/wiki/Hond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2.xml"/><Relationship Id="rId7" Type="http://schemas.openxmlformats.org/officeDocument/2006/relationships/image" Target="../media/image9.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qbi.uq.edu.au/brain/intelligent-machines/history-artificial-intelligence" TargetMode="External"/><Relationship Id="rId7" Type="http://schemas.openxmlformats.org/officeDocument/2006/relationships/image" Target="../media/image15.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i.google/static/documents/recommendations-for-regulating-ai.pdf" TargetMode="Externa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aphical user interface, text, application, email&#10;&#10;Description automatically generated">
            <a:extLst>
              <a:ext uri="{FF2B5EF4-FFF2-40B4-BE49-F238E27FC236}">
                <a16:creationId xmlns:a16="http://schemas.microsoft.com/office/drawing/2014/main" id="{F2E57616-B556-2BD0-43CB-8538966C4BE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33428"/>
          <a:stretch/>
        </p:blipFill>
        <p:spPr>
          <a:xfrm>
            <a:off x="228600" y="247645"/>
            <a:ext cx="5084038" cy="3486155"/>
          </a:xfrm>
          <a:ln>
            <a:solidFill>
              <a:schemeClr val="tx1"/>
            </a:solidFill>
          </a:ln>
        </p:spPr>
      </p:pic>
      <p:pic>
        <p:nvPicPr>
          <p:cNvPr id="8" name="Picture 7" descr="A collage of houses&#10;&#10;Description automatically generated with low confidence">
            <a:extLst>
              <a:ext uri="{FF2B5EF4-FFF2-40B4-BE49-F238E27FC236}">
                <a16:creationId xmlns:a16="http://schemas.microsoft.com/office/drawing/2014/main" id="{44924F2E-B174-8FDD-1D5D-6D1C24014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8085" y="1905000"/>
            <a:ext cx="4419600" cy="4816463"/>
          </a:xfrm>
          <a:prstGeom prst="rect">
            <a:avLst/>
          </a:prstGeom>
          <a:ln>
            <a:solidFill>
              <a:schemeClr val="tx1"/>
            </a:solidFill>
          </a:ln>
        </p:spPr>
      </p:pic>
      <p:sp>
        <p:nvSpPr>
          <p:cNvPr id="10" name="TextBox 9">
            <a:extLst>
              <a:ext uri="{FF2B5EF4-FFF2-40B4-BE49-F238E27FC236}">
                <a16:creationId xmlns:a16="http://schemas.microsoft.com/office/drawing/2014/main" id="{374A9FEB-ACF8-875F-FC29-5C00B54B5E71}"/>
              </a:ext>
            </a:extLst>
          </p:cNvPr>
          <p:cNvSpPr txBox="1"/>
          <p:nvPr/>
        </p:nvSpPr>
        <p:spPr>
          <a:xfrm>
            <a:off x="166315" y="3771900"/>
            <a:ext cx="4291385" cy="3385542"/>
          </a:xfrm>
          <a:prstGeom prst="rect">
            <a:avLst/>
          </a:prstGeom>
          <a:noFill/>
        </p:spPr>
        <p:txBody>
          <a:bodyPr wrap="square" rtlCol="0">
            <a:spAutoFit/>
          </a:bodyPr>
          <a:lstStyle/>
          <a:p>
            <a:r>
              <a:rPr lang="en-US" sz="2400" b="1" dirty="0"/>
              <a:t>What is AI?</a:t>
            </a:r>
            <a:br>
              <a:rPr lang="en-US" sz="2400" b="1" dirty="0"/>
            </a:br>
            <a:r>
              <a:rPr lang="en-US" sz="2400" b="1" dirty="0"/>
              <a:t>How did we get here?</a:t>
            </a:r>
          </a:p>
          <a:p>
            <a:r>
              <a:rPr lang="en-US" sz="2400" b="1" dirty="0"/>
              <a:t>Where will it lead us?</a:t>
            </a:r>
          </a:p>
          <a:p>
            <a:endParaRPr lang="en-US" dirty="0"/>
          </a:p>
          <a:p>
            <a:r>
              <a:rPr lang="en-US" sz="1400" dirty="0"/>
              <a:t>CBRE – Texas Multifamily Exclusive Client Forum</a:t>
            </a:r>
          </a:p>
          <a:p>
            <a:r>
              <a:rPr lang="en-US" sz="1400" dirty="0"/>
              <a:t>April 19, 2023</a:t>
            </a:r>
          </a:p>
          <a:p>
            <a:endParaRPr lang="en-US" sz="1400" dirty="0"/>
          </a:p>
          <a:p>
            <a:r>
              <a:rPr lang="en-US" sz="1400" dirty="0"/>
              <a:t>Michael Hahsler</a:t>
            </a:r>
          </a:p>
          <a:p>
            <a:r>
              <a:rPr lang="en-US" sz="1400" dirty="0"/>
              <a:t>Clinical Associate Professor of Computer Science</a:t>
            </a:r>
          </a:p>
          <a:p>
            <a:endParaRPr lang="en-US" sz="1400" dirty="0"/>
          </a:p>
          <a:p>
            <a:r>
              <a:rPr lang="en-US" sz="1400" dirty="0">
                <a:hlinkClick r:id="rId4"/>
              </a:rPr>
              <a:t>http://michael.hahsler.net</a:t>
            </a:r>
            <a:r>
              <a:rPr lang="en-US" sz="1400" dirty="0"/>
              <a:t> </a:t>
            </a:r>
          </a:p>
          <a:p>
            <a:endParaRPr lang="en-US" dirty="0"/>
          </a:p>
        </p:txBody>
      </p:sp>
      <p:pic>
        <p:nvPicPr>
          <p:cNvPr id="5122" name="Picture 2" descr="SMU | World Changers Shaped Here">
            <a:extLst>
              <a:ext uri="{FF2B5EF4-FFF2-40B4-BE49-F238E27FC236}">
                <a16:creationId xmlns:a16="http://schemas.microsoft.com/office/drawing/2014/main" id="{C38D205E-4688-60B9-F702-74B07F7113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1650" y="260345"/>
            <a:ext cx="3333750" cy="9810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99FEC46-C95F-E6B8-4545-D4C502DE824A}"/>
              </a:ext>
            </a:extLst>
          </p:cNvPr>
          <p:cNvSpPr txBox="1"/>
          <p:nvPr/>
        </p:nvSpPr>
        <p:spPr>
          <a:xfrm>
            <a:off x="4340958" y="260345"/>
            <a:ext cx="1005788" cy="369332"/>
          </a:xfrm>
          <a:prstGeom prst="rect">
            <a:avLst/>
          </a:prstGeom>
          <a:noFill/>
        </p:spPr>
        <p:txBody>
          <a:bodyPr wrap="none" rtlCol="0">
            <a:spAutoFit/>
          </a:bodyPr>
          <a:lstStyle/>
          <a:p>
            <a:r>
              <a:rPr lang="en-US" b="1" dirty="0" err="1"/>
              <a:t>ChatGPT</a:t>
            </a:r>
            <a:endParaRPr lang="en-US" b="1" dirty="0"/>
          </a:p>
        </p:txBody>
      </p:sp>
      <p:sp>
        <p:nvSpPr>
          <p:cNvPr id="12" name="TextBox 11">
            <a:extLst>
              <a:ext uri="{FF2B5EF4-FFF2-40B4-BE49-F238E27FC236}">
                <a16:creationId xmlns:a16="http://schemas.microsoft.com/office/drawing/2014/main" id="{49F0D9C7-9A7B-0944-CF81-B04DF34A8218}"/>
              </a:ext>
            </a:extLst>
          </p:cNvPr>
          <p:cNvSpPr txBox="1"/>
          <p:nvPr/>
        </p:nvSpPr>
        <p:spPr>
          <a:xfrm>
            <a:off x="7213719" y="6225586"/>
            <a:ext cx="1700466" cy="369332"/>
          </a:xfrm>
          <a:prstGeom prst="rect">
            <a:avLst/>
          </a:prstGeom>
          <a:noFill/>
        </p:spPr>
        <p:txBody>
          <a:bodyPr wrap="none" rtlCol="0">
            <a:spAutoFit/>
          </a:bodyPr>
          <a:lstStyle/>
          <a:p>
            <a:r>
              <a:rPr lang="en-US" b="1" dirty="0">
                <a:solidFill>
                  <a:schemeClr val="bg1"/>
                </a:solidFill>
              </a:rPr>
              <a:t>Stable Diffusion</a:t>
            </a:r>
          </a:p>
        </p:txBody>
      </p:sp>
    </p:spTree>
    <p:extLst>
      <p:ext uri="{BB962C8B-B14F-4D97-AF65-F5344CB8AC3E}">
        <p14:creationId xmlns:p14="http://schemas.microsoft.com/office/powerpoint/2010/main" val="2111983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EAB6F2-DD79-4218-9B7D-697B6DFFFAF5}"/>
              </a:ext>
            </a:extLst>
          </p:cNvPr>
          <p:cNvGraphicFramePr>
            <a:graphicFrameLocks noGrp="1"/>
          </p:cNvGraphicFramePr>
          <p:nvPr>
            <p:ph idx="4294967295"/>
            <p:extLst>
              <p:ext uri="{D42A27DB-BD31-4B8C-83A1-F6EECF244321}">
                <p14:modId xmlns:p14="http://schemas.microsoft.com/office/powerpoint/2010/main" val="249715901"/>
              </p:ext>
            </p:extLst>
          </p:nvPr>
        </p:nvGraphicFramePr>
        <p:xfrm>
          <a:off x="533400" y="990600"/>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Rounded Corners 4">
            <a:extLst>
              <a:ext uri="{FF2B5EF4-FFF2-40B4-BE49-F238E27FC236}">
                <a16:creationId xmlns:a16="http://schemas.microsoft.com/office/drawing/2014/main" id="{135E4A36-F8D6-307B-29FA-21752D38AE01}"/>
              </a:ext>
            </a:extLst>
          </p:cNvPr>
          <p:cNvSpPr/>
          <p:nvPr/>
        </p:nvSpPr>
        <p:spPr>
          <a:xfrm>
            <a:off x="1143000" y="5641978"/>
            <a:ext cx="7086600" cy="800100"/>
          </a:xfrm>
          <a:prstGeom prst="round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dirty="0"/>
              <a:t>AI Ethics &amp; Safety</a:t>
            </a:r>
          </a:p>
        </p:txBody>
      </p:sp>
    </p:spTree>
    <p:extLst>
      <p:ext uri="{BB962C8B-B14F-4D97-AF65-F5344CB8AC3E}">
        <p14:creationId xmlns:p14="http://schemas.microsoft.com/office/powerpoint/2010/main" val="378272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4">
            <a:extLst>
              <a:ext uri="{FF2B5EF4-FFF2-40B4-BE49-F238E27FC236}">
                <a16:creationId xmlns:a16="http://schemas.microsoft.com/office/drawing/2014/main" id="{A2AECC0A-2E6F-4723-9D06-ED7B1882F037}"/>
              </a:ext>
            </a:extLst>
          </p:cNvPr>
          <p:cNvPicPr>
            <a:picLocks noChangeAspect="1" noChangeArrowheads="1"/>
          </p:cNvPicPr>
          <p:nvPr/>
        </p:nvPicPr>
        <p:blipFill rotWithShape="1">
          <a:blip r:embed="rId2" cstate="print"/>
          <a:srcRect t="22738" r="9092" b="13252"/>
          <a:stretch/>
        </p:blipFill>
        <p:spPr bwMode="auto">
          <a:xfrm>
            <a:off x="2642616" y="10"/>
            <a:ext cx="6501384" cy="6857990"/>
          </a:xfrm>
          <a:prstGeom prst="rect">
            <a:avLst/>
          </a:prstGeom>
          <a:noFill/>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defTabSz="914400"/>
            <a:r>
              <a:rPr lang="en-US" sz="4200"/>
              <a:t>What is AI?</a:t>
            </a:r>
          </a:p>
        </p:txBody>
      </p:sp>
      <p:sp>
        <p:nvSpPr>
          <p:cNvPr id="5" name="Text Placeholder 4">
            <a:extLst>
              <a:ext uri="{FF2B5EF4-FFF2-40B4-BE49-F238E27FC236}">
                <a16:creationId xmlns:a16="http://schemas.microsoft.com/office/drawing/2014/main" id="{BFC4CE63-B8C6-4E6A-89D0-4B283116F5C9}"/>
              </a:ext>
            </a:extLst>
          </p:cNvPr>
          <p:cNvSpPr>
            <a:spLocks noGrp="1"/>
          </p:cNvSpPr>
          <p:nvPr>
            <p:ph type="body" idx="1"/>
          </p:nvPr>
        </p:nvSpPr>
        <p:spPr>
          <a:xfrm>
            <a:off x="358487" y="4872924"/>
            <a:ext cx="3017519" cy="1208141"/>
          </a:xfrm>
        </p:spPr>
        <p:txBody>
          <a:bodyPr vert="horz" lIns="91440" tIns="45720" rIns="91440" bIns="45720" rtlCol="0">
            <a:normAutofit/>
          </a:bodyPr>
          <a:lstStyle/>
          <a:p>
            <a:pPr defTabSz="914400">
              <a:spcBef>
                <a:spcPts val="1000"/>
              </a:spcBef>
            </a:pPr>
            <a:endParaRPr lang="en-US" sz="1700">
              <a:solidFill>
                <a:schemeClr val="tx1"/>
              </a:solidFill>
            </a:endParaRP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10" name="TextBox 9">
            <a:extLst>
              <a:ext uri="{FF2B5EF4-FFF2-40B4-BE49-F238E27FC236}">
                <a16:creationId xmlns:a16="http://schemas.microsoft.com/office/drawing/2014/main" id="{143CD9AE-2DCF-4123-998F-C55606594912}"/>
              </a:ext>
            </a:extLst>
          </p:cNvPr>
          <p:cNvSpPr txBox="1"/>
          <p:nvPr/>
        </p:nvSpPr>
        <p:spPr>
          <a:xfrm>
            <a:off x="5181602" y="6172202"/>
            <a:ext cx="3813609" cy="461665"/>
          </a:xfrm>
          <a:prstGeom prst="rect">
            <a:avLst/>
          </a:prstGeom>
          <a:noFill/>
        </p:spPr>
        <p:txBody>
          <a:bodyPr wrap="square">
            <a:spAutoFit/>
          </a:bodyPr>
          <a:lstStyle/>
          <a:p>
            <a:pPr algn="ctr"/>
            <a:r>
              <a:rPr lang="en-US" sz="1200" b="1" dirty="0">
                <a:solidFill>
                  <a:schemeClr val="tx2">
                    <a:lumMod val="75000"/>
                  </a:schemeClr>
                </a:solidFill>
                <a:latin typeface="Arial" panose="020B0604020202020204" pitchFamily="34" charset="0"/>
              </a:rPr>
              <a:t>ASIMO</a:t>
            </a:r>
            <a:r>
              <a:rPr lang="en-US" sz="1200" dirty="0">
                <a:solidFill>
                  <a:schemeClr val="tx2">
                    <a:lumMod val="75000"/>
                  </a:schemeClr>
                </a:solidFill>
                <a:latin typeface="Arial" panose="020B0604020202020204" pitchFamily="34" charset="0"/>
              </a:rPr>
              <a:t> (</a:t>
            </a:r>
            <a:r>
              <a:rPr lang="en-US" sz="1200" b="1" dirty="0">
                <a:solidFill>
                  <a:schemeClr val="tx2">
                    <a:lumMod val="75000"/>
                  </a:schemeClr>
                </a:solidFill>
                <a:latin typeface="Arial" panose="020B0604020202020204" pitchFamily="34" charset="0"/>
              </a:rPr>
              <a:t>Advanced Step in Innovative Mobility</a:t>
            </a:r>
            <a:r>
              <a:rPr lang="en-US" sz="1200" dirty="0">
                <a:solidFill>
                  <a:schemeClr val="tx2">
                    <a:lumMod val="75000"/>
                  </a:schemeClr>
                </a:solidFill>
                <a:latin typeface="Arial" panose="020B0604020202020204" pitchFamily="34" charset="0"/>
              </a:rPr>
              <a:t>) is a </a:t>
            </a:r>
            <a:r>
              <a:rPr lang="en-US" sz="1200" dirty="0">
                <a:solidFill>
                  <a:schemeClr val="tx2">
                    <a:lumMod val="75000"/>
                  </a:schemeClr>
                </a:solidFill>
                <a:latin typeface="Arial" panose="020B0604020202020204" pitchFamily="34" charset="0"/>
                <a:hlinkClick r:id="rId3" tooltip="Humanoid robot">
                  <a:extLst>
                    <a:ext uri="{A12FA001-AC4F-418D-AE19-62706E023703}">
                      <ahyp:hlinkClr xmlns:ahyp="http://schemas.microsoft.com/office/drawing/2018/hyperlinkcolor" val="tx"/>
                    </a:ext>
                  </a:extLst>
                </a:hlinkClick>
              </a:rPr>
              <a:t>humanoid robot</a:t>
            </a:r>
            <a:r>
              <a:rPr lang="en-US" sz="1200" dirty="0">
                <a:solidFill>
                  <a:schemeClr val="tx2">
                    <a:lumMod val="75000"/>
                  </a:schemeClr>
                </a:solidFill>
                <a:latin typeface="Arial" panose="020B0604020202020204" pitchFamily="34" charset="0"/>
              </a:rPr>
              <a:t> created by </a:t>
            </a:r>
            <a:r>
              <a:rPr lang="en-US" sz="1200" dirty="0">
                <a:solidFill>
                  <a:schemeClr val="tx2">
                    <a:lumMod val="75000"/>
                  </a:schemeClr>
                </a:solidFill>
                <a:latin typeface="Arial" panose="020B0604020202020204" pitchFamily="34" charset="0"/>
                <a:hlinkClick r:id="rId4" tooltip="Honda">
                  <a:extLst>
                    <a:ext uri="{A12FA001-AC4F-418D-AE19-62706E023703}">
                      <ahyp:hlinkClr xmlns:ahyp="http://schemas.microsoft.com/office/drawing/2018/hyperlinkcolor" val="tx"/>
                    </a:ext>
                  </a:extLst>
                </a:hlinkClick>
              </a:rPr>
              <a:t>Honda</a:t>
            </a:r>
            <a:r>
              <a:rPr lang="en-US" sz="1200" dirty="0">
                <a:solidFill>
                  <a:schemeClr val="tx2">
                    <a:lumMod val="75000"/>
                  </a:schemeClr>
                </a:solidFill>
                <a:latin typeface="Arial" panose="020B0604020202020204" pitchFamily="34" charset="0"/>
              </a:rPr>
              <a:t> in 2000</a:t>
            </a:r>
            <a:endParaRPr lang="en-US" sz="1200" dirty="0">
              <a:solidFill>
                <a:schemeClr val="tx2">
                  <a:lumMod val="75000"/>
                </a:schemeClr>
              </a:solidFill>
            </a:endParaRPr>
          </a:p>
        </p:txBody>
      </p:sp>
    </p:spTree>
    <p:extLst>
      <p:ext uri="{BB962C8B-B14F-4D97-AF65-F5344CB8AC3E}">
        <p14:creationId xmlns:p14="http://schemas.microsoft.com/office/powerpoint/2010/main" val="246462378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444F7A-C703-5EF3-5304-1D589E3BB340}"/>
              </a:ext>
            </a:extLst>
          </p:cNvPr>
          <p:cNvSpPr>
            <a:spLocks noGrp="1"/>
          </p:cNvSpPr>
          <p:nvPr>
            <p:ph type="title"/>
          </p:nvPr>
        </p:nvSpPr>
        <p:spPr/>
        <p:txBody>
          <a:bodyPr/>
          <a:lstStyle/>
          <a:p>
            <a:r>
              <a:rPr lang="en-US" dirty="0"/>
              <a:t>What is AI?</a:t>
            </a:r>
          </a:p>
        </p:txBody>
      </p:sp>
      <p:sp>
        <p:nvSpPr>
          <p:cNvPr id="7" name="Rectangle 6">
            <a:extLst>
              <a:ext uri="{FF2B5EF4-FFF2-40B4-BE49-F238E27FC236}">
                <a16:creationId xmlns:a16="http://schemas.microsoft.com/office/drawing/2014/main" id="{8A598C31-8D44-9BB0-7E03-050B1413DEDC}"/>
              </a:ext>
            </a:extLst>
          </p:cNvPr>
          <p:cNvSpPr/>
          <p:nvPr/>
        </p:nvSpPr>
        <p:spPr>
          <a:xfrm>
            <a:off x="2895600" y="1524000"/>
            <a:ext cx="2133600" cy="1828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6600" dirty="0"/>
              <a:t>AI</a:t>
            </a:r>
            <a:endParaRPr lang="en-US" dirty="0"/>
          </a:p>
        </p:txBody>
      </p:sp>
      <p:pic>
        <p:nvPicPr>
          <p:cNvPr id="14" name="Graphic 13" descr="Woman Shrugging with solid fill">
            <a:extLst>
              <a:ext uri="{FF2B5EF4-FFF2-40B4-BE49-F238E27FC236}">
                <a16:creationId xmlns:a16="http://schemas.microsoft.com/office/drawing/2014/main" id="{88BC6CE0-459F-53B7-DA06-167180AF3D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1344097"/>
            <a:ext cx="914400" cy="914400"/>
          </a:xfrm>
          <a:prstGeom prst="rect">
            <a:avLst/>
          </a:prstGeom>
        </p:spPr>
      </p:pic>
      <p:sp>
        <p:nvSpPr>
          <p:cNvPr id="15" name="Arrow: Right 14">
            <a:extLst>
              <a:ext uri="{FF2B5EF4-FFF2-40B4-BE49-F238E27FC236}">
                <a16:creationId xmlns:a16="http://schemas.microsoft.com/office/drawing/2014/main" id="{7655BB7C-EF43-94BC-68EC-849452769860}"/>
              </a:ext>
            </a:extLst>
          </p:cNvPr>
          <p:cNvSpPr/>
          <p:nvPr/>
        </p:nvSpPr>
        <p:spPr>
          <a:xfrm rot="1606142">
            <a:off x="5201309" y="2640032"/>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795B62F-BA36-83A8-D47F-3CF43E9652C0}"/>
              </a:ext>
            </a:extLst>
          </p:cNvPr>
          <p:cNvSpPr/>
          <p:nvPr/>
        </p:nvSpPr>
        <p:spPr>
          <a:xfrm rot="10060878">
            <a:off x="5193137" y="1943113"/>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5E766BF-8A5A-B5AC-9ED2-632004408C2A}"/>
              </a:ext>
            </a:extLst>
          </p:cNvPr>
          <p:cNvSpPr txBox="1"/>
          <p:nvPr/>
        </p:nvSpPr>
        <p:spPr>
          <a:xfrm>
            <a:off x="6244461" y="990600"/>
            <a:ext cx="617477" cy="369332"/>
          </a:xfrm>
          <a:prstGeom prst="rect">
            <a:avLst/>
          </a:prstGeom>
          <a:noFill/>
        </p:spPr>
        <p:txBody>
          <a:bodyPr wrap="none" rtlCol="0">
            <a:spAutoFit/>
          </a:bodyPr>
          <a:lstStyle/>
          <a:p>
            <a:r>
              <a:rPr lang="en-US" dirty="0">
                <a:solidFill>
                  <a:schemeClr val="accent6"/>
                </a:solidFill>
              </a:rPr>
              <a:t>User</a:t>
            </a:r>
          </a:p>
        </p:txBody>
      </p:sp>
      <p:sp>
        <p:nvSpPr>
          <p:cNvPr id="30" name="Scroll: Vertical 29">
            <a:extLst>
              <a:ext uri="{FF2B5EF4-FFF2-40B4-BE49-F238E27FC236}">
                <a16:creationId xmlns:a16="http://schemas.microsoft.com/office/drawing/2014/main" id="{55F4FA7D-E718-D960-E577-F2D75FBE2C05}"/>
              </a:ext>
            </a:extLst>
          </p:cNvPr>
          <p:cNvSpPr/>
          <p:nvPr/>
        </p:nvSpPr>
        <p:spPr>
          <a:xfrm>
            <a:off x="6019799" y="2692733"/>
            <a:ext cx="1066800" cy="524043"/>
          </a:xfrm>
          <a:prstGeom prst="vertic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bg1"/>
                </a:solidFill>
              </a:rPr>
              <a:t>Result</a:t>
            </a:r>
          </a:p>
        </p:txBody>
      </p:sp>
      <p:sp>
        <p:nvSpPr>
          <p:cNvPr id="38" name="Thought Bubble: Cloud 37">
            <a:extLst>
              <a:ext uri="{FF2B5EF4-FFF2-40B4-BE49-F238E27FC236}">
                <a16:creationId xmlns:a16="http://schemas.microsoft.com/office/drawing/2014/main" id="{4C843061-49D4-B031-58A0-BE308A149EAC}"/>
              </a:ext>
            </a:extLst>
          </p:cNvPr>
          <p:cNvSpPr/>
          <p:nvPr/>
        </p:nvSpPr>
        <p:spPr>
          <a:xfrm>
            <a:off x="6780487" y="615149"/>
            <a:ext cx="1296713" cy="685791"/>
          </a:xfrm>
          <a:prstGeom prst="cloudCallout">
            <a:avLst>
              <a:gd name="adj1" fmla="val -53096"/>
              <a:gd name="adj2" fmla="val 65948"/>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dirty="0"/>
              <a:t>Goals for a task</a:t>
            </a:r>
          </a:p>
        </p:txBody>
      </p:sp>
    </p:spTree>
    <p:extLst>
      <p:ext uri="{BB962C8B-B14F-4D97-AF65-F5344CB8AC3E}">
        <p14:creationId xmlns:p14="http://schemas.microsoft.com/office/powerpoint/2010/main" val="2192673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444F7A-C703-5EF3-5304-1D589E3BB340}"/>
              </a:ext>
            </a:extLst>
          </p:cNvPr>
          <p:cNvSpPr>
            <a:spLocks noGrp="1"/>
          </p:cNvSpPr>
          <p:nvPr>
            <p:ph type="title"/>
          </p:nvPr>
        </p:nvSpPr>
        <p:spPr/>
        <p:txBody>
          <a:bodyPr/>
          <a:lstStyle/>
          <a:p>
            <a:r>
              <a:rPr lang="en-US" dirty="0"/>
              <a:t>What is AI?</a:t>
            </a:r>
          </a:p>
        </p:txBody>
      </p:sp>
      <p:sp>
        <p:nvSpPr>
          <p:cNvPr id="7" name="Rectangle 6">
            <a:extLst>
              <a:ext uri="{FF2B5EF4-FFF2-40B4-BE49-F238E27FC236}">
                <a16:creationId xmlns:a16="http://schemas.microsoft.com/office/drawing/2014/main" id="{8A598C31-8D44-9BB0-7E03-050B1413DEDC}"/>
              </a:ext>
            </a:extLst>
          </p:cNvPr>
          <p:cNvSpPr/>
          <p:nvPr/>
        </p:nvSpPr>
        <p:spPr>
          <a:xfrm>
            <a:off x="2895600" y="1524000"/>
            <a:ext cx="2133600" cy="1828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6600" dirty="0"/>
              <a:t>AI</a:t>
            </a:r>
            <a:endParaRPr lang="en-US" dirty="0"/>
          </a:p>
        </p:txBody>
      </p:sp>
      <p:pic>
        <p:nvPicPr>
          <p:cNvPr id="12" name="Graphic 11" descr="Group with solid fill">
            <a:extLst>
              <a:ext uri="{FF2B5EF4-FFF2-40B4-BE49-F238E27FC236}">
                <a16:creationId xmlns:a16="http://schemas.microsoft.com/office/drawing/2014/main" id="{C6F9BB25-4BD0-59C1-29A9-DA3BD7E4CF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34484" y="5239409"/>
            <a:ext cx="1313791" cy="1313791"/>
          </a:xfrm>
          <a:prstGeom prst="rect">
            <a:avLst/>
          </a:prstGeom>
        </p:spPr>
      </p:pic>
      <p:pic>
        <p:nvPicPr>
          <p:cNvPr id="14" name="Graphic 13" descr="Woman Shrugging with solid fill">
            <a:extLst>
              <a:ext uri="{FF2B5EF4-FFF2-40B4-BE49-F238E27FC236}">
                <a16:creationId xmlns:a16="http://schemas.microsoft.com/office/drawing/2014/main" id="{88BC6CE0-459F-53B7-DA06-167180AF3D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344097"/>
            <a:ext cx="914400" cy="914400"/>
          </a:xfrm>
          <a:prstGeom prst="rect">
            <a:avLst/>
          </a:prstGeom>
        </p:spPr>
      </p:pic>
      <p:sp>
        <p:nvSpPr>
          <p:cNvPr id="15" name="Arrow: Right 14">
            <a:extLst>
              <a:ext uri="{FF2B5EF4-FFF2-40B4-BE49-F238E27FC236}">
                <a16:creationId xmlns:a16="http://schemas.microsoft.com/office/drawing/2014/main" id="{7655BB7C-EF43-94BC-68EC-849452769860}"/>
              </a:ext>
            </a:extLst>
          </p:cNvPr>
          <p:cNvSpPr/>
          <p:nvPr/>
        </p:nvSpPr>
        <p:spPr>
          <a:xfrm rot="1606142">
            <a:off x="5201309" y="2640032"/>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795B62F-BA36-83A8-D47F-3CF43E9652C0}"/>
              </a:ext>
            </a:extLst>
          </p:cNvPr>
          <p:cNvSpPr/>
          <p:nvPr/>
        </p:nvSpPr>
        <p:spPr>
          <a:xfrm rot="10060878">
            <a:off x="5193137" y="1943113"/>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5E766BF-8A5A-B5AC-9ED2-632004408C2A}"/>
              </a:ext>
            </a:extLst>
          </p:cNvPr>
          <p:cNvSpPr txBox="1"/>
          <p:nvPr/>
        </p:nvSpPr>
        <p:spPr>
          <a:xfrm>
            <a:off x="6244461" y="990600"/>
            <a:ext cx="617477" cy="369332"/>
          </a:xfrm>
          <a:prstGeom prst="rect">
            <a:avLst/>
          </a:prstGeom>
          <a:noFill/>
        </p:spPr>
        <p:txBody>
          <a:bodyPr wrap="none" rtlCol="0">
            <a:spAutoFit/>
          </a:bodyPr>
          <a:lstStyle/>
          <a:p>
            <a:r>
              <a:rPr lang="en-US" dirty="0">
                <a:solidFill>
                  <a:schemeClr val="accent6"/>
                </a:solidFill>
              </a:rPr>
              <a:t>User</a:t>
            </a:r>
          </a:p>
        </p:txBody>
      </p:sp>
      <p:sp>
        <p:nvSpPr>
          <p:cNvPr id="20" name="Thought Bubble: Cloud 19">
            <a:extLst>
              <a:ext uri="{FF2B5EF4-FFF2-40B4-BE49-F238E27FC236}">
                <a16:creationId xmlns:a16="http://schemas.microsoft.com/office/drawing/2014/main" id="{7D327B33-C0AD-95D0-570F-B8E22350262E}"/>
              </a:ext>
            </a:extLst>
          </p:cNvPr>
          <p:cNvSpPr/>
          <p:nvPr/>
        </p:nvSpPr>
        <p:spPr>
          <a:xfrm>
            <a:off x="1161391" y="4771505"/>
            <a:ext cx="1676400" cy="685791"/>
          </a:xfrm>
          <a:prstGeom prst="cloudCallout">
            <a:avLst>
              <a:gd name="adj1" fmla="val 39355"/>
              <a:gd name="adj2" fmla="val 6824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Goals for the AI</a:t>
            </a:r>
          </a:p>
        </p:txBody>
      </p:sp>
      <p:sp>
        <p:nvSpPr>
          <p:cNvPr id="21" name="Arrow: Right 20">
            <a:extLst>
              <a:ext uri="{FF2B5EF4-FFF2-40B4-BE49-F238E27FC236}">
                <a16:creationId xmlns:a16="http://schemas.microsoft.com/office/drawing/2014/main" id="{844D5108-0AC1-5BE4-74F5-16FD71B9E997}"/>
              </a:ext>
            </a:extLst>
          </p:cNvPr>
          <p:cNvSpPr/>
          <p:nvPr/>
        </p:nvSpPr>
        <p:spPr>
          <a:xfrm rot="17007124">
            <a:off x="2542930" y="4154810"/>
            <a:ext cx="1897008" cy="562038"/>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22" name="Scroll: Vertical 21">
            <a:extLst>
              <a:ext uri="{FF2B5EF4-FFF2-40B4-BE49-F238E27FC236}">
                <a16:creationId xmlns:a16="http://schemas.microsoft.com/office/drawing/2014/main" id="{1BC4A4C9-4C5A-EC63-3C32-87C51CE8D0E8}"/>
              </a:ext>
            </a:extLst>
          </p:cNvPr>
          <p:cNvSpPr/>
          <p:nvPr/>
        </p:nvSpPr>
        <p:spPr>
          <a:xfrm>
            <a:off x="4476091" y="5210506"/>
            <a:ext cx="3296310" cy="1313787"/>
          </a:xfrm>
          <a:prstGeom prst="verticalScroll">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8800" dirty="0">
                <a:solidFill>
                  <a:schemeClr val="bg1"/>
                </a:solidFill>
              </a:rPr>
              <a:t>Data</a:t>
            </a:r>
            <a:endParaRPr lang="en-US" sz="6600" dirty="0">
              <a:solidFill>
                <a:schemeClr val="bg1"/>
              </a:solidFill>
            </a:endParaRPr>
          </a:p>
        </p:txBody>
      </p:sp>
      <p:sp>
        <p:nvSpPr>
          <p:cNvPr id="23" name="Arrow: Right 22">
            <a:extLst>
              <a:ext uri="{FF2B5EF4-FFF2-40B4-BE49-F238E27FC236}">
                <a16:creationId xmlns:a16="http://schemas.microsoft.com/office/drawing/2014/main" id="{4D94FAE3-97F3-760E-E6B6-E34884CB55C9}"/>
              </a:ext>
            </a:extLst>
          </p:cNvPr>
          <p:cNvSpPr/>
          <p:nvPr/>
        </p:nvSpPr>
        <p:spPr>
          <a:xfrm rot="14238213">
            <a:off x="3682967" y="3999328"/>
            <a:ext cx="1840786" cy="585176"/>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4" name="Arrow: Right 23">
            <a:extLst>
              <a:ext uri="{FF2B5EF4-FFF2-40B4-BE49-F238E27FC236}">
                <a16:creationId xmlns:a16="http://schemas.microsoft.com/office/drawing/2014/main" id="{325DEB90-0DE1-DB13-F271-57D9C7C14DF9}"/>
              </a:ext>
            </a:extLst>
          </p:cNvPr>
          <p:cNvSpPr/>
          <p:nvPr/>
        </p:nvSpPr>
        <p:spPr>
          <a:xfrm>
            <a:off x="3848275" y="5705968"/>
            <a:ext cx="725218" cy="152399"/>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985EBD1-F862-FC75-4441-1DABA4B6D682}"/>
              </a:ext>
            </a:extLst>
          </p:cNvPr>
          <p:cNvSpPr txBox="1"/>
          <p:nvPr/>
        </p:nvSpPr>
        <p:spPr>
          <a:xfrm>
            <a:off x="3839107" y="5391799"/>
            <a:ext cx="732893" cy="369332"/>
          </a:xfrm>
          <a:prstGeom prst="rect">
            <a:avLst/>
          </a:prstGeom>
          <a:noFill/>
        </p:spPr>
        <p:txBody>
          <a:bodyPr wrap="none" rtlCol="0">
            <a:spAutoFit/>
          </a:bodyPr>
          <a:lstStyle/>
          <a:p>
            <a:r>
              <a:rPr lang="en-US" dirty="0">
                <a:solidFill>
                  <a:schemeClr val="accent2"/>
                </a:solidFill>
              </a:rPr>
              <a:t>select</a:t>
            </a:r>
          </a:p>
        </p:txBody>
      </p:sp>
      <p:sp>
        <p:nvSpPr>
          <p:cNvPr id="26" name="TextBox 25">
            <a:extLst>
              <a:ext uri="{FF2B5EF4-FFF2-40B4-BE49-F238E27FC236}">
                <a16:creationId xmlns:a16="http://schemas.microsoft.com/office/drawing/2014/main" id="{B88F199D-F243-AF6F-1D93-FA311947D6CC}"/>
              </a:ext>
            </a:extLst>
          </p:cNvPr>
          <p:cNvSpPr txBox="1"/>
          <p:nvPr/>
        </p:nvSpPr>
        <p:spPr>
          <a:xfrm>
            <a:off x="4766360" y="4034656"/>
            <a:ext cx="622350" cy="369332"/>
          </a:xfrm>
          <a:prstGeom prst="rect">
            <a:avLst/>
          </a:prstGeom>
          <a:noFill/>
        </p:spPr>
        <p:txBody>
          <a:bodyPr wrap="none" rtlCol="0">
            <a:spAutoFit/>
          </a:bodyPr>
          <a:lstStyle/>
          <a:p>
            <a:r>
              <a:rPr lang="en-US" dirty="0">
                <a:solidFill>
                  <a:schemeClr val="accent2"/>
                </a:solidFill>
              </a:rPr>
              <a:t>train</a:t>
            </a:r>
          </a:p>
        </p:txBody>
      </p:sp>
      <p:sp>
        <p:nvSpPr>
          <p:cNvPr id="28" name="Scroll: Vertical 27">
            <a:extLst>
              <a:ext uri="{FF2B5EF4-FFF2-40B4-BE49-F238E27FC236}">
                <a16:creationId xmlns:a16="http://schemas.microsoft.com/office/drawing/2014/main" id="{0C0020EF-6B89-AA9D-E241-A7D14CC3E9D3}"/>
              </a:ext>
            </a:extLst>
          </p:cNvPr>
          <p:cNvSpPr/>
          <p:nvPr/>
        </p:nvSpPr>
        <p:spPr>
          <a:xfrm>
            <a:off x="2457700" y="3814099"/>
            <a:ext cx="885490" cy="752640"/>
          </a:xfrm>
          <a:prstGeom prst="verticalScroll">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solidFill>
                  <a:schemeClr val="bg1"/>
                </a:solidFill>
              </a:rPr>
              <a:t>Rules / Reward model</a:t>
            </a:r>
          </a:p>
        </p:txBody>
      </p:sp>
      <p:sp>
        <p:nvSpPr>
          <p:cNvPr id="29" name="TextBox 28">
            <a:extLst>
              <a:ext uri="{FF2B5EF4-FFF2-40B4-BE49-F238E27FC236}">
                <a16:creationId xmlns:a16="http://schemas.microsoft.com/office/drawing/2014/main" id="{557C70B4-90C2-AA85-415E-6E2E148D2367}"/>
              </a:ext>
            </a:extLst>
          </p:cNvPr>
          <p:cNvSpPr txBox="1"/>
          <p:nvPr/>
        </p:nvSpPr>
        <p:spPr>
          <a:xfrm>
            <a:off x="2142764" y="6237237"/>
            <a:ext cx="2121671" cy="369332"/>
          </a:xfrm>
          <a:prstGeom prst="rect">
            <a:avLst/>
          </a:prstGeom>
          <a:noFill/>
        </p:spPr>
        <p:txBody>
          <a:bodyPr wrap="none" rtlCol="0">
            <a:spAutoFit/>
          </a:bodyPr>
          <a:lstStyle/>
          <a:p>
            <a:r>
              <a:rPr lang="en-US" dirty="0">
                <a:solidFill>
                  <a:schemeClr val="accent2"/>
                </a:solidFill>
              </a:rPr>
              <a:t>Developers / owners</a:t>
            </a:r>
          </a:p>
        </p:txBody>
      </p:sp>
      <p:sp>
        <p:nvSpPr>
          <p:cNvPr id="2" name="Thought Bubble: Cloud 1">
            <a:extLst>
              <a:ext uri="{FF2B5EF4-FFF2-40B4-BE49-F238E27FC236}">
                <a16:creationId xmlns:a16="http://schemas.microsoft.com/office/drawing/2014/main" id="{883CE054-8471-E903-B255-CD7038A9034B}"/>
              </a:ext>
            </a:extLst>
          </p:cNvPr>
          <p:cNvSpPr/>
          <p:nvPr/>
        </p:nvSpPr>
        <p:spPr>
          <a:xfrm>
            <a:off x="6780487" y="615149"/>
            <a:ext cx="1296713" cy="685791"/>
          </a:xfrm>
          <a:prstGeom prst="cloudCallout">
            <a:avLst>
              <a:gd name="adj1" fmla="val -53096"/>
              <a:gd name="adj2" fmla="val 65948"/>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dirty="0"/>
              <a:t>Goals for a task</a:t>
            </a:r>
          </a:p>
        </p:txBody>
      </p:sp>
      <p:sp>
        <p:nvSpPr>
          <p:cNvPr id="3" name="Scroll: Vertical 2">
            <a:extLst>
              <a:ext uri="{FF2B5EF4-FFF2-40B4-BE49-F238E27FC236}">
                <a16:creationId xmlns:a16="http://schemas.microsoft.com/office/drawing/2014/main" id="{B9456725-98E2-1871-D1CC-C9F76CECA6A3}"/>
              </a:ext>
            </a:extLst>
          </p:cNvPr>
          <p:cNvSpPr/>
          <p:nvPr/>
        </p:nvSpPr>
        <p:spPr>
          <a:xfrm>
            <a:off x="6019799" y="2692733"/>
            <a:ext cx="1066800" cy="524043"/>
          </a:xfrm>
          <a:prstGeom prst="vertic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bg1"/>
                </a:solidFill>
              </a:rPr>
              <a:t>Result</a:t>
            </a:r>
          </a:p>
        </p:txBody>
      </p:sp>
    </p:spTree>
    <p:extLst>
      <p:ext uri="{BB962C8B-B14F-4D97-AF65-F5344CB8AC3E}">
        <p14:creationId xmlns:p14="http://schemas.microsoft.com/office/powerpoint/2010/main" val="396516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Rectangle 2"/>
          <p:cNvSpPr>
            <a:spLocks noGrp="1" noChangeArrowheads="1"/>
          </p:cNvSpPr>
          <p:nvPr>
            <p:ph type="title"/>
          </p:nvPr>
        </p:nvSpPr>
        <p:spPr>
          <a:xfrm>
            <a:off x="630936" y="251312"/>
            <a:ext cx="7879842" cy="1010264"/>
          </a:xfrm>
        </p:spPr>
        <p:txBody>
          <a:bodyPr anchor="ctr">
            <a:normAutofit/>
          </a:bodyPr>
          <a:lstStyle/>
          <a:p>
            <a:r>
              <a:rPr lang="en-US" dirty="0"/>
              <a:t>What is AI?</a:t>
            </a:r>
          </a:p>
        </p:txBody>
      </p:sp>
      <p:sp>
        <p:nvSpPr>
          <p:cNvPr id="8201" name="Rectangle 820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96012"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03" name="Rectangle 820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38086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CCA3ACF4-94F7-8606-D2F6-5FB02C0CFE44}"/>
              </a:ext>
            </a:extLst>
          </p:cNvPr>
          <p:cNvSpPr/>
          <p:nvPr/>
        </p:nvSpPr>
        <p:spPr>
          <a:xfrm>
            <a:off x="3861744" y="4114800"/>
            <a:ext cx="4291656" cy="24918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42D2FD3F-096E-2808-1293-855C3B745C86}"/>
              </a:ext>
            </a:extLst>
          </p:cNvPr>
          <p:cNvSpPr txBox="1"/>
          <p:nvPr/>
        </p:nvSpPr>
        <p:spPr>
          <a:xfrm>
            <a:off x="943159" y="1650222"/>
            <a:ext cx="7250824" cy="1908215"/>
          </a:xfrm>
          <a:prstGeom prst="rect">
            <a:avLst/>
          </a:prstGeom>
          <a:noFill/>
        </p:spPr>
        <p:txBody>
          <a:bodyPr wrap="square">
            <a:spAutoFit/>
          </a:bodyPr>
          <a:lstStyle/>
          <a:p>
            <a:pPr defTabSz="822960">
              <a:spcAft>
                <a:spcPts val="600"/>
              </a:spcAft>
            </a:pPr>
            <a:r>
              <a:rPr lang="en-US" sz="1800" kern="1200" dirty="0">
                <a:solidFill>
                  <a:schemeClr val="tx1"/>
                </a:solidFill>
                <a:latin typeface="+mn-lt"/>
                <a:ea typeface="+mn-ea"/>
                <a:cs typeface="+mn-cs"/>
              </a:rPr>
              <a:t>An </a:t>
            </a:r>
            <a:r>
              <a:rPr lang="en-US" sz="1800" b="1" kern="1200" dirty="0">
                <a:solidFill>
                  <a:schemeClr val="tx1"/>
                </a:solidFill>
                <a:latin typeface="+mn-lt"/>
                <a:ea typeface="+mn-ea"/>
                <a:cs typeface="+mn-cs"/>
              </a:rPr>
              <a:t>artificial general intelligence (AGI) </a:t>
            </a:r>
            <a:r>
              <a:rPr lang="en-US" sz="1800" kern="1200" dirty="0">
                <a:solidFill>
                  <a:schemeClr val="tx1"/>
                </a:solidFill>
                <a:latin typeface="+mn-lt"/>
                <a:ea typeface="+mn-ea"/>
                <a:cs typeface="+mn-cs"/>
              </a:rPr>
              <a:t>is a hypothetical intelligent agent which can understand or learn any intellectual task that human beings or other animals can. 			</a:t>
            </a:r>
            <a:r>
              <a:rPr lang="en-US" sz="1800" kern="1200" dirty="0">
                <a:solidFill>
                  <a:schemeClr val="bg1">
                    <a:lumMod val="65000"/>
                  </a:schemeClr>
                </a:solidFill>
                <a:latin typeface="+mn-lt"/>
                <a:ea typeface="+mn-ea"/>
                <a:cs typeface="+mn-cs"/>
              </a:rPr>
              <a:t> [Wikipedia entry on AGI]</a:t>
            </a:r>
            <a:endParaRPr lang="en-US" sz="1800" kern="1200" dirty="0">
              <a:solidFill>
                <a:schemeClr val="tx1"/>
              </a:solidFill>
              <a:latin typeface="+mn-lt"/>
              <a:ea typeface="+mn-ea"/>
              <a:cs typeface="+mn-cs"/>
            </a:endParaRPr>
          </a:p>
          <a:p>
            <a:pPr defTabSz="822960">
              <a:spcAft>
                <a:spcPts val="600"/>
              </a:spcAft>
            </a:pPr>
            <a:endParaRPr lang="en-US" sz="1800" b="1" kern="1200" dirty="0">
              <a:solidFill>
                <a:schemeClr val="tx1"/>
              </a:solidFill>
              <a:latin typeface="+mn-lt"/>
              <a:ea typeface="+mn-ea"/>
              <a:cs typeface="+mn-cs"/>
            </a:endParaRPr>
          </a:p>
          <a:p>
            <a:pPr defTabSz="822960">
              <a:spcAft>
                <a:spcPts val="600"/>
              </a:spcAft>
            </a:pPr>
            <a:r>
              <a:rPr lang="en-US" sz="1800" b="1" kern="1200" dirty="0">
                <a:solidFill>
                  <a:schemeClr val="tx1"/>
                </a:solidFill>
                <a:latin typeface="+mn-lt"/>
                <a:ea typeface="+mn-ea"/>
                <a:cs typeface="+mn-cs"/>
              </a:rPr>
              <a:t>Narrow AI </a:t>
            </a:r>
            <a:r>
              <a:rPr lang="en-US" sz="1800" kern="1200" dirty="0">
                <a:solidFill>
                  <a:schemeClr val="tx1"/>
                </a:solidFill>
                <a:latin typeface="+mn-lt"/>
                <a:ea typeface="+mn-ea"/>
                <a:cs typeface="+mn-cs"/>
              </a:rPr>
              <a:t>focuses on agents to solve a specific subproblem.			</a:t>
            </a:r>
            <a:endParaRPr lang="en-US" sz="2000" dirty="0">
              <a:solidFill>
                <a:schemeClr val="bg1">
                  <a:lumMod val="65000"/>
                </a:schemeClr>
              </a:solidFill>
            </a:endParaRPr>
          </a:p>
        </p:txBody>
      </p:sp>
      <p:pic>
        <p:nvPicPr>
          <p:cNvPr id="8" name="Picture 4">
            <a:extLst>
              <a:ext uri="{FF2B5EF4-FFF2-40B4-BE49-F238E27FC236}">
                <a16:creationId xmlns:a16="http://schemas.microsoft.com/office/drawing/2014/main" id="{4DB3E2C6-EE4E-D364-BCB4-E75726340565}"/>
              </a:ext>
            </a:extLst>
          </p:cNvPr>
          <p:cNvPicPr>
            <a:picLocks noChangeAspect="1" noChangeArrowheads="1"/>
          </p:cNvPicPr>
          <p:nvPr/>
        </p:nvPicPr>
        <p:blipFill>
          <a:blip r:embed="rId3" cstate="print"/>
          <a:srcRect/>
          <a:stretch>
            <a:fillRect/>
          </a:stretch>
        </p:blipFill>
        <p:spPr bwMode="auto">
          <a:xfrm>
            <a:off x="3930963" y="4166519"/>
            <a:ext cx="4176800" cy="1799405"/>
          </a:xfrm>
          <a:prstGeom prst="rect">
            <a:avLst/>
          </a:prstGeom>
          <a:noFill/>
          <a:ln w="9525">
            <a:noFill/>
            <a:miter lim="800000"/>
            <a:headEnd/>
            <a:tailEnd/>
          </a:ln>
        </p:spPr>
      </p:pic>
      <p:sp>
        <p:nvSpPr>
          <p:cNvPr id="10" name="TextBox 9">
            <a:extLst>
              <a:ext uri="{FF2B5EF4-FFF2-40B4-BE49-F238E27FC236}">
                <a16:creationId xmlns:a16="http://schemas.microsoft.com/office/drawing/2014/main" id="{D65825CC-57D2-D785-815A-D40859707529}"/>
              </a:ext>
            </a:extLst>
          </p:cNvPr>
          <p:cNvSpPr txBox="1"/>
          <p:nvPr/>
        </p:nvSpPr>
        <p:spPr>
          <a:xfrm>
            <a:off x="3861744" y="6080320"/>
            <a:ext cx="4291656"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sp>
        <p:nvSpPr>
          <p:cNvPr id="4" name="TextBox 3">
            <a:extLst>
              <a:ext uri="{FF2B5EF4-FFF2-40B4-BE49-F238E27FC236}">
                <a16:creationId xmlns:a16="http://schemas.microsoft.com/office/drawing/2014/main" id="{013B97C3-DCC6-2DA7-0B2D-AD6F495E5EEB}"/>
              </a:ext>
            </a:extLst>
          </p:cNvPr>
          <p:cNvSpPr txBox="1"/>
          <p:nvPr/>
        </p:nvSpPr>
        <p:spPr>
          <a:xfrm>
            <a:off x="924766" y="4043027"/>
            <a:ext cx="2667000" cy="2400657"/>
          </a:xfrm>
          <a:prstGeom prst="rect">
            <a:avLst/>
          </a:prstGeom>
          <a:noFill/>
        </p:spPr>
        <p:txBody>
          <a:bodyPr wrap="square">
            <a:spAutoFit/>
          </a:bodyPr>
          <a:lstStyle/>
          <a:p>
            <a:pPr defTabSz="822960">
              <a:spcAft>
                <a:spcPts val="600"/>
              </a:spcAft>
            </a:pPr>
            <a:r>
              <a:rPr lang="en-US" kern="1200" dirty="0">
                <a:solidFill>
                  <a:schemeClr val="tx1"/>
                </a:solidFill>
                <a:latin typeface="+mn-lt"/>
                <a:ea typeface="+mn-ea"/>
                <a:cs typeface="+mn-cs"/>
              </a:rPr>
              <a:t>Intelligent agents need to</a:t>
            </a:r>
          </a:p>
          <a:p>
            <a:pPr marL="308610" indent="-308610" defTabSz="822960">
              <a:spcAft>
                <a:spcPts val="600"/>
              </a:spcAft>
              <a:buFont typeface="Arial" panose="020B0604020202020204" pitchFamily="34" charset="0"/>
              <a:buChar char="•"/>
            </a:pPr>
            <a:r>
              <a:rPr lang="en-US" sz="1600" dirty="0"/>
              <a:t>C</a:t>
            </a:r>
            <a:r>
              <a:rPr lang="en-US" sz="1600" kern="1200" dirty="0">
                <a:solidFill>
                  <a:schemeClr val="tx1"/>
                </a:solidFill>
                <a:latin typeface="+mn-lt"/>
                <a:ea typeface="+mn-ea"/>
                <a:cs typeface="+mn-cs"/>
              </a:rPr>
              <a:t>ommunicate with the environment</a:t>
            </a:r>
            <a:endParaRPr lang="en-US" sz="1600" dirty="0"/>
          </a:p>
          <a:p>
            <a:pPr marL="308610" indent="-308610" defTabSz="822960">
              <a:spcAft>
                <a:spcPts val="600"/>
              </a:spcAft>
              <a:buFont typeface="Arial" panose="020B0604020202020204" pitchFamily="34" charset="0"/>
              <a:buChar char="•"/>
            </a:pPr>
            <a:r>
              <a:rPr lang="en-US" sz="1600" dirty="0"/>
              <a:t>R</a:t>
            </a:r>
            <a:r>
              <a:rPr lang="en-US" sz="1600" kern="1200" dirty="0">
                <a:solidFill>
                  <a:schemeClr val="tx1"/>
                </a:solidFill>
                <a:latin typeface="+mn-lt"/>
                <a:ea typeface="+mn-ea"/>
                <a:cs typeface="+mn-cs"/>
              </a:rPr>
              <a:t>epresent knowledge</a:t>
            </a:r>
          </a:p>
          <a:p>
            <a:pPr marL="308610" indent="-308610" defTabSz="822960">
              <a:spcAft>
                <a:spcPts val="600"/>
              </a:spcAft>
              <a:buFont typeface="Arial" panose="020B0604020202020204" pitchFamily="34" charset="0"/>
              <a:buChar char="•"/>
            </a:pPr>
            <a:r>
              <a:rPr lang="en-US" sz="1600" dirty="0"/>
              <a:t>R</a:t>
            </a:r>
            <a:r>
              <a:rPr lang="en-US" sz="1600" kern="1200" dirty="0">
                <a:solidFill>
                  <a:schemeClr val="tx1"/>
                </a:solidFill>
                <a:latin typeface="+mn-lt"/>
                <a:ea typeface="+mn-ea"/>
                <a:cs typeface="+mn-cs"/>
              </a:rPr>
              <a:t>eason and plan to achieve a </a:t>
            </a:r>
            <a:r>
              <a:rPr lang="en-US" sz="1600" b="1" kern="1200" dirty="0">
                <a:solidFill>
                  <a:schemeClr val="tx1"/>
                </a:solidFill>
                <a:latin typeface="+mn-lt"/>
                <a:ea typeface="+mn-ea"/>
                <a:cs typeface="+mn-cs"/>
              </a:rPr>
              <a:t>desired outcome</a:t>
            </a:r>
          </a:p>
          <a:p>
            <a:pPr marL="308610" indent="-308610" defTabSz="822960">
              <a:spcAft>
                <a:spcPts val="600"/>
              </a:spcAft>
              <a:buFont typeface="Arial" panose="020B0604020202020204" pitchFamily="34" charset="0"/>
              <a:buChar char="•"/>
            </a:pPr>
            <a:r>
              <a:rPr lang="en-US" sz="1600" dirty="0"/>
              <a:t>L</a:t>
            </a:r>
            <a:r>
              <a:rPr lang="en-US" sz="1600" kern="1200" dirty="0">
                <a:solidFill>
                  <a:schemeClr val="tx1"/>
                </a:solidFill>
                <a:latin typeface="+mn-lt"/>
                <a:ea typeface="+mn-ea"/>
                <a:cs typeface="+mn-cs"/>
              </a:rPr>
              <a:t>earn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5E6F7-DA34-713C-1D25-79AD4E41C280}"/>
              </a:ext>
            </a:extLst>
          </p:cNvPr>
          <p:cNvSpPr>
            <a:spLocks noGrp="1"/>
          </p:cNvSpPr>
          <p:nvPr>
            <p:ph type="title"/>
          </p:nvPr>
        </p:nvSpPr>
        <p:spPr>
          <a:xfrm>
            <a:off x="630936" y="256032"/>
            <a:ext cx="7879842" cy="1014984"/>
          </a:xfrm>
        </p:spPr>
        <p:txBody>
          <a:bodyPr anchor="b">
            <a:normAutofit/>
          </a:bodyPr>
          <a:lstStyle/>
          <a:p>
            <a:r>
              <a:rPr lang="en-US" dirty="0"/>
              <a:t>Machine Learning vs. Artificial Intelligence</a:t>
            </a:r>
          </a:p>
        </p:txBody>
      </p:sp>
      <p:sp>
        <p:nvSpPr>
          <p:cNvPr id="13" name="Rectangle 1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26EC05D1-387A-7062-81D6-824CA34FF12B}"/>
              </a:ext>
            </a:extLst>
          </p:cNvPr>
          <p:cNvGraphicFramePr>
            <a:graphicFrameLocks noGrp="1"/>
          </p:cNvGraphicFramePr>
          <p:nvPr>
            <p:ph idx="1"/>
            <p:extLst>
              <p:ext uri="{D42A27DB-BD31-4B8C-83A1-F6EECF244321}">
                <p14:modId xmlns:p14="http://schemas.microsoft.com/office/powerpoint/2010/main" val="4017752871"/>
              </p:ext>
            </p:extLst>
          </p:nvPr>
        </p:nvGraphicFramePr>
        <p:xfrm>
          <a:off x="-1295400" y="1885746"/>
          <a:ext cx="7601222"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1BB3D58-293A-30AC-E632-C3D824119189}"/>
              </a:ext>
            </a:extLst>
          </p:cNvPr>
          <p:cNvSpPr txBox="1"/>
          <p:nvPr/>
        </p:nvSpPr>
        <p:spPr>
          <a:xfrm>
            <a:off x="2148214" y="3840665"/>
            <a:ext cx="2040597" cy="1015663"/>
          </a:xfrm>
          <a:prstGeom prst="rect">
            <a:avLst/>
          </a:prstGeom>
          <a:noFill/>
        </p:spPr>
        <p:txBody>
          <a:bodyPr wrap="square" rtlCol="0">
            <a:spAutoFit/>
          </a:bodyPr>
          <a:lstStyle/>
          <a:p>
            <a:pPr defTabSz="813816"/>
            <a:r>
              <a:rPr lang="en-US" sz="1200" kern="1200" dirty="0">
                <a:solidFill>
                  <a:schemeClr val="bg1"/>
                </a:solidFill>
                <a:latin typeface="+mn-lt"/>
                <a:ea typeface="+mn-ea"/>
                <a:cs typeface="+mn-cs"/>
              </a:rPr>
              <a:t>Learning from examples instead of being programmed</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Supervised learning</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Unsupervised l.</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RL</a:t>
            </a:r>
            <a:endParaRPr lang="en-US" sz="1200" dirty="0">
              <a:solidFill>
                <a:schemeClr val="bg1"/>
              </a:solidFill>
            </a:endParaRPr>
          </a:p>
        </p:txBody>
      </p:sp>
      <p:sp>
        <p:nvSpPr>
          <p:cNvPr id="6" name="TextBox 5">
            <a:extLst>
              <a:ext uri="{FF2B5EF4-FFF2-40B4-BE49-F238E27FC236}">
                <a16:creationId xmlns:a16="http://schemas.microsoft.com/office/drawing/2014/main" id="{BFCA1891-26C0-FFD0-93A7-3896C9DC583B}"/>
              </a:ext>
            </a:extLst>
          </p:cNvPr>
          <p:cNvSpPr txBox="1"/>
          <p:nvPr/>
        </p:nvSpPr>
        <p:spPr>
          <a:xfrm>
            <a:off x="524011" y="3205049"/>
            <a:ext cx="1649603" cy="1434367"/>
          </a:xfrm>
          <a:prstGeom prst="rect">
            <a:avLst/>
          </a:prstGeom>
          <a:noFill/>
        </p:spPr>
        <p:txBody>
          <a:bodyPr wrap="square" rtlCol="0">
            <a:spAutoFit/>
          </a:bodyPr>
          <a:lstStyle/>
          <a:p>
            <a:pPr marL="254318" indent="-254318" defTabSz="813816">
              <a:buFont typeface="Arial" panose="020B0604020202020204" pitchFamily="34" charset="0"/>
              <a:buChar char="•"/>
            </a:pPr>
            <a:r>
              <a:rPr lang="en-US" sz="1424" kern="1200" dirty="0">
                <a:solidFill>
                  <a:schemeClr val="bg1"/>
                </a:solidFill>
                <a:latin typeface="+mn-lt"/>
                <a:ea typeface="+mn-ea"/>
                <a:cs typeface="+mn-cs"/>
              </a:rPr>
              <a:t>Vision</a:t>
            </a:r>
          </a:p>
          <a:p>
            <a:pPr marL="254318" indent="-254318" defTabSz="813816">
              <a:buFont typeface="Arial" panose="020B0604020202020204" pitchFamily="34" charset="0"/>
              <a:buChar char="•"/>
            </a:pPr>
            <a:r>
              <a:rPr lang="en-US" sz="1424" kern="1200" dirty="0">
                <a:solidFill>
                  <a:schemeClr val="bg1"/>
                </a:solidFill>
                <a:latin typeface="+mn-lt"/>
                <a:ea typeface="+mn-ea"/>
                <a:cs typeface="+mn-cs"/>
              </a:rPr>
              <a:t>Other Sensors</a:t>
            </a:r>
          </a:p>
          <a:p>
            <a:pPr marL="254318" indent="-254318" defTabSz="813816">
              <a:buFont typeface="Arial" panose="020B0604020202020204" pitchFamily="34" charset="0"/>
              <a:buChar char="•"/>
            </a:pPr>
            <a:r>
              <a:rPr lang="en-US" sz="1424" kern="1200" dirty="0">
                <a:solidFill>
                  <a:schemeClr val="bg1"/>
                </a:solidFill>
                <a:latin typeface="+mn-lt"/>
                <a:ea typeface="+mn-ea"/>
                <a:cs typeface="+mn-cs"/>
              </a:rPr>
              <a:t>Motion</a:t>
            </a:r>
          </a:p>
          <a:p>
            <a:pPr marL="254318" indent="-254318" defTabSz="813816">
              <a:buFont typeface="Arial" panose="020B0604020202020204" pitchFamily="34" charset="0"/>
              <a:buChar char="•"/>
            </a:pPr>
            <a:r>
              <a:rPr lang="en-US" sz="1424" kern="1200" dirty="0">
                <a:solidFill>
                  <a:schemeClr val="bg1"/>
                </a:solidFill>
                <a:latin typeface="+mn-lt"/>
                <a:ea typeface="+mn-ea"/>
                <a:cs typeface="+mn-cs"/>
              </a:rPr>
              <a:t>NLP</a:t>
            </a:r>
          </a:p>
          <a:p>
            <a:pPr marL="254318" indent="-254318" defTabSz="813816">
              <a:buFont typeface="Arial" panose="020B0604020202020204" pitchFamily="34" charset="0"/>
              <a:buChar char="•"/>
            </a:pPr>
            <a:r>
              <a:rPr lang="en-US" sz="1600" kern="1200" dirty="0">
                <a:solidFill>
                  <a:schemeClr val="bg1"/>
                </a:solidFill>
                <a:latin typeface="+mn-lt"/>
                <a:ea typeface="+mn-ea"/>
                <a:cs typeface="+mn-cs"/>
              </a:rPr>
              <a:t>Planning</a:t>
            </a:r>
          </a:p>
          <a:p>
            <a:pPr marL="254318" indent="-254318" defTabSz="813816">
              <a:buFont typeface="Arial" panose="020B0604020202020204" pitchFamily="34" charset="0"/>
              <a:buChar char="•"/>
            </a:pPr>
            <a:r>
              <a:rPr lang="en-US" sz="1424" dirty="0">
                <a:solidFill>
                  <a:schemeClr val="bg1"/>
                </a:solidFill>
              </a:rPr>
              <a:t>Goals</a:t>
            </a:r>
            <a:endParaRPr lang="en-US" sz="1600" dirty="0">
              <a:solidFill>
                <a:schemeClr val="bg1"/>
              </a:solidFill>
            </a:endParaRPr>
          </a:p>
        </p:txBody>
      </p:sp>
      <p:sp>
        <p:nvSpPr>
          <p:cNvPr id="8" name="TextBox 7">
            <a:extLst>
              <a:ext uri="{FF2B5EF4-FFF2-40B4-BE49-F238E27FC236}">
                <a16:creationId xmlns:a16="http://schemas.microsoft.com/office/drawing/2014/main" id="{982FA158-D318-31F6-4481-B520095C3658}"/>
              </a:ext>
            </a:extLst>
          </p:cNvPr>
          <p:cNvSpPr txBox="1"/>
          <p:nvPr/>
        </p:nvSpPr>
        <p:spPr>
          <a:xfrm>
            <a:off x="1057411" y="2690640"/>
            <a:ext cx="3156800" cy="338554"/>
          </a:xfrm>
          <a:prstGeom prst="rect">
            <a:avLst/>
          </a:prstGeom>
          <a:noFill/>
        </p:spPr>
        <p:txBody>
          <a:bodyPr wrap="square">
            <a:spAutoFit/>
          </a:bodyPr>
          <a:lstStyle/>
          <a:p>
            <a:pPr algn="ctr" defTabSz="813816"/>
            <a:r>
              <a:rPr lang="en-US" sz="1600" kern="1200" dirty="0">
                <a:solidFill>
                  <a:schemeClr val="bg1"/>
                </a:solidFill>
                <a:latin typeface="+mn-lt"/>
                <a:ea typeface="+mn-ea"/>
                <a:cs typeface="+mn-cs"/>
              </a:rPr>
              <a:t>Designing an intelligent agent </a:t>
            </a:r>
          </a:p>
        </p:txBody>
      </p:sp>
      <p:sp>
        <p:nvSpPr>
          <p:cNvPr id="10" name="Rectangle 9">
            <a:extLst>
              <a:ext uri="{FF2B5EF4-FFF2-40B4-BE49-F238E27FC236}">
                <a16:creationId xmlns:a16="http://schemas.microsoft.com/office/drawing/2014/main" id="{7A835725-AEE6-6BCE-4FED-5C6D060C6BE1}"/>
              </a:ext>
            </a:extLst>
          </p:cNvPr>
          <p:cNvSpPr/>
          <p:nvPr/>
        </p:nvSpPr>
        <p:spPr>
          <a:xfrm>
            <a:off x="4863019" y="4336341"/>
            <a:ext cx="3933628" cy="2321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2" name="Picture 4">
            <a:extLst>
              <a:ext uri="{FF2B5EF4-FFF2-40B4-BE49-F238E27FC236}">
                <a16:creationId xmlns:a16="http://schemas.microsoft.com/office/drawing/2014/main" id="{A218ABDB-D60C-D4E4-97D1-D0127D20AA10}"/>
              </a:ext>
            </a:extLst>
          </p:cNvPr>
          <p:cNvPicPr>
            <a:picLocks noChangeAspect="1" noChangeArrowheads="1"/>
          </p:cNvPicPr>
          <p:nvPr/>
        </p:nvPicPr>
        <p:blipFill>
          <a:blip r:embed="rId7" cstate="print"/>
          <a:srcRect/>
          <a:stretch>
            <a:fillRect/>
          </a:stretch>
        </p:blipFill>
        <p:spPr bwMode="auto">
          <a:xfrm>
            <a:off x="4914610" y="4493537"/>
            <a:ext cx="3535763" cy="1523240"/>
          </a:xfrm>
          <a:prstGeom prst="rect">
            <a:avLst/>
          </a:prstGeom>
          <a:noFill/>
          <a:ln w="9525">
            <a:noFill/>
            <a:miter lim="800000"/>
            <a:headEnd/>
            <a:tailEnd/>
          </a:ln>
        </p:spPr>
      </p:pic>
      <p:sp>
        <p:nvSpPr>
          <p:cNvPr id="14" name="TextBox 13">
            <a:extLst>
              <a:ext uri="{FF2B5EF4-FFF2-40B4-BE49-F238E27FC236}">
                <a16:creationId xmlns:a16="http://schemas.microsoft.com/office/drawing/2014/main" id="{6E02E788-9F95-40E6-F0AE-D6602261715F}"/>
              </a:ext>
            </a:extLst>
          </p:cNvPr>
          <p:cNvSpPr txBox="1"/>
          <p:nvPr/>
        </p:nvSpPr>
        <p:spPr>
          <a:xfrm>
            <a:off x="4863019" y="6235205"/>
            <a:ext cx="3861592"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pic>
        <p:nvPicPr>
          <p:cNvPr id="16" name="Graphic 15" descr="Group with solid fill">
            <a:extLst>
              <a:ext uri="{FF2B5EF4-FFF2-40B4-BE49-F238E27FC236}">
                <a16:creationId xmlns:a16="http://schemas.microsoft.com/office/drawing/2014/main" id="{B7E01899-509C-53D0-0C49-1A0251B93E0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2243" y="3149507"/>
            <a:ext cx="876107" cy="876107"/>
          </a:xfrm>
          <a:prstGeom prst="rect">
            <a:avLst/>
          </a:prstGeom>
        </p:spPr>
      </p:pic>
      <p:sp>
        <p:nvSpPr>
          <p:cNvPr id="17" name="Arrow: Right 16">
            <a:extLst>
              <a:ext uri="{FF2B5EF4-FFF2-40B4-BE49-F238E27FC236}">
                <a16:creationId xmlns:a16="http://schemas.microsoft.com/office/drawing/2014/main" id="{76217A23-ACDE-B1E4-F111-C5EA446FBD4A}"/>
              </a:ext>
            </a:extLst>
          </p:cNvPr>
          <p:cNvSpPr/>
          <p:nvPr/>
        </p:nvSpPr>
        <p:spPr>
          <a:xfrm rot="6215496">
            <a:off x="7405946" y="4384643"/>
            <a:ext cx="892616" cy="247047"/>
          </a:xfrm>
          <a:prstGeom prst="rightArrow">
            <a:avLst>
              <a:gd name="adj1" fmla="val 26366"/>
              <a:gd name="adj2" fmla="val 89875"/>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9" name="Thought Bubble: Cloud 18">
            <a:extLst>
              <a:ext uri="{FF2B5EF4-FFF2-40B4-BE49-F238E27FC236}">
                <a16:creationId xmlns:a16="http://schemas.microsoft.com/office/drawing/2014/main" id="{68EB3E01-FB1C-FE79-8325-C4540ADA5232}"/>
              </a:ext>
            </a:extLst>
          </p:cNvPr>
          <p:cNvSpPr/>
          <p:nvPr/>
        </p:nvSpPr>
        <p:spPr>
          <a:xfrm>
            <a:off x="6477000" y="2761396"/>
            <a:ext cx="1301459" cy="465495"/>
          </a:xfrm>
          <a:prstGeom prst="cloudCallout">
            <a:avLst>
              <a:gd name="adj1" fmla="val 39355"/>
              <a:gd name="adj2" fmla="val 6824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Goals for the Agent</a:t>
            </a:r>
          </a:p>
        </p:txBody>
      </p:sp>
      <p:sp>
        <p:nvSpPr>
          <p:cNvPr id="21" name="TextBox 20">
            <a:extLst>
              <a:ext uri="{FF2B5EF4-FFF2-40B4-BE49-F238E27FC236}">
                <a16:creationId xmlns:a16="http://schemas.microsoft.com/office/drawing/2014/main" id="{0F28E6E7-C893-892F-8F35-D8D71EE58402}"/>
              </a:ext>
            </a:extLst>
          </p:cNvPr>
          <p:cNvSpPr txBox="1"/>
          <p:nvPr/>
        </p:nvSpPr>
        <p:spPr>
          <a:xfrm>
            <a:off x="7633541" y="3792400"/>
            <a:ext cx="887320" cy="276999"/>
          </a:xfrm>
          <a:prstGeom prst="rect">
            <a:avLst/>
          </a:prstGeom>
          <a:noFill/>
        </p:spPr>
        <p:txBody>
          <a:bodyPr wrap="square">
            <a:spAutoFit/>
          </a:bodyPr>
          <a:lstStyle/>
          <a:p>
            <a:pPr algn="ctr"/>
            <a:r>
              <a:rPr lang="en-US" sz="1200" dirty="0">
                <a:solidFill>
                  <a:schemeClr val="accent2"/>
                </a:solidFill>
              </a:rPr>
              <a:t>Developers</a:t>
            </a:r>
            <a:endParaRPr lang="en-US" sz="1200" dirty="0"/>
          </a:p>
        </p:txBody>
      </p:sp>
      <p:sp>
        <p:nvSpPr>
          <p:cNvPr id="23" name="TextBox 22">
            <a:extLst>
              <a:ext uri="{FF2B5EF4-FFF2-40B4-BE49-F238E27FC236}">
                <a16:creationId xmlns:a16="http://schemas.microsoft.com/office/drawing/2014/main" id="{A5B472A5-9A22-1F37-5DF9-94850C57DB94}"/>
              </a:ext>
            </a:extLst>
          </p:cNvPr>
          <p:cNvSpPr txBox="1"/>
          <p:nvPr/>
        </p:nvSpPr>
        <p:spPr>
          <a:xfrm>
            <a:off x="7131287" y="4537702"/>
            <a:ext cx="533400" cy="261610"/>
          </a:xfrm>
          <a:prstGeom prst="rect">
            <a:avLst/>
          </a:prstGeom>
          <a:noFill/>
        </p:spPr>
        <p:txBody>
          <a:bodyPr wrap="square" rtlCol="0">
            <a:spAutoFit/>
          </a:bodyPr>
          <a:lstStyle/>
          <a:p>
            <a:r>
              <a:rPr lang="en-US" sz="1050" b="1" dirty="0">
                <a:solidFill>
                  <a:schemeClr val="bg2">
                    <a:lumMod val="75000"/>
                  </a:schemeClr>
                </a:solidFill>
              </a:rPr>
              <a:t>ML</a:t>
            </a:r>
          </a:p>
        </p:txBody>
      </p:sp>
      <p:sp>
        <p:nvSpPr>
          <p:cNvPr id="24" name="TextBox 23">
            <a:extLst>
              <a:ext uri="{FF2B5EF4-FFF2-40B4-BE49-F238E27FC236}">
                <a16:creationId xmlns:a16="http://schemas.microsoft.com/office/drawing/2014/main" id="{5163E8A8-2137-AE99-EE8D-CC2F1CE810D5}"/>
              </a:ext>
            </a:extLst>
          </p:cNvPr>
          <p:cNvSpPr txBox="1"/>
          <p:nvPr/>
        </p:nvSpPr>
        <p:spPr>
          <a:xfrm>
            <a:off x="6340592" y="5903941"/>
            <a:ext cx="533400" cy="261610"/>
          </a:xfrm>
          <a:prstGeom prst="rect">
            <a:avLst/>
          </a:prstGeom>
          <a:noFill/>
        </p:spPr>
        <p:txBody>
          <a:bodyPr wrap="square" rtlCol="0">
            <a:spAutoFit/>
          </a:bodyPr>
          <a:lstStyle/>
          <a:p>
            <a:r>
              <a:rPr lang="en-US" sz="1050" b="1" dirty="0">
                <a:solidFill>
                  <a:schemeClr val="bg2">
                    <a:lumMod val="75000"/>
                  </a:schemeClr>
                </a:solidFill>
              </a:rPr>
              <a:t>ML</a:t>
            </a:r>
          </a:p>
        </p:txBody>
      </p:sp>
      <p:sp>
        <p:nvSpPr>
          <p:cNvPr id="25" name="TextBox 24">
            <a:extLst>
              <a:ext uri="{FF2B5EF4-FFF2-40B4-BE49-F238E27FC236}">
                <a16:creationId xmlns:a16="http://schemas.microsoft.com/office/drawing/2014/main" id="{8BD4DBF2-F59A-4B21-6336-EEE465D55681}"/>
              </a:ext>
            </a:extLst>
          </p:cNvPr>
          <p:cNvSpPr txBox="1"/>
          <p:nvPr/>
        </p:nvSpPr>
        <p:spPr>
          <a:xfrm>
            <a:off x="7637006" y="4976336"/>
            <a:ext cx="533400" cy="261610"/>
          </a:xfrm>
          <a:prstGeom prst="rect">
            <a:avLst/>
          </a:prstGeom>
          <a:noFill/>
        </p:spPr>
        <p:txBody>
          <a:bodyPr wrap="square" rtlCol="0">
            <a:spAutoFit/>
          </a:bodyPr>
          <a:lstStyle/>
          <a:p>
            <a:r>
              <a:rPr lang="en-US" sz="1050" b="1" dirty="0">
                <a:solidFill>
                  <a:schemeClr val="bg2">
                    <a:lumMod val="75000"/>
                  </a:schemeClr>
                </a:solidFill>
              </a:rPr>
              <a:t>ML</a:t>
            </a:r>
          </a:p>
        </p:txBody>
      </p:sp>
    </p:spTree>
    <p:extLst>
      <p:ext uri="{BB962C8B-B14F-4D97-AF65-F5344CB8AC3E}">
        <p14:creationId xmlns:p14="http://schemas.microsoft.com/office/powerpoint/2010/main" val="1950072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99D46CF7-6F3B-4ABC-8C57-3392AB693ECE}"/>
              </a:ext>
            </a:extLst>
          </p:cNvPr>
          <p:cNvPicPr>
            <a:picLocks noChangeAspect="1" noChangeArrowheads="1"/>
          </p:cNvPicPr>
          <p:nvPr/>
        </p:nvPicPr>
        <p:blipFill rotWithShape="1">
          <a:blip r:embed="rId2" cstate="print"/>
          <a:srcRect l="23485" r="18558" b="9091"/>
          <a:stretch/>
        </p:blipFill>
        <p:spPr bwMode="auto">
          <a:xfrm>
            <a:off x="2642616" y="10"/>
            <a:ext cx="6501384" cy="6857990"/>
          </a:xfrm>
          <a:prstGeom prst="rect">
            <a:avLst/>
          </a:prstGeom>
          <a:noFill/>
        </p:spPr>
      </p:pic>
      <p:sp>
        <p:nvSpPr>
          <p:cNvPr id="19"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defTabSz="914400"/>
            <a:r>
              <a:rPr lang="en-US" sz="4200"/>
              <a:t>History of AI</a:t>
            </a:r>
          </a:p>
        </p:txBody>
      </p:sp>
      <p:sp>
        <p:nvSpPr>
          <p:cNvPr id="5" name="Text Placeholder 4">
            <a:extLst>
              <a:ext uri="{FF2B5EF4-FFF2-40B4-BE49-F238E27FC236}">
                <a16:creationId xmlns:a16="http://schemas.microsoft.com/office/drawing/2014/main" id="{BFC4CE63-B8C6-4E6A-89D0-4B283116F5C9}"/>
              </a:ext>
            </a:extLst>
          </p:cNvPr>
          <p:cNvSpPr>
            <a:spLocks noGrp="1"/>
          </p:cNvSpPr>
          <p:nvPr>
            <p:ph type="body" idx="1"/>
          </p:nvPr>
        </p:nvSpPr>
        <p:spPr>
          <a:xfrm>
            <a:off x="358487" y="4872924"/>
            <a:ext cx="3017519" cy="1208141"/>
          </a:xfrm>
        </p:spPr>
        <p:txBody>
          <a:bodyPr vert="horz" lIns="91440" tIns="45720" rIns="91440" bIns="45720" rtlCol="0">
            <a:normAutofit/>
          </a:bodyPr>
          <a:lstStyle/>
          <a:p>
            <a:pPr defTabSz="914400">
              <a:spcBef>
                <a:spcPts val="1000"/>
              </a:spcBef>
            </a:pPr>
            <a:endParaRPr lang="en-US" sz="1700">
              <a:solidFill>
                <a:schemeClr val="tx1"/>
              </a:solidFill>
            </a:endParaRPr>
          </a:p>
        </p:txBody>
      </p:sp>
      <p:sp>
        <p:nvSpPr>
          <p:cNvPr id="20"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Tree>
    <p:extLst>
      <p:ext uri="{BB962C8B-B14F-4D97-AF65-F5344CB8AC3E}">
        <p14:creationId xmlns:p14="http://schemas.microsoft.com/office/powerpoint/2010/main" val="737671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istory of AI timeline">
            <a:extLst>
              <a:ext uri="{FF2B5EF4-FFF2-40B4-BE49-F238E27FC236}">
                <a16:creationId xmlns:a16="http://schemas.microsoft.com/office/drawing/2014/main" id="{011284A3-47DB-4E45-9399-2C392DC9584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a:extLst>
              <a:ext uri="{FF2B5EF4-FFF2-40B4-BE49-F238E27FC236}">
                <a16:creationId xmlns:a16="http://schemas.microsoft.com/office/drawing/2014/main" id="{B8AA1387-679B-49E7-A37A-662D4981DC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2" y="24811"/>
            <a:ext cx="6987599" cy="56139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6378B4-03BF-44BD-8450-3CD272657FCE}"/>
              </a:ext>
            </a:extLst>
          </p:cNvPr>
          <p:cNvSpPr txBox="1"/>
          <p:nvPr/>
        </p:nvSpPr>
        <p:spPr>
          <a:xfrm>
            <a:off x="3312961" y="6571579"/>
            <a:ext cx="5711820" cy="261610"/>
          </a:xfrm>
          <a:prstGeom prst="rect">
            <a:avLst/>
          </a:prstGeom>
          <a:noFill/>
        </p:spPr>
        <p:txBody>
          <a:bodyPr wrap="none" rtlCol="0">
            <a:spAutoFit/>
          </a:bodyPr>
          <a:lstStyle/>
          <a:p>
            <a:r>
              <a:rPr lang="en-US" sz="1100" dirty="0"/>
              <a:t>Source: </a:t>
            </a:r>
            <a:r>
              <a:rPr lang="en-US" sz="1100" dirty="0">
                <a:hlinkClick r:id="rId3"/>
              </a:rPr>
              <a:t>https://qbi.uq.edu.au/brain/intelligent-machines/history-artificial-intelligence</a:t>
            </a:r>
            <a:r>
              <a:rPr lang="en-US" sz="1100" dirty="0"/>
              <a:t> + additions</a:t>
            </a:r>
          </a:p>
        </p:txBody>
      </p:sp>
      <p:sp>
        <p:nvSpPr>
          <p:cNvPr id="8" name="Rectangle 7">
            <a:extLst>
              <a:ext uri="{FF2B5EF4-FFF2-40B4-BE49-F238E27FC236}">
                <a16:creationId xmlns:a16="http://schemas.microsoft.com/office/drawing/2014/main" id="{C7620384-44A7-1A64-1236-262B91A7CD21}"/>
              </a:ext>
            </a:extLst>
          </p:cNvPr>
          <p:cNvSpPr/>
          <p:nvPr/>
        </p:nvSpPr>
        <p:spPr>
          <a:xfrm>
            <a:off x="5927597" y="4953085"/>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7BCD33F-3055-7CE8-716C-F0439E5A1B3D}"/>
              </a:ext>
            </a:extLst>
          </p:cNvPr>
          <p:cNvSpPr/>
          <p:nvPr/>
        </p:nvSpPr>
        <p:spPr>
          <a:xfrm>
            <a:off x="6648047" y="4419828"/>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FE991F4-60E0-0233-1254-B5BC08842CA8}"/>
              </a:ext>
            </a:extLst>
          </p:cNvPr>
          <p:cNvCxnSpPr>
            <a:cxnSpLocks/>
          </p:cNvCxnSpPr>
          <p:nvPr/>
        </p:nvCxnSpPr>
        <p:spPr>
          <a:xfrm>
            <a:off x="6028244" y="4925254"/>
            <a:ext cx="2820888" cy="0"/>
          </a:xfrm>
          <a:prstGeom prst="straightConnector1">
            <a:avLst/>
          </a:prstGeom>
          <a:ln w="38100">
            <a:solidFill>
              <a:srgbClr val="5CC0D4"/>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p:sp>
        <p:nvSpPr>
          <p:cNvPr id="7" name="TextBox 6">
            <a:extLst>
              <a:ext uri="{FF2B5EF4-FFF2-40B4-BE49-F238E27FC236}">
                <a16:creationId xmlns:a16="http://schemas.microsoft.com/office/drawing/2014/main" id="{8C15E1F4-4D0A-562C-0F36-41E5743B2F2D}"/>
              </a:ext>
            </a:extLst>
          </p:cNvPr>
          <p:cNvSpPr txBox="1"/>
          <p:nvPr/>
        </p:nvSpPr>
        <p:spPr>
          <a:xfrm>
            <a:off x="1899733" y="5715000"/>
            <a:ext cx="2015018" cy="861774"/>
          </a:xfrm>
          <a:prstGeom prst="rect">
            <a:avLst/>
          </a:prstGeom>
          <a:noFill/>
        </p:spPr>
        <p:txBody>
          <a:bodyPr wrap="square" rtlCol="0">
            <a:spAutoFit/>
          </a:bodyPr>
          <a:lstStyle/>
          <a:p>
            <a:r>
              <a:rPr lang="en-US" sz="1000" dirty="0"/>
              <a:t>Deep Learning Revolution  (learning layered artificial neural networks) starts fueled by NVIDIA GPUs. Enables leaps in image processing and speech recognition.</a:t>
            </a:r>
          </a:p>
        </p:txBody>
      </p:sp>
      <p:sp>
        <p:nvSpPr>
          <p:cNvPr id="13" name="TextBox 12">
            <a:extLst>
              <a:ext uri="{FF2B5EF4-FFF2-40B4-BE49-F238E27FC236}">
                <a16:creationId xmlns:a16="http://schemas.microsoft.com/office/drawing/2014/main" id="{2141B2AF-B71B-A7BE-6FDD-4D30166BD450}"/>
              </a:ext>
            </a:extLst>
          </p:cNvPr>
          <p:cNvSpPr txBox="1"/>
          <p:nvPr/>
        </p:nvSpPr>
        <p:spPr>
          <a:xfrm rot="16200000">
            <a:off x="7254397" y="4471286"/>
            <a:ext cx="600163" cy="307777"/>
          </a:xfrm>
          <a:prstGeom prst="rect">
            <a:avLst/>
          </a:prstGeom>
          <a:noFill/>
        </p:spPr>
        <p:txBody>
          <a:bodyPr wrap="square" rtlCol="0">
            <a:spAutoFit/>
          </a:bodyPr>
          <a:lstStyle/>
          <a:p>
            <a:r>
              <a:rPr lang="en-US" sz="1400" b="1" dirty="0">
                <a:solidFill>
                  <a:srgbClr val="5CC0D4"/>
                </a:solidFill>
                <a:latin typeface="Arial" panose="020B0604020202020204" pitchFamily="34" charset="0"/>
                <a:cs typeface="Arial" panose="020B0604020202020204" pitchFamily="34" charset="0"/>
              </a:rPr>
              <a:t>2022</a:t>
            </a:r>
            <a:endParaRPr lang="en-US" b="1" dirty="0">
              <a:solidFill>
                <a:srgbClr val="5CC0D4"/>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9E1EA6F-E8D2-3C63-5EF5-144FC5A9650A}"/>
              </a:ext>
            </a:extLst>
          </p:cNvPr>
          <p:cNvSpPr txBox="1"/>
          <p:nvPr/>
        </p:nvSpPr>
        <p:spPr>
          <a:xfrm>
            <a:off x="7579877" y="4964962"/>
            <a:ext cx="1193331" cy="861774"/>
          </a:xfrm>
          <a:prstGeom prst="rect">
            <a:avLst/>
          </a:prstGeom>
          <a:noFill/>
        </p:spPr>
        <p:txBody>
          <a:bodyPr wrap="square" rtlCol="0">
            <a:spAutoFit/>
          </a:bodyPr>
          <a:lstStyle/>
          <a:p>
            <a:r>
              <a:rPr lang="en-US" sz="1000" dirty="0"/>
              <a:t>Generative AI models:</a:t>
            </a:r>
          </a:p>
          <a:p>
            <a:pPr marL="171450" indent="-171450">
              <a:buFont typeface="Arial" panose="020B0604020202020204" pitchFamily="34" charset="0"/>
              <a:buChar char="•"/>
            </a:pPr>
            <a:r>
              <a:rPr lang="en-US" sz="1000" dirty="0"/>
              <a:t>DALL-E</a:t>
            </a:r>
          </a:p>
          <a:p>
            <a:pPr marL="171450" indent="-171450">
              <a:buFont typeface="Arial" panose="020B0604020202020204" pitchFamily="34" charset="0"/>
              <a:buChar char="•"/>
            </a:pPr>
            <a:r>
              <a:rPr lang="en-US" sz="1000" dirty="0" err="1"/>
              <a:t>ChatGPT</a:t>
            </a:r>
            <a:r>
              <a:rPr lang="en-US" sz="1000" dirty="0"/>
              <a:t>, Bard</a:t>
            </a:r>
          </a:p>
          <a:p>
            <a:pPr marL="171450" indent="-171450">
              <a:buFont typeface="Arial" panose="020B0604020202020204" pitchFamily="34" charset="0"/>
              <a:buChar char="•"/>
            </a:pPr>
            <a:r>
              <a:rPr lang="en-US" sz="1000" dirty="0"/>
              <a:t>…</a:t>
            </a:r>
          </a:p>
        </p:txBody>
      </p:sp>
      <p:sp>
        <p:nvSpPr>
          <p:cNvPr id="18" name="TextBox 17">
            <a:extLst>
              <a:ext uri="{FF2B5EF4-FFF2-40B4-BE49-F238E27FC236}">
                <a16:creationId xmlns:a16="http://schemas.microsoft.com/office/drawing/2014/main" id="{E41005D7-2B4F-FDEB-7546-A44E42BFA8E8}"/>
              </a:ext>
            </a:extLst>
          </p:cNvPr>
          <p:cNvSpPr txBox="1"/>
          <p:nvPr/>
        </p:nvSpPr>
        <p:spPr>
          <a:xfrm>
            <a:off x="6294669" y="4934184"/>
            <a:ext cx="1195235" cy="707886"/>
          </a:xfrm>
          <a:prstGeom prst="rect">
            <a:avLst/>
          </a:prstGeom>
          <a:noFill/>
        </p:spPr>
        <p:txBody>
          <a:bodyPr wrap="square" rtlCol="0">
            <a:spAutoFit/>
          </a:bodyPr>
          <a:lstStyle/>
          <a:p>
            <a:r>
              <a:rPr lang="en-US" sz="1000" dirty="0"/>
              <a:t>Transformer architecture and large language models LLMs</a:t>
            </a:r>
          </a:p>
        </p:txBody>
      </p:sp>
      <p:sp>
        <p:nvSpPr>
          <p:cNvPr id="19" name="TextBox 18">
            <a:extLst>
              <a:ext uri="{FF2B5EF4-FFF2-40B4-BE49-F238E27FC236}">
                <a16:creationId xmlns:a16="http://schemas.microsoft.com/office/drawing/2014/main" id="{1581DE04-DF51-67D0-7E11-2C1FE15F7863}"/>
              </a:ext>
            </a:extLst>
          </p:cNvPr>
          <p:cNvSpPr txBox="1"/>
          <p:nvPr/>
        </p:nvSpPr>
        <p:spPr>
          <a:xfrm rot="16200000">
            <a:off x="6032610" y="4480216"/>
            <a:ext cx="600163" cy="307777"/>
          </a:xfrm>
          <a:prstGeom prst="rect">
            <a:avLst/>
          </a:prstGeom>
          <a:noFill/>
        </p:spPr>
        <p:txBody>
          <a:bodyPr wrap="square" rtlCol="0">
            <a:spAutoFit/>
          </a:bodyPr>
          <a:lstStyle/>
          <a:p>
            <a:r>
              <a:rPr lang="en-US" sz="1400" b="1" dirty="0">
                <a:solidFill>
                  <a:srgbClr val="5CC0D4"/>
                </a:solidFill>
                <a:latin typeface="Arial" panose="020B0604020202020204" pitchFamily="34" charset="0"/>
                <a:cs typeface="Arial" panose="020B0604020202020204" pitchFamily="34" charset="0"/>
              </a:rPr>
              <a:t>2017</a:t>
            </a:r>
          </a:p>
        </p:txBody>
      </p:sp>
      <p:cxnSp>
        <p:nvCxnSpPr>
          <p:cNvPr id="23" name="Straight Arrow Connector 22">
            <a:extLst>
              <a:ext uri="{FF2B5EF4-FFF2-40B4-BE49-F238E27FC236}">
                <a16:creationId xmlns:a16="http://schemas.microsoft.com/office/drawing/2014/main" id="{85EBC6CC-BEA2-E0A0-9671-5198184C1B66}"/>
              </a:ext>
            </a:extLst>
          </p:cNvPr>
          <p:cNvCxnSpPr>
            <a:cxnSpLocks/>
          </p:cNvCxnSpPr>
          <p:nvPr/>
        </p:nvCxnSpPr>
        <p:spPr>
          <a:xfrm>
            <a:off x="7579876" y="4922222"/>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27" name="Rectangle 26">
            <a:extLst>
              <a:ext uri="{FF2B5EF4-FFF2-40B4-BE49-F238E27FC236}">
                <a16:creationId xmlns:a16="http://schemas.microsoft.com/office/drawing/2014/main" id="{9D729B0B-22BD-B621-0997-111490E8C9C6}"/>
              </a:ext>
            </a:extLst>
          </p:cNvPr>
          <p:cNvSpPr/>
          <p:nvPr/>
        </p:nvSpPr>
        <p:spPr>
          <a:xfrm>
            <a:off x="2209800" y="838200"/>
            <a:ext cx="914400" cy="1524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8" name="Rectangle 27">
            <a:extLst>
              <a:ext uri="{FF2B5EF4-FFF2-40B4-BE49-F238E27FC236}">
                <a16:creationId xmlns:a16="http://schemas.microsoft.com/office/drawing/2014/main" id="{F63DD0B0-6722-5812-B80F-B0C583BE163E}"/>
              </a:ext>
            </a:extLst>
          </p:cNvPr>
          <p:cNvSpPr/>
          <p:nvPr/>
        </p:nvSpPr>
        <p:spPr>
          <a:xfrm>
            <a:off x="6018022" y="838200"/>
            <a:ext cx="526388" cy="2770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9" name="Rectangle 28">
            <a:extLst>
              <a:ext uri="{FF2B5EF4-FFF2-40B4-BE49-F238E27FC236}">
                <a16:creationId xmlns:a16="http://schemas.microsoft.com/office/drawing/2014/main" id="{92B375D2-6C66-14EC-F5FF-A9D3F87D3629}"/>
              </a:ext>
            </a:extLst>
          </p:cNvPr>
          <p:cNvSpPr/>
          <p:nvPr/>
        </p:nvSpPr>
        <p:spPr>
          <a:xfrm>
            <a:off x="5471229" y="3219450"/>
            <a:ext cx="304800" cy="1333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0" name="Rectangle 29">
            <a:extLst>
              <a:ext uri="{FF2B5EF4-FFF2-40B4-BE49-F238E27FC236}">
                <a16:creationId xmlns:a16="http://schemas.microsoft.com/office/drawing/2014/main" id="{697A3868-09F6-35AB-768E-8CF21EC0707C}"/>
              </a:ext>
            </a:extLst>
          </p:cNvPr>
          <p:cNvSpPr/>
          <p:nvPr/>
        </p:nvSpPr>
        <p:spPr>
          <a:xfrm>
            <a:off x="1188686" y="3152775"/>
            <a:ext cx="504501" cy="12049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3C176792-DA24-2940-FD6F-58D7D04A0CCD}"/>
              </a:ext>
            </a:extLst>
          </p:cNvPr>
          <p:cNvCxnSpPr>
            <a:cxnSpLocks/>
          </p:cNvCxnSpPr>
          <p:nvPr/>
        </p:nvCxnSpPr>
        <p:spPr>
          <a:xfrm>
            <a:off x="6291438" y="4925254"/>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35" name="Rectangle 34">
            <a:extLst>
              <a:ext uri="{FF2B5EF4-FFF2-40B4-BE49-F238E27FC236}">
                <a16:creationId xmlns:a16="http://schemas.microsoft.com/office/drawing/2014/main" id="{EB078DB0-8A79-7626-9DE9-751238C7BE33}"/>
              </a:ext>
            </a:extLst>
          </p:cNvPr>
          <p:cNvSpPr/>
          <p:nvPr/>
        </p:nvSpPr>
        <p:spPr>
          <a:xfrm>
            <a:off x="1954090" y="5763120"/>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028" name="Picture 4" descr="elon musk open-ai-logo sticker - ProSportStickers.com">
            <a:extLst>
              <a:ext uri="{FF2B5EF4-FFF2-40B4-BE49-F238E27FC236}">
                <a16:creationId xmlns:a16="http://schemas.microsoft.com/office/drawing/2014/main" id="{8D1BD011-AB87-D760-0664-E3067C375B4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9448" y="6099727"/>
            <a:ext cx="720026" cy="42391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3D35CDAC-95A8-97B7-F995-8916F927FF8A}"/>
              </a:ext>
            </a:extLst>
          </p:cNvPr>
          <p:cNvSpPr txBox="1"/>
          <p:nvPr/>
        </p:nvSpPr>
        <p:spPr>
          <a:xfrm rot="16200000">
            <a:off x="4118032" y="4496000"/>
            <a:ext cx="600163" cy="307777"/>
          </a:xfrm>
          <a:prstGeom prst="rect">
            <a:avLst/>
          </a:prstGeom>
          <a:noFill/>
        </p:spPr>
        <p:txBody>
          <a:bodyPr wrap="square" rtlCol="0">
            <a:spAutoFit/>
          </a:bodyPr>
          <a:lstStyle/>
          <a:p>
            <a:r>
              <a:rPr lang="en-US" sz="1400" b="1" dirty="0">
                <a:solidFill>
                  <a:srgbClr val="5CC0D4"/>
                </a:solidFill>
                <a:latin typeface="Arial" panose="020B0604020202020204" pitchFamily="34" charset="0"/>
                <a:cs typeface="Arial" panose="020B0604020202020204" pitchFamily="34" charset="0"/>
              </a:rPr>
              <a:t>2015</a:t>
            </a:r>
          </a:p>
        </p:txBody>
      </p:sp>
      <p:cxnSp>
        <p:nvCxnSpPr>
          <p:cNvPr id="41" name="Straight Arrow Connector 40">
            <a:extLst>
              <a:ext uri="{FF2B5EF4-FFF2-40B4-BE49-F238E27FC236}">
                <a16:creationId xmlns:a16="http://schemas.microsoft.com/office/drawing/2014/main" id="{BDF6A578-CC3D-36FD-510F-338956C8B540}"/>
              </a:ext>
            </a:extLst>
          </p:cNvPr>
          <p:cNvCxnSpPr>
            <a:cxnSpLocks/>
          </p:cNvCxnSpPr>
          <p:nvPr/>
        </p:nvCxnSpPr>
        <p:spPr>
          <a:xfrm>
            <a:off x="4422945" y="5515928"/>
            <a:ext cx="0" cy="1007716"/>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46" name="Straight Arrow Connector 45">
            <a:extLst>
              <a:ext uri="{FF2B5EF4-FFF2-40B4-BE49-F238E27FC236}">
                <a16:creationId xmlns:a16="http://schemas.microsoft.com/office/drawing/2014/main" id="{64234466-250D-80B9-3794-6411E73796F7}"/>
              </a:ext>
            </a:extLst>
          </p:cNvPr>
          <p:cNvCxnSpPr>
            <a:cxnSpLocks/>
          </p:cNvCxnSpPr>
          <p:nvPr/>
        </p:nvCxnSpPr>
        <p:spPr>
          <a:xfrm>
            <a:off x="1905000" y="5460621"/>
            <a:ext cx="0" cy="1063023"/>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pic>
        <p:nvPicPr>
          <p:cNvPr id="1030" name="Picture 6" descr="Nvidia – Logos Download">
            <a:extLst>
              <a:ext uri="{FF2B5EF4-FFF2-40B4-BE49-F238E27FC236}">
                <a16:creationId xmlns:a16="http://schemas.microsoft.com/office/drawing/2014/main" id="{581BB29F-DB94-850D-43E9-DFDF706EA61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7820" y="5564255"/>
            <a:ext cx="782846" cy="149094"/>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395CF2B9-54B0-6284-FE90-2C92B08F7768}"/>
              </a:ext>
            </a:extLst>
          </p:cNvPr>
          <p:cNvSpPr txBox="1"/>
          <p:nvPr/>
        </p:nvSpPr>
        <p:spPr>
          <a:xfrm>
            <a:off x="6829089" y="946333"/>
            <a:ext cx="1143000" cy="369332"/>
          </a:xfrm>
          <a:prstGeom prst="rect">
            <a:avLst/>
          </a:prstGeom>
          <a:noFill/>
        </p:spPr>
        <p:txBody>
          <a:bodyPr wrap="square">
            <a:spAutoFit/>
          </a:bodyPr>
          <a:lstStyle/>
          <a:p>
            <a:r>
              <a:rPr lang="en-US" b="0" i="0" dirty="0">
                <a:solidFill>
                  <a:srgbClr val="202122"/>
                </a:solidFill>
                <a:effectLst/>
                <a:latin typeface="Arial" panose="020B0604020202020204" pitchFamily="34" charset="0"/>
              </a:rPr>
              <a:t> </a:t>
            </a:r>
            <a:r>
              <a:rPr lang="en-US" sz="1400" b="1" dirty="0">
                <a:solidFill>
                  <a:srgbClr val="5CC0D4"/>
                </a:solidFill>
                <a:latin typeface="Arial" panose="020B0604020202020204" pitchFamily="34" charset="0"/>
                <a:cs typeface="Arial" panose="020B0604020202020204" pitchFamily="34" charset="0"/>
              </a:rPr>
              <a:t>1974-1980</a:t>
            </a:r>
          </a:p>
        </p:txBody>
      </p:sp>
      <p:sp>
        <p:nvSpPr>
          <p:cNvPr id="51" name="TextBox 50">
            <a:extLst>
              <a:ext uri="{FF2B5EF4-FFF2-40B4-BE49-F238E27FC236}">
                <a16:creationId xmlns:a16="http://schemas.microsoft.com/office/drawing/2014/main" id="{65859210-A916-585E-DEEF-EF2D0566638D}"/>
              </a:ext>
            </a:extLst>
          </p:cNvPr>
          <p:cNvSpPr txBox="1"/>
          <p:nvPr/>
        </p:nvSpPr>
        <p:spPr>
          <a:xfrm>
            <a:off x="6923541" y="1204088"/>
            <a:ext cx="952608" cy="246221"/>
          </a:xfrm>
          <a:prstGeom prst="rect">
            <a:avLst/>
          </a:prstGeom>
          <a:noFill/>
        </p:spPr>
        <p:txBody>
          <a:bodyPr wrap="square" rtlCol="0">
            <a:spAutoFit/>
          </a:bodyPr>
          <a:lstStyle/>
          <a:p>
            <a:r>
              <a:rPr lang="en-US" sz="1000" dirty="0"/>
              <a:t>First AI Winter</a:t>
            </a:r>
          </a:p>
        </p:txBody>
      </p:sp>
      <p:sp>
        <p:nvSpPr>
          <p:cNvPr id="52" name="TextBox 51">
            <a:extLst>
              <a:ext uri="{FF2B5EF4-FFF2-40B4-BE49-F238E27FC236}">
                <a16:creationId xmlns:a16="http://schemas.microsoft.com/office/drawing/2014/main" id="{52D25F7D-9624-A834-29B0-3E25E381631A}"/>
              </a:ext>
            </a:extLst>
          </p:cNvPr>
          <p:cNvSpPr txBox="1"/>
          <p:nvPr/>
        </p:nvSpPr>
        <p:spPr>
          <a:xfrm>
            <a:off x="6840290" y="1466917"/>
            <a:ext cx="1143000" cy="369332"/>
          </a:xfrm>
          <a:prstGeom prst="rect">
            <a:avLst/>
          </a:prstGeom>
          <a:noFill/>
        </p:spPr>
        <p:txBody>
          <a:bodyPr wrap="square">
            <a:spAutoFit/>
          </a:bodyPr>
          <a:lstStyle/>
          <a:p>
            <a:r>
              <a:rPr lang="en-US" b="0" i="0" dirty="0">
                <a:solidFill>
                  <a:srgbClr val="202122"/>
                </a:solidFill>
                <a:effectLst/>
                <a:latin typeface="Arial" panose="020B0604020202020204" pitchFamily="34" charset="0"/>
              </a:rPr>
              <a:t> </a:t>
            </a:r>
            <a:r>
              <a:rPr lang="en-US" sz="1400" b="1" dirty="0">
                <a:solidFill>
                  <a:srgbClr val="5CC0D4"/>
                </a:solidFill>
                <a:latin typeface="Arial" panose="020B0604020202020204" pitchFamily="34" charset="0"/>
                <a:cs typeface="Arial" panose="020B0604020202020204" pitchFamily="34" charset="0"/>
              </a:rPr>
              <a:t>1987-1993</a:t>
            </a:r>
          </a:p>
        </p:txBody>
      </p:sp>
      <p:sp>
        <p:nvSpPr>
          <p:cNvPr id="53" name="TextBox 52">
            <a:extLst>
              <a:ext uri="{FF2B5EF4-FFF2-40B4-BE49-F238E27FC236}">
                <a16:creationId xmlns:a16="http://schemas.microsoft.com/office/drawing/2014/main" id="{C9D518F0-81D3-89FA-4C33-DA33C47775C4}"/>
              </a:ext>
            </a:extLst>
          </p:cNvPr>
          <p:cNvSpPr txBox="1"/>
          <p:nvPr/>
        </p:nvSpPr>
        <p:spPr>
          <a:xfrm>
            <a:off x="6952451" y="1734979"/>
            <a:ext cx="1198467" cy="246221"/>
          </a:xfrm>
          <a:prstGeom prst="rect">
            <a:avLst/>
          </a:prstGeom>
          <a:noFill/>
        </p:spPr>
        <p:txBody>
          <a:bodyPr wrap="square" rtlCol="0">
            <a:spAutoFit/>
          </a:bodyPr>
          <a:lstStyle/>
          <a:p>
            <a:r>
              <a:rPr lang="en-US" sz="1000" dirty="0"/>
              <a:t>Second AI Winter</a:t>
            </a:r>
          </a:p>
        </p:txBody>
      </p:sp>
      <p:sp>
        <p:nvSpPr>
          <p:cNvPr id="54" name="Rectangle 53">
            <a:extLst>
              <a:ext uri="{FF2B5EF4-FFF2-40B4-BE49-F238E27FC236}">
                <a16:creationId xmlns:a16="http://schemas.microsoft.com/office/drawing/2014/main" id="{F01C1D97-FE73-4B19-E7F8-246B9B9B6C4F}"/>
              </a:ext>
            </a:extLst>
          </p:cNvPr>
          <p:cNvSpPr/>
          <p:nvPr/>
        </p:nvSpPr>
        <p:spPr>
          <a:xfrm>
            <a:off x="7626616" y="4991393"/>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3078" name="Picture 6">
            <a:extLst>
              <a:ext uri="{FF2B5EF4-FFF2-40B4-BE49-F238E27FC236}">
                <a16:creationId xmlns:a16="http://schemas.microsoft.com/office/drawing/2014/main" id="{0B60143D-E955-D7F1-002D-2BC76CC444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744" y="6155259"/>
            <a:ext cx="1097443" cy="26438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AAF524EC-A651-8C0B-CC3E-09EE8DA1F9F8}"/>
              </a:ext>
            </a:extLst>
          </p:cNvPr>
          <p:cNvCxnSpPr>
            <a:cxnSpLocks/>
          </p:cNvCxnSpPr>
          <p:nvPr/>
        </p:nvCxnSpPr>
        <p:spPr>
          <a:xfrm>
            <a:off x="533400" y="4874245"/>
            <a:ext cx="0" cy="1697334"/>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14" name="TextBox 13">
            <a:extLst>
              <a:ext uri="{FF2B5EF4-FFF2-40B4-BE49-F238E27FC236}">
                <a16:creationId xmlns:a16="http://schemas.microsoft.com/office/drawing/2014/main" id="{F11F3C1F-784F-C7AC-488F-58827953A71A}"/>
              </a:ext>
            </a:extLst>
          </p:cNvPr>
          <p:cNvSpPr txBox="1"/>
          <p:nvPr/>
        </p:nvSpPr>
        <p:spPr>
          <a:xfrm rot="16200000">
            <a:off x="233318" y="4461296"/>
            <a:ext cx="600163" cy="307777"/>
          </a:xfrm>
          <a:prstGeom prst="rect">
            <a:avLst/>
          </a:prstGeom>
          <a:noFill/>
        </p:spPr>
        <p:txBody>
          <a:bodyPr wrap="square" rtlCol="0">
            <a:spAutoFit/>
          </a:bodyPr>
          <a:lstStyle/>
          <a:p>
            <a:r>
              <a:rPr lang="en-US" sz="1400" b="1" dirty="0">
                <a:solidFill>
                  <a:srgbClr val="5CC0D4"/>
                </a:solidFill>
                <a:latin typeface="Arial" panose="020B0604020202020204" pitchFamily="34" charset="0"/>
                <a:cs typeface="Arial" panose="020B0604020202020204" pitchFamily="34" charset="0"/>
              </a:rPr>
              <a:t>2010</a:t>
            </a:r>
            <a:endParaRPr lang="en-US" b="1" dirty="0">
              <a:solidFill>
                <a:srgbClr val="5CC0D4"/>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742E7D22-D41C-92F6-9B6D-410F3819FBAA}"/>
              </a:ext>
            </a:extLst>
          </p:cNvPr>
          <p:cNvSpPr txBox="1"/>
          <p:nvPr/>
        </p:nvSpPr>
        <p:spPr>
          <a:xfrm>
            <a:off x="852001" y="6347895"/>
            <a:ext cx="1254899" cy="276999"/>
          </a:xfrm>
          <a:prstGeom prst="rect">
            <a:avLst/>
          </a:prstGeom>
          <a:noFill/>
        </p:spPr>
        <p:txBody>
          <a:bodyPr wrap="square" rtlCol="0">
            <a:spAutoFit/>
          </a:bodyPr>
          <a:lstStyle/>
          <a:p>
            <a:r>
              <a:rPr lang="en-US" sz="1200" dirty="0"/>
              <a:t>Now Google</a:t>
            </a:r>
          </a:p>
        </p:txBody>
      </p:sp>
      <p:sp>
        <p:nvSpPr>
          <p:cNvPr id="21" name="Rectangle 20">
            <a:extLst>
              <a:ext uri="{FF2B5EF4-FFF2-40B4-BE49-F238E27FC236}">
                <a16:creationId xmlns:a16="http://schemas.microsoft.com/office/drawing/2014/main" id="{11995A03-E0E7-29D7-4EED-F96522DBDDC3}"/>
              </a:ext>
            </a:extLst>
          </p:cNvPr>
          <p:cNvSpPr/>
          <p:nvPr/>
        </p:nvSpPr>
        <p:spPr>
          <a:xfrm>
            <a:off x="825269" y="5340126"/>
            <a:ext cx="563895" cy="12049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1" name="TextBox 30">
            <a:extLst>
              <a:ext uri="{FF2B5EF4-FFF2-40B4-BE49-F238E27FC236}">
                <a16:creationId xmlns:a16="http://schemas.microsoft.com/office/drawing/2014/main" id="{1E9EF776-5AD9-AE21-0EFB-DFA7739793DD}"/>
              </a:ext>
            </a:extLst>
          </p:cNvPr>
          <p:cNvSpPr txBox="1"/>
          <p:nvPr/>
        </p:nvSpPr>
        <p:spPr>
          <a:xfrm>
            <a:off x="6952451" y="2155047"/>
            <a:ext cx="1475427" cy="553998"/>
          </a:xfrm>
          <a:prstGeom prst="rect">
            <a:avLst/>
          </a:prstGeom>
          <a:noFill/>
        </p:spPr>
        <p:txBody>
          <a:bodyPr wrap="square" rtlCol="0">
            <a:spAutoFit/>
          </a:bodyPr>
          <a:lstStyle/>
          <a:p>
            <a:r>
              <a:rPr lang="en-US" sz="1000" dirty="0"/>
              <a:t>Universal approximation theorem for neural networks. </a:t>
            </a:r>
          </a:p>
        </p:txBody>
      </p:sp>
      <p:pic>
        <p:nvPicPr>
          <p:cNvPr id="1026" name="Picture 2" descr="IBM Corporation logo.">
            <a:extLst>
              <a:ext uri="{FF2B5EF4-FFF2-40B4-BE49-F238E27FC236}">
                <a16:creationId xmlns:a16="http://schemas.microsoft.com/office/drawing/2014/main" id="{7E0B04F6-187A-57C5-270E-8FC5A3E47EE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11763" y="4371822"/>
            <a:ext cx="345459" cy="2206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BC029F-16C4-5AD9-482F-0DF8DF48678C}"/>
              </a:ext>
            </a:extLst>
          </p:cNvPr>
          <p:cNvSpPr txBox="1"/>
          <p:nvPr/>
        </p:nvSpPr>
        <p:spPr>
          <a:xfrm>
            <a:off x="6892286" y="1978223"/>
            <a:ext cx="687590" cy="307777"/>
          </a:xfrm>
          <a:prstGeom prst="rect">
            <a:avLst/>
          </a:prstGeom>
          <a:noFill/>
        </p:spPr>
        <p:txBody>
          <a:bodyPr wrap="square">
            <a:spAutoFit/>
          </a:bodyPr>
          <a:lstStyle/>
          <a:p>
            <a:r>
              <a:rPr lang="en-US" sz="1400" b="1" dirty="0">
                <a:solidFill>
                  <a:srgbClr val="5CC0D4"/>
                </a:solidFill>
                <a:latin typeface="Arial" panose="020B0604020202020204" pitchFamily="34" charset="0"/>
                <a:cs typeface="Arial" panose="020B0604020202020204" pitchFamily="34" charset="0"/>
              </a:rPr>
              <a:t>1989</a:t>
            </a:r>
            <a:endParaRPr lang="en-US" sz="1400" dirty="0"/>
          </a:p>
        </p:txBody>
      </p:sp>
      <p:sp>
        <p:nvSpPr>
          <p:cNvPr id="25" name="Rectangle 24">
            <a:extLst>
              <a:ext uri="{FF2B5EF4-FFF2-40B4-BE49-F238E27FC236}">
                <a16:creationId xmlns:a16="http://schemas.microsoft.com/office/drawing/2014/main" id="{68FE3BB3-176E-4655-D9CF-1F849DD165A2}"/>
              </a:ext>
            </a:extLst>
          </p:cNvPr>
          <p:cNvSpPr/>
          <p:nvPr/>
        </p:nvSpPr>
        <p:spPr>
          <a:xfrm>
            <a:off x="1904584" y="4982923"/>
            <a:ext cx="1067207" cy="14702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6" name="Rectangle 25">
            <a:extLst>
              <a:ext uri="{FF2B5EF4-FFF2-40B4-BE49-F238E27FC236}">
                <a16:creationId xmlns:a16="http://schemas.microsoft.com/office/drawing/2014/main" id="{D17F46D7-8A7F-A458-F582-62597A7A99FF}"/>
              </a:ext>
            </a:extLst>
          </p:cNvPr>
          <p:cNvSpPr/>
          <p:nvPr/>
        </p:nvSpPr>
        <p:spPr>
          <a:xfrm>
            <a:off x="4527668" y="698472"/>
            <a:ext cx="762426" cy="2770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23797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487836" y="4559523"/>
            <a:ext cx="8176104" cy="1236440"/>
          </a:xfrm>
          <a:noFill/>
        </p:spPr>
        <p:txBody>
          <a:bodyPr vert="horz" lIns="91440" tIns="45720" rIns="91440" bIns="45720" rtlCol="0" anchor="b">
            <a:normAutofit/>
          </a:bodyPr>
          <a:lstStyle/>
          <a:p>
            <a:pPr algn="ctr" defTabSz="914400"/>
            <a:r>
              <a:rPr lang="en-US" sz="5700"/>
              <a:t>AI Today</a:t>
            </a:r>
          </a:p>
        </p:txBody>
      </p:sp>
      <p:sp>
        <p:nvSpPr>
          <p:cNvPr id="5" name="Text Placeholder 4">
            <a:extLst>
              <a:ext uri="{FF2B5EF4-FFF2-40B4-BE49-F238E27FC236}">
                <a16:creationId xmlns:a16="http://schemas.microsoft.com/office/drawing/2014/main" id="{BFC4CE63-B8C6-4E6A-89D0-4B283116F5C9}"/>
              </a:ext>
            </a:extLst>
          </p:cNvPr>
          <p:cNvSpPr>
            <a:spLocks noGrp="1"/>
          </p:cNvSpPr>
          <p:nvPr>
            <p:ph type="body" idx="1"/>
          </p:nvPr>
        </p:nvSpPr>
        <p:spPr>
          <a:xfrm>
            <a:off x="487836" y="5795963"/>
            <a:ext cx="8176104" cy="560388"/>
          </a:xfrm>
          <a:noFill/>
        </p:spPr>
        <p:txBody>
          <a:bodyPr vert="horz" lIns="91440" tIns="45720" rIns="91440" bIns="45720" rtlCol="0">
            <a:normAutofit/>
          </a:bodyPr>
          <a:lstStyle/>
          <a:p>
            <a:pPr algn="ctr" defTabSz="914400">
              <a:spcBef>
                <a:spcPts val="1000"/>
              </a:spcBef>
            </a:pPr>
            <a:endParaRPr lang="en-US" sz="2400">
              <a:solidFill>
                <a:schemeClr val="tx1"/>
              </a:solidFill>
            </a:endParaRPr>
          </a:p>
        </p:txBody>
      </p:sp>
      <p:pic>
        <p:nvPicPr>
          <p:cNvPr id="1026" name="Picture 2" descr="Artificial Intelligence">
            <a:extLst>
              <a:ext uri="{FF2B5EF4-FFF2-40B4-BE49-F238E27FC236}">
                <a16:creationId xmlns:a16="http://schemas.microsoft.com/office/drawing/2014/main" id="{EF6007DD-FC33-4E3D-8978-BC877C3EF4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943" b="1"/>
          <a:stretch/>
        </p:blipFill>
        <p:spPr bwMode="auto">
          <a:xfrm>
            <a:off x="22" y="1"/>
            <a:ext cx="9143979" cy="4239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27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59" name="Rectangle 23558">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CE098381-895F-47D1-AC53-E214FF4AE7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55" r="22790"/>
          <a:stretch/>
        </p:blipFill>
        <p:spPr bwMode="auto">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1CF1003-F955-43C1-860E-56D75CE04415}"/>
              </a:ext>
            </a:extLst>
          </p:cNvPr>
          <p:cNvPicPr>
            <a:picLocks noChangeAspect="1"/>
          </p:cNvPicPr>
          <p:nvPr/>
        </p:nvPicPr>
        <p:blipFill rotWithShape="1">
          <a:blip r:embed="rId4"/>
          <a:srcRect l="38257" t="17240" r="13760" b="7133"/>
          <a:stretch/>
        </p:blipFill>
        <p:spPr>
          <a:xfrm>
            <a:off x="4982468" y="3393630"/>
            <a:ext cx="4197278" cy="3456432"/>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8" name="Picture 4"/>
          <p:cNvPicPr>
            <a:picLocks noChangeAspect="1" noChangeArrowheads="1"/>
          </p:cNvPicPr>
          <p:nvPr/>
        </p:nvPicPr>
        <p:blipFill rotWithShape="1">
          <a:blip r:embed="rId5" cstate="print"/>
          <a:srcRect l="18620" r="25449" b="-3"/>
          <a:stretch/>
        </p:blipFill>
        <p:spPr bwMode="auto">
          <a:xfrm>
            <a:off x="2392073"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p:spPr>
      </p:pic>
      <p:sp useBgFill="1">
        <p:nvSpPr>
          <p:cNvPr id="23561" name="Freeform: Shape 23560">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59361"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563" name="Freeform: Shape 23562">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52502"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54" name="Title 1"/>
          <p:cNvSpPr>
            <a:spLocks noGrp="1"/>
          </p:cNvSpPr>
          <p:nvPr>
            <p:ph type="title"/>
          </p:nvPr>
        </p:nvSpPr>
        <p:spPr>
          <a:xfrm>
            <a:off x="336042" y="685800"/>
            <a:ext cx="2353888" cy="1325563"/>
          </a:xfrm>
        </p:spPr>
        <p:txBody>
          <a:bodyPr>
            <a:normAutofit/>
          </a:bodyPr>
          <a:lstStyle/>
          <a:p>
            <a:r>
              <a:rPr lang="en-US" sz="2400" dirty="0"/>
              <a:t>Vision and Image Processing</a:t>
            </a:r>
          </a:p>
        </p:txBody>
      </p:sp>
      <p:sp>
        <p:nvSpPr>
          <p:cNvPr id="23565" name="Rectangle 23564">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67" name="Rectangle 23566">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089941"/>
            <a:ext cx="21259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36042" y="2258568"/>
            <a:ext cx="2105406" cy="3922776"/>
          </a:xfrm>
        </p:spPr>
        <p:txBody>
          <a:bodyPr>
            <a:normAutofit/>
          </a:bodyPr>
          <a:lstStyle/>
          <a:p>
            <a:pPr>
              <a:buFontTx/>
              <a:buChar char="•"/>
            </a:pPr>
            <a:r>
              <a:rPr lang="en-US" sz="1300" b="1" dirty="0"/>
              <a:t>OCR</a:t>
            </a:r>
            <a:r>
              <a:rPr lang="en-US" sz="1300" dirty="0"/>
              <a:t>: read license plates, handwriting recognition (e.g., mail sorting).</a:t>
            </a:r>
          </a:p>
          <a:p>
            <a:pPr>
              <a:buFontTx/>
              <a:buChar char="•"/>
            </a:pPr>
            <a:r>
              <a:rPr lang="en-US" sz="1300" b="1" dirty="0"/>
              <a:t>Face detection</a:t>
            </a:r>
            <a:r>
              <a:rPr lang="en-US" sz="1300" dirty="0"/>
              <a:t>: now standard for smart phone cameras.</a:t>
            </a:r>
          </a:p>
          <a:p>
            <a:pPr>
              <a:buFontTx/>
              <a:buChar char="•"/>
            </a:pPr>
            <a:r>
              <a:rPr lang="en-US" sz="1300" b="1" dirty="0"/>
              <a:t>Visual search</a:t>
            </a:r>
            <a:endParaRPr lang="en-US" sz="1300" dirty="0"/>
          </a:p>
          <a:p>
            <a:pPr>
              <a:buFontTx/>
              <a:buChar char="•"/>
            </a:pPr>
            <a:r>
              <a:rPr lang="en-US" sz="1300" b="1" dirty="0"/>
              <a:t>Vehicle safety systems</a:t>
            </a:r>
          </a:p>
          <a:p>
            <a:pPr>
              <a:buFontTx/>
              <a:buChar char="•"/>
            </a:pPr>
            <a:r>
              <a:rPr lang="en-US" sz="1300" b="1" dirty="0"/>
              <a:t>Image generation</a:t>
            </a:r>
          </a:p>
          <a:p>
            <a:pPr>
              <a:buFontTx/>
              <a:buChar char="•"/>
            </a:pPr>
            <a:endParaRPr lang="en-US" sz="1300" dirty="0"/>
          </a:p>
          <a:p>
            <a:pPr>
              <a:buFontTx/>
              <a:buChar char="•"/>
            </a:pPr>
            <a:endParaRPr lang="en-US" sz="1300" dirty="0"/>
          </a:p>
          <a:p>
            <a:pPr marL="0" indent="0">
              <a:buNone/>
            </a:pPr>
            <a:r>
              <a:rPr lang="en-US" sz="1300" b="1" dirty="0"/>
              <a:t>All these technologies can now operate now at superhuman performance.</a:t>
            </a:r>
          </a:p>
        </p:txBody>
      </p:sp>
      <p:pic>
        <p:nvPicPr>
          <p:cNvPr id="5124" name="Picture 4" descr="DALL·E 2, Explained: The Promise and Limitations of a Revolutionary AI ...">
            <a:extLst>
              <a:ext uri="{FF2B5EF4-FFF2-40B4-BE49-F238E27FC236}">
                <a16:creationId xmlns:a16="http://schemas.microsoft.com/office/drawing/2014/main" id="{4F355B0E-BE0B-9D6D-DF40-04B6870F093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268" r="2" b="2"/>
          <a:stretch/>
        </p:blipFill>
        <p:spPr bwMode="auto">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F103C0-09B6-1D75-638A-954AC33F19A3}"/>
              </a:ext>
            </a:extLst>
          </p:cNvPr>
          <p:cNvSpPr txBox="1"/>
          <p:nvPr/>
        </p:nvSpPr>
        <p:spPr>
          <a:xfrm>
            <a:off x="8109876" y="3012371"/>
            <a:ext cx="1219200" cy="369332"/>
          </a:xfrm>
          <a:prstGeom prst="rect">
            <a:avLst/>
          </a:prstGeom>
          <a:noFill/>
        </p:spPr>
        <p:txBody>
          <a:bodyPr wrap="square" rtlCol="0">
            <a:spAutoFit/>
          </a:bodyPr>
          <a:lstStyle/>
          <a:p>
            <a:r>
              <a:rPr lang="en-US" b="1" dirty="0">
                <a:solidFill>
                  <a:schemeClr val="bg1"/>
                </a:solidFill>
              </a:rPr>
              <a:t>DALL-E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9486" y="365125"/>
            <a:ext cx="5239511" cy="1776484"/>
          </a:xfrm>
        </p:spPr>
        <p:txBody>
          <a:bodyPr anchor="b">
            <a:normAutofit/>
          </a:bodyPr>
          <a:lstStyle/>
          <a:p>
            <a:r>
              <a:rPr lang="en-US" sz="4700"/>
              <a:t>Natural Language Processing</a:t>
            </a:r>
          </a:p>
        </p:txBody>
      </p:sp>
      <p:pic>
        <p:nvPicPr>
          <p:cNvPr id="11" name="Picture 10">
            <a:extLst>
              <a:ext uri="{FF2B5EF4-FFF2-40B4-BE49-F238E27FC236}">
                <a16:creationId xmlns:a16="http://schemas.microsoft.com/office/drawing/2014/main" id="{50B046AB-D3D4-84CC-9143-11B98F405448}"/>
              </a:ext>
            </a:extLst>
          </p:cNvPr>
          <p:cNvPicPr>
            <a:picLocks noChangeAspect="1"/>
          </p:cNvPicPr>
          <p:nvPr/>
        </p:nvPicPr>
        <p:blipFill>
          <a:blip r:embed="rId3"/>
          <a:stretch>
            <a:fillRect/>
          </a:stretch>
        </p:blipFill>
        <p:spPr>
          <a:xfrm>
            <a:off x="5159146" y="607759"/>
            <a:ext cx="3774438" cy="1707932"/>
          </a:xfrm>
          <a:prstGeom prst="rect">
            <a:avLst/>
          </a:prstGeom>
        </p:spPr>
      </p:pic>
      <p:sp>
        <p:nvSpPr>
          <p:cNvPr id="3" name="Content Placeholder 2"/>
          <p:cNvSpPr>
            <a:spLocks noGrp="1"/>
          </p:cNvSpPr>
          <p:nvPr>
            <p:ph idx="1"/>
          </p:nvPr>
        </p:nvSpPr>
        <p:spPr>
          <a:xfrm>
            <a:off x="355463" y="2832763"/>
            <a:ext cx="4417314" cy="3672144"/>
          </a:xfrm>
        </p:spPr>
        <p:txBody>
          <a:bodyPr>
            <a:normAutofit fontScale="92500" lnSpcReduction="20000"/>
          </a:bodyPr>
          <a:lstStyle/>
          <a:p>
            <a:pPr lvl="1">
              <a:defRPr/>
            </a:pPr>
            <a:r>
              <a:rPr lang="en-US" sz="1900" dirty="0"/>
              <a:t>Text-to-speech</a:t>
            </a:r>
          </a:p>
          <a:p>
            <a:pPr lvl="1">
              <a:defRPr/>
            </a:pPr>
            <a:r>
              <a:rPr lang="en-US" sz="1900" dirty="0"/>
              <a:t>Speech-to-text to detect voice commands</a:t>
            </a:r>
          </a:p>
          <a:p>
            <a:pPr lvl="1">
              <a:buFont typeface="Arial" pitchFamily="34" charset="0"/>
              <a:buChar char="•"/>
              <a:defRPr/>
            </a:pPr>
            <a:r>
              <a:rPr lang="en-US" sz="1900" dirty="0"/>
              <a:t>Machine translation</a:t>
            </a:r>
          </a:p>
          <a:p>
            <a:pPr lvl="1">
              <a:buFont typeface="Arial" pitchFamily="34" charset="0"/>
              <a:buChar char="•"/>
              <a:defRPr/>
            </a:pPr>
            <a:r>
              <a:rPr lang="en-US" sz="1900" dirty="0"/>
              <a:t>Text generation (Q/A systems, text summarization)</a:t>
            </a:r>
          </a:p>
          <a:p>
            <a:pPr marL="0" indent="0">
              <a:buNone/>
              <a:defRPr/>
            </a:pPr>
            <a:endParaRPr lang="en-US" sz="1900" dirty="0"/>
          </a:p>
          <a:p>
            <a:pPr marL="0" indent="0">
              <a:buNone/>
              <a:defRPr/>
            </a:pPr>
            <a:r>
              <a:rPr lang="en-US" sz="1900" b="1" dirty="0"/>
              <a:t>All these technologies can operate now with close to or even superhuman performance.</a:t>
            </a:r>
          </a:p>
          <a:p>
            <a:pPr marL="0" indent="0">
              <a:buNone/>
              <a:defRPr/>
            </a:pPr>
            <a:endParaRPr lang="en-US" sz="1900" dirty="0"/>
          </a:p>
          <a:p>
            <a:pPr marL="0" indent="0">
              <a:buNone/>
              <a:defRPr/>
            </a:pPr>
            <a:endParaRPr lang="en-US" sz="1900" dirty="0"/>
          </a:p>
          <a:p>
            <a:pPr marL="0" indent="0">
              <a:buNone/>
              <a:defRPr/>
            </a:pPr>
            <a:r>
              <a:rPr lang="en-US" sz="1900" b="1" dirty="0"/>
              <a:t>Humans use language to reason. Does that mean AI that can create good language can reason?</a:t>
            </a:r>
          </a:p>
        </p:txBody>
      </p:sp>
      <p:pic>
        <p:nvPicPr>
          <p:cNvPr id="2062" name="Picture 14" descr="A Linguistic Lens on Artificial Intelligence | Inside Science">
            <a:extLst>
              <a:ext uri="{FF2B5EF4-FFF2-40B4-BE49-F238E27FC236}">
                <a16:creationId xmlns:a16="http://schemas.microsoft.com/office/drawing/2014/main" id="{8C3E50C8-9B47-FA13-B971-6A7B8E3C3F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946755" y="2749368"/>
            <a:ext cx="1924865" cy="11356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1B32C85B-2B61-F6E2-0C36-02760339F3EF}"/>
              </a:ext>
            </a:extLst>
          </p:cNvPr>
          <p:cNvPicPr>
            <a:picLocks noChangeAspect="1"/>
          </p:cNvPicPr>
          <p:nvPr/>
        </p:nvPicPr>
        <p:blipFill>
          <a:blip r:embed="rId5"/>
          <a:stretch>
            <a:fillRect/>
          </a:stretch>
        </p:blipFill>
        <p:spPr>
          <a:xfrm>
            <a:off x="4798994" y="4343400"/>
            <a:ext cx="4134589" cy="2325707"/>
          </a:xfrm>
          <a:prstGeom prst="rect">
            <a:avLst/>
          </a:prstGeom>
        </p:spPr>
      </p:pic>
      <p:sp>
        <p:nvSpPr>
          <p:cNvPr id="10" name="AutoShape 12" descr="Sony LF-S50G Wireless Speaker (Black) LFS50G/B B&amp;H Photo Video">
            <a:extLst>
              <a:ext uri="{FF2B5EF4-FFF2-40B4-BE49-F238E27FC236}">
                <a16:creationId xmlns:a16="http://schemas.microsoft.com/office/drawing/2014/main" id="{E9313F88-950A-0CDE-92B5-7BA2CEA9EFE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8" name="Picture 20" descr="Chat Gpt Login">
            <a:extLst>
              <a:ext uri="{FF2B5EF4-FFF2-40B4-BE49-F238E27FC236}">
                <a16:creationId xmlns:a16="http://schemas.microsoft.com/office/drawing/2014/main" id="{26F203F0-2D3F-5488-9A14-F21B691497B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67184" y="2749368"/>
            <a:ext cx="1933614" cy="10606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6" name="Rectangle 4115">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B38FEF-F393-0785-18E5-ED9484395705}"/>
              </a:ext>
            </a:extLst>
          </p:cNvPr>
          <p:cNvSpPr>
            <a:spLocks noGrp="1"/>
          </p:cNvSpPr>
          <p:nvPr>
            <p:ph type="title"/>
          </p:nvPr>
        </p:nvSpPr>
        <p:spPr>
          <a:xfrm>
            <a:off x="381000" y="308613"/>
            <a:ext cx="3657600" cy="1443987"/>
          </a:xfrm>
        </p:spPr>
        <p:txBody>
          <a:bodyPr anchor="b">
            <a:noAutofit/>
          </a:bodyPr>
          <a:lstStyle/>
          <a:p>
            <a:r>
              <a:rPr lang="en-US" sz="2800" dirty="0"/>
              <a:t>Large Language Models</a:t>
            </a:r>
            <a:br>
              <a:rPr lang="en-US" sz="2800" dirty="0"/>
            </a:br>
            <a:r>
              <a:rPr lang="en-US" sz="2800" dirty="0" err="1"/>
              <a:t>ChatGPT</a:t>
            </a:r>
            <a:r>
              <a:rPr lang="en-US" sz="2800" dirty="0"/>
              <a:t> in a Nutshell</a:t>
            </a:r>
          </a:p>
        </p:txBody>
      </p:sp>
      <p:sp>
        <p:nvSpPr>
          <p:cNvPr id="3" name="Content Placeholder 2">
            <a:extLst>
              <a:ext uri="{FF2B5EF4-FFF2-40B4-BE49-F238E27FC236}">
                <a16:creationId xmlns:a16="http://schemas.microsoft.com/office/drawing/2014/main" id="{97A66111-8CD8-217A-B4F7-6B03F6779179}"/>
              </a:ext>
            </a:extLst>
          </p:cNvPr>
          <p:cNvSpPr>
            <a:spLocks noGrp="1"/>
          </p:cNvSpPr>
          <p:nvPr>
            <p:ph idx="1"/>
          </p:nvPr>
        </p:nvSpPr>
        <p:spPr>
          <a:xfrm>
            <a:off x="858692" y="2405894"/>
            <a:ext cx="4170508" cy="3994473"/>
          </a:xfrm>
        </p:spPr>
        <p:txBody>
          <a:bodyPr anchor="t">
            <a:normAutofit fontScale="85000" lnSpcReduction="20000"/>
          </a:bodyPr>
          <a:lstStyle/>
          <a:p>
            <a:r>
              <a:rPr lang="en-US" sz="1300" dirty="0"/>
              <a:t>A language model learns how words follow each other from a large training data set.</a:t>
            </a:r>
          </a:p>
          <a:p>
            <a:r>
              <a:rPr lang="en-US" sz="1300" dirty="0"/>
              <a:t>We give it a prompt: </a:t>
            </a:r>
            <a:r>
              <a:rPr lang="en-US" sz="1300" b="1" dirty="0"/>
              <a:t>“</a:t>
            </a:r>
            <a:r>
              <a:rPr lang="en-US" sz="1300" b="1" i="0" dirty="0">
                <a:effectLst/>
                <a:latin typeface="Söhne"/>
              </a:rPr>
              <a:t>Please write an outline for a talk on AI in the real estate industry.”</a:t>
            </a:r>
          </a:p>
          <a:p>
            <a:r>
              <a:rPr lang="en-US" sz="1300" dirty="0">
                <a:latin typeface="Söhne"/>
              </a:rPr>
              <a:t>And then continues the prompt one word at a time: </a:t>
            </a:r>
            <a:br>
              <a:rPr lang="en-US" sz="1300" dirty="0">
                <a:latin typeface="Söhne"/>
              </a:rPr>
            </a:br>
            <a:r>
              <a:rPr lang="en-US" sz="1300" b="1" i="0" dirty="0">
                <a:effectLst/>
                <a:latin typeface="Söhne"/>
              </a:rPr>
              <a:t>“Sure! Here's an outline for a talk on AI in the real estate industry…”</a:t>
            </a:r>
          </a:p>
          <a:p>
            <a:endParaRPr lang="en-US" sz="1300" dirty="0"/>
          </a:p>
          <a:p>
            <a:r>
              <a:rPr lang="en-US" sz="1300" dirty="0"/>
              <a:t>The model gets fine-tuned by humans to produce “good” responses. E.g., about ¼ page long, stay on topic, etc. </a:t>
            </a:r>
          </a:p>
          <a:p>
            <a:r>
              <a:rPr lang="en-US" sz="1300" dirty="0"/>
              <a:t>The model learns to produce text that sounds right and “it thinks”</a:t>
            </a:r>
            <a:r>
              <a:rPr lang="en-US" sz="1300" b="1" dirty="0"/>
              <a:t> the human will like…</a:t>
            </a:r>
          </a:p>
          <a:p>
            <a:endParaRPr lang="en-US" sz="1300" dirty="0"/>
          </a:p>
          <a:p>
            <a:r>
              <a:rPr lang="en-US" sz="1300" dirty="0"/>
              <a:t>Where will this lead? </a:t>
            </a:r>
          </a:p>
          <a:p>
            <a:pPr lvl="1"/>
            <a:r>
              <a:rPr lang="en-US" sz="1050" dirty="0"/>
              <a:t>We will get natural language assistants for everything.</a:t>
            </a:r>
          </a:p>
          <a:p>
            <a:pPr lvl="1"/>
            <a:r>
              <a:rPr lang="en-US" sz="1050" dirty="0"/>
              <a:t>We will get personalized summaries.</a:t>
            </a:r>
          </a:p>
          <a:p>
            <a:pPr lvl="1"/>
            <a:r>
              <a:rPr lang="en-US" sz="1050" dirty="0"/>
              <a:t>Writing documents will become automated.</a:t>
            </a:r>
          </a:p>
          <a:p>
            <a:pPr lvl="1"/>
            <a:endParaRPr lang="en-US" sz="1050" dirty="0"/>
          </a:p>
          <a:p>
            <a:pPr lvl="1"/>
            <a:r>
              <a:rPr lang="en-US" sz="1050" dirty="0"/>
              <a:t>For now, it is an assistant and needs someone to check the result is factually correct…</a:t>
            </a:r>
          </a:p>
          <a:p>
            <a:pPr lvl="1"/>
            <a:r>
              <a:rPr lang="en-US" sz="1050" dirty="0"/>
              <a:t>Artificial content generation will explode. ”Genuine” content may become valued.</a:t>
            </a:r>
          </a:p>
          <a:p>
            <a:pPr lvl="1"/>
            <a:endParaRPr lang="en-US" sz="1050" dirty="0"/>
          </a:p>
          <a:p>
            <a:pPr lvl="1"/>
            <a:r>
              <a:rPr lang="en-US" sz="1050" dirty="0"/>
              <a:t>Who pays more will get access to a more powerful model.</a:t>
            </a:r>
          </a:p>
          <a:p>
            <a:pPr lvl="1"/>
            <a:r>
              <a:rPr lang="en-US" sz="1050" dirty="0"/>
              <a:t>The group that controls the models will gain extreme influence.</a:t>
            </a:r>
          </a:p>
        </p:txBody>
      </p:sp>
      <p:sp>
        <p:nvSpPr>
          <p:cNvPr id="4118" name="Rectangle 4117">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0" name="Rectangle 4119">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2" name="Rectangle 4121">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4" name="Rectangle 4123">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ChatGPT - Wikipedia">
            <a:extLst>
              <a:ext uri="{FF2B5EF4-FFF2-40B4-BE49-F238E27FC236}">
                <a16:creationId xmlns:a16="http://schemas.microsoft.com/office/drawing/2014/main" id="{57187FD7-7378-1A65-A25C-9D5DE62DFC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157411" y="2496363"/>
            <a:ext cx="3127897" cy="31278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232316-7F03-3CEE-BF37-0AF83A8E6C6B}"/>
              </a:ext>
            </a:extLst>
          </p:cNvPr>
          <p:cNvSpPr txBox="1"/>
          <p:nvPr/>
        </p:nvSpPr>
        <p:spPr>
          <a:xfrm>
            <a:off x="6255594" y="5835480"/>
            <a:ext cx="2554451" cy="861774"/>
          </a:xfrm>
          <a:prstGeom prst="rect">
            <a:avLst/>
          </a:prstGeom>
          <a:noFill/>
        </p:spPr>
        <p:txBody>
          <a:bodyPr wrap="square" rtlCol="0">
            <a:spAutoFit/>
          </a:bodyPr>
          <a:lstStyle/>
          <a:p>
            <a:r>
              <a:rPr lang="en-US" dirty="0">
                <a:solidFill>
                  <a:schemeClr val="bg1"/>
                </a:solidFill>
              </a:rPr>
              <a:t>Cost of training GPT-4</a:t>
            </a:r>
            <a:br>
              <a:rPr lang="en-US" dirty="0">
                <a:solidFill>
                  <a:schemeClr val="bg1"/>
                </a:solidFill>
              </a:rPr>
            </a:br>
            <a:r>
              <a:rPr lang="en-US" dirty="0">
                <a:solidFill>
                  <a:schemeClr val="bg1"/>
                </a:solidFill>
              </a:rPr>
              <a:t>$100 million+</a:t>
            </a:r>
          </a:p>
          <a:p>
            <a:r>
              <a:rPr lang="en-US" sz="1400" dirty="0">
                <a:solidFill>
                  <a:schemeClr val="bg1"/>
                </a:solidFill>
              </a:rPr>
              <a:t>Source: https://www.wired.com</a:t>
            </a:r>
          </a:p>
        </p:txBody>
      </p:sp>
      <p:pic>
        <p:nvPicPr>
          <p:cNvPr id="5" name="Content Placeholder 5" descr="Graphical user interface, text, application, email&#10;&#10;Description automatically generated">
            <a:extLst>
              <a:ext uri="{FF2B5EF4-FFF2-40B4-BE49-F238E27FC236}">
                <a16:creationId xmlns:a16="http://schemas.microsoft.com/office/drawing/2014/main" id="{D74BAAD7-7E6E-27C0-614D-E038958C0C86}"/>
              </a:ext>
            </a:extLst>
          </p:cNvPr>
          <p:cNvPicPr>
            <a:picLocks noChangeAspect="1"/>
          </p:cNvPicPr>
          <p:nvPr/>
        </p:nvPicPr>
        <p:blipFill rotWithShape="1">
          <a:blip r:embed="rId3">
            <a:extLst>
              <a:ext uri="{28A0092B-C50C-407E-A947-70E740481C1C}">
                <a14:useLocalDpi xmlns:a14="http://schemas.microsoft.com/office/drawing/2010/main" val="0"/>
              </a:ext>
            </a:extLst>
          </a:blip>
          <a:srcRect r="12916" b="69636"/>
          <a:stretch/>
        </p:blipFill>
        <p:spPr>
          <a:xfrm>
            <a:off x="4301448" y="314909"/>
            <a:ext cx="4427393" cy="1590092"/>
          </a:xfrm>
          <a:prstGeom prst="rect">
            <a:avLst/>
          </a:prstGeom>
          <a:ln>
            <a:solidFill>
              <a:schemeClr val="tx1"/>
            </a:solidFill>
          </a:ln>
        </p:spPr>
      </p:pic>
    </p:spTree>
    <p:extLst>
      <p:ext uri="{BB962C8B-B14F-4D97-AF65-F5344CB8AC3E}">
        <p14:creationId xmlns:p14="http://schemas.microsoft.com/office/powerpoint/2010/main" val="3996345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very Google Assistant command for your Nest speaker or display - CNET">
            <a:extLst>
              <a:ext uri="{FF2B5EF4-FFF2-40B4-BE49-F238E27FC236}">
                <a16:creationId xmlns:a16="http://schemas.microsoft.com/office/drawing/2014/main" id="{4F4F0D65-13DB-45F0-EEA1-6EED9D807C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68" r="25604"/>
          <a:stretch/>
        </p:blipFill>
        <p:spPr bwMode="auto">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76FFE9-6106-099C-4A59-121058D455DB}"/>
              </a:ext>
            </a:extLst>
          </p:cNvPr>
          <p:cNvSpPr>
            <a:spLocks noGrp="1"/>
          </p:cNvSpPr>
          <p:nvPr>
            <p:ph type="title"/>
          </p:nvPr>
        </p:nvSpPr>
        <p:spPr>
          <a:xfrm>
            <a:off x="480060" y="325369"/>
            <a:ext cx="3276451" cy="970031"/>
          </a:xfrm>
        </p:spPr>
        <p:txBody>
          <a:bodyPr anchor="b">
            <a:normAutofit/>
          </a:bodyPr>
          <a:lstStyle/>
          <a:p>
            <a:r>
              <a:rPr lang="en-US" sz="4700" dirty="0"/>
              <a:t>AI Safety</a:t>
            </a:r>
          </a:p>
        </p:txBody>
      </p:sp>
      <p:sp>
        <p:nvSpPr>
          <p:cNvPr id="3" name="Content Placeholder 2">
            <a:extLst>
              <a:ext uri="{FF2B5EF4-FFF2-40B4-BE49-F238E27FC236}">
                <a16:creationId xmlns:a16="http://schemas.microsoft.com/office/drawing/2014/main" id="{684F66F8-536B-6DB4-2048-E5BBE78484C1}"/>
              </a:ext>
            </a:extLst>
          </p:cNvPr>
          <p:cNvSpPr>
            <a:spLocks noGrp="1"/>
          </p:cNvSpPr>
          <p:nvPr>
            <p:ph idx="1"/>
          </p:nvPr>
        </p:nvSpPr>
        <p:spPr>
          <a:xfrm>
            <a:off x="480060" y="1392850"/>
            <a:ext cx="3182691" cy="2374444"/>
          </a:xfrm>
        </p:spPr>
        <p:txBody>
          <a:bodyPr>
            <a:normAutofit fontScale="70000" lnSpcReduction="20000"/>
          </a:bodyPr>
          <a:lstStyle/>
          <a:p>
            <a:pPr marL="0" indent="0">
              <a:buNone/>
            </a:pPr>
            <a:r>
              <a:rPr lang="en-US" sz="1900" dirty="0"/>
              <a:t>“Prevent accidents, misuse, or other harmful consequences of AI.”</a:t>
            </a:r>
          </a:p>
          <a:p>
            <a:pPr marL="0" indent="0">
              <a:buNone/>
            </a:pPr>
            <a:endParaRPr lang="en-US" sz="1900" dirty="0"/>
          </a:p>
          <a:p>
            <a:r>
              <a:rPr lang="en-US" sz="1900" dirty="0"/>
              <a:t>Robustness: Black swan vs. adversarial robustness</a:t>
            </a:r>
          </a:p>
          <a:p>
            <a:r>
              <a:rPr lang="en-US" sz="1900" dirty="0"/>
              <a:t>Monitoring AI</a:t>
            </a:r>
          </a:p>
          <a:p>
            <a:r>
              <a:rPr lang="en-US" sz="1900" dirty="0"/>
              <a:t>Goal/reward alignment</a:t>
            </a:r>
          </a:p>
          <a:p>
            <a:r>
              <a:rPr lang="en-US" sz="1900" dirty="0"/>
              <a:t>Reward hacking</a:t>
            </a:r>
          </a:p>
          <a:p>
            <a:r>
              <a:rPr lang="en-US" sz="1900" dirty="0"/>
              <a:t>Instrumental Convergence</a:t>
            </a:r>
          </a:p>
          <a:p>
            <a:r>
              <a:rPr lang="en-US" sz="1900" dirty="0"/>
              <a:t>What about liability?</a:t>
            </a:r>
          </a:p>
        </p:txBody>
      </p:sp>
      <p:sp>
        <p:nvSpPr>
          <p:cNvPr id="4" name="TextBox 3">
            <a:extLst>
              <a:ext uri="{FF2B5EF4-FFF2-40B4-BE49-F238E27FC236}">
                <a16:creationId xmlns:a16="http://schemas.microsoft.com/office/drawing/2014/main" id="{76467FEC-2B8B-FAEB-B8C4-86F695AB9DAE}"/>
              </a:ext>
            </a:extLst>
          </p:cNvPr>
          <p:cNvSpPr txBox="1"/>
          <p:nvPr/>
        </p:nvSpPr>
        <p:spPr>
          <a:xfrm>
            <a:off x="4953000" y="6560938"/>
            <a:ext cx="3790653" cy="276999"/>
          </a:xfrm>
          <a:prstGeom prst="rect">
            <a:avLst/>
          </a:prstGeom>
          <a:noFill/>
        </p:spPr>
        <p:txBody>
          <a:bodyPr wrap="none" rtlCol="0">
            <a:spAutoFit/>
          </a:bodyPr>
          <a:lstStyle/>
          <a:p>
            <a:r>
              <a:rPr lang="en-US" sz="1200" dirty="0">
                <a:solidFill>
                  <a:schemeClr val="bg1"/>
                </a:solidFill>
              </a:rPr>
              <a:t>Credit: Terminator 3: Rise of the Machines. Warner Bros.</a:t>
            </a:r>
          </a:p>
        </p:txBody>
      </p:sp>
      <p:grpSp>
        <p:nvGrpSpPr>
          <p:cNvPr id="5" name="Group 4">
            <a:extLst>
              <a:ext uri="{FF2B5EF4-FFF2-40B4-BE49-F238E27FC236}">
                <a16:creationId xmlns:a16="http://schemas.microsoft.com/office/drawing/2014/main" id="{593AD3FD-5A6F-6732-7C91-B1204BC0D035}"/>
              </a:ext>
            </a:extLst>
          </p:cNvPr>
          <p:cNvGrpSpPr/>
          <p:nvPr/>
        </p:nvGrpSpPr>
        <p:grpSpPr>
          <a:xfrm>
            <a:off x="563564" y="3984360"/>
            <a:ext cx="3235530" cy="2552779"/>
            <a:chOff x="1161391" y="615149"/>
            <a:chExt cx="7282448" cy="6124747"/>
          </a:xfrm>
        </p:grpSpPr>
        <p:sp>
          <p:nvSpPr>
            <p:cNvPr id="6" name="Rectangle 5">
              <a:extLst>
                <a:ext uri="{FF2B5EF4-FFF2-40B4-BE49-F238E27FC236}">
                  <a16:creationId xmlns:a16="http://schemas.microsoft.com/office/drawing/2014/main" id="{C550D55D-9F32-D75C-433F-6FD2CCBE6AC8}"/>
                </a:ext>
              </a:extLst>
            </p:cNvPr>
            <p:cNvSpPr/>
            <p:nvPr/>
          </p:nvSpPr>
          <p:spPr>
            <a:xfrm>
              <a:off x="2895600" y="1524000"/>
              <a:ext cx="2133600" cy="1828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2800" dirty="0"/>
                <a:t>AI</a:t>
              </a:r>
              <a:endParaRPr lang="en-US" sz="800" dirty="0"/>
            </a:p>
          </p:txBody>
        </p:sp>
        <p:pic>
          <p:nvPicPr>
            <p:cNvPr id="7" name="Graphic 6" descr="Group with solid fill">
              <a:extLst>
                <a:ext uri="{FF2B5EF4-FFF2-40B4-BE49-F238E27FC236}">
                  <a16:creationId xmlns:a16="http://schemas.microsoft.com/office/drawing/2014/main" id="{5389ADA1-C740-215D-A420-2283491FF9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34484" y="5239409"/>
              <a:ext cx="1313791" cy="1313791"/>
            </a:xfrm>
            <a:prstGeom prst="rect">
              <a:avLst/>
            </a:prstGeom>
          </p:spPr>
        </p:pic>
        <p:pic>
          <p:nvPicPr>
            <p:cNvPr id="8" name="Graphic 7" descr="Woman Shrugging with solid fill">
              <a:extLst>
                <a:ext uri="{FF2B5EF4-FFF2-40B4-BE49-F238E27FC236}">
                  <a16:creationId xmlns:a16="http://schemas.microsoft.com/office/drawing/2014/main" id="{86D582CC-4605-7113-9E4C-175A7E6992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0" y="1344097"/>
              <a:ext cx="914400" cy="914400"/>
            </a:xfrm>
            <a:prstGeom prst="rect">
              <a:avLst/>
            </a:prstGeom>
          </p:spPr>
        </p:pic>
        <p:sp>
          <p:nvSpPr>
            <p:cNvPr id="9" name="Arrow: Right 8">
              <a:extLst>
                <a:ext uri="{FF2B5EF4-FFF2-40B4-BE49-F238E27FC236}">
                  <a16:creationId xmlns:a16="http://schemas.microsoft.com/office/drawing/2014/main" id="{281FB642-A55C-67D8-C7D9-7F44D049FB3D}"/>
                </a:ext>
              </a:extLst>
            </p:cNvPr>
            <p:cNvSpPr/>
            <p:nvPr/>
          </p:nvSpPr>
          <p:spPr>
            <a:xfrm rot="1606142">
              <a:off x="5201309" y="2640032"/>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sz="800"/>
            </a:p>
          </p:txBody>
        </p:sp>
        <p:sp>
          <p:nvSpPr>
            <p:cNvPr id="10" name="Arrow: Right 9">
              <a:extLst>
                <a:ext uri="{FF2B5EF4-FFF2-40B4-BE49-F238E27FC236}">
                  <a16:creationId xmlns:a16="http://schemas.microsoft.com/office/drawing/2014/main" id="{A4CA3A75-9214-7EE3-BD2C-E829EE0579DE}"/>
                </a:ext>
              </a:extLst>
            </p:cNvPr>
            <p:cNvSpPr/>
            <p:nvPr/>
          </p:nvSpPr>
          <p:spPr>
            <a:xfrm rot="10060878">
              <a:off x="5193137" y="1943113"/>
              <a:ext cx="838200" cy="2286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sz="800"/>
            </a:p>
          </p:txBody>
        </p:sp>
        <p:sp>
          <p:nvSpPr>
            <p:cNvPr id="11" name="TextBox 10">
              <a:extLst>
                <a:ext uri="{FF2B5EF4-FFF2-40B4-BE49-F238E27FC236}">
                  <a16:creationId xmlns:a16="http://schemas.microsoft.com/office/drawing/2014/main" id="{6B4CE341-C122-42D6-80D0-CEB1451506A8}"/>
                </a:ext>
              </a:extLst>
            </p:cNvPr>
            <p:cNvSpPr txBox="1"/>
            <p:nvPr/>
          </p:nvSpPr>
          <p:spPr>
            <a:xfrm>
              <a:off x="6244462" y="990600"/>
              <a:ext cx="716485" cy="502660"/>
            </a:xfrm>
            <a:prstGeom prst="rect">
              <a:avLst/>
            </a:prstGeom>
            <a:noFill/>
          </p:spPr>
          <p:txBody>
            <a:bodyPr wrap="none" rtlCol="0">
              <a:spAutoFit/>
            </a:bodyPr>
            <a:lstStyle/>
            <a:p>
              <a:r>
                <a:rPr lang="en-US" sz="800" dirty="0">
                  <a:solidFill>
                    <a:schemeClr val="accent6"/>
                  </a:solidFill>
                </a:rPr>
                <a:t>User</a:t>
              </a:r>
            </a:p>
          </p:txBody>
        </p:sp>
        <p:sp>
          <p:nvSpPr>
            <p:cNvPr id="12" name="Thought Bubble: Cloud 11">
              <a:extLst>
                <a:ext uri="{FF2B5EF4-FFF2-40B4-BE49-F238E27FC236}">
                  <a16:creationId xmlns:a16="http://schemas.microsoft.com/office/drawing/2014/main" id="{ECB88D9B-06B8-AEE4-5446-A34AE175FF13}"/>
                </a:ext>
              </a:extLst>
            </p:cNvPr>
            <p:cNvSpPr/>
            <p:nvPr/>
          </p:nvSpPr>
          <p:spPr>
            <a:xfrm>
              <a:off x="1161391" y="4771505"/>
              <a:ext cx="1676400" cy="685791"/>
            </a:xfrm>
            <a:prstGeom prst="cloudCallout">
              <a:avLst>
                <a:gd name="adj1" fmla="val 39355"/>
                <a:gd name="adj2" fmla="val 6824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50" dirty="0"/>
                <a:t>Goals</a:t>
              </a:r>
            </a:p>
          </p:txBody>
        </p:sp>
        <p:sp>
          <p:nvSpPr>
            <p:cNvPr id="13" name="Arrow: Right 12">
              <a:extLst>
                <a:ext uri="{FF2B5EF4-FFF2-40B4-BE49-F238E27FC236}">
                  <a16:creationId xmlns:a16="http://schemas.microsoft.com/office/drawing/2014/main" id="{665C4A83-53D1-A166-C215-B418750632E5}"/>
                </a:ext>
              </a:extLst>
            </p:cNvPr>
            <p:cNvSpPr/>
            <p:nvPr/>
          </p:nvSpPr>
          <p:spPr>
            <a:xfrm rot="17007124">
              <a:off x="2542930" y="4154810"/>
              <a:ext cx="1897008" cy="562038"/>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800"/>
            </a:p>
          </p:txBody>
        </p:sp>
        <p:sp>
          <p:nvSpPr>
            <p:cNvPr id="14" name="Scroll: Vertical 13">
              <a:extLst>
                <a:ext uri="{FF2B5EF4-FFF2-40B4-BE49-F238E27FC236}">
                  <a16:creationId xmlns:a16="http://schemas.microsoft.com/office/drawing/2014/main" id="{EC1EF92C-FD9C-8344-CF97-57C0E6620760}"/>
                </a:ext>
              </a:extLst>
            </p:cNvPr>
            <p:cNvSpPr/>
            <p:nvPr/>
          </p:nvSpPr>
          <p:spPr>
            <a:xfrm>
              <a:off x="4476091" y="5210507"/>
              <a:ext cx="2484856" cy="1313786"/>
            </a:xfrm>
            <a:prstGeom prst="verticalScroll">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bg1"/>
                  </a:solidFill>
                </a:rPr>
                <a:t>Data</a:t>
              </a:r>
              <a:endParaRPr lang="en-US" sz="1600" dirty="0">
                <a:solidFill>
                  <a:schemeClr val="bg1"/>
                </a:solidFill>
              </a:endParaRPr>
            </a:p>
          </p:txBody>
        </p:sp>
        <p:sp>
          <p:nvSpPr>
            <p:cNvPr id="15" name="Arrow: Right 14">
              <a:extLst>
                <a:ext uri="{FF2B5EF4-FFF2-40B4-BE49-F238E27FC236}">
                  <a16:creationId xmlns:a16="http://schemas.microsoft.com/office/drawing/2014/main" id="{9DD3CB4A-9A77-6873-649A-AE9D009B1C74}"/>
                </a:ext>
              </a:extLst>
            </p:cNvPr>
            <p:cNvSpPr/>
            <p:nvPr/>
          </p:nvSpPr>
          <p:spPr>
            <a:xfrm rot="14238213">
              <a:off x="3682967" y="3999328"/>
              <a:ext cx="1840786" cy="585176"/>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800" dirty="0"/>
            </a:p>
          </p:txBody>
        </p:sp>
        <p:sp>
          <p:nvSpPr>
            <p:cNvPr id="16" name="Arrow: Right 15">
              <a:extLst>
                <a:ext uri="{FF2B5EF4-FFF2-40B4-BE49-F238E27FC236}">
                  <a16:creationId xmlns:a16="http://schemas.microsoft.com/office/drawing/2014/main" id="{C6FEB165-0BEA-1E73-3397-68E13FB8582F}"/>
                </a:ext>
              </a:extLst>
            </p:cNvPr>
            <p:cNvSpPr/>
            <p:nvPr/>
          </p:nvSpPr>
          <p:spPr>
            <a:xfrm>
              <a:off x="3848274" y="5705967"/>
              <a:ext cx="725217" cy="380609"/>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800"/>
            </a:p>
          </p:txBody>
        </p:sp>
        <p:sp>
          <p:nvSpPr>
            <p:cNvPr id="17" name="TextBox 16">
              <a:extLst>
                <a:ext uri="{FF2B5EF4-FFF2-40B4-BE49-F238E27FC236}">
                  <a16:creationId xmlns:a16="http://schemas.microsoft.com/office/drawing/2014/main" id="{6EF93A49-024A-3F04-1071-78B79FEC0F2D}"/>
                </a:ext>
              </a:extLst>
            </p:cNvPr>
            <p:cNvSpPr txBox="1"/>
            <p:nvPr/>
          </p:nvSpPr>
          <p:spPr>
            <a:xfrm>
              <a:off x="3758317" y="5372658"/>
              <a:ext cx="813966" cy="502660"/>
            </a:xfrm>
            <a:prstGeom prst="rect">
              <a:avLst/>
            </a:prstGeom>
            <a:noFill/>
          </p:spPr>
          <p:txBody>
            <a:bodyPr wrap="none" rtlCol="0">
              <a:spAutoFit/>
            </a:bodyPr>
            <a:lstStyle/>
            <a:p>
              <a:r>
                <a:rPr lang="en-US" sz="800" dirty="0">
                  <a:solidFill>
                    <a:schemeClr val="accent2"/>
                  </a:solidFill>
                </a:rPr>
                <a:t>select</a:t>
              </a:r>
            </a:p>
          </p:txBody>
        </p:sp>
        <p:sp>
          <p:nvSpPr>
            <p:cNvPr id="18" name="TextBox 17">
              <a:extLst>
                <a:ext uri="{FF2B5EF4-FFF2-40B4-BE49-F238E27FC236}">
                  <a16:creationId xmlns:a16="http://schemas.microsoft.com/office/drawing/2014/main" id="{5760F0DF-320F-F25C-8687-ABFD7EE1EA03}"/>
                </a:ext>
              </a:extLst>
            </p:cNvPr>
            <p:cNvSpPr txBox="1"/>
            <p:nvPr/>
          </p:nvSpPr>
          <p:spPr>
            <a:xfrm>
              <a:off x="4766360" y="4034655"/>
              <a:ext cx="725626" cy="502660"/>
            </a:xfrm>
            <a:prstGeom prst="rect">
              <a:avLst/>
            </a:prstGeom>
            <a:noFill/>
          </p:spPr>
          <p:txBody>
            <a:bodyPr wrap="none" rtlCol="0">
              <a:spAutoFit/>
            </a:bodyPr>
            <a:lstStyle/>
            <a:p>
              <a:r>
                <a:rPr lang="en-US" sz="800" dirty="0">
                  <a:solidFill>
                    <a:schemeClr val="accent2"/>
                  </a:solidFill>
                </a:rPr>
                <a:t>train</a:t>
              </a:r>
            </a:p>
          </p:txBody>
        </p:sp>
        <p:sp>
          <p:nvSpPr>
            <p:cNvPr id="19" name="Scroll: Vertical 18">
              <a:extLst>
                <a:ext uri="{FF2B5EF4-FFF2-40B4-BE49-F238E27FC236}">
                  <a16:creationId xmlns:a16="http://schemas.microsoft.com/office/drawing/2014/main" id="{58ABD6A5-148D-9B36-C6B0-577BFD2134DA}"/>
                </a:ext>
              </a:extLst>
            </p:cNvPr>
            <p:cNvSpPr/>
            <p:nvPr/>
          </p:nvSpPr>
          <p:spPr>
            <a:xfrm>
              <a:off x="2216507" y="3775147"/>
              <a:ext cx="1064029" cy="752639"/>
            </a:xfrm>
            <a:prstGeom prst="verticalScroll">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700" dirty="0">
                  <a:solidFill>
                    <a:schemeClr val="bg1"/>
                  </a:solidFill>
                </a:rPr>
                <a:t>Rules</a:t>
              </a:r>
            </a:p>
          </p:txBody>
        </p:sp>
        <p:sp>
          <p:nvSpPr>
            <p:cNvPr id="20" name="TextBox 19">
              <a:extLst>
                <a:ext uri="{FF2B5EF4-FFF2-40B4-BE49-F238E27FC236}">
                  <a16:creationId xmlns:a16="http://schemas.microsoft.com/office/drawing/2014/main" id="{3EC60E39-63F9-3415-A4FC-05E16ECFEA0C}"/>
                </a:ext>
              </a:extLst>
            </p:cNvPr>
            <p:cNvSpPr txBox="1"/>
            <p:nvPr/>
          </p:nvSpPr>
          <p:spPr>
            <a:xfrm>
              <a:off x="2142764" y="6237236"/>
              <a:ext cx="1995926" cy="502660"/>
            </a:xfrm>
            <a:prstGeom prst="rect">
              <a:avLst/>
            </a:prstGeom>
            <a:noFill/>
          </p:spPr>
          <p:txBody>
            <a:bodyPr wrap="none" rtlCol="0">
              <a:spAutoFit/>
            </a:bodyPr>
            <a:lstStyle/>
            <a:p>
              <a:r>
                <a:rPr lang="en-US" sz="800" dirty="0">
                  <a:solidFill>
                    <a:schemeClr val="accent2"/>
                  </a:solidFill>
                </a:rPr>
                <a:t>Developers / owners</a:t>
              </a:r>
            </a:p>
          </p:txBody>
        </p:sp>
        <p:sp>
          <p:nvSpPr>
            <p:cNvPr id="21" name="Thought Bubble: Cloud 20">
              <a:extLst>
                <a:ext uri="{FF2B5EF4-FFF2-40B4-BE49-F238E27FC236}">
                  <a16:creationId xmlns:a16="http://schemas.microsoft.com/office/drawing/2014/main" id="{12AB4813-7874-5DF2-0105-8AE8073AFD28}"/>
                </a:ext>
              </a:extLst>
            </p:cNvPr>
            <p:cNvSpPr/>
            <p:nvPr/>
          </p:nvSpPr>
          <p:spPr>
            <a:xfrm>
              <a:off x="6780487" y="615149"/>
              <a:ext cx="1663352" cy="685791"/>
            </a:xfrm>
            <a:prstGeom prst="cloudCallout">
              <a:avLst>
                <a:gd name="adj1" fmla="val -53096"/>
                <a:gd name="adj2" fmla="val 65948"/>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000" dirty="0"/>
                <a:t>Goals</a:t>
              </a:r>
            </a:p>
          </p:txBody>
        </p:sp>
      </p:grpSp>
      <p:sp>
        <p:nvSpPr>
          <p:cNvPr id="26" name="Explosion: 14 Points 25">
            <a:extLst>
              <a:ext uri="{FF2B5EF4-FFF2-40B4-BE49-F238E27FC236}">
                <a16:creationId xmlns:a16="http://schemas.microsoft.com/office/drawing/2014/main" id="{407FDD98-5879-C1FA-9418-4CEB791392FA}"/>
              </a:ext>
            </a:extLst>
          </p:cNvPr>
          <p:cNvSpPr/>
          <p:nvPr/>
        </p:nvSpPr>
        <p:spPr>
          <a:xfrm>
            <a:off x="2509263" y="4781931"/>
            <a:ext cx="1315313" cy="596477"/>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100" dirty="0"/>
              <a:t>Action</a:t>
            </a:r>
          </a:p>
        </p:txBody>
      </p:sp>
    </p:spTree>
    <p:extLst>
      <p:ext uri="{BB962C8B-B14F-4D97-AF65-F5344CB8AC3E}">
        <p14:creationId xmlns:p14="http://schemas.microsoft.com/office/powerpoint/2010/main" val="371697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78ABB1D-A0BC-EA76-7BA7-A533DE719C68}"/>
              </a:ext>
            </a:extLst>
          </p:cNvPr>
          <p:cNvPicPr>
            <a:picLocks noChangeAspect="1"/>
          </p:cNvPicPr>
          <p:nvPr/>
        </p:nvPicPr>
        <p:blipFill rotWithShape="1">
          <a:blip r:embed="rId2"/>
          <a:srcRect l="1017" t="6430" r="622" b="27187"/>
          <a:stretch/>
        </p:blipFill>
        <p:spPr>
          <a:xfrm>
            <a:off x="-38100" y="-2628"/>
            <a:ext cx="9220200" cy="4018621"/>
          </a:xfrm>
          <a:prstGeom prst="rect">
            <a:avLst/>
          </a:prstGeom>
        </p:spPr>
      </p:pic>
      <p:sp>
        <p:nvSpPr>
          <p:cNvPr id="23" name="Rectangle: Rounded Corners 22">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19552"/>
            <a:ext cx="7036903"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itle 2">
            <a:extLst>
              <a:ext uri="{FF2B5EF4-FFF2-40B4-BE49-F238E27FC236}">
                <a16:creationId xmlns:a16="http://schemas.microsoft.com/office/drawing/2014/main" id="{7A62B216-25C2-E299-7E1A-39E2A563A72D}"/>
              </a:ext>
            </a:extLst>
          </p:cNvPr>
          <p:cNvSpPr>
            <a:spLocks noGrp="1"/>
          </p:cNvSpPr>
          <p:nvPr>
            <p:ph type="title"/>
          </p:nvPr>
        </p:nvSpPr>
        <p:spPr>
          <a:xfrm>
            <a:off x="425196" y="4203278"/>
            <a:ext cx="6417894" cy="536063"/>
          </a:xfrm>
        </p:spPr>
        <p:txBody>
          <a:bodyPr>
            <a:normAutofit/>
          </a:bodyPr>
          <a:lstStyle/>
          <a:p>
            <a:r>
              <a:rPr lang="en-US" sz="2400" dirty="0">
                <a:solidFill>
                  <a:schemeClr val="bg1"/>
                </a:solidFill>
              </a:rPr>
              <a:t>US National AI Initiative Act of 2020</a:t>
            </a:r>
          </a:p>
        </p:txBody>
      </p:sp>
      <p:sp>
        <p:nvSpPr>
          <p:cNvPr id="4" name="Content Placeholder 3">
            <a:extLst>
              <a:ext uri="{FF2B5EF4-FFF2-40B4-BE49-F238E27FC236}">
                <a16:creationId xmlns:a16="http://schemas.microsoft.com/office/drawing/2014/main" id="{3C7759B7-4820-03A8-F345-8D09F86C3E8A}"/>
              </a:ext>
            </a:extLst>
          </p:cNvPr>
          <p:cNvSpPr>
            <a:spLocks noGrp="1"/>
          </p:cNvSpPr>
          <p:nvPr>
            <p:ph idx="1"/>
          </p:nvPr>
        </p:nvSpPr>
        <p:spPr>
          <a:xfrm>
            <a:off x="425196" y="4956314"/>
            <a:ext cx="8293608" cy="1306417"/>
          </a:xfrm>
        </p:spPr>
        <p:txBody>
          <a:bodyPr>
            <a:normAutofit/>
          </a:bodyPr>
          <a:lstStyle/>
          <a:p>
            <a:pPr marL="0" indent="0">
              <a:buNone/>
            </a:pPr>
            <a:r>
              <a:rPr lang="en-US" sz="1400" dirty="0"/>
              <a:t>“The National AI Initiative Act of 2020 became law on January 1, 2021, providing for a coordinated program across the entire Federal government to </a:t>
            </a:r>
            <a:r>
              <a:rPr lang="en-US" sz="1400" b="1" dirty="0"/>
              <a:t>accelerate AI research </a:t>
            </a:r>
            <a:r>
              <a:rPr lang="en-US" sz="1400" dirty="0"/>
              <a:t>and application for the Nation’s economic prosperity and national security. The mission of the National AI Initiative is to ensure continued U.S. leadership in AI research and development, lead the world in the development and use of trustworthy AI in the public and private sectors, and prepare the present and future U.S. workforce for the integration of AI systems across all sectors of the economy and society.”</a:t>
            </a:r>
          </a:p>
        </p:txBody>
      </p:sp>
      <p:sp>
        <p:nvSpPr>
          <p:cNvPr id="7" name="TextBox 6">
            <a:extLst>
              <a:ext uri="{FF2B5EF4-FFF2-40B4-BE49-F238E27FC236}">
                <a16:creationId xmlns:a16="http://schemas.microsoft.com/office/drawing/2014/main" id="{32B021F7-A3A4-821F-D8F1-0638A3889641}"/>
              </a:ext>
            </a:extLst>
          </p:cNvPr>
          <p:cNvSpPr txBox="1"/>
          <p:nvPr/>
        </p:nvSpPr>
        <p:spPr>
          <a:xfrm>
            <a:off x="7047413" y="3654544"/>
            <a:ext cx="2077043" cy="369332"/>
          </a:xfrm>
          <a:prstGeom prst="rect">
            <a:avLst/>
          </a:prstGeom>
          <a:noFill/>
        </p:spPr>
        <p:txBody>
          <a:bodyPr wrap="none" rtlCol="0">
            <a:spAutoFit/>
          </a:bodyPr>
          <a:lstStyle/>
          <a:p>
            <a:r>
              <a:rPr lang="en-US" b="1" dirty="0">
                <a:solidFill>
                  <a:schemeClr val="bg1"/>
                </a:solidFill>
              </a:rPr>
              <a:t>https://www.ai.gov</a:t>
            </a:r>
          </a:p>
        </p:txBody>
      </p:sp>
    </p:spTree>
    <p:extLst>
      <p:ext uri="{BB962C8B-B14F-4D97-AF65-F5344CB8AC3E}">
        <p14:creationId xmlns:p14="http://schemas.microsoft.com/office/powerpoint/2010/main" val="243445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application, Word&#10;&#10;Description automatically generated">
            <a:extLst>
              <a:ext uri="{FF2B5EF4-FFF2-40B4-BE49-F238E27FC236}">
                <a16:creationId xmlns:a16="http://schemas.microsoft.com/office/drawing/2014/main" id="{F280B1CE-F2E8-EEDD-9C75-D519339C5EF7}"/>
              </a:ext>
            </a:extLst>
          </p:cNvPr>
          <p:cNvPicPr>
            <a:picLocks noGrp="1" noChangeAspect="1"/>
          </p:cNvPicPr>
          <p:nvPr>
            <p:ph sz="half" idx="4294967295"/>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381890" y="419100"/>
            <a:ext cx="8342467" cy="5715000"/>
          </a:xfrm>
          <a:ln w="12700">
            <a:solidFill>
              <a:schemeClr val="tx1"/>
            </a:solidFill>
          </a:ln>
        </p:spPr>
      </p:pic>
      <p:sp>
        <p:nvSpPr>
          <p:cNvPr id="7" name="TextBox 6">
            <a:extLst>
              <a:ext uri="{FF2B5EF4-FFF2-40B4-BE49-F238E27FC236}">
                <a16:creationId xmlns:a16="http://schemas.microsoft.com/office/drawing/2014/main" id="{CAD177D9-EC8A-F3B6-75D6-939993B8790D}"/>
              </a:ext>
            </a:extLst>
          </p:cNvPr>
          <p:cNvSpPr txBox="1"/>
          <p:nvPr/>
        </p:nvSpPr>
        <p:spPr>
          <a:xfrm>
            <a:off x="774157" y="6396348"/>
            <a:ext cx="9881686" cy="338554"/>
          </a:xfrm>
          <a:prstGeom prst="rect">
            <a:avLst/>
          </a:prstGeom>
          <a:noFill/>
        </p:spPr>
        <p:txBody>
          <a:bodyPr wrap="square">
            <a:spAutoFit/>
          </a:bodyPr>
          <a:lstStyle/>
          <a:p>
            <a:r>
              <a:rPr lang="en-US" sz="1600" dirty="0"/>
              <a:t>Source: </a:t>
            </a:r>
            <a:r>
              <a:rPr lang="en-US" sz="1600" dirty="0">
                <a:hlinkClick r:id="rId3"/>
              </a:rPr>
              <a:t>https://ai.google/static/documents/recommendations-for-regulating-ai.pdf</a:t>
            </a:r>
            <a:r>
              <a:rPr lang="en-US" sz="1600" dirty="0"/>
              <a:t>, 2021 </a:t>
            </a:r>
          </a:p>
        </p:txBody>
      </p:sp>
      <p:cxnSp>
        <p:nvCxnSpPr>
          <p:cNvPr id="12" name="Straight Connector 11">
            <a:extLst>
              <a:ext uri="{FF2B5EF4-FFF2-40B4-BE49-F238E27FC236}">
                <a16:creationId xmlns:a16="http://schemas.microsoft.com/office/drawing/2014/main" id="{9C0F475D-EFEF-64AE-CF4E-666AECF98C40}"/>
              </a:ext>
            </a:extLst>
          </p:cNvPr>
          <p:cNvCxnSpPr/>
          <p:nvPr/>
        </p:nvCxnSpPr>
        <p:spPr>
          <a:xfrm>
            <a:off x="1371600" y="3505200"/>
            <a:ext cx="4343400" cy="0"/>
          </a:xfrm>
          <a:prstGeom prst="line">
            <a:avLst/>
          </a:prstGeom>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3A9E128A-2EAB-AA99-5B1D-0A148A23CF25}"/>
              </a:ext>
            </a:extLst>
          </p:cNvPr>
          <p:cNvSpPr/>
          <p:nvPr/>
        </p:nvSpPr>
        <p:spPr>
          <a:xfrm>
            <a:off x="1143000" y="5219988"/>
            <a:ext cx="6858000" cy="91411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844662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05730-6F5B-FAA0-6001-3900E454E7AA}"/>
              </a:ext>
            </a:extLst>
          </p:cNvPr>
          <p:cNvSpPr>
            <a:spLocks noGrp="1"/>
          </p:cNvSpPr>
          <p:nvPr>
            <p:ph type="title"/>
          </p:nvPr>
        </p:nvSpPr>
        <p:spPr>
          <a:xfrm>
            <a:off x="6482394" y="489507"/>
            <a:ext cx="2318706" cy="1655483"/>
          </a:xfrm>
        </p:spPr>
        <p:txBody>
          <a:bodyPr anchor="b">
            <a:normAutofit/>
          </a:bodyPr>
          <a:lstStyle/>
          <a:p>
            <a:r>
              <a:rPr lang="en-US" sz="3500"/>
              <a:t>Outlook</a:t>
            </a:r>
          </a:p>
        </p:txBody>
      </p:sp>
      <p:pic>
        <p:nvPicPr>
          <p:cNvPr id="5" name="Picture 4" descr="Robot operating a machine">
            <a:extLst>
              <a:ext uri="{FF2B5EF4-FFF2-40B4-BE49-F238E27FC236}">
                <a16:creationId xmlns:a16="http://schemas.microsoft.com/office/drawing/2014/main" id="{4F225A14-A0D1-596B-4268-00E52D31AD90}"/>
              </a:ext>
            </a:extLst>
          </p:cNvPr>
          <p:cNvPicPr>
            <a:picLocks noChangeAspect="1"/>
          </p:cNvPicPr>
          <p:nvPr/>
        </p:nvPicPr>
        <p:blipFill rotWithShape="1">
          <a:blip r:embed="rId2"/>
          <a:srcRect l="14513" r="12591"/>
          <a:stretch/>
        </p:blipFill>
        <p:spPr>
          <a:xfrm>
            <a:off x="20" y="431"/>
            <a:ext cx="6086455" cy="6408311"/>
          </a:xfrm>
          <a:prstGeom prst="rect">
            <a:avLst/>
          </a:prstGeom>
        </p:spPr>
      </p:pic>
      <p:sp>
        <p:nvSpPr>
          <p:cNvPr id="3" name="Content Placeholder 2">
            <a:extLst>
              <a:ext uri="{FF2B5EF4-FFF2-40B4-BE49-F238E27FC236}">
                <a16:creationId xmlns:a16="http://schemas.microsoft.com/office/drawing/2014/main" id="{B74BA019-F6C7-1975-DC38-524C9A731B36}"/>
              </a:ext>
            </a:extLst>
          </p:cNvPr>
          <p:cNvSpPr>
            <a:spLocks noGrp="1"/>
          </p:cNvSpPr>
          <p:nvPr>
            <p:ph idx="1"/>
          </p:nvPr>
        </p:nvSpPr>
        <p:spPr>
          <a:xfrm>
            <a:off x="6482394" y="2418408"/>
            <a:ext cx="2207110" cy="3540265"/>
          </a:xfrm>
        </p:spPr>
        <p:txBody>
          <a:bodyPr>
            <a:normAutofit fontScale="92500" lnSpcReduction="20000"/>
          </a:bodyPr>
          <a:lstStyle/>
          <a:p>
            <a:pPr marL="0" indent="0">
              <a:buNone/>
            </a:pPr>
            <a:r>
              <a:rPr lang="en-US" sz="1700" dirty="0"/>
              <a:t>AI is a technology that is on the verge of significant leaps…</a:t>
            </a:r>
          </a:p>
          <a:p>
            <a:endParaRPr lang="en-US" sz="1700" dirty="0"/>
          </a:p>
          <a:p>
            <a:r>
              <a:rPr lang="en-US" sz="1700" dirty="0"/>
              <a:t>New technologies always had  a </a:t>
            </a:r>
            <a:r>
              <a:rPr lang="en-US" sz="1700" b="1" dirty="0"/>
              <a:t>profound impacted</a:t>
            </a:r>
            <a:r>
              <a:rPr lang="en-US" sz="1700" dirty="0"/>
              <a:t> on the way we live and work. </a:t>
            </a:r>
          </a:p>
          <a:p>
            <a:r>
              <a:rPr lang="en-US" sz="1700" dirty="0"/>
              <a:t>We can expect unprecedented gains in productivity from better </a:t>
            </a:r>
            <a:r>
              <a:rPr lang="en-US" sz="1700" b="1" dirty="0"/>
              <a:t>narrow AI</a:t>
            </a:r>
            <a:r>
              <a:rPr lang="en-US" sz="1700" dirty="0"/>
              <a:t>.</a:t>
            </a:r>
          </a:p>
          <a:p>
            <a:r>
              <a:rPr lang="en-US" sz="1700" dirty="0"/>
              <a:t>All technologies have the potential for misuse need to be </a:t>
            </a:r>
            <a:r>
              <a:rPr lang="en-US" sz="1700" b="1" dirty="0"/>
              <a:t>regulated</a:t>
            </a:r>
            <a:r>
              <a:rPr lang="en-US" sz="1700" dirty="0"/>
              <a:t>. </a:t>
            </a:r>
            <a:r>
              <a:rPr lang="en-US" sz="1700" b="1" dirty="0"/>
              <a:t> </a:t>
            </a:r>
            <a:endParaRPr lang="en-US" sz="1700" dirty="0"/>
          </a:p>
          <a:p>
            <a:endParaRPr lang="en-US" sz="1700" dirty="0"/>
          </a:p>
        </p:txBody>
      </p:sp>
      <p:sp>
        <p:nvSpPr>
          <p:cNvPr id="11" name="Rectangle 10">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8741"/>
            <a:ext cx="9143997"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8742"/>
            <a:ext cx="6086475"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342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 2013 - 2022</Template>
  <TotalTime>4400</TotalTime>
  <Words>937</Words>
  <Application>Microsoft Office PowerPoint</Application>
  <PresentationFormat>On-screen Show (4:3)</PresentationFormat>
  <Paragraphs>160</Paragraphs>
  <Slides>17</Slides>
  <Notes>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Söhne</vt:lpstr>
      <vt:lpstr>Times New Roman</vt:lpstr>
      <vt:lpstr>Office Theme</vt:lpstr>
      <vt:lpstr>PowerPoint Presentation</vt:lpstr>
      <vt:lpstr>PowerPoint Presentation</vt:lpstr>
      <vt:lpstr>What is AI?</vt:lpstr>
      <vt:lpstr>What is AI?</vt:lpstr>
      <vt:lpstr>What is AI?</vt:lpstr>
      <vt:lpstr>What is AI?</vt:lpstr>
      <vt:lpstr>Machine Learning vs. Artificial Intelligence</vt:lpstr>
      <vt:lpstr>History of AI</vt:lpstr>
      <vt:lpstr>PowerPoint Presentation</vt:lpstr>
      <vt:lpstr>AI Today</vt:lpstr>
      <vt:lpstr>Vision and Image Processing</vt:lpstr>
      <vt:lpstr>Natural Language Processing</vt:lpstr>
      <vt:lpstr>Large Language Models ChatGPT in a Nutshell</vt:lpstr>
      <vt:lpstr>AI Safety</vt:lpstr>
      <vt:lpstr>US National AI Initiative Act of 2020</vt:lpstr>
      <vt:lpstr>PowerPoint Presentation</vt:lpstr>
      <vt:lpstr>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Introduction</dc:title>
  <dc:creator>michael</dc:creator>
  <cp:lastModifiedBy>Hahsler, Michael</cp:lastModifiedBy>
  <cp:revision>58</cp:revision>
  <dcterms:created xsi:type="dcterms:W3CDTF">2021-01-29T15:10:36Z</dcterms:created>
  <dcterms:modified xsi:type="dcterms:W3CDTF">2023-04-20T14:04:39Z</dcterms:modified>
</cp:coreProperties>
</file>