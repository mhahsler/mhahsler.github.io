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1" r:id="rId4"/>
  </p:sldMasterIdLst>
  <p:notesMasterIdLst>
    <p:notesMasterId r:id="rId38"/>
  </p:notesMasterIdLst>
  <p:handoutMasterIdLst>
    <p:handoutMasterId r:id="rId39"/>
  </p:handoutMasterIdLst>
  <p:sldIdLst>
    <p:sldId id="641" r:id="rId5"/>
    <p:sldId id="560" r:id="rId6"/>
    <p:sldId id="642" r:id="rId7"/>
    <p:sldId id="644" r:id="rId8"/>
    <p:sldId id="573" r:id="rId9"/>
    <p:sldId id="607" r:id="rId10"/>
    <p:sldId id="654" r:id="rId11"/>
    <p:sldId id="581" r:id="rId12"/>
    <p:sldId id="648" r:id="rId13"/>
    <p:sldId id="657" r:id="rId14"/>
    <p:sldId id="565" r:id="rId15"/>
    <p:sldId id="598" r:id="rId16"/>
    <p:sldId id="649" r:id="rId17"/>
    <p:sldId id="650" r:id="rId18"/>
    <p:sldId id="568" r:id="rId19"/>
    <p:sldId id="620" r:id="rId20"/>
    <p:sldId id="655" r:id="rId21"/>
    <p:sldId id="653" r:id="rId22"/>
    <p:sldId id="651" r:id="rId23"/>
    <p:sldId id="621" r:id="rId24"/>
    <p:sldId id="656" r:id="rId25"/>
    <p:sldId id="645" r:id="rId26"/>
    <p:sldId id="563" r:id="rId27"/>
    <p:sldId id="647" r:id="rId28"/>
    <p:sldId id="575" r:id="rId29"/>
    <p:sldId id="646" r:id="rId30"/>
    <p:sldId id="555" r:id="rId31"/>
    <p:sldId id="623" r:id="rId32"/>
    <p:sldId id="624" r:id="rId33"/>
    <p:sldId id="625" r:id="rId34"/>
    <p:sldId id="627" r:id="rId35"/>
    <p:sldId id="637" r:id="rId36"/>
    <p:sldId id="639" r:id="rId37"/>
  </p:sldIdLst>
  <p:sldSz cx="9144000" cy="5143500" type="screen16x9"/>
  <p:notesSz cx="7102475" cy="9388475"/>
  <p:defaultTextStyle>
    <a:defPPr>
      <a:defRPr lang="en-US"/>
    </a:defPPr>
    <a:lvl1pPr algn="l" rtl="0" fontAlgn="base">
      <a:spcBef>
        <a:spcPct val="0"/>
      </a:spcBef>
      <a:spcAft>
        <a:spcPct val="0"/>
      </a:spcAft>
      <a:defRPr kern="1200">
        <a:solidFill>
          <a:schemeClr val="tx1"/>
        </a:solidFill>
        <a:latin typeface="Arial"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xmlns="">
        <p15:guide id="1" orient="horz" pos="1620">
          <p15:clr>
            <a:srgbClr val="A4A3A4"/>
          </p15:clr>
        </p15:guide>
        <p15:guide id="2" pos="216">
          <p15:clr>
            <a:srgbClr val="A4A3A4"/>
          </p15:clr>
        </p15:guide>
      </p15:sldGuideLst>
    </p:ext>
    <p:ext uri="{2D200454-40CA-4A62-9FC3-DE9A4176ACB9}">
      <p15:notesGuideLst xmlns:p15="http://schemas.microsoft.com/office/powerpoint/2012/main" xmlns=""/>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ichael" initials="M" lastIdx="5" clrIdx="0"/>
  <p:cmAuthor id="1" name="Esmaeil Faramarzi" initials="EF" lastIdx="1" clrIdx="1">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403C"/>
    <a:srgbClr val="000000"/>
    <a:srgbClr val="5B9BD5"/>
    <a:srgbClr val="FF0000"/>
    <a:srgbClr val="D60202"/>
    <a:srgbClr val="FFCCCC"/>
    <a:srgbClr val="FF9999"/>
    <a:srgbClr val="C5C5FF"/>
    <a:srgbClr val="8F8FFF"/>
    <a:srgbClr val="ABFFAB"/>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34597" autoAdjust="0"/>
    <p:restoredTop sz="94087" autoAdjust="0"/>
  </p:normalViewPr>
  <p:slideViewPr>
    <p:cSldViewPr snapToGrid="0" showGuides="1">
      <p:cViewPr varScale="1">
        <p:scale>
          <a:sx n="127" d="100"/>
          <a:sy n="127" d="100"/>
        </p:scale>
        <p:origin x="-960" y="-90"/>
      </p:cViewPr>
      <p:guideLst>
        <p:guide orient="horz" pos="1620"/>
        <p:guide pos="216"/>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100" d="100"/>
        <a:sy n="100" d="100"/>
      </p:scale>
      <p:origin x="0" y="0"/>
    </p:cViewPr>
  </p:sorterViewPr>
  <p:notesViewPr>
    <p:cSldViewPr snapToGrid="0" showGuides="1">
      <p:cViewPr varScale="1">
        <p:scale>
          <a:sx n="74" d="100"/>
          <a:sy n="74" d="100"/>
        </p:scale>
        <p:origin x="-3906" y="-114"/>
      </p:cViewPr>
      <p:guideLst>
        <p:guide orient="horz" pos="2957"/>
        <p:guide pos="2237"/>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69424"/>
          </a:xfrm>
          <a:prstGeom prst="rect">
            <a:avLst/>
          </a:prstGeom>
        </p:spPr>
        <p:txBody>
          <a:bodyPr vert="horz" lIns="94229" tIns="47114" rIns="94229" bIns="47114" rtlCol="0"/>
          <a:lstStyle>
            <a:lvl1pPr algn="l" fontAlgn="auto">
              <a:spcBef>
                <a:spcPts val="0"/>
              </a:spcBef>
              <a:spcAft>
                <a:spcPts val="0"/>
              </a:spcAft>
              <a:defRPr sz="1200">
                <a:latin typeface="+mn-lt"/>
                <a:ea typeface="+mn-ea"/>
                <a:cs typeface="+mn-cs"/>
              </a:defRPr>
            </a:lvl1pPr>
          </a:lstStyle>
          <a:p>
            <a:pPr>
              <a:defRPr/>
            </a:pPr>
            <a:endParaRPr lang="en-US" dirty="0"/>
          </a:p>
        </p:txBody>
      </p:sp>
      <p:sp>
        <p:nvSpPr>
          <p:cNvPr id="3" name="Date Placeholder 2"/>
          <p:cNvSpPr>
            <a:spLocks noGrp="1"/>
          </p:cNvSpPr>
          <p:nvPr>
            <p:ph type="dt" sz="quarter" idx="1"/>
          </p:nvPr>
        </p:nvSpPr>
        <p:spPr>
          <a:xfrm>
            <a:off x="4023092" y="0"/>
            <a:ext cx="3077739" cy="469424"/>
          </a:xfrm>
          <a:prstGeom prst="rect">
            <a:avLst/>
          </a:prstGeom>
        </p:spPr>
        <p:txBody>
          <a:bodyPr vert="horz" lIns="94229" tIns="47114" rIns="94229" bIns="47114" rtlCol="0"/>
          <a:lstStyle>
            <a:lvl1pPr algn="r" fontAlgn="auto">
              <a:spcBef>
                <a:spcPts val="0"/>
              </a:spcBef>
              <a:spcAft>
                <a:spcPts val="0"/>
              </a:spcAft>
              <a:defRPr sz="1200">
                <a:latin typeface="+mn-lt"/>
                <a:ea typeface="+mn-ea"/>
                <a:cs typeface="+mn-cs"/>
              </a:defRPr>
            </a:lvl1pPr>
          </a:lstStyle>
          <a:p>
            <a:pPr>
              <a:defRPr/>
            </a:pPr>
            <a:fld id="{FDB8421B-F106-0F40-9EC7-EF8356359FF6}" type="datetimeFigureOut">
              <a:rPr lang="en-US"/>
              <a:pPr>
                <a:defRPr/>
              </a:pPr>
              <a:t>11/4/2018</a:t>
            </a:fld>
            <a:endParaRPr lang="en-US" dirty="0"/>
          </a:p>
        </p:txBody>
      </p:sp>
      <p:sp>
        <p:nvSpPr>
          <p:cNvPr id="4" name="Footer Placeholder 3"/>
          <p:cNvSpPr>
            <a:spLocks noGrp="1"/>
          </p:cNvSpPr>
          <p:nvPr>
            <p:ph type="ftr" sz="quarter" idx="2"/>
          </p:nvPr>
        </p:nvSpPr>
        <p:spPr>
          <a:xfrm>
            <a:off x="0" y="8917422"/>
            <a:ext cx="3077739" cy="469424"/>
          </a:xfrm>
          <a:prstGeom prst="rect">
            <a:avLst/>
          </a:prstGeom>
        </p:spPr>
        <p:txBody>
          <a:bodyPr vert="horz" lIns="94229" tIns="47114" rIns="94229" bIns="47114" rtlCol="0" anchor="b"/>
          <a:lstStyle>
            <a:lvl1pPr algn="l" fontAlgn="auto">
              <a:spcBef>
                <a:spcPts val="0"/>
              </a:spcBef>
              <a:spcAft>
                <a:spcPts val="0"/>
              </a:spcAft>
              <a:defRPr sz="1200">
                <a:latin typeface="+mn-lt"/>
                <a:ea typeface="+mn-ea"/>
                <a:cs typeface="+mn-cs"/>
              </a:defRPr>
            </a:lvl1pPr>
          </a:lstStyle>
          <a:p>
            <a:pPr>
              <a:defRPr/>
            </a:pPr>
            <a:endParaRPr lang="en-US" dirty="0"/>
          </a:p>
        </p:txBody>
      </p:sp>
      <p:sp>
        <p:nvSpPr>
          <p:cNvPr id="5" name="Slide Number Placeholder 4"/>
          <p:cNvSpPr>
            <a:spLocks noGrp="1"/>
          </p:cNvSpPr>
          <p:nvPr>
            <p:ph type="sldNum" sz="quarter" idx="3"/>
          </p:nvPr>
        </p:nvSpPr>
        <p:spPr>
          <a:xfrm>
            <a:off x="4023092" y="8917422"/>
            <a:ext cx="3077739" cy="469424"/>
          </a:xfrm>
          <a:prstGeom prst="rect">
            <a:avLst/>
          </a:prstGeom>
        </p:spPr>
        <p:txBody>
          <a:bodyPr vert="horz" lIns="94229" tIns="47114" rIns="94229" bIns="47114" rtlCol="0" anchor="b"/>
          <a:lstStyle>
            <a:lvl1pPr algn="r" fontAlgn="auto">
              <a:spcBef>
                <a:spcPts val="0"/>
              </a:spcBef>
              <a:spcAft>
                <a:spcPts val="0"/>
              </a:spcAft>
              <a:defRPr sz="1200">
                <a:latin typeface="+mn-lt"/>
                <a:ea typeface="+mn-ea"/>
                <a:cs typeface="+mn-cs"/>
              </a:defRPr>
            </a:lvl1pPr>
          </a:lstStyle>
          <a:p>
            <a:pPr>
              <a:defRPr/>
            </a:pPr>
            <a:fld id="{3180CBAA-F0DF-1340-95D9-7A5629D988E3}" type="slidenum">
              <a:rPr lang="en-US"/>
              <a:pPr>
                <a:defRPr/>
              </a:pPr>
              <a:t>‹#›</a:t>
            </a:fld>
            <a:endParaRPr lang="en-US" dirty="0"/>
          </a:p>
        </p:txBody>
      </p:sp>
    </p:spTree>
    <p:extLst>
      <p:ext uri="{BB962C8B-B14F-4D97-AF65-F5344CB8AC3E}">
        <p14:creationId xmlns:p14="http://schemas.microsoft.com/office/powerpoint/2010/main" val="29173829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69424"/>
          </a:xfrm>
          <a:prstGeom prst="rect">
            <a:avLst/>
          </a:prstGeom>
        </p:spPr>
        <p:txBody>
          <a:bodyPr vert="horz" lIns="94229" tIns="47114" rIns="94229" bIns="47114" rtlCol="0"/>
          <a:lstStyle>
            <a:lvl1pPr algn="l" fontAlgn="auto">
              <a:spcBef>
                <a:spcPts val="0"/>
              </a:spcBef>
              <a:spcAft>
                <a:spcPts val="0"/>
              </a:spcAft>
              <a:defRPr sz="1200">
                <a:latin typeface="+mn-lt"/>
                <a:ea typeface="+mn-ea"/>
                <a:cs typeface="+mn-cs"/>
              </a:defRPr>
            </a:lvl1pPr>
          </a:lstStyle>
          <a:p>
            <a:pPr>
              <a:defRPr/>
            </a:pPr>
            <a:endParaRPr lang="en-US" dirty="0"/>
          </a:p>
        </p:txBody>
      </p:sp>
      <p:sp>
        <p:nvSpPr>
          <p:cNvPr id="3" name="Date Placeholder 2"/>
          <p:cNvSpPr>
            <a:spLocks noGrp="1"/>
          </p:cNvSpPr>
          <p:nvPr>
            <p:ph type="dt" idx="1"/>
          </p:nvPr>
        </p:nvSpPr>
        <p:spPr>
          <a:xfrm>
            <a:off x="4023092" y="0"/>
            <a:ext cx="3077739" cy="469424"/>
          </a:xfrm>
          <a:prstGeom prst="rect">
            <a:avLst/>
          </a:prstGeom>
        </p:spPr>
        <p:txBody>
          <a:bodyPr vert="horz" lIns="94229" tIns="47114" rIns="94229" bIns="47114" rtlCol="0"/>
          <a:lstStyle>
            <a:lvl1pPr algn="r" fontAlgn="auto">
              <a:spcBef>
                <a:spcPts val="0"/>
              </a:spcBef>
              <a:spcAft>
                <a:spcPts val="0"/>
              </a:spcAft>
              <a:defRPr sz="1200">
                <a:latin typeface="+mn-lt"/>
                <a:ea typeface="+mn-ea"/>
                <a:cs typeface="+mn-cs"/>
              </a:defRPr>
            </a:lvl1pPr>
          </a:lstStyle>
          <a:p>
            <a:pPr>
              <a:defRPr/>
            </a:pPr>
            <a:fld id="{478DDA51-8555-CD4B-A6B7-F9168BB8597B}" type="datetimeFigureOut">
              <a:rPr lang="en-US"/>
              <a:pPr>
                <a:defRPr/>
              </a:pPr>
              <a:t>11/4/2018</a:t>
            </a:fld>
            <a:endParaRPr lang="en-US" dirty="0"/>
          </a:p>
        </p:txBody>
      </p:sp>
      <p:sp>
        <p:nvSpPr>
          <p:cNvPr id="4" name="Slide Image Placeholder 3"/>
          <p:cNvSpPr>
            <a:spLocks noGrp="1" noRot="1" noChangeAspect="1"/>
          </p:cNvSpPr>
          <p:nvPr>
            <p:ph type="sldImg" idx="2"/>
          </p:nvPr>
        </p:nvSpPr>
        <p:spPr>
          <a:xfrm>
            <a:off x="422275" y="704850"/>
            <a:ext cx="6257925" cy="3519488"/>
          </a:xfrm>
          <a:prstGeom prst="rect">
            <a:avLst/>
          </a:prstGeom>
          <a:noFill/>
          <a:ln w="12700">
            <a:solidFill>
              <a:prstClr val="black"/>
            </a:solidFill>
          </a:ln>
        </p:spPr>
        <p:txBody>
          <a:bodyPr vert="horz" lIns="94229" tIns="47114" rIns="94229" bIns="47114" rtlCol="0" anchor="ctr"/>
          <a:lstStyle/>
          <a:p>
            <a:pPr lvl="0"/>
            <a:endParaRPr lang="en-US" noProof="0" dirty="0"/>
          </a:p>
        </p:txBody>
      </p:sp>
      <p:sp>
        <p:nvSpPr>
          <p:cNvPr id="5" name="Notes Placeholder 4"/>
          <p:cNvSpPr>
            <a:spLocks noGrp="1"/>
          </p:cNvSpPr>
          <p:nvPr>
            <p:ph type="body" sz="quarter" idx="3"/>
          </p:nvPr>
        </p:nvSpPr>
        <p:spPr>
          <a:xfrm>
            <a:off x="710248" y="4459526"/>
            <a:ext cx="5681980" cy="4224814"/>
          </a:xfrm>
          <a:prstGeom prst="rect">
            <a:avLst/>
          </a:prstGeom>
        </p:spPr>
        <p:txBody>
          <a:bodyPr vert="horz" lIns="94229" tIns="47114" rIns="94229" bIns="47114" rtlCol="0"/>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0" y="8917422"/>
            <a:ext cx="3077739" cy="469424"/>
          </a:xfrm>
          <a:prstGeom prst="rect">
            <a:avLst/>
          </a:prstGeom>
        </p:spPr>
        <p:txBody>
          <a:bodyPr vert="horz" lIns="94229" tIns="47114" rIns="94229" bIns="47114" rtlCol="0" anchor="b"/>
          <a:lstStyle>
            <a:lvl1pPr algn="l" fontAlgn="auto">
              <a:spcBef>
                <a:spcPts val="0"/>
              </a:spcBef>
              <a:spcAft>
                <a:spcPts val="0"/>
              </a:spcAft>
              <a:defRPr sz="1200">
                <a:latin typeface="+mn-lt"/>
                <a:ea typeface="+mn-ea"/>
                <a:cs typeface="+mn-cs"/>
              </a:defRPr>
            </a:lvl1pPr>
          </a:lstStyle>
          <a:p>
            <a:pPr>
              <a:defRPr/>
            </a:pPr>
            <a:endParaRPr lang="en-US" dirty="0"/>
          </a:p>
        </p:txBody>
      </p:sp>
      <p:sp>
        <p:nvSpPr>
          <p:cNvPr id="7" name="Slide Number Placeholder 6"/>
          <p:cNvSpPr>
            <a:spLocks noGrp="1"/>
          </p:cNvSpPr>
          <p:nvPr>
            <p:ph type="sldNum" sz="quarter" idx="5"/>
          </p:nvPr>
        </p:nvSpPr>
        <p:spPr>
          <a:xfrm>
            <a:off x="4023092" y="8917422"/>
            <a:ext cx="3077739" cy="469424"/>
          </a:xfrm>
          <a:prstGeom prst="rect">
            <a:avLst/>
          </a:prstGeom>
        </p:spPr>
        <p:txBody>
          <a:bodyPr vert="horz" lIns="94229" tIns="47114" rIns="94229" bIns="47114" rtlCol="0" anchor="b"/>
          <a:lstStyle>
            <a:lvl1pPr algn="r" fontAlgn="auto">
              <a:spcBef>
                <a:spcPts val="0"/>
              </a:spcBef>
              <a:spcAft>
                <a:spcPts val="0"/>
              </a:spcAft>
              <a:defRPr sz="1200">
                <a:latin typeface="+mn-lt"/>
                <a:ea typeface="+mn-ea"/>
                <a:cs typeface="+mn-cs"/>
              </a:defRPr>
            </a:lvl1pPr>
          </a:lstStyle>
          <a:p>
            <a:pPr>
              <a:defRPr/>
            </a:pPr>
            <a:fld id="{39E17729-44CA-6748-867B-0A3F027C490D}" type="slidenum">
              <a:rPr lang="en-US"/>
              <a:pPr>
                <a:defRPr/>
              </a:pPr>
              <a:t>‹#›</a:t>
            </a:fld>
            <a:endParaRPr lang="en-US" dirty="0"/>
          </a:p>
        </p:txBody>
      </p:sp>
    </p:spTree>
    <p:extLst>
      <p:ext uri="{BB962C8B-B14F-4D97-AF65-F5344CB8AC3E}">
        <p14:creationId xmlns:p14="http://schemas.microsoft.com/office/powerpoint/2010/main" val="177343583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39E17729-44CA-6748-867B-0A3F027C490D}" type="slidenum">
              <a:rPr lang="en-US" smtClean="0"/>
              <a:pPr>
                <a:defRPr/>
              </a:pPr>
              <a:t>1</a:t>
            </a:fld>
            <a:endParaRPr lang="en-US" dirty="0"/>
          </a:p>
        </p:txBody>
      </p:sp>
    </p:spTree>
    <p:extLst>
      <p:ext uri="{BB962C8B-B14F-4D97-AF65-F5344CB8AC3E}">
        <p14:creationId xmlns:p14="http://schemas.microsoft.com/office/powerpoint/2010/main" val="18237938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effectLst/>
              </a:rPr>
              <a:t>When comparing the number of donated and discarded kidneys with the number of patients who</a:t>
            </a:r>
            <a:r>
              <a:rPr lang="en-US" baseline="0" dirty="0" smtClean="0">
                <a:effectLst/>
              </a:rPr>
              <a:t> are added to </a:t>
            </a:r>
            <a:r>
              <a:rPr lang="en-US" dirty="0" smtClean="0">
                <a:effectLst/>
              </a:rPr>
              <a:t>the waiting list and</a:t>
            </a:r>
            <a:r>
              <a:rPr lang="en-US" baseline="0" dirty="0" smtClean="0">
                <a:effectLst/>
              </a:rPr>
              <a:t> number of </a:t>
            </a:r>
            <a:r>
              <a:rPr lang="en-US" dirty="0" smtClean="0">
                <a:effectLst/>
              </a:rPr>
              <a:t>transplantation, it becomes</a:t>
            </a:r>
            <a:r>
              <a:rPr lang="en-US" baseline="0" dirty="0" smtClean="0">
                <a:effectLst/>
              </a:rPr>
              <a:t> very clear </a:t>
            </a:r>
            <a:r>
              <a:rPr lang="en-US" dirty="0" smtClean="0">
                <a:effectLst/>
              </a:rPr>
              <a:t>that there is a serious shortage of kidneys.</a:t>
            </a:r>
            <a:r>
              <a:rPr lang="en-US" baseline="0" dirty="0" smtClean="0">
                <a:effectLst/>
              </a:rPr>
              <a:t>  Each year more than 37000 patients  are added to the waitlist while only around 16000 kidneys are donated which  more than 20 percent of them are discard.</a:t>
            </a:r>
          </a:p>
          <a:p>
            <a:endParaRPr lang="en-US" baseline="0" dirty="0" smtClean="0">
              <a:effectLst/>
            </a:endParaRPr>
          </a:p>
          <a:p>
            <a:r>
              <a:rPr lang="en-US" baseline="0" dirty="0" smtClean="0">
                <a:effectLst/>
              </a:rPr>
              <a:t>Despites a  high demand for kidney transplantation, there is a serious shortage in the number of donated kidneys and  more than 20% of the </a:t>
            </a:r>
            <a:r>
              <a:rPr lang="en-US" baseline="0" dirty="0" err="1" smtClean="0">
                <a:effectLst/>
              </a:rPr>
              <a:t>recoverd</a:t>
            </a:r>
            <a:r>
              <a:rPr lang="en-US" baseline="0" dirty="0" smtClean="0">
                <a:effectLst/>
              </a:rPr>
              <a:t> kidneys are discarded each year.</a:t>
            </a:r>
          </a:p>
          <a:p>
            <a:endParaRPr lang="en-US" sz="1200" b="0" i="0" kern="1200" baseline="0" dirty="0" smtClean="0">
              <a:solidFill>
                <a:schemeClr val="tx1"/>
              </a:solidFill>
              <a:effectLst/>
              <a:latin typeface="+mn-lt"/>
              <a:ea typeface="ＭＳ Ｐゴシック" charset="0"/>
            </a:endParaRPr>
          </a:p>
          <a:p>
            <a:r>
              <a:rPr lang="en-US" sz="1200" b="0" i="0" kern="1200" baseline="0" dirty="0" smtClean="0">
                <a:solidFill>
                  <a:schemeClr val="tx1"/>
                </a:solidFill>
                <a:effectLst/>
                <a:latin typeface="+mn-lt"/>
                <a:ea typeface="ＭＳ Ｐゴシック" charset="0"/>
              </a:rPr>
              <a:t>H</a:t>
            </a:r>
            <a:r>
              <a:rPr lang="en-US" sz="1200" b="0" i="0" kern="1200" dirty="0" smtClean="0">
                <a:solidFill>
                  <a:schemeClr val="tx1"/>
                </a:solidFill>
                <a:effectLst/>
                <a:latin typeface="+mn-lt"/>
                <a:ea typeface="ＭＳ Ｐゴシック" charset="0"/>
                <a:cs typeface="ＭＳ Ｐゴシック" charset="0"/>
              </a:rPr>
              <a:t>igh discard rates among donated kidneys could </a:t>
            </a:r>
            <a:r>
              <a:rPr lang="en-US" sz="1200" b="0" i="0" kern="1200" baseline="0" dirty="0" smtClean="0">
                <a:solidFill>
                  <a:schemeClr val="tx1"/>
                </a:solidFill>
                <a:effectLst/>
                <a:latin typeface="+mn-lt"/>
                <a:ea typeface="ＭＳ Ｐゴシック" charset="0"/>
                <a:cs typeface="ＭＳ Ｐゴシック" charset="0"/>
              </a:rPr>
              <a:t> have several reasons: the first reason is medical concerns such as biopsy finding which makes it very hard for kidney to be allocated. The second reason is  CMS COP that has made transplant centers to be reluctant to accept marginal kidneys. Also CIT  which is the </a:t>
            </a:r>
            <a:r>
              <a:rPr lang="en-US" dirty="0" smtClean="0"/>
              <a:t>time between harvesting and transplanting the organ </a:t>
            </a:r>
            <a:r>
              <a:rPr lang="en-US" sz="1200" b="0" i="0" kern="1200" baseline="0" dirty="0" smtClean="0">
                <a:solidFill>
                  <a:schemeClr val="tx1"/>
                </a:solidFill>
                <a:effectLst/>
                <a:latin typeface="+mn-lt"/>
                <a:ea typeface="ＭＳ Ｐゴシック" charset="0"/>
                <a:cs typeface="ＭＳ Ｐゴシック" charset="0"/>
              </a:rPr>
              <a:t>can </a:t>
            </a:r>
            <a:r>
              <a:rPr lang="en-US" dirty="0" smtClean="0"/>
              <a:t>play an essential role in kidney functioning after transplantation. Long</a:t>
            </a:r>
            <a:r>
              <a:rPr lang="en-US" baseline="0" dirty="0" smtClean="0"/>
              <a:t> CIT could be the indication of inefficient kidney allocation process.  Also studies show that early kidney rejection suspects patients with regard to the quality of the kidney and increased the kidney’s chance of  getting discarded.</a:t>
            </a:r>
            <a:endParaRPr lang="en-US" sz="1200" b="0" i="0" kern="1200" baseline="0" dirty="0" smtClean="0">
              <a:solidFill>
                <a:schemeClr val="tx1"/>
              </a:solidFill>
              <a:effectLst/>
              <a:latin typeface="+mn-lt"/>
              <a:ea typeface="ＭＳ Ｐゴシック" charset="0"/>
              <a:cs typeface="ＭＳ Ｐゴシック" charset="0"/>
            </a:endParaRPr>
          </a:p>
          <a:p>
            <a:endParaRPr lang="en-US" sz="1200" b="0" i="0" kern="1200" baseline="0" dirty="0" smtClean="0">
              <a:solidFill>
                <a:schemeClr val="tx1"/>
              </a:solidFill>
              <a:effectLst/>
              <a:latin typeface="+mn-lt"/>
              <a:ea typeface="ＭＳ Ｐゴシック" charset="0"/>
              <a:cs typeface="ＭＳ Ｐゴシック" charset="0"/>
            </a:endParaRPr>
          </a:p>
          <a:p>
            <a:endParaRPr lang="en-US" sz="1200" b="0" i="0" kern="1200" baseline="0" dirty="0" smtClean="0">
              <a:solidFill>
                <a:schemeClr val="tx1"/>
              </a:solidFill>
              <a:effectLst/>
              <a:latin typeface="+mn-lt"/>
              <a:ea typeface="ＭＳ Ｐゴシック" charset="0"/>
              <a:cs typeface="ＭＳ Ｐゴシック" charset="0"/>
            </a:endParaRPr>
          </a:p>
          <a:p>
            <a:r>
              <a:rPr lang="en-US" sz="1200" b="0" i="0" kern="1200" baseline="0" dirty="0" smtClean="0">
                <a:solidFill>
                  <a:schemeClr val="tx1"/>
                </a:solidFill>
                <a:effectLst/>
                <a:latin typeface="+mn-lt"/>
                <a:ea typeface="ＭＳ Ｐゴシック" charset="0"/>
                <a:cs typeface="ＭＳ Ｐゴシック" charset="0"/>
              </a:rPr>
              <a:t>Generates a </a:t>
            </a:r>
            <a:r>
              <a:rPr lang="en-US" sz="1200" b="0" i="0" kern="1200" baseline="0" dirty="0" err="1" smtClean="0">
                <a:solidFill>
                  <a:schemeClr val="tx1"/>
                </a:solidFill>
                <a:effectLst/>
                <a:latin typeface="+mn-lt"/>
                <a:ea typeface="ＭＳ Ｐゴシック" charset="0"/>
                <a:cs typeface="ＭＳ Ｐゴシック" charset="0"/>
              </a:rPr>
              <a:t>vbad</a:t>
            </a:r>
            <a:r>
              <a:rPr lang="en-US" sz="1200" b="0" i="0" kern="1200" baseline="0" dirty="0" smtClean="0">
                <a:solidFill>
                  <a:schemeClr val="tx1"/>
                </a:solidFill>
                <a:effectLst/>
                <a:latin typeface="+mn-lt"/>
                <a:ea typeface="ＭＳ Ｐゴシック" charset="0"/>
                <a:cs typeface="ＭＳ Ｐゴシック" charset="0"/>
              </a:rPr>
              <a:t> reputation</a:t>
            </a:r>
          </a:p>
          <a:p>
            <a:endParaRPr lang="en-US" sz="1200" b="0" i="0" kern="1200" baseline="0" dirty="0" smtClean="0">
              <a:solidFill>
                <a:schemeClr val="tx1"/>
              </a:solidFill>
              <a:effectLst/>
              <a:latin typeface="+mn-lt"/>
              <a:ea typeface="ＭＳ Ｐゴシック" charset="0"/>
              <a:cs typeface="ＭＳ Ｐゴシック" charset="0"/>
            </a:endParaRPr>
          </a:p>
        </p:txBody>
      </p:sp>
      <p:sp>
        <p:nvSpPr>
          <p:cNvPr id="4" name="Slide Number Placeholder 3"/>
          <p:cNvSpPr>
            <a:spLocks noGrp="1"/>
          </p:cNvSpPr>
          <p:nvPr>
            <p:ph type="sldNum" sz="quarter" idx="10"/>
          </p:nvPr>
        </p:nvSpPr>
        <p:spPr/>
        <p:txBody>
          <a:bodyPr/>
          <a:lstStyle/>
          <a:p>
            <a:pPr>
              <a:defRPr/>
            </a:pPr>
            <a:fld id="{39E17729-44CA-6748-867B-0A3F027C490D}" type="slidenum">
              <a:rPr lang="en-US" smtClean="0"/>
              <a:pPr>
                <a:defRPr/>
              </a:pPr>
              <a:t>2</a:t>
            </a:fld>
            <a:endParaRPr lang="en-US" dirty="0"/>
          </a:p>
        </p:txBody>
      </p:sp>
    </p:spTree>
    <p:extLst>
      <p:ext uri="{BB962C8B-B14F-4D97-AF65-F5344CB8AC3E}">
        <p14:creationId xmlns:p14="http://schemas.microsoft.com/office/powerpoint/2010/main" val="27882190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smtClean="0"/>
              <a:t>Both social planner and</a:t>
            </a:r>
            <a:r>
              <a:rPr lang="en-US" baseline="0" dirty="0" smtClean="0"/>
              <a:t> patient can help t</a:t>
            </a:r>
            <a:r>
              <a:rPr lang="en-US" dirty="0" smtClean="0"/>
              <a:t>o address the high kidney discard rate.</a:t>
            </a:r>
            <a:r>
              <a:rPr lang="en-US" baseline="0" dirty="0" smtClean="0"/>
              <a:t> social planner have made major changes  in kidney assignment rules by introducing </a:t>
            </a:r>
            <a:r>
              <a:rPr lang="en-US" baseline="0" dirty="0" err="1" smtClean="0"/>
              <a:t>kas</a:t>
            </a:r>
            <a:r>
              <a:rPr lang="en-US" baseline="0" dirty="0" smtClean="0"/>
              <a:t>. Also they have changed the evaluation metrics that are used to evaluate </a:t>
            </a:r>
            <a:r>
              <a:rPr lang="en-US" baseline="0" dirty="0" err="1" smtClean="0"/>
              <a:t>tx</a:t>
            </a:r>
            <a:r>
              <a:rPr lang="en-US" baseline="0" dirty="0" smtClean="0"/>
              <a:t> centers outcomes. They also encourage </a:t>
            </a:r>
            <a:r>
              <a:rPr lang="en-US" baseline="0" dirty="0" err="1" smtClean="0"/>
              <a:t>tx</a:t>
            </a:r>
            <a:r>
              <a:rPr lang="en-US" baseline="0" dirty="0" smtClean="0"/>
              <a:t> centers to use technology for transplant and curranty they have </a:t>
            </a:r>
            <a:r>
              <a:rPr lang="en-US" baseline="0" dirty="0" err="1" smtClean="0"/>
              <a:t>unet</a:t>
            </a:r>
            <a:r>
              <a:rPr lang="en-US" baseline="0" dirty="0" smtClean="0"/>
              <a:t> network that allows transplant center to register </a:t>
            </a:r>
            <a:r>
              <a:rPr lang="en-US" sz="1200" b="0" i="0" kern="1200" dirty="0" smtClean="0">
                <a:solidFill>
                  <a:schemeClr val="tx1"/>
                </a:solidFill>
                <a:effectLst/>
                <a:latin typeface="+mn-lt"/>
                <a:ea typeface="ＭＳ Ｐゴシック" charset="0"/>
                <a:cs typeface="ＭＳ Ｐゴシック" charset="0"/>
              </a:rPr>
              <a:t>candidates on the national waiting list, and submit</a:t>
            </a:r>
            <a:r>
              <a:rPr lang="en-US" sz="1200" b="0" i="0" kern="1200" baseline="0" dirty="0" smtClean="0">
                <a:solidFill>
                  <a:schemeClr val="tx1"/>
                </a:solidFill>
                <a:effectLst/>
                <a:latin typeface="+mn-lt"/>
                <a:ea typeface="ＭＳ Ｐゴシック" charset="0"/>
                <a:cs typeface="ＭＳ Ｐゴシック" charset="0"/>
              </a:rPr>
              <a:t> their </a:t>
            </a:r>
            <a:r>
              <a:rPr lang="en-US" sz="1200" b="0" i="0" kern="1200" dirty="0" smtClean="0">
                <a:solidFill>
                  <a:schemeClr val="tx1"/>
                </a:solidFill>
                <a:effectLst/>
                <a:latin typeface="+mn-lt"/>
                <a:ea typeface="ＭＳ Ｐゴシック" charset="0"/>
                <a:cs typeface="ＭＳ Ｐゴシック" charset="0"/>
              </a:rPr>
              <a:t>medical data.  The</a:t>
            </a:r>
            <a:r>
              <a:rPr lang="en-US" sz="1200" b="0" i="0" kern="1200" baseline="0" dirty="0" smtClean="0">
                <a:solidFill>
                  <a:schemeClr val="tx1"/>
                </a:solidFill>
                <a:effectLst/>
                <a:latin typeface="+mn-lt"/>
                <a:ea typeface="ＭＳ Ｐゴシック" charset="0"/>
                <a:cs typeface="ＭＳ Ｐゴシック" charset="0"/>
              </a:rPr>
              <a:t> social planner</a:t>
            </a:r>
            <a:r>
              <a:rPr lang="en-US" sz="1200" b="0" i="0" kern="1200" dirty="0" smtClean="0">
                <a:solidFill>
                  <a:schemeClr val="tx1"/>
                </a:solidFill>
                <a:effectLst/>
                <a:latin typeface="+mn-lt"/>
                <a:ea typeface="ＭＳ Ｐゴシック" charset="0"/>
                <a:cs typeface="ＭＳ Ｐゴシック" charset="0"/>
              </a:rPr>
              <a:t> also document  information about donor offers, when they become available  and send</a:t>
            </a:r>
            <a:r>
              <a:rPr lang="en-US" sz="1200" b="0" i="0" kern="1200" baseline="0" dirty="0" smtClean="0">
                <a:solidFill>
                  <a:schemeClr val="tx1"/>
                </a:solidFill>
                <a:effectLst/>
                <a:latin typeface="+mn-lt"/>
                <a:ea typeface="ＭＳ Ｐゴシック" charset="0"/>
                <a:cs typeface="ＭＳ Ｐゴシック" charset="0"/>
              </a:rPr>
              <a:t> them </a:t>
            </a:r>
            <a:r>
              <a:rPr lang="en-US" sz="1200" b="0" i="0" kern="1200" dirty="0" smtClean="0">
                <a:solidFill>
                  <a:schemeClr val="tx1"/>
                </a:solidFill>
                <a:effectLst/>
                <a:latin typeface="+mn-lt"/>
                <a:ea typeface="ＭＳ Ｐゴシック" charset="0"/>
                <a:cs typeface="ＭＳ Ｐゴシック" charset="0"/>
              </a:rPr>
              <a:t>to transplant centers. This system allows for faster consideration of organ offers, which may</a:t>
            </a:r>
            <a:r>
              <a:rPr lang="en-US" sz="1200" b="0" i="0" kern="1200" baseline="0" dirty="0" smtClean="0">
                <a:solidFill>
                  <a:schemeClr val="tx1"/>
                </a:solidFill>
                <a:effectLst/>
                <a:latin typeface="+mn-lt"/>
                <a:ea typeface="ＭＳ Ｐゴシック" charset="0"/>
                <a:cs typeface="ＭＳ Ｐゴシック" charset="0"/>
              </a:rPr>
              <a:t> result in using more organs and shorter cit.</a:t>
            </a:r>
            <a:endParaRPr lang="en-US" baseline="0" dirty="0" smtClean="0"/>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smtClean="0"/>
              <a:t>And also to increase kidney utilization rate , patients</a:t>
            </a:r>
            <a:r>
              <a:rPr lang="en-US" baseline="0" dirty="0" smtClean="0"/>
              <a:t> can consider multiple listing option which allows patients to be enlisted in more than one transplant center. And if it is done in a correct way it can significantly reduce patients wait time as well as kidney CIT if it is done in a correct way. Currently Around </a:t>
            </a:r>
            <a:r>
              <a:rPr lang="en-US" dirty="0" smtClean="0"/>
              <a:t>4\% of the patients are multiple listed. </a:t>
            </a:r>
          </a:p>
          <a:p>
            <a:endParaRPr lang="en-US" dirty="0"/>
          </a:p>
        </p:txBody>
      </p:sp>
      <p:sp>
        <p:nvSpPr>
          <p:cNvPr id="4" name="Slide Number Placeholder 3"/>
          <p:cNvSpPr>
            <a:spLocks noGrp="1"/>
          </p:cNvSpPr>
          <p:nvPr>
            <p:ph type="sldNum" sz="quarter" idx="10"/>
          </p:nvPr>
        </p:nvSpPr>
        <p:spPr/>
        <p:txBody>
          <a:bodyPr/>
          <a:lstStyle/>
          <a:p>
            <a:pPr>
              <a:defRPr/>
            </a:pPr>
            <a:fld id="{39E17729-44CA-6748-867B-0A3F027C490D}" type="slidenum">
              <a:rPr lang="en-US" smtClean="0"/>
              <a:pPr>
                <a:defRPr/>
              </a:pPr>
              <a:t>5</a:t>
            </a:fld>
            <a:endParaRPr lang="en-US" dirty="0"/>
          </a:p>
        </p:txBody>
      </p:sp>
    </p:spTree>
    <p:extLst>
      <p:ext uri="{BB962C8B-B14F-4D97-AF65-F5344CB8AC3E}">
        <p14:creationId xmlns:p14="http://schemas.microsoft.com/office/powerpoint/2010/main" val="11639439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39E17729-44CA-6748-867B-0A3F027C490D}" type="slidenum">
              <a:rPr lang="en-US" smtClean="0"/>
              <a:pPr>
                <a:defRPr/>
              </a:pPr>
              <a:t>6</a:t>
            </a:fld>
            <a:endParaRPr lang="en-US" dirty="0"/>
          </a:p>
        </p:txBody>
      </p:sp>
    </p:spTree>
    <p:extLst>
      <p:ext uri="{BB962C8B-B14F-4D97-AF65-F5344CB8AC3E}">
        <p14:creationId xmlns:p14="http://schemas.microsoft.com/office/powerpoint/2010/main" val="12518975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 use</a:t>
            </a:r>
            <a:r>
              <a:rPr lang="en-US" baseline="0" dirty="0" smtClean="0"/>
              <a:t> simulation and integer programing model to find out an optimal region selection policy under budget, distance and performance constraints? </a:t>
            </a:r>
            <a:r>
              <a:rPr lang="en-US" dirty="0" smtClean="0"/>
              <a:t>And</a:t>
            </a:r>
            <a:r>
              <a:rPr lang="en-US" baseline="0" dirty="0" smtClean="0"/>
              <a:t> also I show the optimal kidney acceptance decision at any  region. and finally I use the simulation model to show the impact of information sharing on improving  kidney discard </a:t>
            </a:r>
            <a:r>
              <a:rPr lang="en-US" baseline="0" smtClean="0"/>
              <a:t>rate and social </a:t>
            </a:r>
            <a:r>
              <a:rPr lang="en-US" baseline="0" dirty="0" smtClean="0"/>
              <a:t>welfare utility.</a:t>
            </a:r>
            <a:endParaRPr lang="en-US" dirty="0"/>
          </a:p>
        </p:txBody>
      </p:sp>
      <p:sp>
        <p:nvSpPr>
          <p:cNvPr id="4" name="Slide Number Placeholder 3"/>
          <p:cNvSpPr>
            <a:spLocks noGrp="1"/>
          </p:cNvSpPr>
          <p:nvPr>
            <p:ph type="sldNum" sz="quarter" idx="10"/>
          </p:nvPr>
        </p:nvSpPr>
        <p:spPr/>
        <p:txBody>
          <a:bodyPr/>
          <a:lstStyle/>
          <a:p>
            <a:pPr>
              <a:defRPr/>
            </a:pPr>
            <a:fld id="{39E17729-44CA-6748-867B-0A3F027C490D}" type="slidenum">
              <a:rPr lang="en-US" smtClean="0"/>
              <a:pPr>
                <a:defRPr/>
              </a:pPr>
              <a:t>7</a:t>
            </a:fld>
            <a:endParaRPr lang="en-US" dirty="0"/>
          </a:p>
        </p:txBody>
      </p:sp>
    </p:spTree>
    <p:extLst>
      <p:ext uri="{BB962C8B-B14F-4D97-AF65-F5344CB8AC3E}">
        <p14:creationId xmlns:p14="http://schemas.microsoft.com/office/powerpoint/2010/main" val="12518975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 capture so many real world</a:t>
            </a:r>
            <a:r>
              <a:rPr lang="en-US" baseline="0" dirty="0" smtClean="0"/>
              <a:t> </a:t>
            </a:r>
            <a:r>
              <a:rPr lang="en-US" baseline="0" dirty="0" err="1" smtClean="0"/>
              <a:t>sittion</a:t>
            </a:r>
            <a:r>
              <a:rPr lang="en-US" baseline="0" dirty="0" smtClean="0"/>
              <a:t>  that happens in </a:t>
            </a:r>
            <a:r>
              <a:rPr lang="en-US" baseline="0" dirty="0" err="1" smtClean="0"/>
              <a:t>leindey</a:t>
            </a:r>
            <a:r>
              <a:rPr lang="en-US" baseline="0" dirty="0" smtClean="0"/>
              <a:t> allocation process and acceptance </a:t>
            </a:r>
            <a:r>
              <a:rPr lang="en-US" baseline="0" dirty="0" err="1" smtClean="0"/>
              <a:t>decsison</a:t>
            </a:r>
            <a:r>
              <a:rPr lang="en-US" baseline="0" dirty="0" smtClean="0"/>
              <a:t>.</a:t>
            </a:r>
            <a:endParaRPr lang="en-US" dirty="0" smtClean="0"/>
          </a:p>
          <a:p>
            <a:endParaRPr lang="en-US" dirty="0" smtClean="0"/>
          </a:p>
          <a:p>
            <a:r>
              <a:rPr lang="en-US" dirty="0" smtClean="0"/>
              <a:t>In the basic allocation system, when a new donor kidney becomes available, its quality $q_0$ is assessed and </a:t>
            </a:r>
          </a:p>
          <a:p>
            <a:r>
              <a:rPr lang="en-US" dirty="0" smtClean="0"/>
              <a:t>the kidney is simultaneously offered to a group of $g$ patients with a given window to decide. OPTN currently uses a group size of five and a time window of one hour.</a:t>
            </a:r>
          </a:p>
          <a:p>
            <a:r>
              <a:rPr lang="en-US" dirty="0" smtClean="0"/>
              <a:t>At the time of offer, the kidney has accumulated CIT $t$ and the quality is reduced to $</a:t>
            </a:r>
            <a:r>
              <a:rPr lang="en-US" dirty="0" err="1" smtClean="0"/>
              <a:t>q_t</a:t>
            </a:r>
            <a:r>
              <a:rPr lang="en-US" dirty="0" smtClean="0"/>
              <a:t>$.</a:t>
            </a:r>
          </a:p>
          <a:p>
            <a:r>
              <a:rPr lang="en-US" dirty="0" smtClean="0"/>
              <a:t>We model the decision by the patient and surgeon using a threshold strategy governed by </a:t>
            </a:r>
          </a:p>
          <a:p>
            <a:r>
              <a:rPr lang="en-US" dirty="0" smtClean="0"/>
              <a:t>rejecting the offer if $</a:t>
            </a:r>
            <a:r>
              <a:rPr lang="en-US" dirty="0" err="1" smtClean="0"/>
              <a:t>q_t</a:t>
            </a:r>
            <a:r>
              <a:rPr lang="en-US" dirty="0" smtClean="0"/>
              <a:t>&lt;k$, where $k$ is the set threshold. In case that the kidney meets the quality threshold (</a:t>
            </a:r>
            <a:r>
              <a:rPr lang="en-US" dirty="0" err="1" smtClean="0"/>
              <a:t>i.e</a:t>
            </a:r>
            <a:r>
              <a:rPr lang="en-US" dirty="0" smtClean="0"/>
              <a:t>, $</a:t>
            </a:r>
            <a:r>
              <a:rPr lang="en-US" dirty="0" err="1" smtClean="0"/>
              <a:t>q_t</a:t>
            </a:r>
            <a:r>
              <a:rPr lang="en-US" dirty="0" smtClean="0"/>
              <a:t> \</a:t>
            </a:r>
            <a:r>
              <a:rPr lang="en-US" dirty="0" err="1" smtClean="0"/>
              <a:t>ge</a:t>
            </a:r>
            <a:r>
              <a:rPr lang="en-US" dirty="0" smtClean="0"/>
              <a:t> k$),</a:t>
            </a:r>
          </a:p>
          <a:p>
            <a:r>
              <a:rPr lang="en-US" dirty="0" smtClean="0"/>
              <a:t>the offer will only be accepted with probability $p(\text{trans})$.</a:t>
            </a:r>
          </a:p>
          <a:p>
            <a:r>
              <a:rPr lang="en-US" dirty="0" smtClean="0"/>
              <a:t>This probability represents the fact that the patient or the surgeon may decide against the kidney for reasons</a:t>
            </a:r>
          </a:p>
          <a:p>
            <a:r>
              <a:rPr lang="en-US" dirty="0" smtClean="0"/>
              <a:t>not explained by purely kidney quality. Examples are that the patient is currently not available or that</a:t>
            </a:r>
          </a:p>
          <a:p>
            <a:r>
              <a:rPr lang="en-US" dirty="0" smtClean="0"/>
              <a:t>resources needed for the surgery cannot be provided in time.</a:t>
            </a:r>
          </a:p>
          <a:p>
            <a:r>
              <a:rPr lang="en-US" dirty="0" smtClean="0"/>
              <a:t>If nobody in the group of $g$ patients is able to accept the kidney after the </a:t>
            </a:r>
            <a:r>
              <a:rPr lang="en-US" dirty="0" err="1" smtClean="0"/>
              <a:t>alloted</a:t>
            </a:r>
            <a:r>
              <a:rPr lang="en-US" dirty="0" smtClean="0"/>
              <a:t> time, then</a:t>
            </a:r>
          </a:p>
          <a:p>
            <a:r>
              <a:rPr lang="en-US" dirty="0" smtClean="0"/>
              <a:t>the kidney is offered to the next group of $g$ patients on the waitlist. Over time, </a:t>
            </a:r>
          </a:p>
          <a:p>
            <a:r>
              <a:rPr lang="en-US" dirty="0" smtClean="0"/>
              <a:t>the kidney deteriorates. We model this deterioration as $</a:t>
            </a:r>
            <a:r>
              <a:rPr lang="en-US" dirty="0" err="1" smtClean="0"/>
              <a:t>q_t</a:t>
            </a:r>
            <a:r>
              <a:rPr lang="en-US" dirty="0" smtClean="0"/>
              <a:t> = q_0 (1-\delta)^t$, where </a:t>
            </a:r>
          </a:p>
          <a:p>
            <a:r>
              <a:rPr lang="en-US" dirty="0" smtClean="0"/>
              <a:t>$\delta$ is a deterioration factor and $t$ is</a:t>
            </a:r>
          </a:p>
          <a:p>
            <a:r>
              <a:rPr lang="en-US" dirty="0" smtClean="0"/>
              <a:t>the accumulated CIT in hours. </a:t>
            </a:r>
          </a:p>
          <a:p>
            <a:r>
              <a:rPr lang="en-US" dirty="0" smtClean="0"/>
              <a:t>For convenience, we measure time here as multiples of the time allowed for one round of offering.</a:t>
            </a:r>
          </a:p>
          <a:p>
            <a:r>
              <a:rPr lang="en-US" dirty="0" smtClean="0"/>
              <a:t>If the patients have one hour to decide, then $t$ represents accumulated CIT in hours.</a:t>
            </a:r>
          </a:p>
          <a:p>
            <a:r>
              <a:rPr lang="en-US" dirty="0" smtClean="0"/>
              <a:t>When $</a:t>
            </a:r>
            <a:r>
              <a:rPr lang="en-US" dirty="0" err="1" smtClean="0"/>
              <a:t>q_t</a:t>
            </a:r>
            <a:r>
              <a:rPr lang="en-US" dirty="0" smtClean="0"/>
              <a:t>$ becomes zero, then</a:t>
            </a:r>
          </a:p>
          <a:p>
            <a:r>
              <a:rPr lang="en-US" dirty="0" smtClean="0"/>
              <a:t>the kidney needs to be discarded.</a:t>
            </a:r>
          </a:p>
          <a:p>
            <a:endParaRPr lang="en-US" dirty="0" smtClean="0"/>
          </a:p>
          <a:p>
            <a:r>
              <a:rPr lang="en-US" dirty="0" smtClean="0"/>
              <a:t>Patients choose their decision threshold $k$. The threshold is influenced by the patient's health $h_0$,</a:t>
            </a:r>
          </a:p>
          <a:p>
            <a:r>
              <a:rPr lang="en-US" dirty="0" smtClean="0"/>
              <a:t>since a patient who has more time left on dialysis will be able to wait for a better quality kidney. We model</a:t>
            </a:r>
          </a:p>
          <a:p>
            <a:r>
              <a:rPr lang="en-US" dirty="0" smtClean="0"/>
              <a:t>this relationship by choosing $k$ for each patient from a random variable </a:t>
            </a:r>
          </a:p>
          <a:p>
            <a:r>
              <a:rPr lang="en-US" dirty="0" smtClean="0"/>
              <a:t>$K \sim \text{</a:t>
            </a:r>
            <a:r>
              <a:rPr lang="en-US" dirty="0" err="1" smtClean="0"/>
              <a:t>Unif</a:t>
            </a:r>
            <a:r>
              <a:rPr lang="en-US" dirty="0" smtClean="0"/>
              <a:t>(0,1)}$ </a:t>
            </a:r>
          </a:p>
          <a:p>
            <a:r>
              <a:rPr lang="en-US" dirty="0" smtClean="0"/>
              <a:t>which </a:t>
            </a:r>
          </a:p>
          <a:p>
            <a:r>
              <a:rPr lang="en-US" dirty="0" smtClean="0"/>
              <a:t>is correlated to the patient's $h_0$ with Spearman's rank correlation coefficient $\rho_{H,K}$.</a:t>
            </a:r>
          </a:p>
          <a:p>
            <a:endParaRPr lang="en-US" dirty="0" smtClean="0"/>
          </a:p>
          <a:p>
            <a:r>
              <a:rPr lang="en-US" dirty="0" smtClean="0"/>
              <a:t>A patient's post-transplant utility depends on the quality of the transplanted kidney $</a:t>
            </a:r>
            <a:r>
              <a:rPr lang="en-US" dirty="0" err="1" smtClean="0"/>
              <a:t>q_t</a:t>
            </a:r>
            <a:r>
              <a:rPr lang="en-US" dirty="0" smtClean="0"/>
              <a:t>$, patient's health when she joins the wait list $h_0$, and the remaining time she waits for the transplant since she receives the first offer $w$.</a:t>
            </a:r>
          </a:p>
          <a:p>
            <a:r>
              <a:rPr lang="en-US" dirty="0" smtClean="0"/>
              <a:t>We use</a:t>
            </a:r>
          </a:p>
          <a:p>
            <a:endParaRPr lang="en-US" dirty="0" smtClean="0"/>
          </a:p>
          <a:p>
            <a:r>
              <a:rPr lang="en-US" dirty="0" smtClean="0"/>
              <a:t>\begin{equation}\label{</a:t>
            </a:r>
            <a:r>
              <a:rPr lang="en-US" dirty="0" err="1" smtClean="0"/>
              <a:t>eq:Uc</a:t>
            </a:r>
            <a:r>
              <a:rPr lang="en-US" dirty="0" smtClean="0"/>
              <a:t>}</a:t>
            </a:r>
          </a:p>
          <a:p>
            <a:r>
              <a:rPr lang="en-US" dirty="0" smtClean="0"/>
              <a:t>U(</a:t>
            </a:r>
            <a:r>
              <a:rPr lang="en-US" dirty="0" err="1" smtClean="0"/>
              <a:t>q_t</a:t>
            </a:r>
            <a:r>
              <a:rPr lang="en-US" dirty="0" smtClean="0"/>
              <a:t>, h_0, w) = B(h_0, </a:t>
            </a:r>
            <a:r>
              <a:rPr lang="en-US" dirty="0" err="1" smtClean="0"/>
              <a:t>q_t</a:t>
            </a:r>
            <a:r>
              <a:rPr lang="en-US" dirty="0" smtClean="0"/>
              <a:t>)\; D(h_0, w),</a:t>
            </a:r>
          </a:p>
          <a:p>
            <a:r>
              <a:rPr lang="en-US" dirty="0" smtClean="0"/>
              <a:t>\end{equation} </a:t>
            </a:r>
          </a:p>
          <a:p>
            <a:r>
              <a:rPr lang="en-US" dirty="0" smtClean="0"/>
              <a:t>where $B(h_0, </a:t>
            </a:r>
            <a:r>
              <a:rPr lang="en-US" dirty="0" err="1" smtClean="0"/>
              <a:t>q_t</a:t>
            </a:r>
            <a:r>
              <a:rPr lang="en-US" dirty="0" smtClean="0"/>
              <a:t>)$ is the patients utility if she receives a kidney with quality $</a:t>
            </a:r>
            <a:r>
              <a:rPr lang="en-US" dirty="0" err="1" smtClean="0"/>
              <a:t>q_t</a:t>
            </a:r>
            <a:r>
              <a:rPr lang="en-US" dirty="0" smtClean="0"/>
              <a:t>$ right after she</a:t>
            </a:r>
          </a:p>
          <a:p>
            <a:r>
              <a:rPr lang="en-US" dirty="0" smtClean="0"/>
              <a:t>joins the waitlist without waiting. $D(\</a:t>
            </a:r>
            <a:r>
              <a:rPr lang="en-US" dirty="0" err="1" smtClean="0"/>
              <a:t>cdot</a:t>
            </a:r>
            <a:r>
              <a:rPr lang="en-US" dirty="0" smtClean="0"/>
              <a:t>)$ represents a cost in the form of degradation factor  </a:t>
            </a:r>
          </a:p>
          <a:p>
            <a:r>
              <a:rPr lang="en-US" dirty="0" smtClean="0"/>
              <a:t>due to waiting $w$ for the kidney.</a:t>
            </a:r>
          </a:p>
          <a:p>
            <a:r>
              <a:rPr lang="en-US" dirty="0" smtClean="0"/>
              <a:t>$B(\</a:t>
            </a:r>
            <a:r>
              <a:rPr lang="en-US" dirty="0" err="1" smtClean="0"/>
              <a:t>cdot</a:t>
            </a:r>
            <a:r>
              <a:rPr lang="en-US" dirty="0" smtClean="0"/>
              <a:t>)$ can be defined in the form of a logistic regression for survival proposed by Cox \</a:t>
            </a:r>
            <a:r>
              <a:rPr lang="en-US" dirty="0" err="1" smtClean="0"/>
              <a:t>citep</a:t>
            </a:r>
            <a:r>
              <a:rPr lang="en-US" dirty="0" smtClean="0"/>
              <a:t>{</a:t>
            </a:r>
            <a:r>
              <a:rPr lang="en-US" dirty="0" err="1" smtClean="0"/>
              <a:t>survival_models</a:t>
            </a:r>
            <a:r>
              <a:rPr lang="en-US" dirty="0" smtClean="0"/>
              <a:t>}. %http://data.princeton.edu/wws509/notes/c7.pdf,</a:t>
            </a:r>
          </a:p>
          <a:p>
            <a:r>
              <a:rPr lang="en-US" dirty="0" smtClean="0"/>
              <a:t>which models the conditional odds of dying at any time point given survival up to that point.</a:t>
            </a:r>
          </a:p>
          <a:p>
            <a:endParaRPr lang="en-US" dirty="0" smtClean="0"/>
          </a:p>
          <a:p>
            <a:r>
              <a:rPr lang="en-US" dirty="0" smtClean="0"/>
              <a:t>\begin{equation}\label{</a:t>
            </a:r>
            <a:r>
              <a:rPr lang="en-US" dirty="0" err="1" smtClean="0"/>
              <a:t>eq:Ub</a:t>
            </a:r>
            <a:r>
              <a:rPr lang="en-US" dirty="0" smtClean="0"/>
              <a:t>}</a:t>
            </a:r>
          </a:p>
          <a:p>
            <a:r>
              <a:rPr lang="en-US" dirty="0" smtClean="0"/>
              <a:t>B(h_0, </a:t>
            </a:r>
            <a:r>
              <a:rPr lang="en-US" dirty="0" err="1" smtClean="0"/>
              <a:t>q_t</a:t>
            </a:r>
            <a:r>
              <a:rPr lang="en-US" dirty="0" smtClean="0"/>
              <a:t>) = \</a:t>
            </a:r>
            <a:r>
              <a:rPr lang="en-US" dirty="0" err="1" smtClean="0"/>
              <a:t>frac</a:t>
            </a:r>
            <a:r>
              <a:rPr lang="en-US" dirty="0" smtClean="0"/>
              <a:t>{m(h_0)}{1 + </a:t>
            </a:r>
            <a:r>
              <a:rPr lang="en-US" dirty="0" err="1" smtClean="0"/>
              <a:t>exp</a:t>
            </a:r>
            <a:r>
              <a:rPr lang="en-US" dirty="0" smtClean="0"/>
              <a:t>(-\beta(</a:t>
            </a:r>
            <a:r>
              <a:rPr lang="en-US" dirty="0" err="1" smtClean="0"/>
              <a:t>q_t</a:t>
            </a:r>
            <a:r>
              <a:rPr lang="en-US" dirty="0" smtClean="0"/>
              <a:t> - \alpha))}, </a:t>
            </a:r>
          </a:p>
          <a:p>
            <a:r>
              <a:rPr lang="en-US" dirty="0" smtClean="0"/>
              <a:t>\end{equation}</a:t>
            </a:r>
          </a:p>
          <a:p>
            <a:r>
              <a:rPr lang="en-US" dirty="0" smtClean="0"/>
              <a:t>where $m(h_0)$ indicates the transplant outcome for a patient with health level $h_0$ who received a perfect kidney ($</a:t>
            </a:r>
            <a:r>
              <a:rPr lang="en-US" dirty="0" err="1" smtClean="0"/>
              <a:t>q_t</a:t>
            </a:r>
            <a:r>
              <a:rPr lang="en-US" dirty="0" smtClean="0"/>
              <a:t> = 1$) right after her first offer ($w = 0$).</a:t>
            </a:r>
          </a:p>
          <a:p>
            <a:r>
              <a:rPr lang="en-US" dirty="0" smtClean="0"/>
              <a:t>Natural, $m(h_0)$ is increasing with $h_0$.</a:t>
            </a:r>
          </a:p>
          <a:p>
            <a:r>
              <a:rPr lang="en-US" dirty="0" smtClean="0"/>
              <a:t>The benefit function therefore increases with patient's health $h_0$ and also kidney quality $q_0$, since  $\</a:t>
            </a:r>
            <a:r>
              <a:rPr lang="en-US" dirty="0" err="1" smtClean="0"/>
              <a:t>frac</a:t>
            </a:r>
            <a:r>
              <a:rPr lang="en-US" dirty="0" smtClean="0"/>
              <a:t>{\partial B(h_0, </a:t>
            </a:r>
            <a:r>
              <a:rPr lang="en-US" dirty="0" err="1" smtClean="0"/>
              <a:t>q_t</a:t>
            </a:r>
            <a:r>
              <a:rPr lang="en-US" dirty="0" smtClean="0"/>
              <a:t>)}{\partial </a:t>
            </a:r>
            <a:r>
              <a:rPr lang="en-US" dirty="0" err="1" smtClean="0"/>
              <a:t>q_t</a:t>
            </a:r>
            <a:r>
              <a:rPr lang="en-US" dirty="0" smtClean="0"/>
              <a:t>} &gt; 0$. </a:t>
            </a:r>
          </a:p>
          <a:p>
            <a:r>
              <a:rPr lang="en-US" dirty="0" smtClean="0"/>
              <a:t>For patient's health deterioration factor we use</a:t>
            </a:r>
          </a:p>
          <a:p>
            <a:endParaRPr lang="en-US" dirty="0" smtClean="0"/>
          </a:p>
          <a:p>
            <a:r>
              <a:rPr lang="en-US" dirty="0" smtClean="0"/>
              <a:t>\begin{equation}\label{</a:t>
            </a:r>
            <a:r>
              <a:rPr lang="en-US" dirty="0" err="1" smtClean="0"/>
              <a:t>eq:uc</a:t>
            </a:r>
            <a:r>
              <a:rPr lang="en-US" dirty="0" smtClean="0"/>
              <a:t>}</a:t>
            </a:r>
          </a:p>
          <a:p>
            <a:r>
              <a:rPr lang="en-US" dirty="0" smtClean="0"/>
              <a:t>D (h_0, w) = \left(1 -\</a:t>
            </a:r>
            <a:r>
              <a:rPr lang="en-US" dirty="0" err="1" smtClean="0"/>
              <a:t>frac</a:t>
            </a:r>
            <a:r>
              <a:rPr lang="en-US" dirty="0" smtClean="0"/>
              <a:t>{w}{h_0}\right)^\gamma.</a:t>
            </a:r>
          </a:p>
          <a:p>
            <a:r>
              <a:rPr lang="en-US" dirty="0" smtClean="0"/>
              <a:t>\end{equation}</a:t>
            </a:r>
          </a:p>
          <a:p>
            <a:endParaRPr lang="en-US" dirty="0" smtClean="0"/>
          </a:p>
          <a:p>
            <a:r>
              <a:rPr lang="en-US" dirty="0" smtClean="0"/>
              <a:t>The  deterioration factor in Equation~\ref{</a:t>
            </a:r>
            <a:r>
              <a:rPr lang="en-US" dirty="0" err="1" smtClean="0"/>
              <a:t>eq:uc</a:t>
            </a:r>
            <a:r>
              <a:rPr lang="en-US" dirty="0" smtClean="0"/>
              <a:t>} equals one when the wait time </a:t>
            </a:r>
          </a:p>
          <a:p>
            <a:r>
              <a:rPr lang="en-US" dirty="0" smtClean="0"/>
              <a:t>is zero ($w = 0$). It emphasizes that by accepting the first offer, the patient terminates her health deterioration. </a:t>
            </a:r>
          </a:p>
          <a:p>
            <a:r>
              <a:rPr lang="en-US" dirty="0" smtClean="0"/>
              <a:t>On the other hand, if the patient decides to wait for a very high-quality kidney, she cannot survive longer than $w=h_0$. In that case, equation~\ref{</a:t>
            </a:r>
            <a:r>
              <a:rPr lang="en-US" dirty="0" err="1" smtClean="0"/>
              <a:t>eq:uc</a:t>
            </a:r>
            <a:r>
              <a:rPr lang="en-US" dirty="0" smtClean="0"/>
              <a:t>} becomes zero. %which LSO means zero utility from receiving a kidney transplant. </a:t>
            </a:r>
          </a:p>
          <a:p>
            <a:r>
              <a:rPr lang="en-US" dirty="0" smtClean="0"/>
              <a:t>In equation \ref{</a:t>
            </a:r>
            <a:r>
              <a:rPr lang="en-US" dirty="0" err="1" smtClean="0"/>
              <a:t>eq:uc</a:t>
            </a:r>
            <a:r>
              <a:rPr lang="en-US" dirty="0" smtClean="0"/>
              <a:t>}, $\gamma$ </a:t>
            </a:r>
          </a:p>
          <a:p>
            <a:r>
              <a:rPr lang="en-US" dirty="0" smtClean="0"/>
              <a:t>controls the rate of  deterioration. For $\gamma = 1$ the deterioration is linear,</a:t>
            </a:r>
          </a:p>
          <a:p>
            <a:r>
              <a:rPr lang="en-US" dirty="0" smtClean="0"/>
              <a:t>$\gamma &gt; 1$ results in initially faster  deterioration and for $\gamma &lt; 1$</a:t>
            </a:r>
          </a:p>
          <a:p>
            <a:r>
              <a:rPr lang="en-US" dirty="0" smtClean="0"/>
              <a:t>the  deterioration is initially slower and then speeds up.</a:t>
            </a:r>
            <a:endParaRPr lang="en-US" dirty="0"/>
          </a:p>
        </p:txBody>
      </p:sp>
      <p:sp>
        <p:nvSpPr>
          <p:cNvPr id="4" name="Slide Number Placeholder 3"/>
          <p:cNvSpPr>
            <a:spLocks noGrp="1"/>
          </p:cNvSpPr>
          <p:nvPr>
            <p:ph type="sldNum" sz="quarter" idx="10"/>
          </p:nvPr>
        </p:nvSpPr>
        <p:spPr/>
        <p:txBody>
          <a:bodyPr/>
          <a:lstStyle/>
          <a:p>
            <a:pPr>
              <a:defRPr/>
            </a:pPr>
            <a:fld id="{39E17729-44CA-6748-867B-0A3F027C490D}" type="slidenum">
              <a:rPr lang="en-US" smtClean="0"/>
              <a:pPr>
                <a:defRPr/>
              </a:pPr>
              <a:t>8</a:t>
            </a:fld>
            <a:endParaRPr lang="en-US" dirty="0"/>
          </a:p>
        </p:txBody>
      </p:sp>
    </p:spTree>
    <p:extLst>
      <p:ext uri="{BB962C8B-B14F-4D97-AF65-F5344CB8AC3E}">
        <p14:creationId xmlns:p14="http://schemas.microsoft.com/office/powerpoint/2010/main" val="38607521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 use</a:t>
            </a:r>
            <a:r>
              <a:rPr lang="en-US" baseline="0" dirty="0" smtClean="0"/>
              <a:t> simulation and integer programing model to find out an optimal region selection policy under budget, distance and performance constraints? </a:t>
            </a:r>
            <a:r>
              <a:rPr lang="en-US" dirty="0" smtClean="0"/>
              <a:t>And</a:t>
            </a:r>
            <a:r>
              <a:rPr lang="en-US" baseline="0" dirty="0" smtClean="0"/>
              <a:t> also I show the optimal kidney acceptance decision at any  region. and finally I use the simulation model to show the impact of information sharing on improving  kidney discard </a:t>
            </a:r>
            <a:r>
              <a:rPr lang="en-US" baseline="0" smtClean="0"/>
              <a:t>rate and social </a:t>
            </a:r>
            <a:r>
              <a:rPr lang="en-US" baseline="0" dirty="0" smtClean="0"/>
              <a:t>welfare utility.</a:t>
            </a:r>
            <a:endParaRPr lang="en-US" dirty="0"/>
          </a:p>
        </p:txBody>
      </p:sp>
      <p:sp>
        <p:nvSpPr>
          <p:cNvPr id="4" name="Slide Number Placeholder 3"/>
          <p:cNvSpPr>
            <a:spLocks noGrp="1"/>
          </p:cNvSpPr>
          <p:nvPr>
            <p:ph type="sldNum" sz="quarter" idx="10"/>
          </p:nvPr>
        </p:nvSpPr>
        <p:spPr/>
        <p:txBody>
          <a:bodyPr/>
          <a:lstStyle/>
          <a:p>
            <a:pPr>
              <a:defRPr/>
            </a:pPr>
            <a:fld id="{39E17729-44CA-6748-867B-0A3F027C490D}" type="slidenum">
              <a:rPr lang="en-US" smtClean="0"/>
              <a:pPr>
                <a:defRPr/>
              </a:pPr>
              <a:t>9</a:t>
            </a:fld>
            <a:endParaRPr lang="en-US" dirty="0"/>
          </a:p>
        </p:txBody>
      </p:sp>
    </p:spTree>
    <p:extLst>
      <p:ext uri="{BB962C8B-B14F-4D97-AF65-F5344CB8AC3E}">
        <p14:creationId xmlns:p14="http://schemas.microsoft.com/office/powerpoint/2010/main" val="12518975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a:p>
            <a:r>
              <a:rPr lang="en-US" dirty="0" smtClean="0"/>
              <a:t>To assist the patient</a:t>
            </a:r>
            <a:r>
              <a:rPr lang="en-US" baseline="0" dirty="0" smtClean="0"/>
              <a:t> </a:t>
            </a:r>
            <a:r>
              <a:rPr lang="en-US" dirty="0" smtClean="0"/>
              <a:t>to identify a region to transfer to or identifying a set of regions for multiple-listing, we present a simple. </a:t>
            </a:r>
          </a:p>
          <a:p>
            <a:r>
              <a:rPr lang="en-US" dirty="0" smtClean="0"/>
              <a:t>The objective function uses the maximum utility that a given patient can obtain by receiving transplant in different regions.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smtClean="0"/>
              <a:t>These utilities can be obtained through the simulation model. The simulation model is run for each region to find the </a:t>
            </a:r>
            <a:r>
              <a:rPr lang="en-US" dirty="0" err="1" smtClean="0"/>
              <a:t>the</a:t>
            </a:r>
            <a:r>
              <a:rPr lang="en-US" dirty="0" smtClean="0"/>
              <a:t> optimal kidney quality threshold that maximizes the patient's post-transplant utility</a:t>
            </a:r>
          </a:p>
          <a:p>
            <a:endParaRPr lang="en-US" dirty="0" smtClean="0"/>
          </a:p>
          <a:p>
            <a:r>
              <a:rPr lang="en-US" dirty="0" smtClean="0"/>
              <a:t> I maximize patient's post-transplant expected utility given constraints on distance $D$, budget $C$, and performance $P$. To formulate our multiple-listing problem, we define the binary variable $</a:t>
            </a:r>
            <a:r>
              <a:rPr lang="en-US" dirty="0" err="1" smtClean="0"/>
              <a:t>r_i</a:t>
            </a:r>
            <a:r>
              <a:rPr lang="en-US" dirty="0" smtClean="0"/>
              <a:t>$ which is equal to one if region $</a:t>
            </a:r>
            <a:r>
              <a:rPr lang="en-US" dirty="0" err="1" smtClean="0"/>
              <a:t>i</a:t>
            </a:r>
            <a:r>
              <a:rPr lang="en-US" dirty="0" smtClean="0"/>
              <a:t> \in I=\left \{ 1,2,..,11 \right \}$ is selected and 0 otherwise.</a:t>
            </a:r>
          </a:p>
          <a:p>
            <a:endParaRPr lang="en-US" dirty="0" smtClean="0"/>
          </a:p>
          <a:p>
            <a:endParaRPr lang="en-US" dirty="0" smtClean="0"/>
          </a:p>
          <a:p>
            <a:endParaRPr lang="en-US" dirty="0" smtClean="0"/>
          </a:p>
          <a:p>
            <a:endParaRPr lang="en-US" dirty="0" smtClean="0"/>
          </a:p>
          <a:p>
            <a:r>
              <a:rPr lang="en-US" dirty="0" smtClean="0"/>
              <a:t>#The first constraint makes sure that the solution satisfies the total budget $C$ of individual patient on the evaluation, traveling and loading expenses. </a:t>
            </a:r>
          </a:p>
          <a:p>
            <a:r>
              <a:rPr lang="en-US" dirty="0" smtClean="0"/>
              <a:t>#The second constraint considers the maximum distance $D$ the patient desires to travel.  </a:t>
            </a:r>
          </a:p>
          <a:p>
            <a:r>
              <a:rPr lang="en-US" dirty="0" smtClean="0"/>
              <a:t>#The third constraints consider patient's expectation from region's performance $P$ and finally the last constraint restricts the model to select only one region.</a:t>
            </a:r>
          </a:p>
          <a:p>
            <a:r>
              <a:rPr lang="en-US" dirty="0" smtClean="0"/>
              <a:t>We execute the optimization iteratively. At each run, the model finds the region that maximizes patient's expected post-transplant utility under the given constraints represented as the only 1 entry in the decision vector $r$. After each optimization run, we remove the selected region and update the remaining budget as $C=C-\sum_{</a:t>
            </a:r>
            <a:r>
              <a:rPr lang="en-US" dirty="0" err="1" smtClean="0"/>
              <a:t>i</a:t>
            </a:r>
            <a:r>
              <a:rPr lang="en-US" dirty="0" smtClean="0"/>
              <a:t> \in I}</a:t>
            </a:r>
            <a:r>
              <a:rPr lang="en-US" dirty="0" err="1" smtClean="0"/>
              <a:t>c_ir</a:t>
            </a:r>
            <a:r>
              <a:rPr lang="en-US" dirty="0" smtClean="0"/>
              <a:t>^*_</a:t>
            </a:r>
            <a:r>
              <a:rPr lang="en-US" dirty="0" err="1" smtClean="0"/>
              <a:t>i</a:t>
            </a:r>
            <a:r>
              <a:rPr lang="en-US" dirty="0" smtClean="0"/>
              <a:t>$ to find the next region. The model returns no region when it fails to find any region that satisfies the patient's constraints. The generated optimal solution at each run forms a list that provides multiple-listing options to the patient in a descending order of post-transplant expected utility. </a:t>
            </a:r>
          </a:p>
          <a:p>
            <a:endParaRPr lang="en-US" dirty="0" smtClean="0"/>
          </a:p>
        </p:txBody>
      </p:sp>
      <p:sp>
        <p:nvSpPr>
          <p:cNvPr id="4" name="Slide Number Placeholder 3"/>
          <p:cNvSpPr>
            <a:spLocks noGrp="1"/>
          </p:cNvSpPr>
          <p:nvPr>
            <p:ph type="sldNum" sz="quarter" idx="10"/>
          </p:nvPr>
        </p:nvSpPr>
        <p:spPr/>
        <p:txBody>
          <a:bodyPr/>
          <a:lstStyle/>
          <a:p>
            <a:pPr>
              <a:defRPr/>
            </a:pPr>
            <a:fld id="{39E17729-44CA-6748-867B-0A3F027C490D}" type="slidenum">
              <a:rPr lang="en-US" smtClean="0"/>
              <a:pPr>
                <a:defRPr/>
              </a:pPr>
              <a:t>10</a:t>
            </a:fld>
            <a:endParaRPr lang="en-US" dirty="0"/>
          </a:p>
        </p:txBody>
      </p:sp>
    </p:spTree>
    <p:extLst>
      <p:ext uri="{BB962C8B-B14F-4D97-AF65-F5344CB8AC3E}">
        <p14:creationId xmlns:p14="http://schemas.microsoft.com/office/powerpoint/2010/main" val="677581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a:p>
            <a:endParaRPr lang="en-US" dirty="0" smtClean="0"/>
          </a:p>
          <a:p>
            <a:endParaRPr lang="en-US" dirty="0" smtClean="0"/>
          </a:p>
          <a:p>
            <a:endParaRPr lang="en-US" dirty="0" smtClean="0"/>
          </a:p>
          <a:p>
            <a:r>
              <a:rPr lang="en-US" dirty="0" smtClean="0"/>
              <a:t>I </a:t>
            </a:r>
            <a:r>
              <a:rPr lang="en-US" dirty="0" err="1" smtClean="0"/>
              <a:t>usdes</a:t>
            </a:r>
            <a:r>
              <a:rPr lang="en-US" dirty="0" smtClean="0"/>
              <a:t> UNOS and SRTR data</a:t>
            </a:r>
            <a:r>
              <a:rPr lang="en-US" baseline="0" dirty="0" smtClean="0"/>
              <a:t> set to estimate model parameters and the numbers are based on year 2015 data for blood type A  patients.</a:t>
            </a:r>
          </a:p>
          <a:p>
            <a:endParaRPr lang="en-US" dirty="0"/>
          </a:p>
        </p:txBody>
      </p:sp>
      <p:sp>
        <p:nvSpPr>
          <p:cNvPr id="4" name="Slide Number Placeholder 3"/>
          <p:cNvSpPr>
            <a:spLocks noGrp="1"/>
          </p:cNvSpPr>
          <p:nvPr>
            <p:ph type="sldNum" sz="quarter" idx="10"/>
          </p:nvPr>
        </p:nvSpPr>
        <p:spPr/>
        <p:txBody>
          <a:bodyPr/>
          <a:lstStyle/>
          <a:p>
            <a:pPr>
              <a:defRPr/>
            </a:pPr>
            <a:fld id="{39E17729-44CA-6748-867B-0A3F027C490D}" type="slidenum">
              <a:rPr lang="en-US" smtClean="0"/>
              <a:pPr>
                <a:defRPr/>
              </a:pPr>
              <a:t>11</a:t>
            </a:fld>
            <a:endParaRPr lang="en-US" dirty="0"/>
          </a:p>
        </p:txBody>
      </p:sp>
    </p:spTree>
    <p:extLst>
      <p:ext uri="{BB962C8B-B14F-4D97-AF65-F5344CB8AC3E}">
        <p14:creationId xmlns:p14="http://schemas.microsoft.com/office/powerpoint/2010/main" val="219876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a:p>
            <a:r>
              <a:rPr lang="en-US" dirty="0" smtClean="0"/>
              <a:t>To</a:t>
            </a:r>
            <a:r>
              <a:rPr lang="en-US" baseline="0" dirty="0" smtClean="0"/>
              <a:t> find out the objective function coefficient for multi listing problem first, </a:t>
            </a:r>
            <a:r>
              <a:rPr lang="en-US" dirty="0" smtClean="0"/>
              <a:t>we perform the simulation for a target</a:t>
            </a:r>
          </a:p>
          <a:p>
            <a:r>
              <a:rPr lang="en-US" dirty="0" smtClean="0"/>
              <a:t>patient with blood type A with a remaining one life-year on dialysis $h_0=1$. We fill</a:t>
            </a:r>
          </a:p>
          <a:p>
            <a:r>
              <a:rPr lang="en-US" dirty="0" smtClean="0"/>
              <a:t>the waitlist with randomly generated patients and place the target patient at position $j=100$ in the wait list.</a:t>
            </a:r>
          </a:p>
          <a:p>
            <a:r>
              <a:rPr lang="en-US" dirty="0" smtClean="0"/>
              <a:t>We perform the same simulation 100 times each for the </a:t>
            </a:r>
          </a:p>
          <a:p>
            <a:r>
              <a:rPr lang="en-US" dirty="0" smtClean="0"/>
              <a:t>decision threshold values $k \in \{0, 0.1, 0.2, \</a:t>
            </a:r>
            <a:r>
              <a:rPr lang="en-US" dirty="0" err="1" smtClean="0"/>
              <a:t>cdots</a:t>
            </a:r>
            <a:r>
              <a:rPr lang="en-US" dirty="0" smtClean="0"/>
              <a:t>, 0.9\}$</a:t>
            </a:r>
          </a:p>
          <a:p>
            <a:r>
              <a:rPr lang="en-US" dirty="0" smtClean="0"/>
              <a:t>and average the results of the 100 runs</a:t>
            </a:r>
          </a:p>
          <a:p>
            <a:endParaRPr lang="en-US" dirty="0" smtClean="0"/>
          </a:p>
          <a:p>
            <a:r>
              <a:rPr lang="en-US" dirty="0" smtClean="0"/>
              <a:t>In Table~\ref{</a:t>
            </a:r>
            <a:r>
              <a:rPr lang="en-US" dirty="0" err="1" smtClean="0"/>
              <a:t>pu</a:t>
            </a:r>
            <a:r>
              <a:rPr lang="en-US" dirty="0" smtClean="0"/>
              <a:t>} we report the results</a:t>
            </a:r>
          </a:p>
          <a:p>
            <a:r>
              <a:rPr lang="en-US" dirty="0" smtClean="0"/>
              <a:t>for the best $k$ resulting in the largest average utility</a:t>
            </a:r>
          </a:p>
          <a:p>
            <a:r>
              <a:rPr lang="en-US" dirty="0" smtClean="0"/>
              <a:t>for each region. Note that the reported wait time (in years) is very short, since it only includes </a:t>
            </a:r>
          </a:p>
          <a:p>
            <a:r>
              <a:rPr lang="en-US" dirty="0" smtClean="0"/>
              <a:t>the time from when the patient already reached position $j=100$ in the wait list.</a:t>
            </a:r>
          </a:p>
          <a:p>
            <a:r>
              <a:rPr lang="en-US" dirty="0" smtClean="0"/>
              <a:t>For instance, if the target patient is enrolled in region 6 a threshold of $k=0.65$ is optimal which leads to a utility of 9.6 years, whereas if she is enlisted in region 2 the optimal decision can be as high as 0.85 with a utility of 13.22 years.   </a:t>
            </a:r>
          </a:p>
          <a:p>
            <a:endParaRPr lang="en-US" dirty="0" smtClean="0"/>
          </a:p>
          <a:p>
            <a:endParaRPr lang="en-US" dirty="0"/>
          </a:p>
        </p:txBody>
      </p:sp>
      <p:sp>
        <p:nvSpPr>
          <p:cNvPr id="4" name="Slide Number Placeholder 3"/>
          <p:cNvSpPr>
            <a:spLocks noGrp="1"/>
          </p:cNvSpPr>
          <p:nvPr>
            <p:ph type="sldNum" sz="quarter" idx="10"/>
          </p:nvPr>
        </p:nvSpPr>
        <p:spPr/>
        <p:txBody>
          <a:bodyPr/>
          <a:lstStyle/>
          <a:p>
            <a:pPr>
              <a:defRPr/>
            </a:pPr>
            <a:fld id="{39E17729-44CA-6748-867B-0A3F027C490D}" type="slidenum">
              <a:rPr lang="en-US" smtClean="0"/>
              <a:pPr>
                <a:defRPr/>
              </a:pPr>
              <a:t>12</a:t>
            </a:fld>
            <a:endParaRPr lang="en-US" dirty="0"/>
          </a:p>
        </p:txBody>
      </p:sp>
    </p:spTree>
    <p:extLst>
      <p:ext uri="{BB962C8B-B14F-4D97-AF65-F5344CB8AC3E}">
        <p14:creationId xmlns:p14="http://schemas.microsoft.com/office/powerpoint/2010/main" val="42632972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 use</a:t>
            </a:r>
            <a:r>
              <a:rPr lang="en-US" baseline="0" dirty="0" smtClean="0"/>
              <a:t> simulation and integer programing model to find out an optimal region selection policy under budget, distance and performance constraints? </a:t>
            </a:r>
            <a:r>
              <a:rPr lang="en-US" dirty="0" smtClean="0"/>
              <a:t>And</a:t>
            </a:r>
            <a:r>
              <a:rPr lang="en-US" baseline="0" dirty="0" smtClean="0"/>
              <a:t> also I show the optimal kidney acceptance decision at any  region. and finally I use the simulation model to show the impact of information sharing on improving  kidney discard </a:t>
            </a:r>
            <a:r>
              <a:rPr lang="en-US" baseline="0" smtClean="0"/>
              <a:t>rate and social </a:t>
            </a:r>
            <a:r>
              <a:rPr lang="en-US" baseline="0" dirty="0" smtClean="0"/>
              <a:t>welfare utility.</a:t>
            </a:r>
            <a:endParaRPr lang="en-US" dirty="0"/>
          </a:p>
        </p:txBody>
      </p:sp>
      <p:sp>
        <p:nvSpPr>
          <p:cNvPr id="4" name="Slide Number Placeholder 3"/>
          <p:cNvSpPr>
            <a:spLocks noGrp="1"/>
          </p:cNvSpPr>
          <p:nvPr>
            <p:ph type="sldNum" sz="quarter" idx="10"/>
          </p:nvPr>
        </p:nvSpPr>
        <p:spPr/>
        <p:txBody>
          <a:bodyPr/>
          <a:lstStyle/>
          <a:p>
            <a:pPr>
              <a:defRPr/>
            </a:pPr>
            <a:fld id="{39E17729-44CA-6748-867B-0A3F027C490D}" type="slidenum">
              <a:rPr lang="en-US" smtClean="0"/>
              <a:pPr>
                <a:defRPr/>
              </a:pPr>
              <a:t>13</a:t>
            </a:fld>
            <a:endParaRPr lang="en-US" dirty="0"/>
          </a:p>
        </p:txBody>
      </p:sp>
    </p:spTree>
    <p:extLst>
      <p:ext uri="{BB962C8B-B14F-4D97-AF65-F5344CB8AC3E}">
        <p14:creationId xmlns:p14="http://schemas.microsoft.com/office/powerpoint/2010/main" val="12518975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a:p>
            <a:r>
              <a:rPr lang="en-US" dirty="0" smtClean="0"/>
              <a:t>To</a:t>
            </a:r>
            <a:r>
              <a:rPr lang="en-US" baseline="0" dirty="0" smtClean="0"/>
              <a:t> find out the objective function coefficient for multi listing problem first, </a:t>
            </a:r>
            <a:r>
              <a:rPr lang="en-US" dirty="0" smtClean="0"/>
              <a:t>we perform the simulation for a target</a:t>
            </a:r>
          </a:p>
          <a:p>
            <a:r>
              <a:rPr lang="en-US" dirty="0" smtClean="0"/>
              <a:t>patient with blood type A with a remaining one life-year on dialysis $h_0=1$. We fill</a:t>
            </a:r>
          </a:p>
          <a:p>
            <a:r>
              <a:rPr lang="en-US" dirty="0" smtClean="0"/>
              <a:t>the waitlist with randomly generated patients and place the target patient at position $j=100$ in the wait list.</a:t>
            </a:r>
          </a:p>
          <a:p>
            <a:r>
              <a:rPr lang="en-US" dirty="0" smtClean="0"/>
              <a:t>We perform the same simulation 100 times each for the </a:t>
            </a:r>
          </a:p>
          <a:p>
            <a:r>
              <a:rPr lang="en-US" dirty="0" smtClean="0"/>
              <a:t>decision threshold values $k \in \{0, 0.1, 0.2, \</a:t>
            </a:r>
            <a:r>
              <a:rPr lang="en-US" dirty="0" err="1" smtClean="0"/>
              <a:t>cdots</a:t>
            </a:r>
            <a:r>
              <a:rPr lang="en-US" dirty="0" smtClean="0"/>
              <a:t>, 0.9\}$</a:t>
            </a:r>
          </a:p>
          <a:p>
            <a:r>
              <a:rPr lang="en-US" dirty="0" smtClean="0"/>
              <a:t>and average the results of the 100 runs</a:t>
            </a:r>
          </a:p>
          <a:p>
            <a:endParaRPr lang="en-US" dirty="0" smtClean="0"/>
          </a:p>
          <a:p>
            <a:r>
              <a:rPr lang="en-US" dirty="0" smtClean="0"/>
              <a:t>In Table~\ref{</a:t>
            </a:r>
            <a:r>
              <a:rPr lang="en-US" dirty="0" err="1" smtClean="0"/>
              <a:t>pu</a:t>
            </a:r>
            <a:r>
              <a:rPr lang="en-US" dirty="0" smtClean="0"/>
              <a:t>} we report the results</a:t>
            </a:r>
          </a:p>
          <a:p>
            <a:r>
              <a:rPr lang="en-US" dirty="0" smtClean="0"/>
              <a:t>for the best $k$ resulting in the largest average utility</a:t>
            </a:r>
          </a:p>
          <a:p>
            <a:r>
              <a:rPr lang="en-US" dirty="0" smtClean="0"/>
              <a:t>for each region. Note that the reported wait time (in years) is very short, since it only includes </a:t>
            </a:r>
          </a:p>
          <a:p>
            <a:r>
              <a:rPr lang="en-US" dirty="0" smtClean="0"/>
              <a:t>the time from when the patient already reached position $j=100$ in the wait list.</a:t>
            </a:r>
          </a:p>
          <a:p>
            <a:r>
              <a:rPr lang="en-US" dirty="0" smtClean="0"/>
              <a:t>For instance, if the target patient is enrolled in region 6 a threshold of $k=0.65$ is optimal which leads to a utility of 9.6 years, whereas if she is enlisted in region 2 the optimal decision can be as high as 0.85 with a utility of 13.22 years.   </a:t>
            </a:r>
          </a:p>
          <a:p>
            <a:endParaRPr lang="en-US" dirty="0" smtClean="0"/>
          </a:p>
          <a:p>
            <a:endParaRPr lang="en-US" dirty="0"/>
          </a:p>
        </p:txBody>
      </p:sp>
      <p:sp>
        <p:nvSpPr>
          <p:cNvPr id="4" name="Slide Number Placeholder 3"/>
          <p:cNvSpPr>
            <a:spLocks noGrp="1"/>
          </p:cNvSpPr>
          <p:nvPr>
            <p:ph type="sldNum" sz="quarter" idx="10"/>
          </p:nvPr>
        </p:nvSpPr>
        <p:spPr/>
        <p:txBody>
          <a:bodyPr/>
          <a:lstStyle/>
          <a:p>
            <a:pPr>
              <a:defRPr/>
            </a:pPr>
            <a:fld id="{39E17729-44CA-6748-867B-0A3F027C490D}" type="slidenum">
              <a:rPr lang="en-US" smtClean="0"/>
              <a:pPr>
                <a:defRPr/>
              </a:pPr>
              <a:t>14</a:t>
            </a:fld>
            <a:endParaRPr lang="en-US" dirty="0"/>
          </a:p>
        </p:txBody>
      </p:sp>
    </p:spTree>
    <p:extLst>
      <p:ext uri="{BB962C8B-B14F-4D97-AF65-F5344CB8AC3E}">
        <p14:creationId xmlns:p14="http://schemas.microsoft.com/office/powerpoint/2010/main" val="42632972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a:p>
            <a:r>
              <a:rPr lang="en-US" dirty="0" smtClean="0"/>
              <a:t>To assist the patient</a:t>
            </a:r>
            <a:r>
              <a:rPr lang="en-US" baseline="0" dirty="0" smtClean="0"/>
              <a:t> </a:t>
            </a:r>
            <a:r>
              <a:rPr lang="en-US" dirty="0" smtClean="0"/>
              <a:t>to identify a region to transfer to or identifying a set of regions for multiple-listing, we present a simple. </a:t>
            </a:r>
          </a:p>
          <a:p>
            <a:r>
              <a:rPr lang="en-US" dirty="0" smtClean="0"/>
              <a:t>The objective function uses the maximum utility that a given patient can obtain by receiving transplant in different regions.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smtClean="0"/>
              <a:t>These utilities can be obtained through the simulation model. The simulation model is run for each region to find the </a:t>
            </a:r>
            <a:r>
              <a:rPr lang="en-US" dirty="0" err="1" smtClean="0"/>
              <a:t>the</a:t>
            </a:r>
            <a:r>
              <a:rPr lang="en-US" dirty="0" smtClean="0"/>
              <a:t> optimal kidney quality threshold that maximizes the patient's post-transplant utility</a:t>
            </a:r>
          </a:p>
          <a:p>
            <a:endParaRPr lang="en-US" dirty="0" smtClean="0"/>
          </a:p>
          <a:p>
            <a:r>
              <a:rPr lang="en-US" dirty="0" smtClean="0"/>
              <a:t> I maximize patient's post-transplant expected utility given constraints on distance $D$, budget $C$, and performance $P$. To formulate our multiple-listing problem, we define the binary variable $</a:t>
            </a:r>
            <a:r>
              <a:rPr lang="en-US" dirty="0" err="1" smtClean="0"/>
              <a:t>r_i</a:t>
            </a:r>
            <a:r>
              <a:rPr lang="en-US" dirty="0" smtClean="0"/>
              <a:t>$ which is equal to one if region $</a:t>
            </a:r>
            <a:r>
              <a:rPr lang="en-US" dirty="0" err="1" smtClean="0"/>
              <a:t>i</a:t>
            </a:r>
            <a:r>
              <a:rPr lang="en-US" dirty="0" smtClean="0"/>
              <a:t> \in I=\left \{ 1,2,..,11 \right \}$ is selected and 0 otherwise.</a:t>
            </a:r>
          </a:p>
          <a:p>
            <a:endParaRPr lang="en-US" dirty="0" smtClean="0"/>
          </a:p>
          <a:p>
            <a:endParaRPr lang="en-US" dirty="0" smtClean="0"/>
          </a:p>
          <a:p>
            <a:endParaRPr lang="en-US" dirty="0" smtClean="0"/>
          </a:p>
          <a:p>
            <a:endParaRPr lang="en-US" dirty="0" smtClean="0"/>
          </a:p>
          <a:p>
            <a:r>
              <a:rPr lang="en-US" dirty="0" smtClean="0"/>
              <a:t>#The first constraint makes sure that the solution satisfies the total budget $C$ of individual patient on the evaluation, traveling and loading expenses. </a:t>
            </a:r>
          </a:p>
          <a:p>
            <a:r>
              <a:rPr lang="en-US" dirty="0" smtClean="0"/>
              <a:t>#The second constraint considers the maximum distance $D$ the patient desires to travel.  </a:t>
            </a:r>
          </a:p>
          <a:p>
            <a:r>
              <a:rPr lang="en-US" dirty="0" smtClean="0"/>
              <a:t>#The third constraints consider patient's expectation from region's performance $P$ and finally the last constraint restricts the model to select only one region.</a:t>
            </a:r>
          </a:p>
          <a:p>
            <a:r>
              <a:rPr lang="en-US" dirty="0" smtClean="0"/>
              <a:t>We execute the optimization iteratively. At each run, the model finds the region that maximizes patient's expected post-transplant utility under the given constraints represented as the only 1 entry in the decision vector $r$. After each optimization run, we remove the selected region and update the remaining budget as $C=C-\sum_{</a:t>
            </a:r>
            <a:r>
              <a:rPr lang="en-US" dirty="0" err="1" smtClean="0"/>
              <a:t>i</a:t>
            </a:r>
            <a:r>
              <a:rPr lang="en-US" dirty="0" smtClean="0"/>
              <a:t> \in I}</a:t>
            </a:r>
            <a:r>
              <a:rPr lang="en-US" dirty="0" err="1" smtClean="0"/>
              <a:t>c_ir</a:t>
            </a:r>
            <a:r>
              <a:rPr lang="en-US" dirty="0" smtClean="0"/>
              <a:t>^*_</a:t>
            </a:r>
            <a:r>
              <a:rPr lang="en-US" dirty="0" err="1" smtClean="0"/>
              <a:t>i</a:t>
            </a:r>
            <a:r>
              <a:rPr lang="en-US" dirty="0" smtClean="0"/>
              <a:t>$ to find the next region. The model returns no region when it fails to find any region that satisfies the patient's constraints. The generated optimal solution at each run forms a list that provides multiple-listing options to the patient in a descending order of post-transplant expected utility. </a:t>
            </a:r>
          </a:p>
          <a:p>
            <a:endParaRPr lang="en-US" dirty="0" smtClean="0"/>
          </a:p>
        </p:txBody>
      </p:sp>
      <p:sp>
        <p:nvSpPr>
          <p:cNvPr id="4" name="Slide Number Placeholder 3"/>
          <p:cNvSpPr>
            <a:spLocks noGrp="1"/>
          </p:cNvSpPr>
          <p:nvPr>
            <p:ph type="sldNum" sz="quarter" idx="10"/>
          </p:nvPr>
        </p:nvSpPr>
        <p:spPr/>
        <p:txBody>
          <a:bodyPr/>
          <a:lstStyle/>
          <a:p>
            <a:pPr>
              <a:defRPr/>
            </a:pPr>
            <a:fld id="{39E17729-44CA-6748-867B-0A3F027C490D}" type="slidenum">
              <a:rPr lang="en-US" smtClean="0"/>
              <a:pPr>
                <a:defRPr/>
              </a:pPr>
              <a:t>15</a:t>
            </a:fld>
            <a:endParaRPr lang="en-US" dirty="0"/>
          </a:p>
        </p:txBody>
      </p:sp>
    </p:spTree>
    <p:extLst>
      <p:ext uri="{BB962C8B-B14F-4D97-AF65-F5344CB8AC3E}">
        <p14:creationId xmlns:p14="http://schemas.microsoft.com/office/powerpoint/2010/main" val="677581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 come up with a set of region to suggest patient </a:t>
            </a:r>
            <a:r>
              <a:rPr lang="en-US" baseline="0" dirty="0" smtClean="0"/>
              <a:t> for multiple listing</a:t>
            </a:r>
            <a:endParaRPr lang="en-US" dirty="0"/>
          </a:p>
        </p:txBody>
      </p:sp>
      <p:sp>
        <p:nvSpPr>
          <p:cNvPr id="4" name="Slide Number Placeholder 3"/>
          <p:cNvSpPr>
            <a:spLocks noGrp="1"/>
          </p:cNvSpPr>
          <p:nvPr>
            <p:ph type="sldNum" sz="quarter" idx="10"/>
          </p:nvPr>
        </p:nvSpPr>
        <p:spPr/>
        <p:txBody>
          <a:bodyPr/>
          <a:lstStyle/>
          <a:p>
            <a:pPr>
              <a:defRPr/>
            </a:pPr>
            <a:fld id="{39E17729-44CA-6748-867B-0A3F027C490D}" type="slidenum">
              <a:rPr lang="en-US" smtClean="0"/>
              <a:pPr>
                <a:defRPr/>
              </a:pPr>
              <a:t>16</a:t>
            </a:fld>
            <a:endParaRPr lang="en-US" dirty="0"/>
          </a:p>
        </p:txBody>
      </p:sp>
    </p:spTree>
    <p:extLst>
      <p:ext uri="{BB962C8B-B14F-4D97-AF65-F5344CB8AC3E}">
        <p14:creationId xmlns:p14="http://schemas.microsoft.com/office/powerpoint/2010/main" val="36589966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a:p>
            <a:r>
              <a:rPr lang="en-US" dirty="0" smtClean="0"/>
              <a:t>To assist the patient</a:t>
            </a:r>
            <a:r>
              <a:rPr lang="en-US" baseline="0" dirty="0" smtClean="0"/>
              <a:t> </a:t>
            </a:r>
            <a:r>
              <a:rPr lang="en-US" dirty="0" smtClean="0"/>
              <a:t>to identify a region to transfer to or identifying a set of regions for multiple-listing, we present a simple. </a:t>
            </a:r>
          </a:p>
          <a:p>
            <a:r>
              <a:rPr lang="en-US" dirty="0" smtClean="0"/>
              <a:t>The objective function uses the maximum utility that a given patient can obtain by receiving transplant in different regions.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smtClean="0"/>
              <a:t>These utilities can be obtained through the simulation model. The simulation model is run for each region to find the </a:t>
            </a:r>
            <a:r>
              <a:rPr lang="en-US" dirty="0" err="1" smtClean="0"/>
              <a:t>the</a:t>
            </a:r>
            <a:r>
              <a:rPr lang="en-US" dirty="0" smtClean="0"/>
              <a:t> optimal kidney quality threshold that maximizes the patient's post-transplant utility</a:t>
            </a:r>
          </a:p>
          <a:p>
            <a:endParaRPr lang="en-US" dirty="0" smtClean="0"/>
          </a:p>
          <a:p>
            <a:r>
              <a:rPr lang="en-US" dirty="0" smtClean="0"/>
              <a:t> I maximize patient's post-transplant expected utility given constraints on distance $D$, budget $C$, and performance $P$. To formulate our multiple-listing problem, we define the binary variable $</a:t>
            </a:r>
            <a:r>
              <a:rPr lang="en-US" dirty="0" err="1" smtClean="0"/>
              <a:t>r_i</a:t>
            </a:r>
            <a:r>
              <a:rPr lang="en-US" dirty="0" smtClean="0"/>
              <a:t>$ which is equal to one if region $</a:t>
            </a:r>
            <a:r>
              <a:rPr lang="en-US" dirty="0" err="1" smtClean="0"/>
              <a:t>i</a:t>
            </a:r>
            <a:r>
              <a:rPr lang="en-US" dirty="0" smtClean="0"/>
              <a:t> \in I=\left \{ 1,2,..,11 \right \}$ is selected and 0 otherwise.</a:t>
            </a:r>
          </a:p>
          <a:p>
            <a:endParaRPr lang="en-US" dirty="0" smtClean="0"/>
          </a:p>
          <a:p>
            <a:endParaRPr lang="en-US" dirty="0" smtClean="0"/>
          </a:p>
          <a:p>
            <a:endParaRPr lang="en-US" dirty="0" smtClean="0"/>
          </a:p>
          <a:p>
            <a:endParaRPr lang="en-US" dirty="0" smtClean="0"/>
          </a:p>
          <a:p>
            <a:r>
              <a:rPr lang="en-US" dirty="0" smtClean="0"/>
              <a:t>#The first constraint makes sure that the solution satisfies the total budget $C$ of individual patient on the evaluation, traveling and loading expenses. </a:t>
            </a:r>
          </a:p>
          <a:p>
            <a:r>
              <a:rPr lang="en-US" dirty="0" smtClean="0"/>
              <a:t>#The second constraint considers the maximum distance $D$ the patient desires to travel.  </a:t>
            </a:r>
          </a:p>
          <a:p>
            <a:r>
              <a:rPr lang="en-US" dirty="0" smtClean="0"/>
              <a:t>#The third constraints consider patient's expectation from region's performance $P$ and finally the last constraint restricts the model to select only one region.</a:t>
            </a:r>
          </a:p>
          <a:p>
            <a:r>
              <a:rPr lang="en-US" dirty="0" smtClean="0"/>
              <a:t>We execute the optimization iteratively. At each run, the model finds the region that maximizes patient's expected post-transplant utility under the given constraints represented as the only 1 entry in the decision vector $r$. After each optimization run, we remove the selected region and update the remaining budget as $C=C-\sum_{</a:t>
            </a:r>
            <a:r>
              <a:rPr lang="en-US" dirty="0" err="1" smtClean="0"/>
              <a:t>i</a:t>
            </a:r>
            <a:r>
              <a:rPr lang="en-US" dirty="0" smtClean="0"/>
              <a:t> \in I}</a:t>
            </a:r>
            <a:r>
              <a:rPr lang="en-US" dirty="0" err="1" smtClean="0"/>
              <a:t>c_ir</a:t>
            </a:r>
            <a:r>
              <a:rPr lang="en-US" dirty="0" smtClean="0"/>
              <a:t>^*_</a:t>
            </a:r>
            <a:r>
              <a:rPr lang="en-US" dirty="0" err="1" smtClean="0"/>
              <a:t>i</a:t>
            </a:r>
            <a:r>
              <a:rPr lang="en-US" dirty="0" smtClean="0"/>
              <a:t>$ to find the next region. The model returns no region when it fails to find any region that satisfies the patient's constraints. The generated optimal solution at each run forms a list that provides multiple-listing options to the patient in a descending order of post-transplant expected utility. </a:t>
            </a:r>
          </a:p>
          <a:p>
            <a:endParaRPr lang="en-US" dirty="0" smtClean="0"/>
          </a:p>
        </p:txBody>
      </p:sp>
      <p:sp>
        <p:nvSpPr>
          <p:cNvPr id="4" name="Slide Number Placeholder 3"/>
          <p:cNvSpPr>
            <a:spLocks noGrp="1"/>
          </p:cNvSpPr>
          <p:nvPr>
            <p:ph type="sldNum" sz="quarter" idx="10"/>
          </p:nvPr>
        </p:nvSpPr>
        <p:spPr/>
        <p:txBody>
          <a:bodyPr/>
          <a:lstStyle/>
          <a:p>
            <a:pPr>
              <a:defRPr/>
            </a:pPr>
            <a:fld id="{39E17729-44CA-6748-867B-0A3F027C490D}" type="slidenum">
              <a:rPr lang="en-US" smtClean="0"/>
              <a:pPr>
                <a:defRPr/>
              </a:pPr>
              <a:t>17</a:t>
            </a:fld>
            <a:endParaRPr lang="en-US" dirty="0"/>
          </a:p>
        </p:txBody>
      </p:sp>
    </p:spTree>
    <p:extLst>
      <p:ext uri="{BB962C8B-B14F-4D97-AF65-F5344CB8AC3E}">
        <p14:creationId xmlns:p14="http://schemas.microsoft.com/office/powerpoint/2010/main" val="677581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 capture so many real world</a:t>
            </a:r>
            <a:r>
              <a:rPr lang="en-US" baseline="0" dirty="0" smtClean="0"/>
              <a:t> </a:t>
            </a:r>
            <a:r>
              <a:rPr lang="en-US" baseline="0" dirty="0" err="1" smtClean="0"/>
              <a:t>sittion</a:t>
            </a:r>
            <a:r>
              <a:rPr lang="en-US" baseline="0" dirty="0" smtClean="0"/>
              <a:t>  that happens in </a:t>
            </a:r>
            <a:r>
              <a:rPr lang="en-US" baseline="0" dirty="0" err="1" smtClean="0"/>
              <a:t>leindey</a:t>
            </a:r>
            <a:r>
              <a:rPr lang="en-US" baseline="0" dirty="0" smtClean="0"/>
              <a:t> allocation process and acceptance </a:t>
            </a:r>
            <a:r>
              <a:rPr lang="en-US" baseline="0" dirty="0" err="1" smtClean="0"/>
              <a:t>decsison</a:t>
            </a:r>
            <a:r>
              <a:rPr lang="en-US" baseline="0" dirty="0" smtClean="0"/>
              <a:t>.</a:t>
            </a:r>
            <a:endParaRPr lang="en-US" dirty="0" smtClean="0"/>
          </a:p>
          <a:p>
            <a:endParaRPr lang="en-US" dirty="0" smtClean="0"/>
          </a:p>
          <a:p>
            <a:r>
              <a:rPr lang="en-US" dirty="0" smtClean="0"/>
              <a:t>In the basic allocation system, when a new donor kidney becomes available, its quality $q_0$ is assessed and </a:t>
            </a:r>
          </a:p>
          <a:p>
            <a:r>
              <a:rPr lang="en-US" dirty="0" smtClean="0"/>
              <a:t>the kidney is simultaneously offered to a group of $g$ patients with a given window to decide. OPTN currently uses a group size of five and a time window of one hour.</a:t>
            </a:r>
          </a:p>
          <a:p>
            <a:r>
              <a:rPr lang="en-US" dirty="0" smtClean="0"/>
              <a:t>At the time of offer, the kidney has accumulated CIT $t$ and the quality is reduced to $</a:t>
            </a:r>
            <a:r>
              <a:rPr lang="en-US" dirty="0" err="1" smtClean="0"/>
              <a:t>q_t</a:t>
            </a:r>
            <a:r>
              <a:rPr lang="en-US" dirty="0" smtClean="0"/>
              <a:t>$.</a:t>
            </a:r>
          </a:p>
          <a:p>
            <a:r>
              <a:rPr lang="en-US" dirty="0" smtClean="0"/>
              <a:t>We model the decision by the patient and surgeon using a threshold strategy governed by </a:t>
            </a:r>
          </a:p>
          <a:p>
            <a:r>
              <a:rPr lang="en-US" dirty="0" smtClean="0"/>
              <a:t>rejecting the offer if $</a:t>
            </a:r>
            <a:r>
              <a:rPr lang="en-US" dirty="0" err="1" smtClean="0"/>
              <a:t>q_t</a:t>
            </a:r>
            <a:r>
              <a:rPr lang="en-US" dirty="0" smtClean="0"/>
              <a:t>&lt;k$, where $k$ is the set threshold. In case that the kidney meets the quality threshold (</a:t>
            </a:r>
            <a:r>
              <a:rPr lang="en-US" dirty="0" err="1" smtClean="0"/>
              <a:t>i.e</a:t>
            </a:r>
            <a:r>
              <a:rPr lang="en-US" dirty="0" smtClean="0"/>
              <a:t>, $</a:t>
            </a:r>
            <a:r>
              <a:rPr lang="en-US" dirty="0" err="1" smtClean="0"/>
              <a:t>q_t</a:t>
            </a:r>
            <a:r>
              <a:rPr lang="en-US" dirty="0" smtClean="0"/>
              <a:t> \</a:t>
            </a:r>
            <a:r>
              <a:rPr lang="en-US" dirty="0" err="1" smtClean="0"/>
              <a:t>ge</a:t>
            </a:r>
            <a:r>
              <a:rPr lang="en-US" dirty="0" smtClean="0"/>
              <a:t> k$),</a:t>
            </a:r>
          </a:p>
          <a:p>
            <a:r>
              <a:rPr lang="en-US" dirty="0" smtClean="0"/>
              <a:t>the offer will only be accepted with probability $p(\text{trans})$.</a:t>
            </a:r>
          </a:p>
          <a:p>
            <a:r>
              <a:rPr lang="en-US" dirty="0" smtClean="0"/>
              <a:t>This probability represents the fact that the patient or the surgeon may decide against the kidney for reasons</a:t>
            </a:r>
          </a:p>
          <a:p>
            <a:r>
              <a:rPr lang="en-US" dirty="0" smtClean="0"/>
              <a:t>not explained by purely kidney quality. Examples are that the patient is currently not available or that</a:t>
            </a:r>
          </a:p>
          <a:p>
            <a:r>
              <a:rPr lang="en-US" dirty="0" smtClean="0"/>
              <a:t>resources needed for the surgery cannot be provided in time.</a:t>
            </a:r>
          </a:p>
          <a:p>
            <a:r>
              <a:rPr lang="en-US" dirty="0" smtClean="0"/>
              <a:t>If nobody in the group of $g$ patients is able to accept the kidney after the </a:t>
            </a:r>
            <a:r>
              <a:rPr lang="en-US" dirty="0" err="1" smtClean="0"/>
              <a:t>alloted</a:t>
            </a:r>
            <a:r>
              <a:rPr lang="en-US" dirty="0" smtClean="0"/>
              <a:t> time, then</a:t>
            </a:r>
          </a:p>
          <a:p>
            <a:r>
              <a:rPr lang="en-US" dirty="0" smtClean="0"/>
              <a:t>the kidney is offered to the next group of $g$ patients on the waitlist. Over time, </a:t>
            </a:r>
          </a:p>
          <a:p>
            <a:r>
              <a:rPr lang="en-US" dirty="0" smtClean="0"/>
              <a:t>the kidney deteriorates. We model this deterioration as $</a:t>
            </a:r>
            <a:r>
              <a:rPr lang="en-US" dirty="0" err="1" smtClean="0"/>
              <a:t>q_t</a:t>
            </a:r>
            <a:r>
              <a:rPr lang="en-US" dirty="0" smtClean="0"/>
              <a:t> = q_0 (1-\delta)^t$, where </a:t>
            </a:r>
          </a:p>
          <a:p>
            <a:r>
              <a:rPr lang="en-US" dirty="0" smtClean="0"/>
              <a:t>$\delta$ is a deterioration factor and $t$ is</a:t>
            </a:r>
          </a:p>
          <a:p>
            <a:r>
              <a:rPr lang="en-US" dirty="0" smtClean="0"/>
              <a:t>the accumulated CIT in hours. </a:t>
            </a:r>
          </a:p>
          <a:p>
            <a:r>
              <a:rPr lang="en-US" dirty="0" smtClean="0"/>
              <a:t>For convenience, we measure time here as multiples of the time allowed for one round of offering.</a:t>
            </a:r>
          </a:p>
          <a:p>
            <a:r>
              <a:rPr lang="en-US" dirty="0" smtClean="0"/>
              <a:t>If the patients have one hour to decide, then $t$ represents accumulated CIT in hours.</a:t>
            </a:r>
          </a:p>
          <a:p>
            <a:r>
              <a:rPr lang="en-US" dirty="0" smtClean="0"/>
              <a:t>When $</a:t>
            </a:r>
            <a:r>
              <a:rPr lang="en-US" dirty="0" err="1" smtClean="0"/>
              <a:t>q_t</a:t>
            </a:r>
            <a:r>
              <a:rPr lang="en-US" dirty="0" smtClean="0"/>
              <a:t>$ becomes zero, then</a:t>
            </a:r>
          </a:p>
          <a:p>
            <a:r>
              <a:rPr lang="en-US" dirty="0" smtClean="0"/>
              <a:t>the kidney needs to be discarded.</a:t>
            </a:r>
          </a:p>
          <a:p>
            <a:endParaRPr lang="en-US" dirty="0" smtClean="0"/>
          </a:p>
          <a:p>
            <a:r>
              <a:rPr lang="en-US" dirty="0" smtClean="0"/>
              <a:t>Patients choose their decision threshold $k$. The threshold is influenced by the patient's health $h_0$,</a:t>
            </a:r>
          </a:p>
          <a:p>
            <a:r>
              <a:rPr lang="en-US" dirty="0" smtClean="0"/>
              <a:t>since a patient who has more time left on dialysis will be able to wait for a better quality kidney. We model</a:t>
            </a:r>
          </a:p>
          <a:p>
            <a:r>
              <a:rPr lang="en-US" dirty="0" smtClean="0"/>
              <a:t>this relationship by choosing $k$ for each patient from a random variable </a:t>
            </a:r>
          </a:p>
          <a:p>
            <a:r>
              <a:rPr lang="en-US" dirty="0" smtClean="0"/>
              <a:t>$K \sim \text{</a:t>
            </a:r>
            <a:r>
              <a:rPr lang="en-US" dirty="0" err="1" smtClean="0"/>
              <a:t>Unif</a:t>
            </a:r>
            <a:r>
              <a:rPr lang="en-US" dirty="0" smtClean="0"/>
              <a:t>(0,1)}$ </a:t>
            </a:r>
          </a:p>
          <a:p>
            <a:r>
              <a:rPr lang="en-US" dirty="0" smtClean="0"/>
              <a:t>which </a:t>
            </a:r>
          </a:p>
          <a:p>
            <a:r>
              <a:rPr lang="en-US" dirty="0" smtClean="0"/>
              <a:t>is correlated to the patient's $h_0$ with Spearman's rank correlation coefficient $\rho_{H,K}$.</a:t>
            </a:r>
          </a:p>
          <a:p>
            <a:endParaRPr lang="en-US" dirty="0" smtClean="0"/>
          </a:p>
          <a:p>
            <a:r>
              <a:rPr lang="en-US" dirty="0" smtClean="0"/>
              <a:t>A patient's post-transplant utility depends on the quality of the transplanted kidney $</a:t>
            </a:r>
            <a:r>
              <a:rPr lang="en-US" dirty="0" err="1" smtClean="0"/>
              <a:t>q_t</a:t>
            </a:r>
            <a:r>
              <a:rPr lang="en-US" dirty="0" smtClean="0"/>
              <a:t>$, patient's health when she joins the wait list $h_0$, and the remaining time she waits for the transplant since she receives the first offer $w$.</a:t>
            </a:r>
          </a:p>
          <a:p>
            <a:r>
              <a:rPr lang="en-US" dirty="0" smtClean="0"/>
              <a:t>We use</a:t>
            </a:r>
          </a:p>
          <a:p>
            <a:endParaRPr lang="en-US" dirty="0" smtClean="0"/>
          </a:p>
          <a:p>
            <a:r>
              <a:rPr lang="en-US" dirty="0" smtClean="0"/>
              <a:t>\begin{equation}\label{</a:t>
            </a:r>
            <a:r>
              <a:rPr lang="en-US" dirty="0" err="1" smtClean="0"/>
              <a:t>eq:Uc</a:t>
            </a:r>
            <a:r>
              <a:rPr lang="en-US" dirty="0" smtClean="0"/>
              <a:t>}</a:t>
            </a:r>
          </a:p>
          <a:p>
            <a:r>
              <a:rPr lang="en-US" dirty="0" smtClean="0"/>
              <a:t>U(</a:t>
            </a:r>
            <a:r>
              <a:rPr lang="en-US" dirty="0" err="1" smtClean="0"/>
              <a:t>q_t</a:t>
            </a:r>
            <a:r>
              <a:rPr lang="en-US" dirty="0" smtClean="0"/>
              <a:t>, h_0, w) = B(h_0, </a:t>
            </a:r>
            <a:r>
              <a:rPr lang="en-US" dirty="0" err="1" smtClean="0"/>
              <a:t>q_t</a:t>
            </a:r>
            <a:r>
              <a:rPr lang="en-US" dirty="0" smtClean="0"/>
              <a:t>)\; D(h_0, w),</a:t>
            </a:r>
          </a:p>
          <a:p>
            <a:r>
              <a:rPr lang="en-US" dirty="0" smtClean="0"/>
              <a:t>\end{equation} </a:t>
            </a:r>
          </a:p>
          <a:p>
            <a:r>
              <a:rPr lang="en-US" dirty="0" smtClean="0"/>
              <a:t>where $B(h_0, </a:t>
            </a:r>
            <a:r>
              <a:rPr lang="en-US" dirty="0" err="1" smtClean="0"/>
              <a:t>q_t</a:t>
            </a:r>
            <a:r>
              <a:rPr lang="en-US" dirty="0" smtClean="0"/>
              <a:t>)$ is the patients utility if she receives a kidney with quality $</a:t>
            </a:r>
            <a:r>
              <a:rPr lang="en-US" dirty="0" err="1" smtClean="0"/>
              <a:t>q_t</a:t>
            </a:r>
            <a:r>
              <a:rPr lang="en-US" dirty="0" smtClean="0"/>
              <a:t>$ right after she</a:t>
            </a:r>
          </a:p>
          <a:p>
            <a:r>
              <a:rPr lang="en-US" dirty="0" smtClean="0"/>
              <a:t>joins the waitlist without waiting. $D(\</a:t>
            </a:r>
            <a:r>
              <a:rPr lang="en-US" dirty="0" err="1" smtClean="0"/>
              <a:t>cdot</a:t>
            </a:r>
            <a:r>
              <a:rPr lang="en-US" dirty="0" smtClean="0"/>
              <a:t>)$ represents a cost in the form of degradation factor  </a:t>
            </a:r>
          </a:p>
          <a:p>
            <a:r>
              <a:rPr lang="en-US" dirty="0" smtClean="0"/>
              <a:t>due to waiting $w$ for the kidney.</a:t>
            </a:r>
          </a:p>
          <a:p>
            <a:r>
              <a:rPr lang="en-US" dirty="0" smtClean="0"/>
              <a:t>$B(\</a:t>
            </a:r>
            <a:r>
              <a:rPr lang="en-US" dirty="0" err="1" smtClean="0"/>
              <a:t>cdot</a:t>
            </a:r>
            <a:r>
              <a:rPr lang="en-US" dirty="0" smtClean="0"/>
              <a:t>)$ can be defined in the form of a logistic regression for survival proposed by Cox \</a:t>
            </a:r>
            <a:r>
              <a:rPr lang="en-US" dirty="0" err="1" smtClean="0"/>
              <a:t>citep</a:t>
            </a:r>
            <a:r>
              <a:rPr lang="en-US" dirty="0" smtClean="0"/>
              <a:t>{</a:t>
            </a:r>
            <a:r>
              <a:rPr lang="en-US" dirty="0" err="1" smtClean="0"/>
              <a:t>survival_models</a:t>
            </a:r>
            <a:r>
              <a:rPr lang="en-US" dirty="0" smtClean="0"/>
              <a:t>}. %http://data.princeton.edu/wws509/notes/c7.pdf,</a:t>
            </a:r>
          </a:p>
          <a:p>
            <a:r>
              <a:rPr lang="en-US" dirty="0" smtClean="0"/>
              <a:t>which models the conditional odds of dying at any time point given survival up to that point.</a:t>
            </a:r>
          </a:p>
          <a:p>
            <a:endParaRPr lang="en-US" dirty="0" smtClean="0"/>
          </a:p>
          <a:p>
            <a:r>
              <a:rPr lang="en-US" dirty="0" smtClean="0"/>
              <a:t>\begin{equation}\label{</a:t>
            </a:r>
            <a:r>
              <a:rPr lang="en-US" dirty="0" err="1" smtClean="0"/>
              <a:t>eq:Ub</a:t>
            </a:r>
            <a:r>
              <a:rPr lang="en-US" dirty="0" smtClean="0"/>
              <a:t>}</a:t>
            </a:r>
          </a:p>
          <a:p>
            <a:r>
              <a:rPr lang="en-US" dirty="0" smtClean="0"/>
              <a:t>B(h_0, </a:t>
            </a:r>
            <a:r>
              <a:rPr lang="en-US" dirty="0" err="1" smtClean="0"/>
              <a:t>q_t</a:t>
            </a:r>
            <a:r>
              <a:rPr lang="en-US" dirty="0" smtClean="0"/>
              <a:t>) = \</a:t>
            </a:r>
            <a:r>
              <a:rPr lang="en-US" dirty="0" err="1" smtClean="0"/>
              <a:t>frac</a:t>
            </a:r>
            <a:r>
              <a:rPr lang="en-US" dirty="0" smtClean="0"/>
              <a:t>{m(h_0)}{1 + </a:t>
            </a:r>
            <a:r>
              <a:rPr lang="en-US" dirty="0" err="1" smtClean="0"/>
              <a:t>exp</a:t>
            </a:r>
            <a:r>
              <a:rPr lang="en-US" dirty="0" smtClean="0"/>
              <a:t>(-\beta(</a:t>
            </a:r>
            <a:r>
              <a:rPr lang="en-US" dirty="0" err="1" smtClean="0"/>
              <a:t>q_t</a:t>
            </a:r>
            <a:r>
              <a:rPr lang="en-US" dirty="0" smtClean="0"/>
              <a:t> - \alpha))}, </a:t>
            </a:r>
          </a:p>
          <a:p>
            <a:r>
              <a:rPr lang="en-US" dirty="0" smtClean="0"/>
              <a:t>\end{equation}</a:t>
            </a:r>
          </a:p>
          <a:p>
            <a:r>
              <a:rPr lang="en-US" dirty="0" smtClean="0"/>
              <a:t>where $m(h_0)$ indicates the transplant outcome for a patient with health level $h_0$ who received a perfect kidney ($</a:t>
            </a:r>
            <a:r>
              <a:rPr lang="en-US" dirty="0" err="1" smtClean="0"/>
              <a:t>q_t</a:t>
            </a:r>
            <a:r>
              <a:rPr lang="en-US" dirty="0" smtClean="0"/>
              <a:t> = 1$) right after her first offer ($w = 0$).</a:t>
            </a:r>
          </a:p>
          <a:p>
            <a:r>
              <a:rPr lang="en-US" dirty="0" smtClean="0"/>
              <a:t>Natural, $m(h_0)$ is increasing with $h_0$.</a:t>
            </a:r>
          </a:p>
          <a:p>
            <a:r>
              <a:rPr lang="en-US" dirty="0" smtClean="0"/>
              <a:t>The benefit function therefore increases with patient's health $h_0$ and also kidney quality $q_0$, since  $\</a:t>
            </a:r>
            <a:r>
              <a:rPr lang="en-US" dirty="0" err="1" smtClean="0"/>
              <a:t>frac</a:t>
            </a:r>
            <a:r>
              <a:rPr lang="en-US" dirty="0" smtClean="0"/>
              <a:t>{\partial B(h_0, </a:t>
            </a:r>
            <a:r>
              <a:rPr lang="en-US" dirty="0" err="1" smtClean="0"/>
              <a:t>q_t</a:t>
            </a:r>
            <a:r>
              <a:rPr lang="en-US" dirty="0" smtClean="0"/>
              <a:t>)}{\partial </a:t>
            </a:r>
            <a:r>
              <a:rPr lang="en-US" dirty="0" err="1" smtClean="0"/>
              <a:t>q_t</a:t>
            </a:r>
            <a:r>
              <a:rPr lang="en-US" dirty="0" smtClean="0"/>
              <a:t>} &gt; 0$. </a:t>
            </a:r>
          </a:p>
          <a:p>
            <a:r>
              <a:rPr lang="en-US" dirty="0" smtClean="0"/>
              <a:t>For patient's health deterioration factor we use</a:t>
            </a:r>
          </a:p>
          <a:p>
            <a:endParaRPr lang="en-US" dirty="0" smtClean="0"/>
          </a:p>
          <a:p>
            <a:r>
              <a:rPr lang="en-US" dirty="0" smtClean="0"/>
              <a:t>\begin{equation}\label{</a:t>
            </a:r>
            <a:r>
              <a:rPr lang="en-US" dirty="0" err="1" smtClean="0"/>
              <a:t>eq:uc</a:t>
            </a:r>
            <a:r>
              <a:rPr lang="en-US" dirty="0" smtClean="0"/>
              <a:t>}</a:t>
            </a:r>
          </a:p>
          <a:p>
            <a:r>
              <a:rPr lang="en-US" dirty="0" smtClean="0"/>
              <a:t>D (h_0, w) = \left(1 -\</a:t>
            </a:r>
            <a:r>
              <a:rPr lang="en-US" dirty="0" err="1" smtClean="0"/>
              <a:t>frac</a:t>
            </a:r>
            <a:r>
              <a:rPr lang="en-US" dirty="0" smtClean="0"/>
              <a:t>{w}{h_0}\right)^\gamma.</a:t>
            </a:r>
          </a:p>
          <a:p>
            <a:r>
              <a:rPr lang="en-US" dirty="0" smtClean="0"/>
              <a:t>\end{equation}</a:t>
            </a:r>
          </a:p>
          <a:p>
            <a:endParaRPr lang="en-US" dirty="0" smtClean="0"/>
          </a:p>
          <a:p>
            <a:r>
              <a:rPr lang="en-US" dirty="0" smtClean="0"/>
              <a:t>The  deterioration factor in Equation~\ref{</a:t>
            </a:r>
            <a:r>
              <a:rPr lang="en-US" dirty="0" err="1" smtClean="0"/>
              <a:t>eq:uc</a:t>
            </a:r>
            <a:r>
              <a:rPr lang="en-US" dirty="0" smtClean="0"/>
              <a:t>} equals one when the wait time </a:t>
            </a:r>
          </a:p>
          <a:p>
            <a:r>
              <a:rPr lang="en-US" dirty="0" smtClean="0"/>
              <a:t>is zero ($w = 0$). It emphasizes that by accepting the first offer, the patient terminates her health deterioration. </a:t>
            </a:r>
          </a:p>
          <a:p>
            <a:r>
              <a:rPr lang="en-US" dirty="0" smtClean="0"/>
              <a:t>On the other hand, if the patient decides to wait for a very high-quality kidney, she cannot survive longer than $w=h_0$. In that case, equation~\ref{</a:t>
            </a:r>
            <a:r>
              <a:rPr lang="en-US" dirty="0" err="1" smtClean="0"/>
              <a:t>eq:uc</a:t>
            </a:r>
            <a:r>
              <a:rPr lang="en-US" dirty="0" smtClean="0"/>
              <a:t>} becomes zero. %which LSO means zero utility from receiving a kidney transplant. </a:t>
            </a:r>
          </a:p>
          <a:p>
            <a:r>
              <a:rPr lang="en-US" dirty="0" smtClean="0"/>
              <a:t>In equation \ref{</a:t>
            </a:r>
            <a:r>
              <a:rPr lang="en-US" dirty="0" err="1" smtClean="0"/>
              <a:t>eq:uc</a:t>
            </a:r>
            <a:r>
              <a:rPr lang="en-US" dirty="0" smtClean="0"/>
              <a:t>}, $\gamma$ </a:t>
            </a:r>
          </a:p>
          <a:p>
            <a:r>
              <a:rPr lang="en-US" dirty="0" smtClean="0"/>
              <a:t>controls the rate of  deterioration. For $\gamma = 1$ the deterioration is linear,</a:t>
            </a:r>
          </a:p>
          <a:p>
            <a:r>
              <a:rPr lang="en-US" dirty="0" smtClean="0"/>
              <a:t>$\gamma &gt; 1$ results in initially faster  deterioration and for $\gamma &lt; 1$</a:t>
            </a:r>
          </a:p>
          <a:p>
            <a:r>
              <a:rPr lang="en-US" dirty="0" smtClean="0"/>
              <a:t>the  deterioration is initially slower and then speeds up.</a:t>
            </a:r>
            <a:endParaRPr lang="en-US" dirty="0"/>
          </a:p>
        </p:txBody>
      </p:sp>
      <p:sp>
        <p:nvSpPr>
          <p:cNvPr id="4" name="Slide Number Placeholder 3"/>
          <p:cNvSpPr>
            <a:spLocks noGrp="1"/>
          </p:cNvSpPr>
          <p:nvPr>
            <p:ph type="sldNum" sz="quarter" idx="10"/>
          </p:nvPr>
        </p:nvSpPr>
        <p:spPr/>
        <p:txBody>
          <a:bodyPr/>
          <a:lstStyle/>
          <a:p>
            <a:pPr>
              <a:defRPr/>
            </a:pPr>
            <a:fld id="{39E17729-44CA-6748-867B-0A3F027C490D}" type="slidenum">
              <a:rPr lang="en-US" smtClean="0"/>
              <a:pPr>
                <a:defRPr/>
              </a:pPr>
              <a:t>18</a:t>
            </a:fld>
            <a:endParaRPr lang="en-US" dirty="0"/>
          </a:p>
        </p:txBody>
      </p:sp>
    </p:spTree>
    <p:extLst>
      <p:ext uri="{BB962C8B-B14F-4D97-AF65-F5344CB8AC3E}">
        <p14:creationId xmlns:p14="http://schemas.microsoft.com/office/powerpoint/2010/main" val="38607521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 use</a:t>
            </a:r>
            <a:r>
              <a:rPr lang="en-US" baseline="0" dirty="0" smtClean="0"/>
              <a:t> simulation and integer programing model to find out an optimal region selection policy under budget, distance and performance constraints? </a:t>
            </a:r>
            <a:r>
              <a:rPr lang="en-US" dirty="0" smtClean="0"/>
              <a:t>And</a:t>
            </a:r>
            <a:r>
              <a:rPr lang="en-US" baseline="0" dirty="0" smtClean="0"/>
              <a:t> also I show the optimal kidney acceptance decision at any  region. and finally I use the simulation model to show the impact of information sharing on improving  kidney discard </a:t>
            </a:r>
            <a:r>
              <a:rPr lang="en-US" baseline="0" smtClean="0"/>
              <a:t>rate and social </a:t>
            </a:r>
            <a:r>
              <a:rPr lang="en-US" baseline="0" dirty="0" smtClean="0"/>
              <a:t>welfare utility.</a:t>
            </a:r>
            <a:endParaRPr lang="en-US" dirty="0"/>
          </a:p>
        </p:txBody>
      </p:sp>
      <p:sp>
        <p:nvSpPr>
          <p:cNvPr id="4" name="Slide Number Placeholder 3"/>
          <p:cNvSpPr>
            <a:spLocks noGrp="1"/>
          </p:cNvSpPr>
          <p:nvPr>
            <p:ph type="sldNum" sz="quarter" idx="10"/>
          </p:nvPr>
        </p:nvSpPr>
        <p:spPr/>
        <p:txBody>
          <a:bodyPr/>
          <a:lstStyle/>
          <a:p>
            <a:pPr>
              <a:defRPr/>
            </a:pPr>
            <a:fld id="{39E17729-44CA-6748-867B-0A3F027C490D}" type="slidenum">
              <a:rPr lang="en-US" smtClean="0"/>
              <a:pPr>
                <a:defRPr/>
              </a:pPr>
              <a:t>19</a:t>
            </a:fld>
            <a:endParaRPr lang="en-US" dirty="0"/>
          </a:p>
        </p:txBody>
      </p:sp>
    </p:spTree>
    <p:extLst>
      <p:ext uri="{BB962C8B-B14F-4D97-AF65-F5344CB8AC3E}">
        <p14:creationId xmlns:p14="http://schemas.microsoft.com/office/powerpoint/2010/main" val="12518975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a:t>
            </a:r>
            <a:r>
              <a:rPr lang="en-US" baseline="0" dirty="0" smtClean="0"/>
              <a:t> </a:t>
            </a:r>
            <a:r>
              <a:rPr lang="en-US" dirty="0" smtClean="0"/>
              <a:t>show the impact of information sharing expressed in the form of group size, which reflects how many patients on the waitlist can effectively be considered per hour. </a:t>
            </a:r>
            <a:r>
              <a:rPr lang="en-US" b="1" dirty="0" smtClean="0"/>
              <a:t>At the baseline group size of five</a:t>
            </a:r>
            <a:r>
              <a:rPr lang="en-US" dirty="0" smtClean="0"/>
              <a:t>, the average quality of accepted kidney is 0.66 which leads to receiving the average utility of 10.76 years per transplanted patient. </a:t>
            </a:r>
            <a:r>
              <a:rPr lang="en-US" b="1" dirty="0" smtClean="0"/>
              <a:t>The kidney can travel as far as 45 patients on the waitlist and is accepted on average by the 6th patient who waited 3.84 years</a:t>
            </a:r>
            <a:r>
              <a:rPr lang="en-US" dirty="0" smtClean="0"/>
              <a:t>. Table~\ref{rate} presents kidney utilization and waitlist mortality rate in addition to the transplant rate. The kidney utilization rate increases significantly as the group size of patients expands.</a:t>
            </a:r>
          </a:p>
          <a:p>
            <a:endParaRPr lang="en-US" dirty="0" smtClean="0"/>
          </a:p>
          <a:p>
            <a:r>
              <a:rPr lang="en-US" sz="1200" b="0" i="0" kern="1200" dirty="0" smtClean="0">
                <a:solidFill>
                  <a:schemeClr val="tx1"/>
                </a:solidFill>
                <a:effectLst/>
                <a:latin typeface="+mn-lt"/>
                <a:ea typeface="ＭＳ Ｐゴシック" charset="0"/>
                <a:cs typeface="ＭＳ Ｐゴシック" charset="0"/>
              </a:rPr>
              <a:t>Due to information sharing, kidney can be allocated more efficiently. In</a:t>
            </a:r>
            <a:r>
              <a:rPr lang="en-US" dirty="0" smtClean="0"/>
              <a:t/>
            </a:r>
            <a:br>
              <a:rPr lang="en-US" dirty="0" smtClean="0"/>
            </a:br>
            <a:r>
              <a:rPr lang="en-US" sz="1200" b="0" i="0" kern="1200" dirty="0" smtClean="0">
                <a:solidFill>
                  <a:schemeClr val="tx1"/>
                </a:solidFill>
                <a:effectLst/>
                <a:latin typeface="+mn-lt"/>
                <a:ea typeface="ＭＳ Ｐゴシック" charset="0"/>
                <a:cs typeface="ＭＳ Ｐゴシック" charset="0"/>
              </a:rPr>
              <a:t>the simulation this is represented by an increase of the offer group </a:t>
            </a:r>
            <a:r>
              <a:rPr lang="en-US" dirty="0" smtClean="0"/>
              <a:t/>
            </a:r>
            <a:br>
              <a:rPr lang="en-US" dirty="0" smtClean="0"/>
            </a:br>
            <a:r>
              <a:rPr lang="en-US" sz="1200" b="0" i="0" kern="1200" dirty="0" smtClean="0">
                <a:solidFill>
                  <a:schemeClr val="tx1"/>
                </a:solidFill>
                <a:effectLst/>
                <a:latin typeface="+mn-lt"/>
                <a:ea typeface="ＭＳ Ｐゴシック" charset="0"/>
                <a:cs typeface="ＭＳ Ｐゴシック" charset="0"/>
              </a:rPr>
              <a:t>size g, i.e., the number of candidates that can be considered per hour. </a:t>
            </a:r>
            <a:r>
              <a:rPr lang="en-US" dirty="0" smtClean="0"/>
              <a:t/>
            </a:r>
            <a:br>
              <a:rPr lang="en-US" dirty="0" smtClean="0"/>
            </a:br>
            <a:r>
              <a:rPr lang="en-US" sz="1200" b="0" i="0" kern="1200" dirty="0" smtClean="0">
                <a:solidFill>
                  <a:schemeClr val="tx1"/>
                </a:solidFill>
                <a:effectLst/>
                <a:latin typeface="+mn-lt"/>
                <a:ea typeface="ＭＳ Ｐゴシック" charset="0"/>
                <a:cs typeface="ＭＳ Ｐゴシック" charset="0"/>
              </a:rPr>
              <a:t>More efficient kidney allocation can reduce CIT and as a result has a </a:t>
            </a:r>
            <a:r>
              <a:rPr lang="en-US" dirty="0" smtClean="0"/>
              <a:t/>
            </a:r>
            <a:br>
              <a:rPr lang="en-US" dirty="0" smtClean="0"/>
            </a:br>
            <a:r>
              <a:rPr lang="en-US" sz="1200" b="0" i="0" kern="1200" dirty="0" smtClean="0">
                <a:solidFill>
                  <a:schemeClr val="tx1"/>
                </a:solidFill>
                <a:effectLst/>
                <a:latin typeface="+mn-lt"/>
                <a:ea typeface="ＭＳ Ｐゴシック" charset="0"/>
                <a:cs typeface="ＭＳ Ｐゴシック" charset="0"/>
              </a:rPr>
              <a:t>positive effect on the utility of accepted kidneys, and also reduces the </a:t>
            </a:r>
            <a:r>
              <a:rPr lang="en-US" dirty="0" smtClean="0"/>
              <a:t/>
            </a:r>
            <a:br>
              <a:rPr lang="en-US" dirty="0" smtClean="0"/>
            </a:br>
            <a:r>
              <a:rPr lang="en-US" sz="1200" b="0" i="0" kern="1200" dirty="0" smtClean="0">
                <a:solidFill>
                  <a:schemeClr val="tx1"/>
                </a:solidFill>
                <a:effectLst/>
                <a:latin typeface="+mn-lt"/>
                <a:ea typeface="ＭＳ Ｐゴシック" charset="0"/>
                <a:cs typeface="ＭＳ Ｐゴシック" charset="0"/>
              </a:rPr>
              <a:t>discard rate. The simulation results show that an increase in g also </a:t>
            </a:r>
            <a:r>
              <a:rPr lang="en-US" dirty="0" smtClean="0"/>
              <a:t/>
            </a:r>
            <a:br>
              <a:rPr lang="en-US" dirty="0" smtClean="0"/>
            </a:br>
            <a:r>
              <a:rPr lang="en-US" sz="1200" b="0" i="0" kern="1200" dirty="0" smtClean="0">
                <a:solidFill>
                  <a:schemeClr val="tx1"/>
                </a:solidFill>
                <a:effectLst/>
                <a:latin typeface="+mn-lt"/>
                <a:ea typeface="ＭＳ Ｐゴシック" charset="0"/>
                <a:cs typeface="ＭＳ Ｐゴシック" charset="0"/>
              </a:rPr>
              <a:t>increases the number of performed transplantations and in turn increases </a:t>
            </a:r>
            <a:r>
              <a:rPr lang="en-US" dirty="0" smtClean="0"/>
              <a:t/>
            </a:r>
            <a:br>
              <a:rPr lang="en-US" dirty="0" smtClean="0"/>
            </a:br>
            <a:r>
              <a:rPr lang="en-US" sz="1200" b="0" i="0" kern="1200" dirty="0" smtClean="0">
                <a:solidFill>
                  <a:schemeClr val="tx1"/>
                </a:solidFill>
                <a:effectLst/>
                <a:latin typeface="+mn-lt"/>
                <a:ea typeface="ＭＳ Ｐゴシック" charset="0"/>
                <a:cs typeface="ＭＳ Ｐゴシック" charset="0"/>
              </a:rPr>
              <a:t>the overall utility for the whole system. We observe a decrease in the </a:t>
            </a:r>
            <a:r>
              <a:rPr lang="en-US" dirty="0" smtClean="0"/>
              <a:t/>
            </a:r>
            <a:br>
              <a:rPr lang="en-US" dirty="0" smtClean="0"/>
            </a:br>
            <a:r>
              <a:rPr lang="en-US" sz="1200" b="0" i="0" kern="1200" dirty="0" smtClean="0">
                <a:solidFill>
                  <a:schemeClr val="tx1"/>
                </a:solidFill>
                <a:effectLst/>
                <a:latin typeface="+mn-lt"/>
                <a:ea typeface="ＭＳ Ｐゴシック" charset="0"/>
                <a:cs typeface="ＭＳ Ｐゴシック" charset="0"/>
              </a:rPr>
              <a:t>average utility per transplant, however, this does not mean that patient </a:t>
            </a:r>
            <a:r>
              <a:rPr lang="en-US" dirty="0" smtClean="0"/>
              <a:t/>
            </a:r>
            <a:br>
              <a:rPr lang="en-US" dirty="0" smtClean="0"/>
            </a:br>
            <a:r>
              <a:rPr lang="en-US" sz="1200" b="0" i="0" kern="1200" dirty="0" smtClean="0">
                <a:solidFill>
                  <a:schemeClr val="tx1"/>
                </a:solidFill>
                <a:effectLst/>
                <a:latin typeface="+mn-lt"/>
                <a:ea typeface="ＭＳ Ｐゴシック" charset="0"/>
                <a:cs typeface="ＭＳ Ｐゴシック" charset="0"/>
              </a:rPr>
              <a:t>are now worse off. It merely reflects that we now can also utilize </a:t>
            </a:r>
            <a:r>
              <a:rPr lang="en-US" dirty="0" smtClean="0"/>
              <a:t/>
            </a:r>
            <a:br>
              <a:rPr lang="en-US" dirty="0" smtClean="0"/>
            </a:br>
            <a:r>
              <a:rPr lang="en-US" sz="1200" b="0" i="0" kern="1200" dirty="0" smtClean="0">
                <a:solidFill>
                  <a:schemeClr val="tx1"/>
                </a:solidFill>
                <a:effectLst/>
                <a:latin typeface="+mn-lt"/>
                <a:ea typeface="ＭＳ Ｐゴシック" charset="0"/>
                <a:cs typeface="ＭＳ Ｐゴシック" charset="0"/>
              </a:rPr>
              <a:t>lower-quality kidneys and average over a larger number of lower-utility </a:t>
            </a:r>
            <a:r>
              <a:rPr lang="en-US" dirty="0" smtClean="0"/>
              <a:t/>
            </a:r>
            <a:br>
              <a:rPr lang="en-US" dirty="0" smtClean="0"/>
            </a:br>
            <a:r>
              <a:rPr lang="en-US" sz="1200" b="0" i="0" kern="1200" dirty="0" smtClean="0">
                <a:solidFill>
                  <a:schemeClr val="tx1"/>
                </a:solidFill>
                <a:effectLst/>
                <a:latin typeface="+mn-lt"/>
                <a:ea typeface="ＭＳ Ｐゴシック" charset="0"/>
                <a:cs typeface="ＭＳ Ｐゴシック" charset="0"/>
              </a:rPr>
              <a:t>patients who were not able to receive a transplant before.</a:t>
            </a:r>
            <a:endParaRPr lang="en-US" dirty="0"/>
          </a:p>
        </p:txBody>
      </p:sp>
      <p:sp>
        <p:nvSpPr>
          <p:cNvPr id="4" name="Slide Number Placeholder 3"/>
          <p:cNvSpPr>
            <a:spLocks noGrp="1"/>
          </p:cNvSpPr>
          <p:nvPr>
            <p:ph type="sldNum" sz="quarter" idx="10"/>
          </p:nvPr>
        </p:nvSpPr>
        <p:spPr/>
        <p:txBody>
          <a:bodyPr/>
          <a:lstStyle/>
          <a:p>
            <a:pPr>
              <a:defRPr/>
            </a:pPr>
            <a:fld id="{39E17729-44CA-6748-867B-0A3F027C490D}" type="slidenum">
              <a:rPr lang="en-US" smtClean="0"/>
              <a:pPr>
                <a:defRPr/>
              </a:pPr>
              <a:t>20</a:t>
            </a:fld>
            <a:endParaRPr lang="en-US" dirty="0"/>
          </a:p>
        </p:txBody>
      </p:sp>
    </p:spTree>
    <p:extLst>
      <p:ext uri="{BB962C8B-B14F-4D97-AF65-F5344CB8AC3E}">
        <p14:creationId xmlns:p14="http://schemas.microsoft.com/office/powerpoint/2010/main" val="3182799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the basic allocation system, when a new donor kidney becomes available, its quality $q_0$ is assessed and </a:t>
            </a:r>
          </a:p>
          <a:p>
            <a:r>
              <a:rPr lang="en-US" dirty="0" smtClean="0"/>
              <a:t>the kidney is simultaneously offered to a group of $g$ patients with a given window to decide. OPTN currently uses a group size of five and a time window of one hour.</a:t>
            </a:r>
          </a:p>
          <a:p>
            <a:r>
              <a:rPr lang="en-US" dirty="0" smtClean="0"/>
              <a:t>At the time of offer, the kidney has accumulated CIT $t$ and the quality is reduced to $</a:t>
            </a:r>
            <a:r>
              <a:rPr lang="en-US" dirty="0" err="1" smtClean="0"/>
              <a:t>q_t</a:t>
            </a:r>
            <a:r>
              <a:rPr lang="en-US" dirty="0" smtClean="0"/>
              <a:t>$.</a:t>
            </a:r>
          </a:p>
          <a:p>
            <a:r>
              <a:rPr lang="en-US" dirty="0" smtClean="0"/>
              <a:t>We model the decision by the patient and surgeon using a threshold strategy governed by </a:t>
            </a:r>
          </a:p>
          <a:p>
            <a:r>
              <a:rPr lang="en-US" dirty="0" smtClean="0"/>
              <a:t>rejecting the offer if $</a:t>
            </a:r>
            <a:r>
              <a:rPr lang="en-US" dirty="0" err="1" smtClean="0"/>
              <a:t>q_t</a:t>
            </a:r>
            <a:r>
              <a:rPr lang="en-US" dirty="0" smtClean="0"/>
              <a:t>&lt;k$, where $k$ is the set threshold. In case that the kidney meets the quality threshold (</a:t>
            </a:r>
            <a:r>
              <a:rPr lang="en-US" dirty="0" err="1" smtClean="0"/>
              <a:t>i.e</a:t>
            </a:r>
            <a:r>
              <a:rPr lang="en-US" dirty="0" smtClean="0"/>
              <a:t>, $</a:t>
            </a:r>
            <a:r>
              <a:rPr lang="en-US" dirty="0" err="1" smtClean="0"/>
              <a:t>q_t</a:t>
            </a:r>
            <a:r>
              <a:rPr lang="en-US" dirty="0" smtClean="0"/>
              <a:t> \</a:t>
            </a:r>
            <a:r>
              <a:rPr lang="en-US" dirty="0" err="1" smtClean="0"/>
              <a:t>ge</a:t>
            </a:r>
            <a:r>
              <a:rPr lang="en-US" dirty="0" smtClean="0"/>
              <a:t> k$),</a:t>
            </a:r>
          </a:p>
          <a:p>
            <a:r>
              <a:rPr lang="en-US" dirty="0" smtClean="0"/>
              <a:t>the offer will only be accepted with probability $p(\text{trans})$.</a:t>
            </a:r>
          </a:p>
          <a:p>
            <a:r>
              <a:rPr lang="en-US" dirty="0" smtClean="0"/>
              <a:t>This probability represents the fact that the patient or the surgeon may decide against the kidney for reasons</a:t>
            </a:r>
          </a:p>
          <a:p>
            <a:r>
              <a:rPr lang="en-US" dirty="0" smtClean="0"/>
              <a:t>not explained by purely kidney quality. Examples are that the patient is currently not available or that</a:t>
            </a:r>
          </a:p>
          <a:p>
            <a:r>
              <a:rPr lang="en-US" dirty="0" smtClean="0"/>
              <a:t>resources needed for the surgery cannot be provided in time.</a:t>
            </a:r>
          </a:p>
          <a:p>
            <a:r>
              <a:rPr lang="en-US" dirty="0" smtClean="0"/>
              <a:t>If nobody in the group of $g$ patients is able to accept the kidney after the </a:t>
            </a:r>
            <a:r>
              <a:rPr lang="en-US" dirty="0" err="1" smtClean="0"/>
              <a:t>alloted</a:t>
            </a:r>
            <a:r>
              <a:rPr lang="en-US" dirty="0" smtClean="0"/>
              <a:t> time, then</a:t>
            </a:r>
          </a:p>
          <a:p>
            <a:r>
              <a:rPr lang="en-US" dirty="0" smtClean="0"/>
              <a:t>the kidney is offered to the next group of $g$ patients on the waitlist. Over time, </a:t>
            </a:r>
          </a:p>
          <a:p>
            <a:r>
              <a:rPr lang="en-US" dirty="0" smtClean="0"/>
              <a:t>the kidney deteriorates. We model this deterioration as $</a:t>
            </a:r>
            <a:r>
              <a:rPr lang="en-US" dirty="0" err="1" smtClean="0"/>
              <a:t>q_t</a:t>
            </a:r>
            <a:r>
              <a:rPr lang="en-US" dirty="0" smtClean="0"/>
              <a:t> = q_0 (1-\delta)^t$, where </a:t>
            </a:r>
          </a:p>
          <a:p>
            <a:r>
              <a:rPr lang="en-US" dirty="0" smtClean="0"/>
              <a:t>$\delta$ is a deterioration factor and $t$ is</a:t>
            </a:r>
          </a:p>
          <a:p>
            <a:r>
              <a:rPr lang="en-US" dirty="0" smtClean="0"/>
              <a:t>the accumulated CIT in hours. </a:t>
            </a:r>
          </a:p>
          <a:p>
            <a:r>
              <a:rPr lang="en-US" dirty="0" smtClean="0"/>
              <a:t>For convenience, we measure time here as multiples of the time allowed for one round of offering.</a:t>
            </a:r>
          </a:p>
          <a:p>
            <a:r>
              <a:rPr lang="en-US" dirty="0" smtClean="0"/>
              <a:t>If the patients have one hour to decide, then $t$ represents accumulated CIT in hours.</a:t>
            </a:r>
          </a:p>
          <a:p>
            <a:r>
              <a:rPr lang="en-US" dirty="0" smtClean="0"/>
              <a:t>When $</a:t>
            </a:r>
            <a:r>
              <a:rPr lang="en-US" dirty="0" err="1" smtClean="0"/>
              <a:t>q_t</a:t>
            </a:r>
            <a:r>
              <a:rPr lang="en-US" dirty="0" smtClean="0"/>
              <a:t>$ becomes zero, then</a:t>
            </a:r>
          </a:p>
          <a:p>
            <a:r>
              <a:rPr lang="en-US" dirty="0" smtClean="0"/>
              <a:t>the kidney needs to be discarded.</a:t>
            </a:r>
          </a:p>
          <a:p>
            <a:endParaRPr lang="en-US" dirty="0" smtClean="0"/>
          </a:p>
          <a:p>
            <a:r>
              <a:rPr lang="en-US" dirty="0" smtClean="0"/>
              <a:t>Patients choose their decision threshold $k$. The threshold is influenced by the patient's health $h_0$,</a:t>
            </a:r>
          </a:p>
          <a:p>
            <a:r>
              <a:rPr lang="en-US" dirty="0" smtClean="0"/>
              <a:t>since a patient who has more time left on dialysis will be able to wait for a better quality kidney. We model</a:t>
            </a:r>
          </a:p>
          <a:p>
            <a:r>
              <a:rPr lang="en-US" dirty="0" smtClean="0"/>
              <a:t>this relationship by choosing $k$ for each patient from a random variable </a:t>
            </a:r>
          </a:p>
          <a:p>
            <a:r>
              <a:rPr lang="en-US" dirty="0" smtClean="0"/>
              <a:t>$K \sim \text{</a:t>
            </a:r>
            <a:r>
              <a:rPr lang="en-US" dirty="0" err="1" smtClean="0"/>
              <a:t>Unif</a:t>
            </a:r>
            <a:r>
              <a:rPr lang="en-US" dirty="0" smtClean="0"/>
              <a:t>(0,1)}$ </a:t>
            </a:r>
          </a:p>
          <a:p>
            <a:r>
              <a:rPr lang="en-US" dirty="0" smtClean="0"/>
              <a:t>which </a:t>
            </a:r>
          </a:p>
          <a:p>
            <a:r>
              <a:rPr lang="en-US" dirty="0" smtClean="0"/>
              <a:t>is correlated to the patient's $h_0$ with Spearman's rank correlation coefficient $\rho_{H,K}$.</a:t>
            </a:r>
          </a:p>
          <a:p>
            <a:endParaRPr lang="en-US" dirty="0" smtClean="0"/>
          </a:p>
          <a:p>
            <a:r>
              <a:rPr lang="en-US" dirty="0" smtClean="0"/>
              <a:t>A patient's post-transplant utility depends on the quality of the transplanted kidney $</a:t>
            </a:r>
            <a:r>
              <a:rPr lang="en-US" dirty="0" err="1" smtClean="0"/>
              <a:t>q_t</a:t>
            </a:r>
            <a:r>
              <a:rPr lang="en-US" dirty="0" smtClean="0"/>
              <a:t>$, patient's health when she joins the wait list $h_0$, and the remaining time she waits for the transplant since she receives the first offer $w$.</a:t>
            </a:r>
          </a:p>
          <a:p>
            <a:r>
              <a:rPr lang="en-US" dirty="0" smtClean="0"/>
              <a:t>We use</a:t>
            </a:r>
          </a:p>
          <a:p>
            <a:endParaRPr lang="en-US" dirty="0" smtClean="0"/>
          </a:p>
          <a:p>
            <a:r>
              <a:rPr lang="en-US" dirty="0" smtClean="0"/>
              <a:t>\begin{equation}\label{</a:t>
            </a:r>
            <a:r>
              <a:rPr lang="en-US" dirty="0" err="1" smtClean="0"/>
              <a:t>eq:Uc</a:t>
            </a:r>
            <a:r>
              <a:rPr lang="en-US" dirty="0" smtClean="0"/>
              <a:t>}</a:t>
            </a:r>
          </a:p>
          <a:p>
            <a:r>
              <a:rPr lang="en-US" dirty="0" smtClean="0"/>
              <a:t>U(</a:t>
            </a:r>
            <a:r>
              <a:rPr lang="en-US" dirty="0" err="1" smtClean="0"/>
              <a:t>q_t</a:t>
            </a:r>
            <a:r>
              <a:rPr lang="en-US" dirty="0" smtClean="0"/>
              <a:t>, h_0, w) = B(h_0, </a:t>
            </a:r>
            <a:r>
              <a:rPr lang="en-US" dirty="0" err="1" smtClean="0"/>
              <a:t>q_t</a:t>
            </a:r>
            <a:r>
              <a:rPr lang="en-US" dirty="0" smtClean="0"/>
              <a:t>)\; D(h_0, w),</a:t>
            </a:r>
          </a:p>
          <a:p>
            <a:r>
              <a:rPr lang="en-US" dirty="0" smtClean="0"/>
              <a:t>\end{equation} </a:t>
            </a:r>
          </a:p>
          <a:p>
            <a:r>
              <a:rPr lang="en-US" dirty="0" smtClean="0"/>
              <a:t>where $B(h_0, </a:t>
            </a:r>
            <a:r>
              <a:rPr lang="en-US" dirty="0" err="1" smtClean="0"/>
              <a:t>q_t</a:t>
            </a:r>
            <a:r>
              <a:rPr lang="en-US" dirty="0" smtClean="0"/>
              <a:t>)$ is the patients utility if she receives a kidney with quality $</a:t>
            </a:r>
            <a:r>
              <a:rPr lang="en-US" dirty="0" err="1" smtClean="0"/>
              <a:t>q_t</a:t>
            </a:r>
            <a:r>
              <a:rPr lang="en-US" dirty="0" smtClean="0"/>
              <a:t>$ right after she</a:t>
            </a:r>
          </a:p>
          <a:p>
            <a:r>
              <a:rPr lang="en-US" dirty="0" smtClean="0"/>
              <a:t>joins the waitlist without waiting. $D(\</a:t>
            </a:r>
            <a:r>
              <a:rPr lang="en-US" dirty="0" err="1" smtClean="0"/>
              <a:t>cdot</a:t>
            </a:r>
            <a:r>
              <a:rPr lang="en-US" dirty="0" smtClean="0"/>
              <a:t>)$ represents a cost in the form of degradation factor  </a:t>
            </a:r>
          </a:p>
          <a:p>
            <a:r>
              <a:rPr lang="en-US" dirty="0" smtClean="0"/>
              <a:t>due to waiting $w$ for the kidney.</a:t>
            </a:r>
          </a:p>
          <a:p>
            <a:r>
              <a:rPr lang="en-US" dirty="0" smtClean="0"/>
              <a:t>$B(\</a:t>
            </a:r>
            <a:r>
              <a:rPr lang="en-US" dirty="0" err="1" smtClean="0"/>
              <a:t>cdot</a:t>
            </a:r>
            <a:r>
              <a:rPr lang="en-US" dirty="0" smtClean="0"/>
              <a:t>)$ can be defined in the form of a logistic regression for survival proposed by Cox \</a:t>
            </a:r>
            <a:r>
              <a:rPr lang="en-US" dirty="0" err="1" smtClean="0"/>
              <a:t>citep</a:t>
            </a:r>
            <a:r>
              <a:rPr lang="en-US" dirty="0" smtClean="0"/>
              <a:t>{</a:t>
            </a:r>
            <a:r>
              <a:rPr lang="en-US" dirty="0" err="1" smtClean="0"/>
              <a:t>survival_models</a:t>
            </a:r>
            <a:r>
              <a:rPr lang="en-US" dirty="0" smtClean="0"/>
              <a:t>}. %http://data.princeton.edu/wws509/notes/c7.pdf,</a:t>
            </a:r>
          </a:p>
          <a:p>
            <a:r>
              <a:rPr lang="en-US" dirty="0" smtClean="0"/>
              <a:t>which models the conditional odds of dying at any time point given survival up to that point.</a:t>
            </a:r>
          </a:p>
          <a:p>
            <a:endParaRPr lang="en-US" dirty="0" smtClean="0"/>
          </a:p>
          <a:p>
            <a:r>
              <a:rPr lang="en-US" dirty="0" smtClean="0"/>
              <a:t>\begin{equation}\label{</a:t>
            </a:r>
            <a:r>
              <a:rPr lang="en-US" dirty="0" err="1" smtClean="0"/>
              <a:t>eq:Ub</a:t>
            </a:r>
            <a:r>
              <a:rPr lang="en-US" dirty="0" smtClean="0"/>
              <a:t>}</a:t>
            </a:r>
          </a:p>
          <a:p>
            <a:r>
              <a:rPr lang="en-US" dirty="0" smtClean="0"/>
              <a:t>B(h_0, </a:t>
            </a:r>
            <a:r>
              <a:rPr lang="en-US" dirty="0" err="1" smtClean="0"/>
              <a:t>q_t</a:t>
            </a:r>
            <a:r>
              <a:rPr lang="en-US" dirty="0" smtClean="0"/>
              <a:t>) = \</a:t>
            </a:r>
            <a:r>
              <a:rPr lang="en-US" dirty="0" err="1" smtClean="0"/>
              <a:t>frac</a:t>
            </a:r>
            <a:r>
              <a:rPr lang="en-US" dirty="0" smtClean="0"/>
              <a:t>{m(h_0)}{1 + </a:t>
            </a:r>
            <a:r>
              <a:rPr lang="en-US" dirty="0" err="1" smtClean="0"/>
              <a:t>exp</a:t>
            </a:r>
            <a:r>
              <a:rPr lang="en-US" dirty="0" smtClean="0"/>
              <a:t>(-\beta(</a:t>
            </a:r>
            <a:r>
              <a:rPr lang="en-US" dirty="0" err="1" smtClean="0"/>
              <a:t>q_t</a:t>
            </a:r>
            <a:r>
              <a:rPr lang="en-US" dirty="0" smtClean="0"/>
              <a:t> - \alpha))}, </a:t>
            </a:r>
          </a:p>
          <a:p>
            <a:r>
              <a:rPr lang="en-US" dirty="0" smtClean="0"/>
              <a:t>\end{equation}</a:t>
            </a:r>
          </a:p>
          <a:p>
            <a:r>
              <a:rPr lang="en-US" dirty="0" smtClean="0"/>
              <a:t>where $m(h_0)$ indicates the transplant outcome for a patient with health level $h_0$ who received a perfect kidney ($</a:t>
            </a:r>
            <a:r>
              <a:rPr lang="en-US" dirty="0" err="1" smtClean="0"/>
              <a:t>q_t</a:t>
            </a:r>
            <a:r>
              <a:rPr lang="en-US" dirty="0" smtClean="0"/>
              <a:t> = 1$) right after her first offer ($w = 0$).</a:t>
            </a:r>
          </a:p>
          <a:p>
            <a:r>
              <a:rPr lang="en-US" dirty="0" smtClean="0"/>
              <a:t>Natural, $m(h_0)$ is increasing with $h_0$.</a:t>
            </a:r>
          </a:p>
          <a:p>
            <a:r>
              <a:rPr lang="en-US" dirty="0" smtClean="0"/>
              <a:t>The benefit function therefore increases with patient's health $h_0$ and also kidney quality $q_0$, since  $\</a:t>
            </a:r>
            <a:r>
              <a:rPr lang="en-US" dirty="0" err="1" smtClean="0"/>
              <a:t>frac</a:t>
            </a:r>
            <a:r>
              <a:rPr lang="en-US" dirty="0" smtClean="0"/>
              <a:t>{\partial B(h_0, </a:t>
            </a:r>
            <a:r>
              <a:rPr lang="en-US" dirty="0" err="1" smtClean="0"/>
              <a:t>q_t</a:t>
            </a:r>
            <a:r>
              <a:rPr lang="en-US" dirty="0" smtClean="0"/>
              <a:t>)}{\partial </a:t>
            </a:r>
            <a:r>
              <a:rPr lang="en-US" dirty="0" err="1" smtClean="0"/>
              <a:t>q_t</a:t>
            </a:r>
            <a:r>
              <a:rPr lang="en-US" dirty="0" smtClean="0"/>
              <a:t>} &gt; 0$. </a:t>
            </a:r>
          </a:p>
          <a:p>
            <a:r>
              <a:rPr lang="en-US" dirty="0" smtClean="0"/>
              <a:t>For patient's health deterioration factor we use</a:t>
            </a:r>
          </a:p>
          <a:p>
            <a:endParaRPr lang="en-US" dirty="0" smtClean="0"/>
          </a:p>
          <a:p>
            <a:r>
              <a:rPr lang="en-US" dirty="0" smtClean="0"/>
              <a:t>\begin{equation}\label{</a:t>
            </a:r>
            <a:r>
              <a:rPr lang="en-US" dirty="0" err="1" smtClean="0"/>
              <a:t>eq:uc</a:t>
            </a:r>
            <a:r>
              <a:rPr lang="en-US" dirty="0" smtClean="0"/>
              <a:t>}</a:t>
            </a:r>
          </a:p>
          <a:p>
            <a:r>
              <a:rPr lang="en-US" dirty="0" smtClean="0"/>
              <a:t>D (h_0, w) = \left(1 -\</a:t>
            </a:r>
            <a:r>
              <a:rPr lang="en-US" dirty="0" err="1" smtClean="0"/>
              <a:t>frac</a:t>
            </a:r>
            <a:r>
              <a:rPr lang="en-US" dirty="0" smtClean="0"/>
              <a:t>{w}{h_0}\right)^\gamma.</a:t>
            </a:r>
          </a:p>
          <a:p>
            <a:r>
              <a:rPr lang="en-US" dirty="0" smtClean="0"/>
              <a:t>\end{equation}</a:t>
            </a:r>
          </a:p>
          <a:p>
            <a:endParaRPr lang="en-US" dirty="0" smtClean="0"/>
          </a:p>
          <a:p>
            <a:r>
              <a:rPr lang="en-US" dirty="0" smtClean="0"/>
              <a:t>The  deterioration factor in Equation~\ref{</a:t>
            </a:r>
            <a:r>
              <a:rPr lang="en-US" dirty="0" err="1" smtClean="0"/>
              <a:t>eq:uc</a:t>
            </a:r>
            <a:r>
              <a:rPr lang="en-US" dirty="0" smtClean="0"/>
              <a:t>} equals one when the wait time </a:t>
            </a:r>
          </a:p>
          <a:p>
            <a:r>
              <a:rPr lang="en-US" dirty="0" smtClean="0"/>
              <a:t>is zero ($w = 0$). It emphasizes that by accepting the first offer, the patient terminates her health deterioration. </a:t>
            </a:r>
          </a:p>
          <a:p>
            <a:r>
              <a:rPr lang="en-US" dirty="0" smtClean="0"/>
              <a:t>On the other hand, if the patient decides to wait for a very high-quality kidney, she cannot survive longer than $w=h_0$. In that case, equation~\ref{</a:t>
            </a:r>
            <a:r>
              <a:rPr lang="en-US" dirty="0" err="1" smtClean="0"/>
              <a:t>eq:uc</a:t>
            </a:r>
            <a:r>
              <a:rPr lang="en-US" dirty="0" smtClean="0"/>
              <a:t>} becomes zero. %which LSO means zero utility from receiving a kidney transplant. </a:t>
            </a:r>
          </a:p>
          <a:p>
            <a:r>
              <a:rPr lang="en-US" dirty="0" smtClean="0"/>
              <a:t>In equation \ref{</a:t>
            </a:r>
            <a:r>
              <a:rPr lang="en-US" dirty="0" err="1" smtClean="0"/>
              <a:t>eq:uc</a:t>
            </a:r>
            <a:r>
              <a:rPr lang="en-US" dirty="0" smtClean="0"/>
              <a:t>}, $\gamma$ </a:t>
            </a:r>
          </a:p>
          <a:p>
            <a:r>
              <a:rPr lang="en-US" dirty="0" smtClean="0"/>
              <a:t>controls the rate of  deterioration. For $\gamma = 1$ the deterioration is linear,</a:t>
            </a:r>
          </a:p>
          <a:p>
            <a:r>
              <a:rPr lang="en-US" dirty="0" smtClean="0"/>
              <a:t>$\gamma &gt; 1$ results in initially faster  deterioration and for $\gamma &lt; 1$</a:t>
            </a:r>
          </a:p>
          <a:p>
            <a:r>
              <a:rPr lang="en-US" dirty="0" smtClean="0"/>
              <a:t>the  deterioration is initially slower and then speeds up.</a:t>
            </a:r>
            <a:endParaRPr lang="en-US" dirty="0"/>
          </a:p>
        </p:txBody>
      </p:sp>
      <p:sp>
        <p:nvSpPr>
          <p:cNvPr id="4" name="Slide Number Placeholder 3"/>
          <p:cNvSpPr>
            <a:spLocks noGrp="1"/>
          </p:cNvSpPr>
          <p:nvPr>
            <p:ph type="sldNum" sz="quarter" idx="10"/>
          </p:nvPr>
        </p:nvSpPr>
        <p:spPr/>
        <p:txBody>
          <a:bodyPr/>
          <a:lstStyle/>
          <a:p>
            <a:pPr>
              <a:defRPr/>
            </a:pPr>
            <a:fld id="{39E17729-44CA-6748-867B-0A3F027C490D}" type="slidenum">
              <a:rPr lang="en-US" smtClean="0"/>
              <a:pPr>
                <a:defRPr/>
              </a:pPr>
              <a:t>21</a:t>
            </a:fld>
            <a:endParaRPr lang="en-US" dirty="0"/>
          </a:p>
        </p:txBody>
      </p:sp>
    </p:spTree>
    <p:extLst>
      <p:ext uri="{BB962C8B-B14F-4D97-AF65-F5344CB8AC3E}">
        <p14:creationId xmlns:p14="http://schemas.microsoft.com/office/powerpoint/2010/main" val="38607521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As Figure \ref{</a:t>
            </a:r>
            <a:r>
              <a:rPr lang="en-US" dirty="0" err="1" smtClean="0"/>
              <a:t>fig:imp</a:t>
            </a:r>
            <a:r>
              <a:rPr lang="en-US" dirty="0" smtClean="0"/>
              <a:t>} demonstrates, the minimum improvement in the kidney transplant rate is 17\% which can be obtained by slightly expanding patient's search group size, and it reaches to 47\% when the use of information is perfect. On the other hand, the waitlist mortality rate decreases by 7\% when the group size is 10, and the reduction can be as high as 21\%.</a:t>
            </a:r>
            <a:endParaRPr lang="en-US" dirty="0"/>
          </a:p>
        </p:txBody>
      </p:sp>
      <p:sp>
        <p:nvSpPr>
          <p:cNvPr id="4" name="Slide Number Placeholder 3"/>
          <p:cNvSpPr>
            <a:spLocks noGrp="1"/>
          </p:cNvSpPr>
          <p:nvPr>
            <p:ph type="sldNum" sz="quarter" idx="10"/>
          </p:nvPr>
        </p:nvSpPr>
        <p:spPr/>
        <p:txBody>
          <a:bodyPr/>
          <a:lstStyle/>
          <a:p>
            <a:pPr>
              <a:defRPr/>
            </a:pPr>
            <a:fld id="{39E17729-44CA-6748-867B-0A3F027C490D}" type="slidenum">
              <a:rPr lang="en-US" smtClean="0"/>
              <a:pPr>
                <a:defRPr/>
              </a:pPr>
              <a:t>23</a:t>
            </a:fld>
            <a:endParaRPr lang="en-US" dirty="0"/>
          </a:p>
        </p:txBody>
      </p:sp>
    </p:spTree>
    <p:extLst>
      <p:ext uri="{BB962C8B-B14F-4D97-AF65-F5344CB8AC3E}">
        <p14:creationId xmlns:p14="http://schemas.microsoft.com/office/powerpoint/2010/main" val="5018579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9E17729-44CA-6748-867B-0A3F027C490D}" type="slidenum">
              <a:rPr lang="en-US" smtClean="0"/>
              <a:pPr>
                <a:defRPr/>
              </a:pPr>
              <a:t>25</a:t>
            </a:fld>
            <a:endParaRPr lang="en-US" dirty="0"/>
          </a:p>
        </p:txBody>
      </p:sp>
    </p:spTree>
    <p:extLst>
      <p:ext uri="{BB962C8B-B14F-4D97-AF65-F5344CB8AC3E}">
        <p14:creationId xmlns:p14="http://schemas.microsoft.com/office/powerpoint/2010/main" val="28112782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9E17729-44CA-6748-867B-0A3F027C490D}" type="slidenum">
              <a:rPr lang="en-US" smtClean="0"/>
              <a:pPr>
                <a:defRPr/>
              </a:pPr>
              <a:t>27</a:t>
            </a:fld>
            <a:endParaRPr lang="en-US" dirty="0"/>
          </a:p>
        </p:txBody>
      </p:sp>
    </p:spTree>
    <p:extLst>
      <p:ext uri="{BB962C8B-B14F-4D97-AF65-F5344CB8AC3E}">
        <p14:creationId xmlns:p14="http://schemas.microsoft.com/office/powerpoint/2010/main" val="20855656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39E17729-44CA-6748-867B-0A3F027C490D}" type="slidenum">
              <a:rPr lang="en-US" smtClean="0"/>
              <a:pPr>
                <a:defRPr/>
              </a:pPr>
              <a:t>29</a:t>
            </a:fld>
            <a:endParaRPr lang="en-US" dirty="0"/>
          </a:p>
        </p:txBody>
      </p:sp>
    </p:spTree>
    <p:extLst>
      <p:ext uri="{BB962C8B-B14F-4D97-AF65-F5344CB8AC3E}">
        <p14:creationId xmlns:p14="http://schemas.microsoft.com/office/powerpoint/2010/main" val="411879321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1.jp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1.jp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1.jp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1.jp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1.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12.jpe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12.jpe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9_Title Blue Back">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3" y="0"/>
            <a:ext cx="4614203" cy="5143500"/>
          </a:xfrm>
          <a:prstGeom prst="rect">
            <a:avLst/>
          </a:prstGeom>
        </p:spPr>
      </p:pic>
      <p:grpSp>
        <p:nvGrpSpPr>
          <p:cNvPr id="2" name="Group 1"/>
          <p:cNvGrpSpPr/>
          <p:nvPr/>
        </p:nvGrpSpPr>
        <p:grpSpPr>
          <a:xfrm>
            <a:off x="3406665" y="0"/>
            <a:ext cx="5708379" cy="5143500"/>
            <a:chOff x="3435621" y="0"/>
            <a:chExt cx="5708379" cy="5143500"/>
          </a:xfrm>
        </p:grpSpPr>
        <p:sp useBgFill="1">
          <p:nvSpPr>
            <p:cNvPr id="15" name="Rectangle 8"/>
            <p:cNvSpPr/>
            <p:nvPr userDrawn="1"/>
          </p:nvSpPr>
          <p:spPr>
            <a:xfrm>
              <a:off x="3795913" y="0"/>
              <a:ext cx="5348087" cy="5143500"/>
            </a:xfrm>
            <a:custGeom>
              <a:avLst/>
              <a:gdLst>
                <a:gd name="connsiteX0" fmla="*/ 0 w 8991600"/>
                <a:gd name="connsiteY0" fmla="*/ 0 h 6858000"/>
                <a:gd name="connsiteX1" fmla="*/ 8991600 w 8991600"/>
                <a:gd name="connsiteY1" fmla="*/ 0 h 6858000"/>
                <a:gd name="connsiteX2" fmla="*/ 8991600 w 8991600"/>
                <a:gd name="connsiteY2" fmla="*/ 6858000 h 6858000"/>
                <a:gd name="connsiteX3" fmla="*/ 0 w 8991600"/>
                <a:gd name="connsiteY3" fmla="*/ 6858000 h 6858000"/>
                <a:gd name="connsiteX4" fmla="*/ 0 w 8991600"/>
                <a:gd name="connsiteY4" fmla="*/ 0 h 6858000"/>
                <a:gd name="connsiteX0" fmla="*/ 0 w 8991600"/>
                <a:gd name="connsiteY0" fmla="*/ 0 h 6858000"/>
                <a:gd name="connsiteX1" fmla="*/ 8991600 w 8991600"/>
                <a:gd name="connsiteY1" fmla="*/ 0 h 6858000"/>
                <a:gd name="connsiteX2" fmla="*/ 8991600 w 8991600"/>
                <a:gd name="connsiteY2" fmla="*/ 6858000 h 6858000"/>
                <a:gd name="connsiteX3" fmla="*/ 0 w 8991600"/>
                <a:gd name="connsiteY3" fmla="*/ 6858000 h 6858000"/>
                <a:gd name="connsiteX4" fmla="*/ 0 w 8991600"/>
                <a:gd name="connsiteY4" fmla="*/ 0 h 6858000"/>
                <a:gd name="connsiteX0" fmla="*/ 0 w 8991600"/>
                <a:gd name="connsiteY0" fmla="*/ 0 h 6858000"/>
                <a:gd name="connsiteX1" fmla="*/ 8991600 w 8991600"/>
                <a:gd name="connsiteY1" fmla="*/ 0 h 6858000"/>
                <a:gd name="connsiteX2" fmla="*/ 8991600 w 8991600"/>
                <a:gd name="connsiteY2" fmla="*/ 6858000 h 6858000"/>
                <a:gd name="connsiteX3" fmla="*/ 0 w 8991600"/>
                <a:gd name="connsiteY3" fmla="*/ 6858000 h 6858000"/>
                <a:gd name="connsiteX4" fmla="*/ 0 w 8991600"/>
                <a:gd name="connsiteY4" fmla="*/ 0 h 6858000"/>
                <a:gd name="connsiteX0" fmla="*/ 0 w 8991600"/>
                <a:gd name="connsiteY0" fmla="*/ 0 h 6858000"/>
                <a:gd name="connsiteX1" fmla="*/ 8991600 w 8991600"/>
                <a:gd name="connsiteY1" fmla="*/ 0 h 6858000"/>
                <a:gd name="connsiteX2" fmla="*/ 8991600 w 8991600"/>
                <a:gd name="connsiteY2" fmla="*/ 6858000 h 6858000"/>
                <a:gd name="connsiteX3" fmla="*/ 0 w 8991600"/>
                <a:gd name="connsiteY3" fmla="*/ 6858000 h 6858000"/>
                <a:gd name="connsiteX4" fmla="*/ 0 w 8991600"/>
                <a:gd name="connsiteY4" fmla="*/ 0 h 6858000"/>
                <a:gd name="connsiteX0" fmla="*/ 140834 w 9132434"/>
                <a:gd name="connsiteY0" fmla="*/ 0 h 6858000"/>
                <a:gd name="connsiteX1" fmla="*/ 9132434 w 9132434"/>
                <a:gd name="connsiteY1" fmla="*/ 0 h 6858000"/>
                <a:gd name="connsiteX2" fmla="*/ 9132434 w 9132434"/>
                <a:gd name="connsiteY2" fmla="*/ 6858000 h 6858000"/>
                <a:gd name="connsiteX3" fmla="*/ 0 w 9132434"/>
                <a:gd name="connsiteY3" fmla="*/ 6858000 h 6858000"/>
                <a:gd name="connsiteX4" fmla="*/ 140834 w 9132434"/>
                <a:gd name="connsiteY4" fmla="*/ 0 h 6858000"/>
                <a:gd name="connsiteX0" fmla="*/ 140834 w 9132434"/>
                <a:gd name="connsiteY0" fmla="*/ 0 h 6858000"/>
                <a:gd name="connsiteX1" fmla="*/ 9132434 w 9132434"/>
                <a:gd name="connsiteY1" fmla="*/ 0 h 6858000"/>
                <a:gd name="connsiteX2" fmla="*/ 9132434 w 9132434"/>
                <a:gd name="connsiteY2" fmla="*/ 6858000 h 6858000"/>
                <a:gd name="connsiteX3" fmla="*/ 0 w 9132434"/>
                <a:gd name="connsiteY3" fmla="*/ 6858000 h 6858000"/>
                <a:gd name="connsiteX4" fmla="*/ 140834 w 913243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32434" h="6858000">
                  <a:moveTo>
                    <a:pt x="140834" y="0"/>
                  </a:moveTo>
                  <a:lnTo>
                    <a:pt x="9132434" y="0"/>
                  </a:lnTo>
                  <a:lnTo>
                    <a:pt x="9132434" y="6858000"/>
                  </a:lnTo>
                  <a:lnTo>
                    <a:pt x="0" y="6858000"/>
                  </a:lnTo>
                  <a:cubicBezTo>
                    <a:pt x="1225995" y="4769571"/>
                    <a:pt x="1890121" y="2653749"/>
                    <a:pt x="140834"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Trebuchet MS"/>
                <a:ea typeface="+mn-ea"/>
                <a:cs typeface="+mn-cs"/>
              </a:endParaRPr>
            </a:p>
          </p:txBody>
        </p:sp>
        <p:pic>
          <p:nvPicPr>
            <p:cNvPr id="10" name="Picture 10"/>
            <p:cNvPicPr>
              <a:picLocks noChangeAspect="1"/>
            </p:cNvPicPr>
            <p:nvPr userDrawn="1"/>
          </p:nvPicPr>
          <p:blipFill>
            <a:blip r:embed="rId3" cstate="email">
              <a:extLst>
                <a:ext uri="{28A0092B-C50C-407E-A947-70E740481C1C}">
                  <a14:useLocalDpi xmlns:a14="http://schemas.microsoft.com/office/drawing/2010/main"/>
                </a:ext>
              </a:extLst>
            </a:blip>
            <a:srcRect l="22279" r="63603"/>
            <a:stretch>
              <a:fillRect/>
            </a:stretch>
          </p:blipFill>
          <p:spPr bwMode="auto">
            <a:xfrm>
              <a:off x="3435621" y="0"/>
              <a:ext cx="1290638"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3" name="Picture 2"/>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4776717" y="4152240"/>
            <a:ext cx="3934346" cy="768169"/>
          </a:xfrm>
          <a:prstGeom prst="rect">
            <a:avLst/>
          </a:prstGeom>
        </p:spPr>
      </p:pic>
      <p:sp>
        <p:nvSpPr>
          <p:cNvPr id="16" name="Title 1"/>
          <p:cNvSpPr>
            <a:spLocks noGrp="1"/>
          </p:cNvSpPr>
          <p:nvPr>
            <p:ph type="ctrTitle" hasCustomPrompt="1"/>
          </p:nvPr>
        </p:nvSpPr>
        <p:spPr>
          <a:xfrm>
            <a:off x="4670584" y="548122"/>
            <a:ext cx="4444460" cy="2391713"/>
          </a:xfrm>
        </p:spPr>
        <p:txBody>
          <a:bodyPr anchor="b">
            <a:normAutofit/>
          </a:bodyPr>
          <a:lstStyle>
            <a:lvl1pPr algn="l">
              <a:defRPr sz="4000" baseline="0">
                <a:solidFill>
                  <a:schemeClr val="tx2">
                    <a:lumMod val="75000"/>
                  </a:schemeClr>
                </a:solidFill>
              </a:defRPr>
            </a:lvl1pPr>
          </a:lstStyle>
          <a:p>
            <a:r>
              <a:rPr lang="en-US" dirty="0"/>
              <a:t>Click to edit Master text styles</a:t>
            </a:r>
          </a:p>
        </p:txBody>
      </p:sp>
      <p:sp>
        <p:nvSpPr>
          <p:cNvPr id="17" name="Subtitle 2"/>
          <p:cNvSpPr>
            <a:spLocks noGrp="1"/>
          </p:cNvSpPr>
          <p:nvPr>
            <p:ph type="subTitle" idx="1" hasCustomPrompt="1"/>
          </p:nvPr>
        </p:nvSpPr>
        <p:spPr>
          <a:xfrm>
            <a:off x="4677880" y="2992311"/>
            <a:ext cx="4444460" cy="318910"/>
          </a:xfrm>
        </p:spPr>
        <p:txBody>
          <a:bodyPr>
            <a:noAutofit/>
          </a:bodyPr>
          <a:lstStyle>
            <a:lvl1pPr marL="0" indent="0" algn="l">
              <a:buFont typeface="Arial" panose="020B0604020202020204" pitchFamily="34" charset="0"/>
              <a:buNone/>
              <a:defRPr sz="2000" cap="all" baseline="0">
                <a:solidFill>
                  <a:schemeClr val="tx2">
                    <a:lumMod val="75000"/>
                  </a:schemeClr>
                </a:solidFill>
              </a:defRPr>
            </a:lvl1pPr>
            <a:lvl2pPr marL="192881" indent="0" algn="ctr">
              <a:buNone/>
              <a:defRPr sz="844"/>
            </a:lvl2pPr>
            <a:lvl3pPr marL="385763" indent="0" algn="ctr">
              <a:buNone/>
              <a:defRPr sz="760"/>
            </a:lvl3pPr>
            <a:lvl4pPr marL="578644" indent="0" algn="ctr">
              <a:buNone/>
              <a:defRPr sz="675"/>
            </a:lvl4pPr>
            <a:lvl5pPr marL="771525" indent="0" algn="ctr">
              <a:buNone/>
              <a:defRPr sz="675"/>
            </a:lvl5pPr>
            <a:lvl6pPr marL="964406" indent="0" algn="ctr">
              <a:buNone/>
              <a:defRPr sz="675"/>
            </a:lvl6pPr>
            <a:lvl7pPr marL="1157288" indent="0" algn="ctr">
              <a:buNone/>
              <a:defRPr sz="675"/>
            </a:lvl7pPr>
            <a:lvl8pPr marL="1350169" indent="0" algn="ctr">
              <a:buNone/>
              <a:defRPr sz="675"/>
            </a:lvl8pPr>
            <a:lvl9pPr marL="1543050" indent="0" algn="ctr">
              <a:buNone/>
              <a:defRPr sz="675"/>
            </a:lvl9pPr>
          </a:lstStyle>
          <a:p>
            <a:r>
              <a:rPr lang="en-US" dirty="0"/>
              <a:t>Click to edit Master text styles</a:t>
            </a:r>
          </a:p>
        </p:txBody>
      </p:sp>
      <p:sp>
        <p:nvSpPr>
          <p:cNvPr id="18" name="Text Placeholder 11"/>
          <p:cNvSpPr>
            <a:spLocks noGrp="1"/>
          </p:cNvSpPr>
          <p:nvPr>
            <p:ph type="body" sz="quarter" idx="10"/>
          </p:nvPr>
        </p:nvSpPr>
        <p:spPr>
          <a:xfrm>
            <a:off x="4669067" y="3325277"/>
            <a:ext cx="4456143" cy="343204"/>
          </a:xfrm>
        </p:spPr>
        <p:txBody>
          <a:bodyPr>
            <a:noAutofit/>
          </a:bodyPr>
          <a:lstStyle>
            <a:lvl1pPr marL="0" indent="0" algn="l">
              <a:buFont typeface="Arial" panose="020B0604020202020204" pitchFamily="34" charset="0"/>
              <a:buNone/>
              <a:defRPr sz="1600" i="1">
                <a:solidFill>
                  <a:schemeClr val="tx2">
                    <a:lumMod val="75000"/>
                  </a:schemeClr>
                </a:solidFill>
              </a:defRPr>
            </a:lvl1pPr>
            <a:lvl2pPr marL="192881" indent="0">
              <a:buNone/>
              <a:defRPr sz="675"/>
            </a:lvl2pPr>
            <a:lvl3pPr marL="385763" indent="0">
              <a:buNone/>
              <a:defRPr sz="591"/>
            </a:lvl3pPr>
            <a:lvl4pPr marL="578644" indent="0">
              <a:buNone/>
              <a:defRPr sz="506"/>
            </a:lvl4pPr>
            <a:lvl5pPr marL="771525" indent="0">
              <a:buNone/>
              <a:defRPr sz="506"/>
            </a:lvl5pPr>
          </a:lstStyle>
          <a:p>
            <a:pPr lvl="0"/>
            <a:r>
              <a:rPr lang="en-US" smtClean="0"/>
              <a:t>Click to edit Master text styles</a:t>
            </a:r>
          </a:p>
        </p:txBody>
      </p:sp>
    </p:spTree>
    <p:extLst>
      <p:ext uri="{BB962C8B-B14F-4D97-AF65-F5344CB8AC3E}">
        <p14:creationId xmlns:p14="http://schemas.microsoft.com/office/powerpoint/2010/main" val="207687471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ftr="0" dt="0"/>
  <p:extLst mod="1">
    <p:ext uri="{DCECCB84-F9BA-43D5-87BE-67443E8EF086}">
      <p15:sldGuideLst xmlns:p15="http://schemas.microsoft.com/office/powerpoint/2012/main" xmlns="">
        <p15:guide id="1" pos="400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Blue Back">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4406" y="0"/>
            <a:ext cx="4681896" cy="5143500"/>
          </a:xfrm>
          <a:prstGeom prst="rect">
            <a:avLst/>
          </a:prstGeom>
        </p:spPr>
      </p:pic>
      <p:grpSp>
        <p:nvGrpSpPr>
          <p:cNvPr id="11" name="Group 10"/>
          <p:cNvGrpSpPr/>
          <p:nvPr/>
        </p:nvGrpSpPr>
        <p:grpSpPr>
          <a:xfrm>
            <a:off x="3406665" y="0"/>
            <a:ext cx="5708379" cy="5143500"/>
            <a:chOff x="3435621" y="0"/>
            <a:chExt cx="5708379" cy="5143500"/>
          </a:xfrm>
        </p:grpSpPr>
        <p:sp useBgFill="1">
          <p:nvSpPr>
            <p:cNvPr id="12" name="Rectangle 8"/>
            <p:cNvSpPr/>
            <p:nvPr userDrawn="1"/>
          </p:nvSpPr>
          <p:spPr>
            <a:xfrm>
              <a:off x="3795913" y="0"/>
              <a:ext cx="5348087" cy="5143500"/>
            </a:xfrm>
            <a:custGeom>
              <a:avLst/>
              <a:gdLst>
                <a:gd name="connsiteX0" fmla="*/ 0 w 8991600"/>
                <a:gd name="connsiteY0" fmla="*/ 0 h 6858000"/>
                <a:gd name="connsiteX1" fmla="*/ 8991600 w 8991600"/>
                <a:gd name="connsiteY1" fmla="*/ 0 h 6858000"/>
                <a:gd name="connsiteX2" fmla="*/ 8991600 w 8991600"/>
                <a:gd name="connsiteY2" fmla="*/ 6858000 h 6858000"/>
                <a:gd name="connsiteX3" fmla="*/ 0 w 8991600"/>
                <a:gd name="connsiteY3" fmla="*/ 6858000 h 6858000"/>
                <a:gd name="connsiteX4" fmla="*/ 0 w 8991600"/>
                <a:gd name="connsiteY4" fmla="*/ 0 h 6858000"/>
                <a:gd name="connsiteX0" fmla="*/ 0 w 8991600"/>
                <a:gd name="connsiteY0" fmla="*/ 0 h 6858000"/>
                <a:gd name="connsiteX1" fmla="*/ 8991600 w 8991600"/>
                <a:gd name="connsiteY1" fmla="*/ 0 h 6858000"/>
                <a:gd name="connsiteX2" fmla="*/ 8991600 w 8991600"/>
                <a:gd name="connsiteY2" fmla="*/ 6858000 h 6858000"/>
                <a:gd name="connsiteX3" fmla="*/ 0 w 8991600"/>
                <a:gd name="connsiteY3" fmla="*/ 6858000 h 6858000"/>
                <a:gd name="connsiteX4" fmla="*/ 0 w 8991600"/>
                <a:gd name="connsiteY4" fmla="*/ 0 h 6858000"/>
                <a:gd name="connsiteX0" fmla="*/ 0 w 8991600"/>
                <a:gd name="connsiteY0" fmla="*/ 0 h 6858000"/>
                <a:gd name="connsiteX1" fmla="*/ 8991600 w 8991600"/>
                <a:gd name="connsiteY1" fmla="*/ 0 h 6858000"/>
                <a:gd name="connsiteX2" fmla="*/ 8991600 w 8991600"/>
                <a:gd name="connsiteY2" fmla="*/ 6858000 h 6858000"/>
                <a:gd name="connsiteX3" fmla="*/ 0 w 8991600"/>
                <a:gd name="connsiteY3" fmla="*/ 6858000 h 6858000"/>
                <a:gd name="connsiteX4" fmla="*/ 0 w 8991600"/>
                <a:gd name="connsiteY4" fmla="*/ 0 h 6858000"/>
                <a:gd name="connsiteX0" fmla="*/ 0 w 8991600"/>
                <a:gd name="connsiteY0" fmla="*/ 0 h 6858000"/>
                <a:gd name="connsiteX1" fmla="*/ 8991600 w 8991600"/>
                <a:gd name="connsiteY1" fmla="*/ 0 h 6858000"/>
                <a:gd name="connsiteX2" fmla="*/ 8991600 w 8991600"/>
                <a:gd name="connsiteY2" fmla="*/ 6858000 h 6858000"/>
                <a:gd name="connsiteX3" fmla="*/ 0 w 8991600"/>
                <a:gd name="connsiteY3" fmla="*/ 6858000 h 6858000"/>
                <a:gd name="connsiteX4" fmla="*/ 0 w 8991600"/>
                <a:gd name="connsiteY4" fmla="*/ 0 h 6858000"/>
                <a:gd name="connsiteX0" fmla="*/ 140834 w 9132434"/>
                <a:gd name="connsiteY0" fmla="*/ 0 h 6858000"/>
                <a:gd name="connsiteX1" fmla="*/ 9132434 w 9132434"/>
                <a:gd name="connsiteY1" fmla="*/ 0 h 6858000"/>
                <a:gd name="connsiteX2" fmla="*/ 9132434 w 9132434"/>
                <a:gd name="connsiteY2" fmla="*/ 6858000 h 6858000"/>
                <a:gd name="connsiteX3" fmla="*/ 0 w 9132434"/>
                <a:gd name="connsiteY3" fmla="*/ 6858000 h 6858000"/>
                <a:gd name="connsiteX4" fmla="*/ 140834 w 9132434"/>
                <a:gd name="connsiteY4" fmla="*/ 0 h 6858000"/>
                <a:gd name="connsiteX0" fmla="*/ 140834 w 9132434"/>
                <a:gd name="connsiteY0" fmla="*/ 0 h 6858000"/>
                <a:gd name="connsiteX1" fmla="*/ 9132434 w 9132434"/>
                <a:gd name="connsiteY1" fmla="*/ 0 h 6858000"/>
                <a:gd name="connsiteX2" fmla="*/ 9132434 w 9132434"/>
                <a:gd name="connsiteY2" fmla="*/ 6858000 h 6858000"/>
                <a:gd name="connsiteX3" fmla="*/ 0 w 9132434"/>
                <a:gd name="connsiteY3" fmla="*/ 6858000 h 6858000"/>
                <a:gd name="connsiteX4" fmla="*/ 140834 w 913243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32434" h="6858000">
                  <a:moveTo>
                    <a:pt x="140834" y="0"/>
                  </a:moveTo>
                  <a:lnTo>
                    <a:pt x="9132434" y="0"/>
                  </a:lnTo>
                  <a:lnTo>
                    <a:pt x="9132434" y="6858000"/>
                  </a:lnTo>
                  <a:lnTo>
                    <a:pt x="0" y="6858000"/>
                  </a:lnTo>
                  <a:cubicBezTo>
                    <a:pt x="1225995" y="4769571"/>
                    <a:pt x="1890121" y="2653749"/>
                    <a:pt x="140834"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Trebuchet MS"/>
                <a:ea typeface="+mn-ea"/>
                <a:cs typeface="+mn-cs"/>
              </a:endParaRPr>
            </a:p>
          </p:txBody>
        </p:sp>
        <p:pic>
          <p:nvPicPr>
            <p:cNvPr id="13" name="Picture 10"/>
            <p:cNvPicPr>
              <a:picLocks noChangeAspect="1"/>
            </p:cNvPicPr>
            <p:nvPr userDrawn="1"/>
          </p:nvPicPr>
          <p:blipFill>
            <a:blip r:embed="rId3" cstate="email">
              <a:extLst>
                <a:ext uri="{28A0092B-C50C-407E-A947-70E740481C1C}">
                  <a14:useLocalDpi xmlns:a14="http://schemas.microsoft.com/office/drawing/2010/main"/>
                </a:ext>
              </a:extLst>
            </a:blip>
            <a:srcRect l="22279" r="63603"/>
            <a:stretch>
              <a:fillRect/>
            </a:stretch>
          </p:blipFill>
          <p:spPr bwMode="auto">
            <a:xfrm>
              <a:off x="3435621" y="0"/>
              <a:ext cx="1290638"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9" name="Title 1"/>
          <p:cNvSpPr>
            <a:spLocks noGrp="1"/>
          </p:cNvSpPr>
          <p:nvPr>
            <p:ph type="ctrTitle" hasCustomPrompt="1"/>
          </p:nvPr>
        </p:nvSpPr>
        <p:spPr>
          <a:xfrm>
            <a:off x="4670584" y="548122"/>
            <a:ext cx="4444460" cy="2391713"/>
          </a:xfrm>
        </p:spPr>
        <p:txBody>
          <a:bodyPr anchor="b">
            <a:normAutofit/>
          </a:bodyPr>
          <a:lstStyle>
            <a:lvl1pPr algn="l">
              <a:defRPr sz="4000" baseline="0">
                <a:solidFill>
                  <a:schemeClr val="tx2">
                    <a:lumMod val="75000"/>
                  </a:schemeClr>
                </a:solidFill>
              </a:defRPr>
            </a:lvl1pPr>
          </a:lstStyle>
          <a:p>
            <a:r>
              <a:rPr lang="en-US" dirty="0"/>
              <a:t>Click to edit Master text styles</a:t>
            </a:r>
          </a:p>
        </p:txBody>
      </p:sp>
      <p:sp>
        <p:nvSpPr>
          <p:cNvPr id="20" name="Subtitle 2"/>
          <p:cNvSpPr>
            <a:spLocks noGrp="1"/>
          </p:cNvSpPr>
          <p:nvPr>
            <p:ph type="subTitle" idx="1" hasCustomPrompt="1"/>
          </p:nvPr>
        </p:nvSpPr>
        <p:spPr>
          <a:xfrm>
            <a:off x="4677880" y="2992311"/>
            <a:ext cx="4444460" cy="318910"/>
          </a:xfrm>
        </p:spPr>
        <p:txBody>
          <a:bodyPr>
            <a:noAutofit/>
          </a:bodyPr>
          <a:lstStyle>
            <a:lvl1pPr marL="0" indent="0" algn="l">
              <a:buFont typeface="Arial" panose="020B0604020202020204" pitchFamily="34" charset="0"/>
              <a:buNone/>
              <a:defRPr sz="2000" cap="all" baseline="0">
                <a:solidFill>
                  <a:schemeClr val="tx2">
                    <a:lumMod val="75000"/>
                  </a:schemeClr>
                </a:solidFill>
              </a:defRPr>
            </a:lvl1pPr>
            <a:lvl2pPr marL="192881" indent="0" algn="ctr">
              <a:buNone/>
              <a:defRPr sz="844"/>
            </a:lvl2pPr>
            <a:lvl3pPr marL="385763" indent="0" algn="ctr">
              <a:buNone/>
              <a:defRPr sz="760"/>
            </a:lvl3pPr>
            <a:lvl4pPr marL="578644" indent="0" algn="ctr">
              <a:buNone/>
              <a:defRPr sz="675"/>
            </a:lvl4pPr>
            <a:lvl5pPr marL="771525" indent="0" algn="ctr">
              <a:buNone/>
              <a:defRPr sz="675"/>
            </a:lvl5pPr>
            <a:lvl6pPr marL="964406" indent="0" algn="ctr">
              <a:buNone/>
              <a:defRPr sz="675"/>
            </a:lvl6pPr>
            <a:lvl7pPr marL="1157288" indent="0" algn="ctr">
              <a:buNone/>
              <a:defRPr sz="675"/>
            </a:lvl7pPr>
            <a:lvl8pPr marL="1350169" indent="0" algn="ctr">
              <a:buNone/>
              <a:defRPr sz="675"/>
            </a:lvl8pPr>
            <a:lvl9pPr marL="1543050" indent="0" algn="ctr">
              <a:buNone/>
              <a:defRPr sz="675"/>
            </a:lvl9pPr>
          </a:lstStyle>
          <a:p>
            <a:r>
              <a:rPr lang="en-US" dirty="0"/>
              <a:t>Click to edit Master text styles</a:t>
            </a:r>
          </a:p>
        </p:txBody>
      </p:sp>
      <p:sp>
        <p:nvSpPr>
          <p:cNvPr id="21" name="Text Placeholder 11"/>
          <p:cNvSpPr>
            <a:spLocks noGrp="1"/>
          </p:cNvSpPr>
          <p:nvPr>
            <p:ph type="body" sz="quarter" idx="10"/>
          </p:nvPr>
        </p:nvSpPr>
        <p:spPr>
          <a:xfrm>
            <a:off x="4669067" y="3325277"/>
            <a:ext cx="4456143" cy="343204"/>
          </a:xfrm>
        </p:spPr>
        <p:txBody>
          <a:bodyPr>
            <a:noAutofit/>
          </a:bodyPr>
          <a:lstStyle>
            <a:lvl1pPr marL="0" indent="0" algn="l">
              <a:buFont typeface="Arial" panose="020B0604020202020204" pitchFamily="34" charset="0"/>
              <a:buNone/>
              <a:defRPr sz="1600" i="1">
                <a:solidFill>
                  <a:schemeClr val="tx2">
                    <a:lumMod val="75000"/>
                  </a:schemeClr>
                </a:solidFill>
              </a:defRPr>
            </a:lvl1pPr>
            <a:lvl2pPr marL="192881" indent="0">
              <a:buNone/>
              <a:defRPr sz="675"/>
            </a:lvl2pPr>
            <a:lvl3pPr marL="385763" indent="0">
              <a:buNone/>
              <a:defRPr sz="591"/>
            </a:lvl3pPr>
            <a:lvl4pPr marL="578644" indent="0">
              <a:buNone/>
              <a:defRPr sz="506"/>
            </a:lvl4pPr>
            <a:lvl5pPr marL="771525" indent="0">
              <a:buNone/>
              <a:defRPr sz="506"/>
            </a:lvl5pPr>
          </a:lstStyle>
          <a:p>
            <a:pPr lvl="0"/>
            <a:r>
              <a:rPr lang="en-US" smtClean="0"/>
              <a:t>Click to edit Master text styles</a:t>
            </a:r>
          </a:p>
        </p:txBody>
      </p:sp>
      <p:pic>
        <p:nvPicPr>
          <p:cNvPr id="10" name="Picture 9"/>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4776717" y="4152240"/>
            <a:ext cx="3934346" cy="768169"/>
          </a:xfrm>
          <a:prstGeom prst="rect">
            <a:avLst/>
          </a:prstGeom>
        </p:spPr>
      </p:pic>
    </p:spTree>
    <p:extLst>
      <p:ext uri="{BB962C8B-B14F-4D97-AF65-F5344CB8AC3E}">
        <p14:creationId xmlns:p14="http://schemas.microsoft.com/office/powerpoint/2010/main" val="163223703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xmlns:p14="http://schemas.microsoft.com/office/powerpoint/2010/main">
        <p:fade/>
      </p:transition>
    </mc:Fallback>
  </mc:AlternateContent>
  <p:hf hdr="0" ftr="0" dt="0"/>
  <p:extLst mod="1">
    <p:ext uri="{DCECCB84-F9BA-43D5-87BE-67443E8EF086}">
      <p15:sldGuideLst xmlns:p15="http://schemas.microsoft.com/office/powerpoint/2012/main" xmlns="">
        <p15:guide id="1" pos="400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11_Title Blue Back">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7742682" cy="5143500"/>
          </a:xfrm>
          <a:prstGeom prst="rect">
            <a:avLst/>
          </a:prstGeom>
        </p:spPr>
      </p:pic>
      <p:grpSp>
        <p:nvGrpSpPr>
          <p:cNvPr id="12" name="Group 11"/>
          <p:cNvGrpSpPr/>
          <p:nvPr/>
        </p:nvGrpSpPr>
        <p:grpSpPr>
          <a:xfrm>
            <a:off x="3406665" y="0"/>
            <a:ext cx="5708379" cy="5143500"/>
            <a:chOff x="3435621" y="0"/>
            <a:chExt cx="5708379" cy="5143500"/>
          </a:xfrm>
        </p:grpSpPr>
        <p:sp useBgFill="1">
          <p:nvSpPr>
            <p:cNvPr id="13" name="Rectangle 8"/>
            <p:cNvSpPr/>
            <p:nvPr userDrawn="1"/>
          </p:nvSpPr>
          <p:spPr>
            <a:xfrm>
              <a:off x="3795913" y="0"/>
              <a:ext cx="5348087" cy="5143500"/>
            </a:xfrm>
            <a:custGeom>
              <a:avLst/>
              <a:gdLst>
                <a:gd name="connsiteX0" fmla="*/ 0 w 8991600"/>
                <a:gd name="connsiteY0" fmla="*/ 0 h 6858000"/>
                <a:gd name="connsiteX1" fmla="*/ 8991600 w 8991600"/>
                <a:gd name="connsiteY1" fmla="*/ 0 h 6858000"/>
                <a:gd name="connsiteX2" fmla="*/ 8991600 w 8991600"/>
                <a:gd name="connsiteY2" fmla="*/ 6858000 h 6858000"/>
                <a:gd name="connsiteX3" fmla="*/ 0 w 8991600"/>
                <a:gd name="connsiteY3" fmla="*/ 6858000 h 6858000"/>
                <a:gd name="connsiteX4" fmla="*/ 0 w 8991600"/>
                <a:gd name="connsiteY4" fmla="*/ 0 h 6858000"/>
                <a:gd name="connsiteX0" fmla="*/ 0 w 8991600"/>
                <a:gd name="connsiteY0" fmla="*/ 0 h 6858000"/>
                <a:gd name="connsiteX1" fmla="*/ 8991600 w 8991600"/>
                <a:gd name="connsiteY1" fmla="*/ 0 h 6858000"/>
                <a:gd name="connsiteX2" fmla="*/ 8991600 w 8991600"/>
                <a:gd name="connsiteY2" fmla="*/ 6858000 h 6858000"/>
                <a:gd name="connsiteX3" fmla="*/ 0 w 8991600"/>
                <a:gd name="connsiteY3" fmla="*/ 6858000 h 6858000"/>
                <a:gd name="connsiteX4" fmla="*/ 0 w 8991600"/>
                <a:gd name="connsiteY4" fmla="*/ 0 h 6858000"/>
                <a:gd name="connsiteX0" fmla="*/ 0 w 8991600"/>
                <a:gd name="connsiteY0" fmla="*/ 0 h 6858000"/>
                <a:gd name="connsiteX1" fmla="*/ 8991600 w 8991600"/>
                <a:gd name="connsiteY1" fmla="*/ 0 h 6858000"/>
                <a:gd name="connsiteX2" fmla="*/ 8991600 w 8991600"/>
                <a:gd name="connsiteY2" fmla="*/ 6858000 h 6858000"/>
                <a:gd name="connsiteX3" fmla="*/ 0 w 8991600"/>
                <a:gd name="connsiteY3" fmla="*/ 6858000 h 6858000"/>
                <a:gd name="connsiteX4" fmla="*/ 0 w 8991600"/>
                <a:gd name="connsiteY4" fmla="*/ 0 h 6858000"/>
                <a:gd name="connsiteX0" fmla="*/ 0 w 8991600"/>
                <a:gd name="connsiteY0" fmla="*/ 0 h 6858000"/>
                <a:gd name="connsiteX1" fmla="*/ 8991600 w 8991600"/>
                <a:gd name="connsiteY1" fmla="*/ 0 h 6858000"/>
                <a:gd name="connsiteX2" fmla="*/ 8991600 w 8991600"/>
                <a:gd name="connsiteY2" fmla="*/ 6858000 h 6858000"/>
                <a:gd name="connsiteX3" fmla="*/ 0 w 8991600"/>
                <a:gd name="connsiteY3" fmla="*/ 6858000 h 6858000"/>
                <a:gd name="connsiteX4" fmla="*/ 0 w 8991600"/>
                <a:gd name="connsiteY4" fmla="*/ 0 h 6858000"/>
                <a:gd name="connsiteX0" fmla="*/ 140834 w 9132434"/>
                <a:gd name="connsiteY0" fmla="*/ 0 h 6858000"/>
                <a:gd name="connsiteX1" fmla="*/ 9132434 w 9132434"/>
                <a:gd name="connsiteY1" fmla="*/ 0 h 6858000"/>
                <a:gd name="connsiteX2" fmla="*/ 9132434 w 9132434"/>
                <a:gd name="connsiteY2" fmla="*/ 6858000 h 6858000"/>
                <a:gd name="connsiteX3" fmla="*/ 0 w 9132434"/>
                <a:gd name="connsiteY3" fmla="*/ 6858000 h 6858000"/>
                <a:gd name="connsiteX4" fmla="*/ 140834 w 9132434"/>
                <a:gd name="connsiteY4" fmla="*/ 0 h 6858000"/>
                <a:gd name="connsiteX0" fmla="*/ 140834 w 9132434"/>
                <a:gd name="connsiteY0" fmla="*/ 0 h 6858000"/>
                <a:gd name="connsiteX1" fmla="*/ 9132434 w 9132434"/>
                <a:gd name="connsiteY1" fmla="*/ 0 h 6858000"/>
                <a:gd name="connsiteX2" fmla="*/ 9132434 w 9132434"/>
                <a:gd name="connsiteY2" fmla="*/ 6858000 h 6858000"/>
                <a:gd name="connsiteX3" fmla="*/ 0 w 9132434"/>
                <a:gd name="connsiteY3" fmla="*/ 6858000 h 6858000"/>
                <a:gd name="connsiteX4" fmla="*/ 140834 w 913243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32434" h="6858000">
                  <a:moveTo>
                    <a:pt x="140834" y="0"/>
                  </a:moveTo>
                  <a:lnTo>
                    <a:pt x="9132434" y="0"/>
                  </a:lnTo>
                  <a:lnTo>
                    <a:pt x="9132434" y="6858000"/>
                  </a:lnTo>
                  <a:lnTo>
                    <a:pt x="0" y="6858000"/>
                  </a:lnTo>
                  <a:cubicBezTo>
                    <a:pt x="1225995" y="4769571"/>
                    <a:pt x="1890121" y="2653749"/>
                    <a:pt x="140834"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Trebuchet MS"/>
                <a:ea typeface="+mn-ea"/>
                <a:cs typeface="+mn-cs"/>
              </a:endParaRPr>
            </a:p>
          </p:txBody>
        </p:sp>
        <p:pic>
          <p:nvPicPr>
            <p:cNvPr id="14" name="Picture 10"/>
            <p:cNvPicPr>
              <a:picLocks noChangeAspect="1"/>
            </p:cNvPicPr>
            <p:nvPr userDrawn="1"/>
          </p:nvPicPr>
          <p:blipFill>
            <a:blip r:embed="rId3" cstate="email">
              <a:extLst>
                <a:ext uri="{28A0092B-C50C-407E-A947-70E740481C1C}">
                  <a14:useLocalDpi xmlns:a14="http://schemas.microsoft.com/office/drawing/2010/main"/>
                </a:ext>
              </a:extLst>
            </a:blip>
            <a:srcRect l="22279" r="63603"/>
            <a:stretch>
              <a:fillRect/>
            </a:stretch>
          </p:blipFill>
          <p:spPr bwMode="auto">
            <a:xfrm>
              <a:off x="3435621" y="0"/>
              <a:ext cx="1290638"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0" name="Title 1"/>
          <p:cNvSpPr>
            <a:spLocks noGrp="1"/>
          </p:cNvSpPr>
          <p:nvPr>
            <p:ph type="ctrTitle" hasCustomPrompt="1"/>
          </p:nvPr>
        </p:nvSpPr>
        <p:spPr>
          <a:xfrm>
            <a:off x="4670584" y="548122"/>
            <a:ext cx="4444460" cy="2391713"/>
          </a:xfrm>
        </p:spPr>
        <p:txBody>
          <a:bodyPr anchor="b">
            <a:normAutofit/>
          </a:bodyPr>
          <a:lstStyle>
            <a:lvl1pPr algn="l">
              <a:defRPr sz="4000" baseline="0">
                <a:solidFill>
                  <a:schemeClr val="tx2">
                    <a:lumMod val="75000"/>
                  </a:schemeClr>
                </a:solidFill>
              </a:defRPr>
            </a:lvl1pPr>
          </a:lstStyle>
          <a:p>
            <a:r>
              <a:rPr lang="en-US" dirty="0"/>
              <a:t>Click to edit Master text styles</a:t>
            </a:r>
          </a:p>
        </p:txBody>
      </p:sp>
      <p:sp>
        <p:nvSpPr>
          <p:cNvPr id="21" name="Subtitle 2"/>
          <p:cNvSpPr>
            <a:spLocks noGrp="1"/>
          </p:cNvSpPr>
          <p:nvPr>
            <p:ph type="subTitle" idx="1" hasCustomPrompt="1"/>
          </p:nvPr>
        </p:nvSpPr>
        <p:spPr>
          <a:xfrm>
            <a:off x="4677880" y="2992311"/>
            <a:ext cx="4444460" cy="318910"/>
          </a:xfrm>
        </p:spPr>
        <p:txBody>
          <a:bodyPr>
            <a:noAutofit/>
          </a:bodyPr>
          <a:lstStyle>
            <a:lvl1pPr marL="0" indent="0" algn="l">
              <a:buFont typeface="Arial" panose="020B0604020202020204" pitchFamily="34" charset="0"/>
              <a:buNone/>
              <a:defRPr sz="2000" cap="all" baseline="0">
                <a:solidFill>
                  <a:schemeClr val="tx2">
                    <a:lumMod val="75000"/>
                  </a:schemeClr>
                </a:solidFill>
              </a:defRPr>
            </a:lvl1pPr>
            <a:lvl2pPr marL="192881" indent="0" algn="ctr">
              <a:buNone/>
              <a:defRPr sz="844"/>
            </a:lvl2pPr>
            <a:lvl3pPr marL="385763" indent="0" algn="ctr">
              <a:buNone/>
              <a:defRPr sz="760"/>
            </a:lvl3pPr>
            <a:lvl4pPr marL="578644" indent="0" algn="ctr">
              <a:buNone/>
              <a:defRPr sz="675"/>
            </a:lvl4pPr>
            <a:lvl5pPr marL="771525" indent="0" algn="ctr">
              <a:buNone/>
              <a:defRPr sz="675"/>
            </a:lvl5pPr>
            <a:lvl6pPr marL="964406" indent="0" algn="ctr">
              <a:buNone/>
              <a:defRPr sz="675"/>
            </a:lvl6pPr>
            <a:lvl7pPr marL="1157288" indent="0" algn="ctr">
              <a:buNone/>
              <a:defRPr sz="675"/>
            </a:lvl7pPr>
            <a:lvl8pPr marL="1350169" indent="0" algn="ctr">
              <a:buNone/>
              <a:defRPr sz="675"/>
            </a:lvl8pPr>
            <a:lvl9pPr marL="1543050" indent="0" algn="ctr">
              <a:buNone/>
              <a:defRPr sz="675"/>
            </a:lvl9pPr>
          </a:lstStyle>
          <a:p>
            <a:r>
              <a:rPr lang="en-US" dirty="0"/>
              <a:t>Click to edit Master text styles</a:t>
            </a:r>
          </a:p>
        </p:txBody>
      </p:sp>
      <p:sp>
        <p:nvSpPr>
          <p:cNvPr id="22" name="Text Placeholder 11"/>
          <p:cNvSpPr>
            <a:spLocks noGrp="1"/>
          </p:cNvSpPr>
          <p:nvPr>
            <p:ph type="body" sz="quarter" idx="10"/>
          </p:nvPr>
        </p:nvSpPr>
        <p:spPr>
          <a:xfrm>
            <a:off x="4669067" y="3325277"/>
            <a:ext cx="4456143" cy="343204"/>
          </a:xfrm>
        </p:spPr>
        <p:txBody>
          <a:bodyPr>
            <a:noAutofit/>
          </a:bodyPr>
          <a:lstStyle>
            <a:lvl1pPr marL="0" indent="0" algn="l">
              <a:buFont typeface="Arial" panose="020B0604020202020204" pitchFamily="34" charset="0"/>
              <a:buNone/>
              <a:defRPr sz="1600" i="1">
                <a:solidFill>
                  <a:schemeClr val="tx2">
                    <a:lumMod val="75000"/>
                  </a:schemeClr>
                </a:solidFill>
              </a:defRPr>
            </a:lvl1pPr>
            <a:lvl2pPr marL="192881" indent="0">
              <a:buNone/>
              <a:defRPr sz="675"/>
            </a:lvl2pPr>
            <a:lvl3pPr marL="385763" indent="0">
              <a:buNone/>
              <a:defRPr sz="591"/>
            </a:lvl3pPr>
            <a:lvl4pPr marL="578644" indent="0">
              <a:buNone/>
              <a:defRPr sz="506"/>
            </a:lvl4pPr>
            <a:lvl5pPr marL="771525" indent="0">
              <a:buNone/>
              <a:defRPr sz="506"/>
            </a:lvl5pPr>
          </a:lstStyle>
          <a:p>
            <a:pPr lvl="0"/>
            <a:r>
              <a:rPr lang="en-US" smtClean="0"/>
              <a:t>Click to edit Master text styles</a:t>
            </a:r>
          </a:p>
        </p:txBody>
      </p:sp>
      <p:pic>
        <p:nvPicPr>
          <p:cNvPr id="10" name="Picture 9"/>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4776717" y="4152240"/>
            <a:ext cx="3934346" cy="768169"/>
          </a:xfrm>
          <a:prstGeom prst="rect">
            <a:avLst/>
          </a:prstGeom>
        </p:spPr>
      </p:pic>
    </p:spTree>
    <p:extLst>
      <p:ext uri="{BB962C8B-B14F-4D97-AF65-F5344CB8AC3E}">
        <p14:creationId xmlns:p14="http://schemas.microsoft.com/office/powerpoint/2010/main" val="73453809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2_Title Blue Back">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1" y="0"/>
            <a:ext cx="4635500" cy="5143500"/>
          </a:xfrm>
          <a:prstGeom prst="rect">
            <a:avLst/>
          </a:prstGeom>
        </p:spPr>
      </p:pic>
      <p:grpSp>
        <p:nvGrpSpPr>
          <p:cNvPr id="11" name="Group 10"/>
          <p:cNvGrpSpPr/>
          <p:nvPr/>
        </p:nvGrpSpPr>
        <p:grpSpPr>
          <a:xfrm>
            <a:off x="3406665" y="0"/>
            <a:ext cx="5708379" cy="5143500"/>
            <a:chOff x="3435621" y="0"/>
            <a:chExt cx="5708379" cy="5143500"/>
          </a:xfrm>
        </p:grpSpPr>
        <p:sp useBgFill="1">
          <p:nvSpPr>
            <p:cNvPr id="12" name="Rectangle 8"/>
            <p:cNvSpPr/>
            <p:nvPr userDrawn="1"/>
          </p:nvSpPr>
          <p:spPr>
            <a:xfrm>
              <a:off x="3795913" y="0"/>
              <a:ext cx="5348087" cy="5143500"/>
            </a:xfrm>
            <a:custGeom>
              <a:avLst/>
              <a:gdLst>
                <a:gd name="connsiteX0" fmla="*/ 0 w 8991600"/>
                <a:gd name="connsiteY0" fmla="*/ 0 h 6858000"/>
                <a:gd name="connsiteX1" fmla="*/ 8991600 w 8991600"/>
                <a:gd name="connsiteY1" fmla="*/ 0 h 6858000"/>
                <a:gd name="connsiteX2" fmla="*/ 8991600 w 8991600"/>
                <a:gd name="connsiteY2" fmla="*/ 6858000 h 6858000"/>
                <a:gd name="connsiteX3" fmla="*/ 0 w 8991600"/>
                <a:gd name="connsiteY3" fmla="*/ 6858000 h 6858000"/>
                <a:gd name="connsiteX4" fmla="*/ 0 w 8991600"/>
                <a:gd name="connsiteY4" fmla="*/ 0 h 6858000"/>
                <a:gd name="connsiteX0" fmla="*/ 0 w 8991600"/>
                <a:gd name="connsiteY0" fmla="*/ 0 h 6858000"/>
                <a:gd name="connsiteX1" fmla="*/ 8991600 w 8991600"/>
                <a:gd name="connsiteY1" fmla="*/ 0 h 6858000"/>
                <a:gd name="connsiteX2" fmla="*/ 8991600 w 8991600"/>
                <a:gd name="connsiteY2" fmla="*/ 6858000 h 6858000"/>
                <a:gd name="connsiteX3" fmla="*/ 0 w 8991600"/>
                <a:gd name="connsiteY3" fmla="*/ 6858000 h 6858000"/>
                <a:gd name="connsiteX4" fmla="*/ 0 w 8991600"/>
                <a:gd name="connsiteY4" fmla="*/ 0 h 6858000"/>
                <a:gd name="connsiteX0" fmla="*/ 0 w 8991600"/>
                <a:gd name="connsiteY0" fmla="*/ 0 h 6858000"/>
                <a:gd name="connsiteX1" fmla="*/ 8991600 w 8991600"/>
                <a:gd name="connsiteY1" fmla="*/ 0 h 6858000"/>
                <a:gd name="connsiteX2" fmla="*/ 8991600 w 8991600"/>
                <a:gd name="connsiteY2" fmla="*/ 6858000 h 6858000"/>
                <a:gd name="connsiteX3" fmla="*/ 0 w 8991600"/>
                <a:gd name="connsiteY3" fmla="*/ 6858000 h 6858000"/>
                <a:gd name="connsiteX4" fmla="*/ 0 w 8991600"/>
                <a:gd name="connsiteY4" fmla="*/ 0 h 6858000"/>
                <a:gd name="connsiteX0" fmla="*/ 0 w 8991600"/>
                <a:gd name="connsiteY0" fmla="*/ 0 h 6858000"/>
                <a:gd name="connsiteX1" fmla="*/ 8991600 w 8991600"/>
                <a:gd name="connsiteY1" fmla="*/ 0 h 6858000"/>
                <a:gd name="connsiteX2" fmla="*/ 8991600 w 8991600"/>
                <a:gd name="connsiteY2" fmla="*/ 6858000 h 6858000"/>
                <a:gd name="connsiteX3" fmla="*/ 0 w 8991600"/>
                <a:gd name="connsiteY3" fmla="*/ 6858000 h 6858000"/>
                <a:gd name="connsiteX4" fmla="*/ 0 w 8991600"/>
                <a:gd name="connsiteY4" fmla="*/ 0 h 6858000"/>
                <a:gd name="connsiteX0" fmla="*/ 140834 w 9132434"/>
                <a:gd name="connsiteY0" fmla="*/ 0 h 6858000"/>
                <a:gd name="connsiteX1" fmla="*/ 9132434 w 9132434"/>
                <a:gd name="connsiteY1" fmla="*/ 0 h 6858000"/>
                <a:gd name="connsiteX2" fmla="*/ 9132434 w 9132434"/>
                <a:gd name="connsiteY2" fmla="*/ 6858000 h 6858000"/>
                <a:gd name="connsiteX3" fmla="*/ 0 w 9132434"/>
                <a:gd name="connsiteY3" fmla="*/ 6858000 h 6858000"/>
                <a:gd name="connsiteX4" fmla="*/ 140834 w 9132434"/>
                <a:gd name="connsiteY4" fmla="*/ 0 h 6858000"/>
                <a:gd name="connsiteX0" fmla="*/ 140834 w 9132434"/>
                <a:gd name="connsiteY0" fmla="*/ 0 h 6858000"/>
                <a:gd name="connsiteX1" fmla="*/ 9132434 w 9132434"/>
                <a:gd name="connsiteY1" fmla="*/ 0 h 6858000"/>
                <a:gd name="connsiteX2" fmla="*/ 9132434 w 9132434"/>
                <a:gd name="connsiteY2" fmla="*/ 6858000 h 6858000"/>
                <a:gd name="connsiteX3" fmla="*/ 0 w 9132434"/>
                <a:gd name="connsiteY3" fmla="*/ 6858000 h 6858000"/>
                <a:gd name="connsiteX4" fmla="*/ 140834 w 913243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32434" h="6858000">
                  <a:moveTo>
                    <a:pt x="140834" y="0"/>
                  </a:moveTo>
                  <a:lnTo>
                    <a:pt x="9132434" y="0"/>
                  </a:lnTo>
                  <a:lnTo>
                    <a:pt x="9132434" y="6858000"/>
                  </a:lnTo>
                  <a:lnTo>
                    <a:pt x="0" y="6858000"/>
                  </a:lnTo>
                  <a:cubicBezTo>
                    <a:pt x="1225995" y="4769571"/>
                    <a:pt x="1890121" y="2653749"/>
                    <a:pt x="140834"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Trebuchet MS"/>
                <a:ea typeface="+mn-ea"/>
                <a:cs typeface="+mn-cs"/>
              </a:endParaRPr>
            </a:p>
          </p:txBody>
        </p:sp>
        <p:pic>
          <p:nvPicPr>
            <p:cNvPr id="13" name="Picture 10"/>
            <p:cNvPicPr>
              <a:picLocks noChangeAspect="1"/>
            </p:cNvPicPr>
            <p:nvPr userDrawn="1"/>
          </p:nvPicPr>
          <p:blipFill>
            <a:blip r:embed="rId3" cstate="email">
              <a:extLst>
                <a:ext uri="{28A0092B-C50C-407E-A947-70E740481C1C}">
                  <a14:useLocalDpi xmlns:a14="http://schemas.microsoft.com/office/drawing/2010/main"/>
                </a:ext>
              </a:extLst>
            </a:blip>
            <a:srcRect l="22279" r="63603"/>
            <a:stretch>
              <a:fillRect/>
            </a:stretch>
          </p:blipFill>
          <p:spPr bwMode="auto">
            <a:xfrm>
              <a:off x="3435621" y="0"/>
              <a:ext cx="1290638"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9" name="Title 1"/>
          <p:cNvSpPr>
            <a:spLocks noGrp="1"/>
          </p:cNvSpPr>
          <p:nvPr>
            <p:ph type="ctrTitle" hasCustomPrompt="1"/>
          </p:nvPr>
        </p:nvSpPr>
        <p:spPr>
          <a:xfrm>
            <a:off x="4670584" y="548122"/>
            <a:ext cx="4444460" cy="2391713"/>
          </a:xfrm>
        </p:spPr>
        <p:txBody>
          <a:bodyPr anchor="b">
            <a:normAutofit/>
          </a:bodyPr>
          <a:lstStyle>
            <a:lvl1pPr algn="l">
              <a:defRPr sz="4000" baseline="0">
                <a:solidFill>
                  <a:schemeClr val="tx2">
                    <a:lumMod val="75000"/>
                  </a:schemeClr>
                </a:solidFill>
              </a:defRPr>
            </a:lvl1pPr>
          </a:lstStyle>
          <a:p>
            <a:r>
              <a:rPr lang="en-US" dirty="0"/>
              <a:t>Click to edit Master text styles</a:t>
            </a:r>
          </a:p>
        </p:txBody>
      </p:sp>
      <p:sp>
        <p:nvSpPr>
          <p:cNvPr id="20" name="Subtitle 2"/>
          <p:cNvSpPr>
            <a:spLocks noGrp="1"/>
          </p:cNvSpPr>
          <p:nvPr>
            <p:ph type="subTitle" idx="1" hasCustomPrompt="1"/>
          </p:nvPr>
        </p:nvSpPr>
        <p:spPr>
          <a:xfrm>
            <a:off x="4677880" y="2992311"/>
            <a:ext cx="4444460" cy="318910"/>
          </a:xfrm>
        </p:spPr>
        <p:txBody>
          <a:bodyPr>
            <a:noAutofit/>
          </a:bodyPr>
          <a:lstStyle>
            <a:lvl1pPr marL="0" indent="0" algn="l">
              <a:buFont typeface="Arial" panose="020B0604020202020204" pitchFamily="34" charset="0"/>
              <a:buNone/>
              <a:defRPr sz="2000" cap="all" baseline="0">
                <a:solidFill>
                  <a:schemeClr val="tx2">
                    <a:lumMod val="75000"/>
                  </a:schemeClr>
                </a:solidFill>
              </a:defRPr>
            </a:lvl1pPr>
            <a:lvl2pPr marL="192881" indent="0" algn="ctr">
              <a:buNone/>
              <a:defRPr sz="844"/>
            </a:lvl2pPr>
            <a:lvl3pPr marL="385763" indent="0" algn="ctr">
              <a:buNone/>
              <a:defRPr sz="760"/>
            </a:lvl3pPr>
            <a:lvl4pPr marL="578644" indent="0" algn="ctr">
              <a:buNone/>
              <a:defRPr sz="675"/>
            </a:lvl4pPr>
            <a:lvl5pPr marL="771525" indent="0" algn="ctr">
              <a:buNone/>
              <a:defRPr sz="675"/>
            </a:lvl5pPr>
            <a:lvl6pPr marL="964406" indent="0" algn="ctr">
              <a:buNone/>
              <a:defRPr sz="675"/>
            </a:lvl6pPr>
            <a:lvl7pPr marL="1157288" indent="0" algn="ctr">
              <a:buNone/>
              <a:defRPr sz="675"/>
            </a:lvl7pPr>
            <a:lvl8pPr marL="1350169" indent="0" algn="ctr">
              <a:buNone/>
              <a:defRPr sz="675"/>
            </a:lvl8pPr>
            <a:lvl9pPr marL="1543050" indent="0" algn="ctr">
              <a:buNone/>
              <a:defRPr sz="675"/>
            </a:lvl9pPr>
          </a:lstStyle>
          <a:p>
            <a:r>
              <a:rPr lang="en-US" dirty="0"/>
              <a:t>Click to edit Master text styles</a:t>
            </a:r>
          </a:p>
        </p:txBody>
      </p:sp>
      <p:sp>
        <p:nvSpPr>
          <p:cNvPr id="21" name="Text Placeholder 11"/>
          <p:cNvSpPr>
            <a:spLocks noGrp="1"/>
          </p:cNvSpPr>
          <p:nvPr>
            <p:ph type="body" sz="quarter" idx="10"/>
          </p:nvPr>
        </p:nvSpPr>
        <p:spPr>
          <a:xfrm>
            <a:off x="4669067" y="3325277"/>
            <a:ext cx="4456143" cy="343204"/>
          </a:xfrm>
        </p:spPr>
        <p:txBody>
          <a:bodyPr>
            <a:noAutofit/>
          </a:bodyPr>
          <a:lstStyle>
            <a:lvl1pPr marL="0" indent="0" algn="l">
              <a:buFont typeface="Arial" panose="020B0604020202020204" pitchFamily="34" charset="0"/>
              <a:buNone/>
              <a:defRPr sz="1600" i="1">
                <a:solidFill>
                  <a:schemeClr val="tx2">
                    <a:lumMod val="75000"/>
                  </a:schemeClr>
                </a:solidFill>
              </a:defRPr>
            </a:lvl1pPr>
            <a:lvl2pPr marL="192881" indent="0">
              <a:buNone/>
              <a:defRPr sz="675"/>
            </a:lvl2pPr>
            <a:lvl3pPr marL="385763" indent="0">
              <a:buNone/>
              <a:defRPr sz="591"/>
            </a:lvl3pPr>
            <a:lvl4pPr marL="578644" indent="0">
              <a:buNone/>
              <a:defRPr sz="506"/>
            </a:lvl4pPr>
            <a:lvl5pPr marL="771525" indent="0">
              <a:buNone/>
              <a:defRPr sz="506"/>
            </a:lvl5pPr>
          </a:lstStyle>
          <a:p>
            <a:pPr lvl="0"/>
            <a:r>
              <a:rPr lang="en-US" smtClean="0"/>
              <a:t>Click to edit Master text styles</a:t>
            </a:r>
          </a:p>
        </p:txBody>
      </p:sp>
      <p:pic>
        <p:nvPicPr>
          <p:cNvPr id="10" name="Picture 9"/>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4776717" y="4152240"/>
            <a:ext cx="3934346" cy="768169"/>
          </a:xfrm>
          <a:prstGeom prst="rect">
            <a:avLst/>
          </a:prstGeom>
        </p:spPr>
      </p:pic>
    </p:spTree>
    <p:extLst>
      <p:ext uri="{BB962C8B-B14F-4D97-AF65-F5344CB8AC3E}">
        <p14:creationId xmlns:p14="http://schemas.microsoft.com/office/powerpoint/2010/main" val="323869394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xmlns:p14="http://schemas.microsoft.com/office/powerpoint/2010/main">
        <p:fade/>
      </p:transition>
    </mc:Fallback>
  </mc:AlternateContent>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3_Title Blue Back">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1" y="0"/>
            <a:ext cx="4673601" cy="5143500"/>
          </a:xfrm>
          <a:prstGeom prst="rect">
            <a:avLst/>
          </a:prstGeom>
        </p:spPr>
      </p:pic>
      <p:grpSp>
        <p:nvGrpSpPr>
          <p:cNvPr id="11" name="Group 10"/>
          <p:cNvGrpSpPr/>
          <p:nvPr/>
        </p:nvGrpSpPr>
        <p:grpSpPr>
          <a:xfrm>
            <a:off x="3406665" y="0"/>
            <a:ext cx="5708379" cy="5143500"/>
            <a:chOff x="3435621" y="0"/>
            <a:chExt cx="5708379" cy="5143500"/>
          </a:xfrm>
        </p:grpSpPr>
        <p:sp useBgFill="1">
          <p:nvSpPr>
            <p:cNvPr id="12" name="Rectangle 8"/>
            <p:cNvSpPr/>
            <p:nvPr userDrawn="1"/>
          </p:nvSpPr>
          <p:spPr>
            <a:xfrm>
              <a:off x="3795913" y="0"/>
              <a:ext cx="5348087" cy="5143500"/>
            </a:xfrm>
            <a:custGeom>
              <a:avLst/>
              <a:gdLst>
                <a:gd name="connsiteX0" fmla="*/ 0 w 8991600"/>
                <a:gd name="connsiteY0" fmla="*/ 0 h 6858000"/>
                <a:gd name="connsiteX1" fmla="*/ 8991600 w 8991600"/>
                <a:gd name="connsiteY1" fmla="*/ 0 h 6858000"/>
                <a:gd name="connsiteX2" fmla="*/ 8991600 w 8991600"/>
                <a:gd name="connsiteY2" fmla="*/ 6858000 h 6858000"/>
                <a:gd name="connsiteX3" fmla="*/ 0 w 8991600"/>
                <a:gd name="connsiteY3" fmla="*/ 6858000 h 6858000"/>
                <a:gd name="connsiteX4" fmla="*/ 0 w 8991600"/>
                <a:gd name="connsiteY4" fmla="*/ 0 h 6858000"/>
                <a:gd name="connsiteX0" fmla="*/ 0 w 8991600"/>
                <a:gd name="connsiteY0" fmla="*/ 0 h 6858000"/>
                <a:gd name="connsiteX1" fmla="*/ 8991600 w 8991600"/>
                <a:gd name="connsiteY1" fmla="*/ 0 h 6858000"/>
                <a:gd name="connsiteX2" fmla="*/ 8991600 w 8991600"/>
                <a:gd name="connsiteY2" fmla="*/ 6858000 h 6858000"/>
                <a:gd name="connsiteX3" fmla="*/ 0 w 8991600"/>
                <a:gd name="connsiteY3" fmla="*/ 6858000 h 6858000"/>
                <a:gd name="connsiteX4" fmla="*/ 0 w 8991600"/>
                <a:gd name="connsiteY4" fmla="*/ 0 h 6858000"/>
                <a:gd name="connsiteX0" fmla="*/ 0 w 8991600"/>
                <a:gd name="connsiteY0" fmla="*/ 0 h 6858000"/>
                <a:gd name="connsiteX1" fmla="*/ 8991600 w 8991600"/>
                <a:gd name="connsiteY1" fmla="*/ 0 h 6858000"/>
                <a:gd name="connsiteX2" fmla="*/ 8991600 w 8991600"/>
                <a:gd name="connsiteY2" fmla="*/ 6858000 h 6858000"/>
                <a:gd name="connsiteX3" fmla="*/ 0 w 8991600"/>
                <a:gd name="connsiteY3" fmla="*/ 6858000 h 6858000"/>
                <a:gd name="connsiteX4" fmla="*/ 0 w 8991600"/>
                <a:gd name="connsiteY4" fmla="*/ 0 h 6858000"/>
                <a:gd name="connsiteX0" fmla="*/ 0 w 8991600"/>
                <a:gd name="connsiteY0" fmla="*/ 0 h 6858000"/>
                <a:gd name="connsiteX1" fmla="*/ 8991600 w 8991600"/>
                <a:gd name="connsiteY1" fmla="*/ 0 h 6858000"/>
                <a:gd name="connsiteX2" fmla="*/ 8991600 w 8991600"/>
                <a:gd name="connsiteY2" fmla="*/ 6858000 h 6858000"/>
                <a:gd name="connsiteX3" fmla="*/ 0 w 8991600"/>
                <a:gd name="connsiteY3" fmla="*/ 6858000 h 6858000"/>
                <a:gd name="connsiteX4" fmla="*/ 0 w 8991600"/>
                <a:gd name="connsiteY4" fmla="*/ 0 h 6858000"/>
                <a:gd name="connsiteX0" fmla="*/ 140834 w 9132434"/>
                <a:gd name="connsiteY0" fmla="*/ 0 h 6858000"/>
                <a:gd name="connsiteX1" fmla="*/ 9132434 w 9132434"/>
                <a:gd name="connsiteY1" fmla="*/ 0 h 6858000"/>
                <a:gd name="connsiteX2" fmla="*/ 9132434 w 9132434"/>
                <a:gd name="connsiteY2" fmla="*/ 6858000 h 6858000"/>
                <a:gd name="connsiteX3" fmla="*/ 0 w 9132434"/>
                <a:gd name="connsiteY3" fmla="*/ 6858000 h 6858000"/>
                <a:gd name="connsiteX4" fmla="*/ 140834 w 9132434"/>
                <a:gd name="connsiteY4" fmla="*/ 0 h 6858000"/>
                <a:gd name="connsiteX0" fmla="*/ 140834 w 9132434"/>
                <a:gd name="connsiteY0" fmla="*/ 0 h 6858000"/>
                <a:gd name="connsiteX1" fmla="*/ 9132434 w 9132434"/>
                <a:gd name="connsiteY1" fmla="*/ 0 h 6858000"/>
                <a:gd name="connsiteX2" fmla="*/ 9132434 w 9132434"/>
                <a:gd name="connsiteY2" fmla="*/ 6858000 h 6858000"/>
                <a:gd name="connsiteX3" fmla="*/ 0 w 9132434"/>
                <a:gd name="connsiteY3" fmla="*/ 6858000 h 6858000"/>
                <a:gd name="connsiteX4" fmla="*/ 140834 w 913243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32434" h="6858000">
                  <a:moveTo>
                    <a:pt x="140834" y="0"/>
                  </a:moveTo>
                  <a:lnTo>
                    <a:pt x="9132434" y="0"/>
                  </a:lnTo>
                  <a:lnTo>
                    <a:pt x="9132434" y="6858000"/>
                  </a:lnTo>
                  <a:lnTo>
                    <a:pt x="0" y="6858000"/>
                  </a:lnTo>
                  <a:cubicBezTo>
                    <a:pt x="1225995" y="4769571"/>
                    <a:pt x="1890121" y="2653749"/>
                    <a:pt x="140834"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Trebuchet MS"/>
                <a:ea typeface="+mn-ea"/>
                <a:cs typeface="+mn-cs"/>
              </a:endParaRPr>
            </a:p>
          </p:txBody>
        </p:sp>
        <p:pic>
          <p:nvPicPr>
            <p:cNvPr id="13" name="Picture 10"/>
            <p:cNvPicPr>
              <a:picLocks noChangeAspect="1"/>
            </p:cNvPicPr>
            <p:nvPr userDrawn="1"/>
          </p:nvPicPr>
          <p:blipFill>
            <a:blip r:embed="rId3" cstate="email">
              <a:extLst>
                <a:ext uri="{28A0092B-C50C-407E-A947-70E740481C1C}">
                  <a14:useLocalDpi xmlns:a14="http://schemas.microsoft.com/office/drawing/2010/main"/>
                </a:ext>
              </a:extLst>
            </a:blip>
            <a:srcRect l="22279" r="63603"/>
            <a:stretch>
              <a:fillRect/>
            </a:stretch>
          </p:blipFill>
          <p:spPr bwMode="auto">
            <a:xfrm>
              <a:off x="3435621" y="0"/>
              <a:ext cx="1290638"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9" name="Title 1"/>
          <p:cNvSpPr>
            <a:spLocks noGrp="1"/>
          </p:cNvSpPr>
          <p:nvPr>
            <p:ph type="ctrTitle" hasCustomPrompt="1"/>
          </p:nvPr>
        </p:nvSpPr>
        <p:spPr>
          <a:xfrm>
            <a:off x="4670584" y="548122"/>
            <a:ext cx="4444460" cy="2391713"/>
          </a:xfrm>
        </p:spPr>
        <p:txBody>
          <a:bodyPr anchor="b">
            <a:normAutofit/>
          </a:bodyPr>
          <a:lstStyle>
            <a:lvl1pPr algn="l">
              <a:defRPr sz="4000" baseline="0">
                <a:solidFill>
                  <a:schemeClr val="tx2">
                    <a:lumMod val="75000"/>
                  </a:schemeClr>
                </a:solidFill>
              </a:defRPr>
            </a:lvl1pPr>
          </a:lstStyle>
          <a:p>
            <a:r>
              <a:rPr lang="en-US" dirty="0"/>
              <a:t>Click to edit Master text styles</a:t>
            </a:r>
          </a:p>
        </p:txBody>
      </p:sp>
      <p:sp>
        <p:nvSpPr>
          <p:cNvPr id="20" name="Subtitle 2"/>
          <p:cNvSpPr>
            <a:spLocks noGrp="1"/>
          </p:cNvSpPr>
          <p:nvPr>
            <p:ph type="subTitle" idx="1" hasCustomPrompt="1"/>
          </p:nvPr>
        </p:nvSpPr>
        <p:spPr>
          <a:xfrm>
            <a:off x="4677880" y="2992311"/>
            <a:ext cx="4444460" cy="318910"/>
          </a:xfrm>
        </p:spPr>
        <p:txBody>
          <a:bodyPr>
            <a:noAutofit/>
          </a:bodyPr>
          <a:lstStyle>
            <a:lvl1pPr marL="0" indent="0" algn="l">
              <a:buFont typeface="Arial" panose="020B0604020202020204" pitchFamily="34" charset="0"/>
              <a:buNone/>
              <a:defRPr sz="2000" cap="all" baseline="0">
                <a:solidFill>
                  <a:schemeClr val="tx2">
                    <a:lumMod val="75000"/>
                  </a:schemeClr>
                </a:solidFill>
              </a:defRPr>
            </a:lvl1pPr>
            <a:lvl2pPr marL="192881" indent="0" algn="ctr">
              <a:buNone/>
              <a:defRPr sz="844"/>
            </a:lvl2pPr>
            <a:lvl3pPr marL="385763" indent="0" algn="ctr">
              <a:buNone/>
              <a:defRPr sz="760"/>
            </a:lvl3pPr>
            <a:lvl4pPr marL="578644" indent="0" algn="ctr">
              <a:buNone/>
              <a:defRPr sz="675"/>
            </a:lvl4pPr>
            <a:lvl5pPr marL="771525" indent="0" algn="ctr">
              <a:buNone/>
              <a:defRPr sz="675"/>
            </a:lvl5pPr>
            <a:lvl6pPr marL="964406" indent="0" algn="ctr">
              <a:buNone/>
              <a:defRPr sz="675"/>
            </a:lvl6pPr>
            <a:lvl7pPr marL="1157288" indent="0" algn="ctr">
              <a:buNone/>
              <a:defRPr sz="675"/>
            </a:lvl7pPr>
            <a:lvl8pPr marL="1350169" indent="0" algn="ctr">
              <a:buNone/>
              <a:defRPr sz="675"/>
            </a:lvl8pPr>
            <a:lvl9pPr marL="1543050" indent="0" algn="ctr">
              <a:buNone/>
              <a:defRPr sz="675"/>
            </a:lvl9pPr>
          </a:lstStyle>
          <a:p>
            <a:r>
              <a:rPr lang="en-US" dirty="0"/>
              <a:t>Click to edit Master text styles</a:t>
            </a:r>
          </a:p>
        </p:txBody>
      </p:sp>
      <p:sp>
        <p:nvSpPr>
          <p:cNvPr id="21" name="Text Placeholder 11"/>
          <p:cNvSpPr>
            <a:spLocks noGrp="1"/>
          </p:cNvSpPr>
          <p:nvPr>
            <p:ph type="body" sz="quarter" idx="10"/>
          </p:nvPr>
        </p:nvSpPr>
        <p:spPr>
          <a:xfrm>
            <a:off x="4669067" y="3325277"/>
            <a:ext cx="4456143" cy="343204"/>
          </a:xfrm>
        </p:spPr>
        <p:txBody>
          <a:bodyPr>
            <a:noAutofit/>
          </a:bodyPr>
          <a:lstStyle>
            <a:lvl1pPr marL="0" indent="0" algn="l">
              <a:buFont typeface="Arial" panose="020B0604020202020204" pitchFamily="34" charset="0"/>
              <a:buNone/>
              <a:defRPr sz="1600" i="1">
                <a:solidFill>
                  <a:schemeClr val="tx2">
                    <a:lumMod val="75000"/>
                  </a:schemeClr>
                </a:solidFill>
              </a:defRPr>
            </a:lvl1pPr>
            <a:lvl2pPr marL="192881" indent="0">
              <a:buNone/>
              <a:defRPr sz="675"/>
            </a:lvl2pPr>
            <a:lvl3pPr marL="385763" indent="0">
              <a:buNone/>
              <a:defRPr sz="591"/>
            </a:lvl3pPr>
            <a:lvl4pPr marL="578644" indent="0">
              <a:buNone/>
              <a:defRPr sz="506"/>
            </a:lvl4pPr>
            <a:lvl5pPr marL="771525" indent="0">
              <a:buNone/>
              <a:defRPr sz="506"/>
            </a:lvl5pPr>
          </a:lstStyle>
          <a:p>
            <a:pPr lvl="0"/>
            <a:r>
              <a:rPr lang="en-US" smtClean="0"/>
              <a:t>Click to edit Master text styles</a:t>
            </a:r>
          </a:p>
        </p:txBody>
      </p:sp>
      <p:pic>
        <p:nvPicPr>
          <p:cNvPr id="10" name="Picture 9"/>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4776717" y="4152240"/>
            <a:ext cx="3934346" cy="768169"/>
          </a:xfrm>
          <a:prstGeom prst="rect">
            <a:avLst/>
          </a:prstGeom>
        </p:spPr>
      </p:pic>
    </p:spTree>
    <p:extLst>
      <p:ext uri="{BB962C8B-B14F-4D97-AF65-F5344CB8AC3E}">
        <p14:creationId xmlns:p14="http://schemas.microsoft.com/office/powerpoint/2010/main" val="4569567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xmlns:p14="http://schemas.microsoft.com/office/powerpoint/2010/main">
        <p:fade/>
      </p:transition>
    </mc:Fallback>
  </mc:AlternateContent>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4_Title Blue Back">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6000750" cy="5143500"/>
          </a:xfrm>
          <a:prstGeom prst="rect">
            <a:avLst/>
          </a:prstGeom>
        </p:spPr>
      </p:pic>
      <p:grpSp>
        <p:nvGrpSpPr>
          <p:cNvPr id="11" name="Group 10"/>
          <p:cNvGrpSpPr/>
          <p:nvPr/>
        </p:nvGrpSpPr>
        <p:grpSpPr>
          <a:xfrm>
            <a:off x="3406665" y="0"/>
            <a:ext cx="5708379" cy="5143500"/>
            <a:chOff x="3435621" y="0"/>
            <a:chExt cx="5708379" cy="5143500"/>
          </a:xfrm>
        </p:grpSpPr>
        <p:sp useBgFill="1">
          <p:nvSpPr>
            <p:cNvPr id="12" name="Rectangle 8"/>
            <p:cNvSpPr/>
            <p:nvPr userDrawn="1"/>
          </p:nvSpPr>
          <p:spPr>
            <a:xfrm>
              <a:off x="3795913" y="0"/>
              <a:ext cx="5348087" cy="5143500"/>
            </a:xfrm>
            <a:custGeom>
              <a:avLst/>
              <a:gdLst>
                <a:gd name="connsiteX0" fmla="*/ 0 w 8991600"/>
                <a:gd name="connsiteY0" fmla="*/ 0 h 6858000"/>
                <a:gd name="connsiteX1" fmla="*/ 8991600 w 8991600"/>
                <a:gd name="connsiteY1" fmla="*/ 0 h 6858000"/>
                <a:gd name="connsiteX2" fmla="*/ 8991600 w 8991600"/>
                <a:gd name="connsiteY2" fmla="*/ 6858000 h 6858000"/>
                <a:gd name="connsiteX3" fmla="*/ 0 w 8991600"/>
                <a:gd name="connsiteY3" fmla="*/ 6858000 h 6858000"/>
                <a:gd name="connsiteX4" fmla="*/ 0 w 8991600"/>
                <a:gd name="connsiteY4" fmla="*/ 0 h 6858000"/>
                <a:gd name="connsiteX0" fmla="*/ 0 w 8991600"/>
                <a:gd name="connsiteY0" fmla="*/ 0 h 6858000"/>
                <a:gd name="connsiteX1" fmla="*/ 8991600 w 8991600"/>
                <a:gd name="connsiteY1" fmla="*/ 0 h 6858000"/>
                <a:gd name="connsiteX2" fmla="*/ 8991600 w 8991600"/>
                <a:gd name="connsiteY2" fmla="*/ 6858000 h 6858000"/>
                <a:gd name="connsiteX3" fmla="*/ 0 w 8991600"/>
                <a:gd name="connsiteY3" fmla="*/ 6858000 h 6858000"/>
                <a:gd name="connsiteX4" fmla="*/ 0 w 8991600"/>
                <a:gd name="connsiteY4" fmla="*/ 0 h 6858000"/>
                <a:gd name="connsiteX0" fmla="*/ 0 w 8991600"/>
                <a:gd name="connsiteY0" fmla="*/ 0 h 6858000"/>
                <a:gd name="connsiteX1" fmla="*/ 8991600 w 8991600"/>
                <a:gd name="connsiteY1" fmla="*/ 0 h 6858000"/>
                <a:gd name="connsiteX2" fmla="*/ 8991600 w 8991600"/>
                <a:gd name="connsiteY2" fmla="*/ 6858000 h 6858000"/>
                <a:gd name="connsiteX3" fmla="*/ 0 w 8991600"/>
                <a:gd name="connsiteY3" fmla="*/ 6858000 h 6858000"/>
                <a:gd name="connsiteX4" fmla="*/ 0 w 8991600"/>
                <a:gd name="connsiteY4" fmla="*/ 0 h 6858000"/>
                <a:gd name="connsiteX0" fmla="*/ 0 w 8991600"/>
                <a:gd name="connsiteY0" fmla="*/ 0 h 6858000"/>
                <a:gd name="connsiteX1" fmla="*/ 8991600 w 8991600"/>
                <a:gd name="connsiteY1" fmla="*/ 0 h 6858000"/>
                <a:gd name="connsiteX2" fmla="*/ 8991600 w 8991600"/>
                <a:gd name="connsiteY2" fmla="*/ 6858000 h 6858000"/>
                <a:gd name="connsiteX3" fmla="*/ 0 w 8991600"/>
                <a:gd name="connsiteY3" fmla="*/ 6858000 h 6858000"/>
                <a:gd name="connsiteX4" fmla="*/ 0 w 8991600"/>
                <a:gd name="connsiteY4" fmla="*/ 0 h 6858000"/>
                <a:gd name="connsiteX0" fmla="*/ 140834 w 9132434"/>
                <a:gd name="connsiteY0" fmla="*/ 0 h 6858000"/>
                <a:gd name="connsiteX1" fmla="*/ 9132434 w 9132434"/>
                <a:gd name="connsiteY1" fmla="*/ 0 h 6858000"/>
                <a:gd name="connsiteX2" fmla="*/ 9132434 w 9132434"/>
                <a:gd name="connsiteY2" fmla="*/ 6858000 h 6858000"/>
                <a:gd name="connsiteX3" fmla="*/ 0 w 9132434"/>
                <a:gd name="connsiteY3" fmla="*/ 6858000 h 6858000"/>
                <a:gd name="connsiteX4" fmla="*/ 140834 w 9132434"/>
                <a:gd name="connsiteY4" fmla="*/ 0 h 6858000"/>
                <a:gd name="connsiteX0" fmla="*/ 140834 w 9132434"/>
                <a:gd name="connsiteY0" fmla="*/ 0 h 6858000"/>
                <a:gd name="connsiteX1" fmla="*/ 9132434 w 9132434"/>
                <a:gd name="connsiteY1" fmla="*/ 0 h 6858000"/>
                <a:gd name="connsiteX2" fmla="*/ 9132434 w 9132434"/>
                <a:gd name="connsiteY2" fmla="*/ 6858000 h 6858000"/>
                <a:gd name="connsiteX3" fmla="*/ 0 w 9132434"/>
                <a:gd name="connsiteY3" fmla="*/ 6858000 h 6858000"/>
                <a:gd name="connsiteX4" fmla="*/ 140834 w 913243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32434" h="6858000">
                  <a:moveTo>
                    <a:pt x="140834" y="0"/>
                  </a:moveTo>
                  <a:lnTo>
                    <a:pt x="9132434" y="0"/>
                  </a:lnTo>
                  <a:lnTo>
                    <a:pt x="9132434" y="6858000"/>
                  </a:lnTo>
                  <a:lnTo>
                    <a:pt x="0" y="6858000"/>
                  </a:lnTo>
                  <a:cubicBezTo>
                    <a:pt x="1225995" y="4769571"/>
                    <a:pt x="1890121" y="2653749"/>
                    <a:pt x="140834"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Trebuchet MS"/>
                <a:ea typeface="+mn-ea"/>
                <a:cs typeface="+mn-cs"/>
              </a:endParaRPr>
            </a:p>
          </p:txBody>
        </p:sp>
        <p:pic>
          <p:nvPicPr>
            <p:cNvPr id="13" name="Picture 10"/>
            <p:cNvPicPr>
              <a:picLocks noChangeAspect="1"/>
            </p:cNvPicPr>
            <p:nvPr userDrawn="1"/>
          </p:nvPicPr>
          <p:blipFill>
            <a:blip r:embed="rId3" cstate="email">
              <a:extLst>
                <a:ext uri="{28A0092B-C50C-407E-A947-70E740481C1C}">
                  <a14:useLocalDpi xmlns:a14="http://schemas.microsoft.com/office/drawing/2010/main"/>
                </a:ext>
              </a:extLst>
            </a:blip>
            <a:srcRect l="22279" r="63603"/>
            <a:stretch>
              <a:fillRect/>
            </a:stretch>
          </p:blipFill>
          <p:spPr bwMode="auto">
            <a:xfrm>
              <a:off x="3435621" y="0"/>
              <a:ext cx="1290638"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9" name="Title 1"/>
          <p:cNvSpPr>
            <a:spLocks noGrp="1"/>
          </p:cNvSpPr>
          <p:nvPr>
            <p:ph type="ctrTitle" hasCustomPrompt="1"/>
          </p:nvPr>
        </p:nvSpPr>
        <p:spPr>
          <a:xfrm>
            <a:off x="4670584" y="548122"/>
            <a:ext cx="4444460" cy="2391713"/>
          </a:xfrm>
        </p:spPr>
        <p:txBody>
          <a:bodyPr anchor="b">
            <a:normAutofit/>
          </a:bodyPr>
          <a:lstStyle>
            <a:lvl1pPr algn="l">
              <a:defRPr sz="4000" baseline="0">
                <a:solidFill>
                  <a:schemeClr val="tx2">
                    <a:lumMod val="75000"/>
                  </a:schemeClr>
                </a:solidFill>
              </a:defRPr>
            </a:lvl1pPr>
          </a:lstStyle>
          <a:p>
            <a:r>
              <a:rPr lang="en-US" dirty="0"/>
              <a:t>Click to edit Master text styles</a:t>
            </a:r>
          </a:p>
        </p:txBody>
      </p:sp>
      <p:sp>
        <p:nvSpPr>
          <p:cNvPr id="20" name="Subtitle 2"/>
          <p:cNvSpPr>
            <a:spLocks noGrp="1"/>
          </p:cNvSpPr>
          <p:nvPr>
            <p:ph type="subTitle" idx="1" hasCustomPrompt="1"/>
          </p:nvPr>
        </p:nvSpPr>
        <p:spPr>
          <a:xfrm>
            <a:off x="4677880" y="2992311"/>
            <a:ext cx="4444460" cy="318910"/>
          </a:xfrm>
        </p:spPr>
        <p:txBody>
          <a:bodyPr>
            <a:noAutofit/>
          </a:bodyPr>
          <a:lstStyle>
            <a:lvl1pPr marL="0" indent="0" algn="l">
              <a:buFont typeface="Arial" panose="020B0604020202020204" pitchFamily="34" charset="0"/>
              <a:buNone/>
              <a:defRPr sz="2000" cap="all" baseline="0">
                <a:solidFill>
                  <a:schemeClr val="tx2">
                    <a:lumMod val="75000"/>
                  </a:schemeClr>
                </a:solidFill>
              </a:defRPr>
            </a:lvl1pPr>
            <a:lvl2pPr marL="192881" indent="0" algn="ctr">
              <a:buNone/>
              <a:defRPr sz="844"/>
            </a:lvl2pPr>
            <a:lvl3pPr marL="385763" indent="0" algn="ctr">
              <a:buNone/>
              <a:defRPr sz="760"/>
            </a:lvl3pPr>
            <a:lvl4pPr marL="578644" indent="0" algn="ctr">
              <a:buNone/>
              <a:defRPr sz="675"/>
            </a:lvl4pPr>
            <a:lvl5pPr marL="771525" indent="0" algn="ctr">
              <a:buNone/>
              <a:defRPr sz="675"/>
            </a:lvl5pPr>
            <a:lvl6pPr marL="964406" indent="0" algn="ctr">
              <a:buNone/>
              <a:defRPr sz="675"/>
            </a:lvl6pPr>
            <a:lvl7pPr marL="1157288" indent="0" algn="ctr">
              <a:buNone/>
              <a:defRPr sz="675"/>
            </a:lvl7pPr>
            <a:lvl8pPr marL="1350169" indent="0" algn="ctr">
              <a:buNone/>
              <a:defRPr sz="675"/>
            </a:lvl8pPr>
            <a:lvl9pPr marL="1543050" indent="0" algn="ctr">
              <a:buNone/>
              <a:defRPr sz="675"/>
            </a:lvl9pPr>
          </a:lstStyle>
          <a:p>
            <a:r>
              <a:rPr lang="en-US" dirty="0"/>
              <a:t>Click to edit Master text styles</a:t>
            </a:r>
          </a:p>
        </p:txBody>
      </p:sp>
      <p:sp>
        <p:nvSpPr>
          <p:cNvPr id="21" name="Text Placeholder 11"/>
          <p:cNvSpPr>
            <a:spLocks noGrp="1"/>
          </p:cNvSpPr>
          <p:nvPr>
            <p:ph type="body" sz="quarter" idx="10"/>
          </p:nvPr>
        </p:nvSpPr>
        <p:spPr>
          <a:xfrm>
            <a:off x="4669067" y="3325277"/>
            <a:ext cx="4456143" cy="343204"/>
          </a:xfrm>
        </p:spPr>
        <p:txBody>
          <a:bodyPr>
            <a:noAutofit/>
          </a:bodyPr>
          <a:lstStyle>
            <a:lvl1pPr marL="0" indent="0" algn="l">
              <a:buFont typeface="Arial" panose="020B0604020202020204" pitchFamily="34" charset="0"/>
              <a:buNone/>
              <a:defRPr sz="1600" i="1">
                <a:solidFill>
                  <a:schemeClr val="tx2">
                    <a:lumMod val="75000"/>
                  </a:schemeClr>
                </a:solidFill>
              </a:defRPr>
            </a:lvl1pPr>
            <a:lvl2pPr marL="192881" indent="0">
              <a:buNone/>
              <a:defRPr sz="675"/>
            </a:lvl2pPr>
            <a:lvl3pPr marL="385763" indent="0">
              <a:buNone/>
              <a:defRPr sz="591"/>
            </a:lvl3pPr>
            <a:lvl4pPr marL="578644" indent="0">
              <a:buNone/>
              <a:defRPr sz="506"/>
            </a:lvl4pPr>
            <a:lvl5pPr marL="771525" indent="0">
              <a:buNone/>
              <a:defRPr sz="506"/>
            </a:lvl5pPr>
          </a:lstStyle>
          <a:p>
            <a:pPr lvl="0"/>
            <a:r>
              <a:rPr lang="en-US" smtClean="0"/>
              <a:t>Click to edit Master text styles</a:t>
            </a:r>
          </a:p>
        </p:txBody>
      </p:sp>
      <p:pic>
        <p:nvPicPr>
          <p:cNvPr id="10" name="Picture 9"/>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4776717" y="4152240"/>
            <a:ext cx="3934346" cy="768169"/>
          </a:xfrm>
          <a:prstGeom prst="rect">
            <a:avLst/>
          </a:prstGeom>
        </p:spPr>
      </p:pic>
    </p:spTree>
    <p:extLst>
      <p:ext uri="{BB962C8B-B14F-4D97-AF65-F5344CB8AC3E}">
        <p14:creationId xmlns:p14="http://schemas.microsoft.com/office/powerpoint/2010/main" val="36110342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xmlns:p14="http://schemas.microsoft.com/office/powerpoint/2010/main">
        <p:fade/>
      </p:transition>
    </mc:Fallback>
  </mc:AlternateContent>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7_Title Blue Back">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1" y="0"/>
            <a:ext cx="4787900" cy="5143500"/>
          </a:xfrm>
          <a:prstGeom prst="rect">
            <a:avLst/>
          </a:prstGeom>
        </p:spPr>
      </p:pic>
      <p:grpSp>
        <p:nvGrpSpPr>
          <p:cNvPr id="11" name="Group 10"/>
          <p:cNvGrpSpPr/>
          <p:nvPr/>
        </p:nvGrpSpPr>
        <p:grpSpPr>
          <a:xfrm>
            <a:off x="3406665" y="0"/>
            <a:ext cx="5708379" cy="5143500"/>
            <a:chOff x="3435621" y="0"/>
            <a:chExt cx="5708379" cy="5143500"/>
          </a:xfrm>
        </p:grpSpPr>
        <p:sp useBgFill="1">
          <p:nvSpPr>
            <p:cNvPr id="12" name="Rectangle 8"/>
            <p:cNvSpPr/>
            <p:nvPr userDrawn="1"/>
          </p:nvSpPr>
          <p:spPr>
            <a:xfrm>
              <a:off x="3795913" y="0"/>
              <a:ext cx="5348087" cy="5143500"/>
            </a:xfrm>
            <a:custGeom>
              <a:avLst/>
              <a:gdLst>
                <a:gd name="connsiteX0" fmla="*/ 0 w 8991600"/>
                <a:gd name="connsiteY0" fmla="*/ 0 h 6858000"/>
                <a:gd name="connsiteX1" fmla="*/ 8991600 w 8991600"/>
                <a:gd name="connsiteY1" fmla="*/ 0 h 6858000"/>
                <a:gd name="connsiteX2" fmla="*/ 8991600 w 8991600"/>
                <a:gd name="connsiteY2" fmla="*/ 6858000 h 6858000"/>
                <a:gd name="connsiteX3" fmla="*/ 0 w 8991600"/>
                <a:gd name="connsiteY3" fmla="*/ 6858000 h 6858000"/>
                <a:gd name="connsiteX4" fmla="*/ 0 w 8991600"/>
                <a:gd name="connsiteY4" fmla="*/ 0 h 6858000"/>
                <a:gd name="connsiteX0" fmla="*/ 0 w 8991600"/>
                <a:gd name="connsiteY0" fmla="*/ 0 h 6858000"/>
                <a:gd name="connsiteX1" fmla="*/ 8991600 w 8991600"/>
                <a:gd name="connsiteY1" fmla="*/ 0 h 6858000"/>
                <a:gd name="connsiteX2" fmla="*/ 8991600 w 8991600"/>
                <a:gd name="connsiteY2" fmla="*/ 6858000 h 6858000"/>
                <a:gd name="connsiteX3" fmla="*/ 0 w 8991600"/>
                <a:gd name="connsiteY3" fmla="*/ 6858000 h 6858000"/>
                <a:gd name="connsiteX4" fmla="*/ 0 w 8991600"/>
                <a:gd name="connsiteY4" fmla="*/ 0 h 6858000"/>
                <a:gd name="connsiteX0" fmla="*/ 0 w 8991600"/>
                <a:gd name="connsiteY0" fmla="*/ 0 h 6858000"/>
                <a:gd name="connsiteX1" fmla="*/ 8991600 w 8991600"/>
                <a:gd name="connsiteY1" fmla="*/ 0 h 6858000"/>
                <a:gd name="connsiteX2" fmla="*/ 8991600 w 8991600"/>
                <a:gd name="connsiteY2" fmla="*/ 6858000 h 6858000"/>
                <a:gd name="connsiteX3" fmla="*/ 0 w 8991600"/>
                <a:gd name="connsiteY3" fmla="*/ 6858000 h 6858000"/>
                <a:gd name="connsiteX4" fmla="*/ 0 w 8991600"/>
                <a:gd name="connsiteY4" fmla="*/ 0 h 6858000"/>
                <a:gd name="connsiteX0" fmla="*/ 0 w 8991600"/>
                <a:gd name="connsiteY0" fmla="*/ 0 h 6858000"/>
                <a:gd name="connsiteX1" fmla="*/ 8991600 w 8991600"/>
                <a:gd name="connsiteY1" fmla="*/ 0 h 6858000"/>
                <a:gd name="connsiteX2" fmla="*/ 8991600 w 8991600"/>
                <a:gd name="connsiteY2" fmla="*/ 6858000 h 6858000"/>
                <a:gd name="connsiteX3" fmla="*/ 0 w 8991600"/>
                <a:gd name="connsiteY3" fmla="*/ 6858000 h 6858000"/>
                <a:gd name="connsiteX4" fmla="*/ 0 w 8991600"/>
                <a:gd name="connsiteY4" fmla="*/ 0 h 6858000"/>
                <a:gd name="connsiteX0" fmla="*/ 140834 w 9132434"/>
                <a:gd name="connsiteY0" fmla="*/ 0 h 6858000"/>
                <a:gd name="connsiteX1" fmla="*/ 9132434 w 9132434"/>
                <a:gd name="connsiteY1" fmla="*/ 0 h 6858000"/>
                <a:gd name="connsiteX2" fmla="*/ 9132434 w 9132434"/>
                <a:gd name="connsiteY2" fmla="*/ 6858000 h 6858000"/>
                <a:gd name="connsiteX3" fmla="*/ 0 w 9132434"/>
                <a:gd name="connsiteY3" fmla="*/ 6858000 h 6858000"/>
                <a:gd name="connsiteX4" fmla="*/ 140834 w 9132434"/>
                <a:gd name="connsiteY4" fmla="*/ 0 h 6858000"/>
                <a:gd name="connsiteX0" fmla="*/ 140834 w 9132434"/>
                <a:gd name="connsiteY0" fmla="*/ 0 h 6858000"/>
                <a:gd name="connsiteX1" fmla="*/ 9132434 w 9132434"/>
                <a:gd name="connsiteY1" fmla="*/ 0 h 6858000"/>
                <a:gd name="connsiteX2" fmla="*/ 9132434 w 9132434"/>
                <a:gd name="connsiteY2" fmla="*/ 6858000 h 6858000"/>
                <a:gd name="connsiteX3" fmla="*/ 0 w 9132434"/>
                <a:gd name="connsiteY3" fmla="*/ 6858000 h 6858000"/>
                <a:gd name="connsiteX4" fmla="*/ 140834 w 913243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32434" h="6858000">
                  <a:moveTo>
                    <a:pt x="140834" y="0"/>
                  </a:moveTo>
                  <a:lnTo>
                    <a:pt x="9132434" y="0"/>
                  </a:lnTo>
                  <a:lnTo>
                    <a:pt x="9132434" y="6858000"/>
                  </a:lnTo>
                  <a:lnTo>
                    <a:pt x="0" y="6858000"/>
                  </a:lnTo>
                  <a:cubicBezTo>
                    <a:pt x="1225995" y="4769571"/>
                    <a:pt x="1890121" y="2653749"/>
                    <a:pt x="140834"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Trebuchet MS"/>
                <a:ea typeface="+mn-ea"/>
                <a:cs typeface="+mn-cs"/>
              </a:endParaRPr>
            </a:p>
          </p:txBody>
        </p:sp>
        <p:pic>
          <p:nvPicPr>
            <p:cNvPr id="13" name="Picture 10"/>
            <p:cNvPicPr>
              <a:picLocks noChangeAspect="1"/>
            </p:cNvPicPr>
            <p:nvPr userDrawn="1"/>
          </p:nvPicPr>
          <p:blipFill>
            <a:blip r:embed="rId3" cstate="email">
              <a:extLst>
                <a:ext uri="{28A0092B-C50C-407E-A947-70E740481C1C}">
                  <a14:useLocalDpi xmlns:a14="http://schemas.microsoft.com/office/drawing/2010/main"/>
                </a:ext>
              </a:extLst>
            </a:blip>
            <a:srcRect l="22279" r="63603"/>
            <a:stretch>
              <a:fillRect/>
            </a:stretch>
          </p:blipFill>
          <p:spPr bwMode="auto">
            <a:xfrm>
              <a:off x="3435621" y="0"/>
              <a:ext cx="1290638"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9" name="Title 1"/>
          <p:cNvSpPr>
            <a:spLocks noGrp="1"/>
          </p:cNvSpPr>
          <p:nvPr>
            <p:ph type="ctrTitle" hasCustomPrompt="1"/>
          </p:nvPr>
        </p:nvSpPr>
        <p:spPr>
          <a:xfrm>
            <a:off x="4670584" y="548122"/>
            <a:ext cx="4444460" cy="2391713"/>
          </a:xfrm>
        </p:spPr>
        <p:txBody>
          <a:bodyPr anchor="b">
            <a:normAutofit/>
          </a:bodyPr>
          <a:lstStyle>
            <a:lvl1pPr algn="l">
              <a:defRPr sz="4000" baseline="0">
                <a:solidFill>
                  <a:schemeClr val="tx2">
                    <a:lumMod val="75000"/>
                  </a:schemeClr>
                </a:solidFill>
              </a:defRPr>
            </a:lvl1pPr>
          </a:lstStyle>
          <a:p>
            <a:r>
              <a:rPr lang="en-US" dirty="0"/>
              <a:t>Click to edit Master text styles</a:t>
            </a:r>
          </a:p>
        </p:txBody>
      </p:sp>
      <p:sp>
        <p:nvSpPr>
          <p:cNvPr id="20" name="Subtitle 2"/>
          <p:cNvSpPr>
            <a:spLocks noGrp="1"/>
          </p:cNvSpPr>
          <p:nvPr>
            <p:ph type="subTitle" idx="1" hasCustomPrompt="1"/>
          </p:nvPr>
        </p:nvSpPr>
        <p:spPr>
          <a:xfrm>
            <a:off x="4677880" y="2992311"/>
            <a:ext cx="4444460" cy="318910"/>
          </a:xfrm>
        </p:spPr>
        <p:txBody>
          <a:bodyPr>
            <a:noAutofit/>
          </a:bodyPr>
          <a:lstStyle>
            <a:lvl1pPr marL="0" indent="0" algn="l">
              <a:buFont typeface="Arial" panose="020B0604020202020204" pitchFamily="34" charset="0"/>
              <a:buNone/>
              <a:defRPr sz="2000" cap="all" baseline="0">
                <a:solidFill>
                  <a:schemeClr val="tx2">
                    <a:lumMod val="75000"/>
                  </a:schemeClr>
                </a:solidFill>
              </a:defRPr>
            </a:lvl1pPr>
            <a:lvl2pPr marL="192881" indent="0" algn="ctr">
              <a:buNone/>
              <a:defRPr sz="844"/>
            </a:lvl2pPr>
            <a:lvl3pPr marL="385763" indent="0" algn="ctr">
              <a:buNone/>
              <a:defRPr sz="760"/>
            </a:lvl3pPr>
            <a:lvl4pPr marL="578644" indent="0" algn="ctr">
              <a:buNone/>
              <a:defRPr sz="675"/>
            </a:lvl4pPr>
            <a:lvl5pPr marL="771525" indent="0" algn="ctr">
              <a:buNone/>
              <a:defRPr sz="675"/>
            </a:lvl5pPr>
            <a:lvl6pPr marL="964406" indent="0" algn="ctr">
              <a:buNone/>
              <a:defRPr sz="675"/>
            </a:lvl6pPr>
            <a:lvl7pPr marL="1157288" indent="0" algn="ctr">
              <a:buNone/>
              <a:defRPr sz="675"/>
            </a:lvl7pPr>
            <a:lvl8pPr marL="1350169" indent="0" algn="ctr">
              <a:buNone/>
              <a:defRPr sz="675"/>
            </a:lvl8pPr>
            <a:lvl9pPr marL="1543050" indent="0" algn="ctr">
              <a:buNone/>
              <a:defRPr sz="675"/>
            </a:lvl9pPr>
          </a:lstStyle>
          <a:p>
            <a:r>
              <a:rPr lang="en-US" dirty="0"/>
              <a:t>Click to edit Master text styles</a:t>
            </a:r>
          </a:p>
        </p:txBody>
      </p:sp>
      <p:sp>
        <p:nvSpPr>
          <p:cNvPr id="21" name="Text Placeholder 11"/>
          <p:cNvSpPr>
            <a:spLocks noGrp="1"/>
          </p:cNvSpPr>
          <p:nvPr>
            <p:ph type="body" sz="quarter" idx="10"/>
          </p:nvPr>
        </p:nvSpPr>
        <p:spPr>
          <a:xfrm>
            <a:off x="4669067" y="3325277"/>
            <a:ext cx="4456143" cy="343204"/>
          </a:xfrm>
        </p:spPr>
        <p:txBody>
          <a:bodyPr>
            <a:noAutofit/>
          </a:bodyPr>
          <a:lstStyle>
            <a:lvl1pPr marL="0" indent="0" algn="l">
              <a:buFont typeface="Arial" panose="020B0604020202020204" pitchFamily="34" charset="0"/>
              <a:buNone/>
              <a:defRPr sz="1600" i="1">
                <a:solidFill>
                  <a:schemeClr val="tx2">
                    <a:lumMod val="75000"/>
                  </a:schemeClr>
                </a:solidFill>
              </a:defRPr>
            </a:lvl1pPr>
            <a:lvl2pPr marL="192881" indent="0">
              <a:buNone/>
              <a:defRPr sz="675"/>
            </a:lvl2pPr>
            <a:lvl3pPr marL="385763" indent="0">
              <a:buNone/>
              <a:defRPr sz="591"/>
            </a:lvl3pPr>
            <a:lvl4pPr marL="578644" indent="0">
              <a:buNone/>
              <a:defRPr sz="506"/>
            </a:lvl4pPr>
            <a:lvl5pPr marL="771525" indent="0">
              <a:buNone/>
              <a:defRPr sz="506"/>
            </a:lvl5pPr>
          </a:lstStyle>
          <a:p>
            <a:pPr lvl="0"/>
            <a:r>
              <a:rPr lang="en-US" smtClean="0"/>
              <a:t>Click to edit Master text styles</a:t>
            </a:r>
          </a:p>
        </p:txBody>
      </p:sp>
      <p:pic>
        <p:nvPicPr>
          <p:cNvPr id="10" name="Picture 9"/>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4776717" y="4152240"/>
            <a:ext cx="3934346" cy="768169"/>
          </a:xfrm>
          <a:prstGeom prst="rect">
            <a:avLst/>
          </a:prstGeom>
        </p:spPr>
      </p:pic>
    </p:spTree>
    <p:extLst>
      <p:ext uri="{BB962C8B-B14F-4D97-AF65-F5344CB8AC3E}">
        <p14:creationId xmlns:p14="http://schemas.microsoft.com/office/powerpoint/2010/main" val="241879344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xmlns:p14="http://schemas.microsoft.com/office/powerpoint/2010/main">
        <p:fade/>
      </p:transition>
    </mc:Fallback>
  </mc:AlternateContent>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8_Title Blue Back">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7731357" cy="5143500"/>
          </a:xfrm>
          <a:prstGeom prst="rect">
            <a:avLst/>
          </a:prstGeom>
        </p:spPr>
      </p:pic>
      <p:grpSp>
        <p:nvGrpSpPr>
          <p:cNvPr id="14" name="Group 13"/>
          <p:cNvGrpSpPr/>
          <p:nvPr/>
        </p:nvGrpSpPr>
        <p:grpSpPr>
          <a:xfrm>
            <a:off x="3406665" y="0"/>
            <a:ext cx="5708379" cy="5143500"/>
            <a:chOff x="3435621" y="0"/>
            <a:chExt cx="5708379" cy="5143500"/>
          </a:xfrm>
        </p:grpSpPr>
        <p:sp useBgFill="1">
          <p:nvSpPr>
            <p:cNvPr id="16" name="Rectangle 8"/>
            <p:cNvSpPr/>
            <p:nvPr userDrawn="1"/>
          </p:nvSpPr>
          <p:spPr>
            <a:xfrm>
              <a:off x="3795913" y="0"/>
              <a:ext cx="5348087" cy="5143500"/>
            </a:xfrm>
            <a:custGeom>
              <a:avLst/>
              <a:gdLst>
                <a:gd name="connsiteX0" fmla="*/ 0 w 8991600"/>
                <a:gd name="connsiteY0" fmla="*/ 0 h 6858000"/>
                <a:gd name="connsiteX1" fmla="*/ 8991600 w 8991600"/>
                <a:gd name="connsiteY1" fmla="*/ 0 h 6858000"/>
                <a:gd name="connsiteX2" fmla="*/ 8991600 w 8991600"/>
                <a:gd name="connsiteY2" fmla="*/ 6858000 h 6858000"/>
                <a:gd name="connsiteX3" fmla="*/ 0 w 8991600"/>
                <a:gd name="connsiteY3" fmla="*/ 6858000 h 6858000"/>
                <a:gd name="connsiteX4" fmla="*/ 0 w 8991600"/>
                <a:gd name="connsiteY4" fmla="*/ 0 h 6858000"/>
                <a:gd name="connsiteX0" fmla="*/ 0 w 8991600"/>
                <a:gd name="connsiteY0" fmla="*/ 0 h 6858000"/>
                <a:gd name="connsiteX1" fmla="*/ 8991600 w 8991600"/>
                <a:gd name="connsiteY1" fmla="*/ 0 h 6858000"/>
                <a:gd name="connsiteX2" fmla="*/ 8991600 w 8991600"/>
                <a:gd name="connsiteY2" fmla="*/ 6858000 h 6858000"/>
                <a:gd name="connsiteX3" fmla="*/ 0 w 8991600"/>
                <a:gd name="connsiteY3" fmla="*/ 6858000 h 6858000"/>
                <a:gd name="connsiteX4" fmla="*/ 0 w 8991600"/>
                <a:gd name="connsiteY4" fmla="*/ 0 h 6858000"/>
                <a:gd name="connsiteX0" fmla="*/ 0 w 8991600"/>
                <a:gd name="connsiteY0" fmla="*/ 0 h 6858000"/>
                <a:gd name="connsiteX1" fmla="*/ 8991600 w 8991600"/>
                <a:gd name="connsiteY1" fmla="*/ 0 h 6858000"/>
                <a:gd name="connsiteX2" fmla="*/ 8991600 w 8991600"/>
                <a:gd name="connsiteY2" fmla="*/ 6858000 h 6858000"/>
                <a:gd name="connsiteX3" fmla="*/ 0 w 8991600"/>
                <a:gd name="connsiteY3" fmla="*/ 6858000 h 6858000"/>
                <a:gd name="connsiteX4" fmla="*/ 0 w 8991600"/>
                <a:gd name="connsiteY4" fmla="*/ 0 h 6858000"/>
                <a:gd name="connsiteX0" fmla="*/ 0 w 8991600"/>
                <a:gd name="connsiteY0" fmla="*/ 0 h 6858000"/>
                <a:gd name="connsiteX1" fmla="*/ 8991600 w 8991600"/>
                <a:gd name="connsiteY1" fmla="*/ 0 h 6858000"/>
                <a:gd name="connsiteX2" fmla="*/ 8991600 w 8991600"/>
                <a:gd name="connsiteY2" fmla="*/ 6858000 h 6858000"/>
                <a:gd name="connsiteX3" fmla="*/ 0 w 8991600"/>
                <a:gd name="connsiteY3" fmla="*/ 6858000 h 6858000"/>
                <a:gd name="connsiteX4" fmla="*/ 0 w 8991600"/>
                <a:gd name="connsiteY4" fmla="*/ 0 h 6858000"/>
                <a:gd name="connsiteX0" fmla="*/ 140834 w 9132434"/>
                <a:gd name="connsiteY0" fmla="*/ 0 h 6858000"/>
                <a:gd name="connsiteX1" fmla="*/ 9132434 w 9132434"/>
                <a:gd name="connsiteY1" fmla="*/ 0 h 6858000"/>
                <a:gd name="connsiteX2" fmla="*/ 9132434 w 9132434"/>
                <a:gd name="connsiteY2" fmla="*/ 6858000 h 6858000"/>
                <a:gd name="connsiteX3" fmla="*/ 0 w 9132434"/>
                <a:gd name="connsiteY3" fmla="*/ 6858000 h 6858000"/>
                <a:gd name="connsiteX4" fmla="*/ 140834 w 9132434"/>
                <a:gd name="connsiteY4" fmla="*/ 0 h 6858000"/>
                <a:gd name="connsiteX0" fmla="*/ 140834 w 9132434"/>
                <a:gd name="connsiteY0" fmla="*/ 0 h 6858000"/>
                <a:gd name="connsiteX1" fmla="*/ 9132434 w 9132434"/>
                <a:gd name="connsiteY1" fmla="*/ 0 h 6858000"/>
                <a:gd name="connsiteX2" fmla="*/ 9132434 w 9132434"/>
                <a:gd name="connsiteY2" fmla="*/ 6858000 h 6858000"/>
                <a:gd name="connsiteX3" fmla="*/ 0 w 9132434"/>
                <a:gd name="connsiteY3" fmla="*/ 6858000 h 6858000"/>
                <a:gd name="connsiteX4" fmla="*/ 140834 w 913243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32434" h="6858000">
                  <a:moveTo>
                    <a:pt x="140834" y="0"/>
                  </a:moveTo>
                  <a:lnTo>
                    <a:pt x="9132434" y="0"/>
                  </a:lnTo>
                  <a:lnTo>
                    <a:pt x="9132434" y="6858000"/>
                  </a:lnTo>
                  <a:lnTo>
                    <a:pt x="0" y="6858000"/>
                  </a:lnTo>
                  <a:cubicBezTo>
                    <a:pt x="1225995" y="4769571"/>
                    <a:pt x="1890121" y="2653749"/>
                    <a:pt x="140834"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Trebuchet MS"/>
                <a:ea typeface="+mn-ea"/>
                <a:cs typeface="+mn-cs"/>
              </a:endParaRPr>
            </a:p>
          </p:txBody>
        </p:sp>
        <p:pic>
          <p:nvPicPr>
            <p:cNvPr id="17" name="Picture 10"/>
            <p:cNvPicPr>
              <a:picLocks noChangeAspect="1"/>
            </p:cNvPicPr>
            <p:nvPr userDrawn="1"/>
          </p:nvPicPr>
          <p:blipFill>
            <a:blip r:embed="rId3" cstate="email">
              <a:extLst>
                <a:ext uri="{28A0092B-C50C-407E-A947-70E740481C1C}">
                  <a14:useLocalDpi xmlns:a14="http://schemas.microsoft.com/office/drawing/2010/main"/>
                </a:ext>
              </a:extLst>
            </a:blip>
            <a:srcRect l="22279" r="63603"/>
            <a:stretch>
              <a:fillRect/>
            </a:stretch>
          </p:blipFill>
          <p:spPr bwMode="auto">
            <a:xfrm>
              <a:off x="3435621" y="0"/>
              <a:ext cx="1290638"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9" name="Title 1"/>
          <p:cNvSpPr>
            <a:spLocks noGrp="1"/>
          </p:cNvSpPr>
          <p:nvPr>
            <p:ph type="ctrTitle" hasCustomPrompt="1"/>
          </p:nvPr>
        </p:nvSpPr>
        <p:spPr>
          <a:xfrm>
            <a:off x="4670584" y="548122"/>
            <a:ext cx="4444460" cy="2391713"/>
          </a:xfrm>
        </p:spPr>
        <p:txBody>
          <a:bodyPr anchor="b">
            <a:normAutofit/>
          </a:bodyPr>
          <a:lstStyle>
            <a:lvl1pPr algn="l">
              <a:defRPr sz="4000" baseline="0">
                <a:solidFill>
                  <a:schemeClr val="tx2">
                    <a:lumMod val="75000"/>
                  </a:schemeClr>
                </a:solidFill>
              </a:defRPr>
            </a:lvl1pPr>
          </a:lstStyle>
          <a:p>
            <a:r>
              <a:rPr lang="en-US" dirty="0"/>
              <a:t>Click to edit Master text styles</a:t>
            </a:r>
          </a:p>
        </p:txBody>
      </p:sp>
      <p:sp>
        <p:nvSpPr>
          <p:cNvPr id="20" name="Subtitle 2"/>
          <p:cNvSpPr>
            <a:spLocks noGrp="1"/>
          </p:cNvSpPr>
          <p:nvPr>
            <p:ph type="subTitle" idx="1" hasCustomPrompt="1"/>
          </p:nvPr>
        </p:nvSpPr>
        <p:spPr>
          <a:xfrm>
            <a:off x="4677880" y="2992311"/>
            <a:ext cx="4444460" cy="318910"/>
          </a:xfrm>
        </p:spPr>
        <p:txBody>
          <a:bodyPr>
            <a:noAutofit/>
          </a:bodyPr>
          <a:lstStyle>
            <a:lvl1pPr marL="0" indent="0" algn="l">
              <a:buFont typeface="Arial" panose="020B0604020202020204" pitchFamily="34" charset="0"/>
              <a:buNone/>
              <a:defRPr sz="2000" cap="all" baseline="0">
                <a:solidFill>
                  <a:schemeClr val="tx2">
                    <a:lumMod val="75000"/>
                  </a:schemeClr>
                </a:solidFill>
              </a:defRPr>
            </a:lvl1pPr>
            <a:lvl2pPr marL="192881" indent="0" algn="ctr">
              <a:buNone/>
              <a:defRPr sz="844"/>
            </a:lvl2pPr>
            <a:lvl3pPr marL="385763" indent="0" algn="ctr">
              <a:buNone/>
              <a:defRPr sz="760"/>
            </a:lvl3pPr>
            <a:lvl4pPr marL="578644" indent="0" algn="ctr">
              <a:buNone/>
              <a:defRPr sz="675"/>
            </a:lvl4pPr>
            <a:lvl5pPr marL="771525" indent="0" algn="ctr">
              <a:buNone/>
              <a:defRPr sz="675"/>
            </a:lvl5pPr>
            <a:lvl6pPr marL="964406" indent="0" algn="ctr">
              <a:buNone/>
              <a:defRPr sz="675"/>
            </a:lvl6pPr>
            <a:lvl7pPr marL="1157288" indent="0" algn="ctr">
              <a:buNone/>
              <a:defRPr sz="675"/>
            </a:lvl7pPr>
            <a:lvl8pPr marL="1350169" indent="0" algn="ctr">
              <a:buNone/>
              <a:defRPr sz="675"/>
            </a:lvl8pPr>
            <a:lvl9pPr marL="1543050" indent="0" algn="ctr">
              <a:buNone/>
              <a:defRPr sz="675"/>
            </a:lvl9pPr>
          </a:lstStyle>
          <a:p>
            <a:r>
              <a:rPr lang="en-US" dirty="0"/>
              <a:t>Click to edit Master text styles</a:t>
            </a:r>
          </a:p>
        </p:txBody>
      </p:sp>
      <p:sp>
        <p:nvSpPr>
          <p:cNvPr id="21" name="Text Placeholder 11"/>
          <p:cNvSpPr>
            <a:spLocks noGrp="1"/>
          </p:cNvSpPr>
          <p:nvPr>
            <p:ph type="body" sz="quarter" idx="10"/>
          </p:nvPr>
        </p:nvSpPr>
        <p:spPr>
          <a:xfrm>
            <a:off x="4669067" y="3325277"/>
            <a:ext cx="4456143" cy="343204"/>
          </a:xfrm>
        </p:spPr>
        <p:txBody>
          <a:bodyPr>
            <a:noAutofit/>
          </a:bodyPr>
          <a:lstStyle>
            <a:lvl1pPr marL="0" indent="0" algn="l">
              <a:buFont typeface="Arial" panose="020B0604020202020204" pitchFamily="34" charset="0"/>
              <a:buNone/>
              <a:defRPr sz="1600" i="1">
                <a:solidFill>
                  <a:schemeClr val="tx2">
                    <a:lumMod val="75000"/>
                  </a:schemeClr>
                </a:solidFill>
              </a:defRPr>
            </a:lvl1pPr>
            <a:lvl2pPr marL="192881" indent="0">
              <a:buNone/>
              <a:defRPr sz="675"/>
            </a:lvl2pPr>
            <a:lvl3pPr marL="385763" indent="0">
              <a:buNone/>
              <a:defRPr sz="591"/>
            </a:lvl3pPr>
            <a:lvl4pPr marL="578644" indent="0">
              <a:buNone/>
              <a:defRPr sz="506"/>
            </a:lvl4pPr>
            <a:lvl5pPr marL="771525" indent="0">
              <a:buNone/>
              <a:defRPr sz="506"/>
            </a:lvl5pPr>
          </a:lstStyle>
          <a:p>
            <a:pPr lvl="0"/>
            <a:r>
              <a:rPr lang="en-US" smtClean="0"/>
              <a:t>Click to edit Master text styles</a:t>
            </a:r>
          </a:p>
        </p:txBody>
      </p:sp>
      <p:pic>
        <p:nvPicPr>
          <p:cNvPr id="10" name="Picture 9"/>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4776717" y="4152240"/>
            <a:ext cx="3934346" cy="768169"/>
          </a:xfrm>
          <a:prstGeom prst="rect">
            <a:avLst/>
          </a:prstGeom>
        </p:spPr>
      </p:pic>
    </p:spTree>
    <p:extLst>
      <p:ext uri="{BB962C8B-B14F-4D97-AF65-F5344CB8AC3E}">
        <p14:creationId xmlns:p14="http://schemas.microsoft.com/office/powerpoint/2010/main" val="121846233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xmlns:p14="http://schemas.microsoft.com/office/powerpoint/2010/main">
        <p:fade/>
      </p:transition>
    </mc:Fallback>
  </mc:AlternateContent>
  <p:hf hdr="0" ftr="0" dt="0"/>
  <p:extLst mod="1">
    <p:ext uri="{DCECCB84-F9BA-43D5-87BE-67443E8EF086}">
      <p15:sldGuideLst xmlns:p15="http://schemas.microsoft.com/office/powerpoint/2012/main" xmlns=""/>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17901" y="0"/>
            <a:ext cx="8826099" cy="1181100"/>
          </a:xfrm>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a:xfrm>
            <a:off x="317901" y="1115736"/>
            <a:ext cx="8826099" cy="4027764"/>
          </a:xfrm>
        </p:spPr>
        <p:txBody>
          <a:bodyPr>
            <a:normAutofit/>
          </a:bodyPr>
          <a:lstStyle>
            <a:lvl1pPr marL="130969" indent="-130969">
              <a:spcBef>
                <a:spcPts val="0"/>
              </a:spcBef>
              <a:spcAft>
                <a:spcPts val="675"/>
              </a:spcAft>
              <a:buClr>
                <a:schemeClr val="bg1">
                  <a:lumMod val="85000"/>
                </a:schemeClr>
              </a:buClr>
              <a:buFont typeface="Arial" panose="020B0604020202020204" pitchFamily="34" charset="0"/>
              <a:buChar char="•"/>
              <a:defRPr sz="2400"/>
            </a:lvl1pPr>
            <a:lvl2pPr marL="289322" indent="-96441">
              <a:spcBef>
                <a:spcPts val="0"/>
              </a:spcBef>
              <a:spcAft>
                <a:spcPts val="675"/>
              </a:spcAft>
              <a:buClr>
                <a:schemeClr val="bg1">
                  <a:lumMod val="85000"/>
                </a:schemeClr>
              </a:buClr>
              <a:buFont typeface="Arial" panose="020B0604020202020204" pitchFamily="34" charset="0"/>
              <a:buChar char="•"/>
              <a:defRPr sz="1800"/>
            </a:lvl2pPr>
            <a:lvl3pPr marL="482204" indent="-96441">
              <a:spcBef>
                <a:spcPts val="0"/>
              </a:spcBef>
              <a:spcAft>
                <a:spcPts val="675"/>
              </a:spcAft>
              <a:buClr>
                <a:schemeClr val="bg1">
                  <a:lumMod val="85000"/>
                </a:schemeClr>
              </a:buClr>
              <a:buFont typeface="Arial" panose="020B0604020202020204" pitchFamily="34" charset="0"/>
              <a:buChar char="•"/>
              <a:defRPr sz="1200"/>
            </a:lvl3pPr>
            <a:lvl4pPr marL="675085" indent="-96441">
              <a:spcBef>
                <a:spcPts val="0"/>
              </a:spcBef>
              <a:spcAft>
                <a:spcPts val="675"/>
              </a:spcAft>
              <a:buClr>
                <a:schemeClr val="bg1">
                  <a:lumMod val="85000"/>
                </a:schemeClr>
              </a:buClr>
              <a:buFont typeface="Arial" panose="020B0604020202020204" pitchFamily="34" charset="0"/>
              <a:buChar char="•"/>
              <a:defRPr sz="1200"/>
            </a:lvl4pPr>
            <a:lvl5pPr marL="867966" indent="-96441">
              <a:spcBef>
                <a:spcPts val="0"/>
              </a:spcBef>
              <a:spcAft>
                <a:spcPts val="675"/>
              </a:spcAft>
              <a:buClr>
                <a:schemeClr val="bg1">
                  <a:lumMod val="85000"/>
                </a:schemeClr>
              </a:buClr>
              <a:buFont typeface="Arial" panose="020B0604020202020204" pitchFamily="34" charset="0"/>
              <a:buChar char="•"/>
              <a:defRPr sz="12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89912541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xmlns:p14="http://schemas.microsoft.com/office/powerpoint/2010/main">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620370" y="3879285"/>
            <a:ext cx="3934346" cy="768169"/>
          </a:xfrm>
          <a:prstGeom prst="rect">
            <a:avLst/>
          </a:prstGeom>
        </p:spPr>
      </p:pic>
      <p:sp>
        <p:nvSpPr>
          <p:cNvPr id="2" name="Title 1"/>
          <p:cNvSpPr>
            <a:spLocks noGrp="1"/>
          </p:cNvSpPr>
          <p:nvPr>
            <p:ph type="title"/>
          </p:nvPr>
        </p:nvSpPr>
        <p:spPr>
          <a:xfrm>
            <a:off x="0" y="399522"/>
            <a:ext cx="9144000" cy="2139553"/>
          </a:xfrm>
        </p:spPr>
        <p:txBody>
          <a:bodyPr anchor="b">
            <a:normAutofit/>
          </a:bodyPr>
          <a:lstStyle>
            <a:lvl1pPr algn="ct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0" y="2559315"/>
            <a:ext cx="9144000" cy="1125140"/>
          </a:xfrm>
        </p:spPr>
        <p:txBody>
          <a:bodyPr>
            <a:normAutofit/>
          </a:bodyPr>
          <a:lstStyle>
            <a:lvl1pPr marL="0" indent="0" algn="ctr">
              <a:buNone/>
              <a:defRPr sz="2400">
                <a:solidFill>
                  <a:schemeClr val="bg1"/>
                </a:solidFill>
              </a:defRPr>
            </a:lvl1pPr>
            <a:lvl2pPr marL="192881" indent="0">
              <a:buNone/>
              <a:defRPr sz="844">
                <a:solidFill>
                  <a:schemeClr val="tx1">
                    <a:tint val="75000"/>
                  </a:schemeClr>
                </a:solidFill>
              </a:defRPr>
            </a:lvl2pPr>
            <a:lvl3pPr marL="385763" indent="0">
              <a:buNone/>
              <a:defRPr sz="760">
                <a:solidFill>
                  <a:schemeClr val="tx1">
                    <a:tint val="75000"/>
                  </a:schemeClr>
                </a:solidFill>
              </a:defRPr>
            </a:lvl3pPr>
            <a:lvl4pPr marL="578644" indent="0">
              <a:buNone/>
              <a:defRPr sz="675">
                <a:solidFill>
                  <a:schemeClr val="tx1">
                    <a:tint val="75000"/>
                  </a:schemeClr>
                </a:solidFill>
              </a:defRPr>
            </a:lvl4pPr>
            <a:lvl5pPr marL="771525" indent="0">
              <a:buNone/>
              <a:defRPr sz="675">
                <a:solidFill>
                  <a:schemeClr val="tx1">
                    <a:tint val="75000"/>
                  </a:schemeClr>
                </a:solidFill>
              </a:defRPr>
            </a:lvl5pPr>
            <a:lvl6pPr marL="964406" indent="0">
              <a:buNone/>
              <a:defRPr sz="675">
                <a:solidFill>
                  <a:schemeClr val="tx1">
                    <a:tint val="75000"/>
                  </a:schemeClr>
                </a:solidFill>
              </a:defRPr>
            </a:lvl6pPr>
            <a:lvl7pPr marL="1157288" indent="0">
              <a:buNone/>
              <a:defRPr sz="675">
                <a:solidFill>
                  <a:schemeClr val="tx1">
                    <a:tint val="75000"/>
                  </a:schemeClr>
                </a:solidFill>
              </a:defRPr>
            </a:lvl7pPr>
            <a:lvl8pPr marL="1350169" indent="0">
              <a:buNone/>
              <a:defRPr sz="675">
                <a:solidFill>
                  <a:schemeClr val="tx1">
                    <a:tint val="75000"/>
                  </a:schemeClr>
                </a:solidFill>
              </a:defRPr>
            </a:lvl8pPr>
            <a:lvl9pPr marL="1543050" indent="0">
              <a:buNone/>
              <a:defRPr sz="675">
                <a:solidFill>
                  <a:schemeClr val="tx1">
                    <a:tint val="75000"/>
                  </a:schemeClr>
                </a:solidFill>
              </a:defRPr>
            </a:lvl9pPr>
          </a:lstStyle>
          <a:p>
            <a:pPr lvl="0"/>
            <a:r>
              <a:rPr lang="en-US" smtClean="0"/>
              <a:t>Click to edit Master text styles</a:t>
            </a:r>
          </a:p>
        </p:txBody>
      </p:sp>
    </p:spTree>
    <p:extLst>
      <p:ext uri="{BB962C8B-B14F-4D97-AF65-F5344CB8AC3E}">
        <p14:creationId xmlns:p14="http://schemas.microsoft.com/office/powerpoint/2010/main" val="39759799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xmlns:p14="http://schemas.microsoft.com/office/powerpoint/2010/main">
        <p:fade/>
      </p:transition>
    </mc:Fallback>
  </mc:AlternateContent>
  <p:extLst mod="1">
    <p:ext uri="{DCECCB84-F9BA-43D5-87BE-67443E8EF086}">
      <p15:sldGuideLst xmlns:p15="http://schemas.microsoft.com/office/powerpoint/2012/main" xmlns=""/>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smtClean="0"/>
              <a:t>Click to edit Master title style</a:t>
            </a:r>
            <a:endParaRPr lang="en-US" dirty="0"/>
          </a:p>
        </p:txBody>
      </p:sp>
      <p:sp>
        <p:nvSpPr>
          <p:cNvPr id="3" name="Content Placeholder 2"/>
          <p:cNvSpPr>
            <a:spLocks noGrp="1"/>
          </p:cNvSpPr>
          <p:nvPr>
            <p:ph sz="half" idx="1"/>
          </p:nvPr>
        </p:nvSpPr>
        <p:spPr>
          <a:xfrm>
            <a:off x="317901" y="1216821"/>
            <a:ext cx="4196953" cy="3418681"/>
          </a:xfrm>
        </p:spPr>
        <p:txBody>
          <a:bodyPr/>
          <a:lstStyle>
            <a:lvl1pPr marL="96441" indent="-96441">
              <a:buClr>
                <a:schemeClr val="bg1">
                  <a:lumMod val="50000"/>
                </a:schemeClr>
              </a:buClr>
              <a:buFont typeface="Arial" panose="020B0604020202020204" pitchFamily="34" charset="0"/>
              <a:buChar char="•"/>
              <a:defRPr sz="2400"/>
            </a:lvl1pPr>
            <a:lvl2pPr marL="289322" indent="-96441">
              <a:buClr>
                <a:schemeClr val="bg1">
                  <a:lumMod val="50000"/>
                </a:schemeClr>
              </a:buClr>
              <a:buFont typeface="Arial" panose="020B0604020202020204" pitchFamily="34" charset="0"/>
              <a:buChar char="•"/>
              <a:defRPr sz="1800"/>
            </a:lvl2pPr>
            <a:lvl3pPr marL="482204" indent="-96441">
              <a:buClr>
                <a:schemeClr val="bg1">
                  <a:lumMod val="50000"/>
                </a:schemeClr>
              </a:buClr>
              <a:buFont typeface="Arial" panose="020B0604020202020204" pitchFamily="34" charset="0"/>
              <a:buChar char="•"/>
              <a:defRPr sz="1800"/>
            </a:lvl3pPr>
            <a:lvl4pPr marL="675085" indent="-96441">
              <a:buClr>
                <a:schemeClr val="bg1">
                  <a:lumMod val="50000"/>
                </a:schemeClr>
              </a:buClr>
              <a:buFont typeface="Arial" panose="020B0604020202020204" pitchFamily="34" charset="0"/>
              <a:buChar char="•"/>
              <a:defRPr sz="1200"/>
            </a:lvl4pPr>
            <a:lvl5pPr marL="867966" indent="-96441">
              <a:buClr>
                <a:schemeClr val="bg1">
                  <a:lumMod val="50000"/>
                </a:schemeClr>
              </a:buClr>
              <a:buFont typeface="Arial" panose="020B0604020202020204" pitchFamily="34" charset="0"/>
              <a:buChar char="•"/>
              <a:defRPr sz="12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29153" y="1216821"/>
            <a:ext cx="4244579" cy="3418681"/>
          </a:xfrm>
        </p:spPr>
        <p:txBody>
          <a:bodyPr/>
          <a:lstStyle>
            <a:lvl1pPr marL="96441" indent="-96441">
              <a:buClr>
                <a:schemeClr val="bg1">
                  <a:lumMod val="50000"/>
                </a:schemeClr>
              </a:buClr>
              <a:buFont typeface="Arial" panose="020B0604020202020204" pitchFamily="34" charset="0"/>
              <a:buChar char="•"/>
              <a:defRPr sz="2400"/>
            </a:lvl1pPr>
            <a:lvl2pPr marL="289322" indent="-96441">
              <a:buClr>
                <a:schemeClr val="bg1">
                  <a:lumMod val="50000"/>
                </a:schemeClr>
              </a:buClr>
              <a:buFont typeface="Arial" panose="020B0604020202020204" pitchFamily="34" charset="0"/>
              <a:buChar char="•"/>
              <a:defRPr sz="1800"/>
            </a:lvl2pPr>
            <a:lvl3pPr marL="482204" indent="-96441">
              <a:buClr>
                <a:schemeClr val="bg1">
                  <a:lumMod val="50000"/>
                </a:schemeClr>
              </a:buClr>
              <a:buFont typeface="Arial" panose="020B0604020202020204" pitchFamily="34" charset="0"/>
              <a:buChar char="•"/>
              <a:defRPr sz="1800"/>
            </a:lvl3pPr>
            <a:lvl4pPr marL="675085" indent="-96441">
              <a:buClr>
                <a:schemeClr val="bg1">
                  <a:lumMod val="50000"/>
                </a:schemeClr>
              </a:buClr>
              <a:buFont typeface="Arial" panose="020B0604020202020204" pitchFamily="34" charset="0"/>
              <a:buChar char="•"/>
              <a:defRPr sz="1200"/>
            </a:lvl4pPr>
            <a:lvl5pPr marL="867966" indent="-96441">
              <a:buClr>
                <a:schemeClr val="bg1">
                  <a:lumMod val="50000"/>
                </a:schemeClr>
              </a:buClr>
              <a:buFont typeface="Arial" panose="020B0604020202020204" pitchFamily="34" charset="0"/>
              <a:buChar char="•"/>
              <a:defRPr sz="12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65590398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xmlns:p14="http://schemas.microsoft.com/office/powerpoint/2010/mai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15469" y="1184672"/>
            <a:ext cx="4182714" cy="617934"/>
          </a:xfrm>
        </p:spPr>
        <p:txBody>
          <a:bodyPr anchor="b">
            <a:noAutofit/>
          </a:bodyPr>
          <a:lstStyle>
            <a:lvl1pPr marL="0" indent="0">
              <a:buNone/>
              <a:defRPr sz="2400" b="1"/>
            </a:lvl1pPr>
            <a:lvl2pPr marL="192881" indent="0">
              <a:buNone/>
              <a:defRPr sz="844" b="1"/>
            </a:lvl2pPr>
            <a:lvl3pPr marL="385763" indent="0">
              <a:buNone/>
              <a:defRPr sz="760" b="1"/>
            </a:lvl3pPr>
            <a:lvl4pPr marL="578644" indent="0">
              <a:buNone/>
              <a:defRPr sz="675" b="1"/>
            </a:lvl4pPr>
            <a:lvl5pPr marL="771525" indent="0">
              <a:buNone/>
              <a:defRPr sz="675" b="1"/>
            </a:lvl5pPr>
            <a:lvl6pPr marL="964406" indent="0">
              <a:buNone/>
              <a:defRPr sz="675" b="1"/>
            </a:lvl6pPr>
            <a:lvl7pPr marL="1157288" indent="0">
              <a:buNone/>
              <a:defRPr sz="675" b="1"/>
            </a:lvl7pPr>
            <a:lvl8pPr marL="1350169" indent="0">
              <a:buNone/>
              <a:defRPr sz="675" b="1"/>
            </a:lvl8pPr>
            <a:lvl9pPr marL="1543050" indent="0">
              <a:buNone/>
              <a:defRPr sz="675" b="1"/>
            </a:lvl9pPr>
          </a:lstStyle>
          <a:p>
            <a:pPr lvl="0"/>
            <a:r>
              <a:rPr lang="en-US" smtClean="0"/>
              <a:t>Click to edit Master text styles</a:t>
            </a:r>
          </a:p>
        </p:txBody>
      </p:sp>
      <p:sp>
        <p:nvSpPr>
          <p:cNvPr id="4" name="Content Placeholder 3"/>
          <p:cNvSpPr>
            <a:spLocks noGrp="1"/>
          </p:cNvSpPr>
          <p:nvPr>
            <p:ph sz="half" idx="2"/>
          </p:nvPr>
        </p:nvSpPr>
        <p:spPr>
          <a:xfrm>
            <a:off x="315469" y="1802606"/>
            <a:ext cx="4182714" cy="2763441"/>
          </a:xfrm>
        </p:spPr>
        <p:txBody>
          <a:bodyPr>
            <a:normAutofit/>
          </a:bodyPr>
          <a:lstStyle>
            <a:lvl1pPr marL="96441" indent="-96441">
              <a:buClr>
                <a:schemeClr val="bg1">
                  <a:lumMod val="50000"/>
                </a:schemeClr>
              </a:buClr>
              <a:buFont typeface="Arial" panose="020B0604020202020204" pitchFamily="34" charset="0"/>
              <a:buChar char="•"/>
              <a:defRPr sz="1800"/>
            </a:lvl1pPr>
            <a:lvl2pPr marL="289322" indent="-96441">
              <a:buClr>
                <a:schemeClr val="bg1">
                  <a:lumMod val="50000"/>
                </a:schemeClr>
              </a:buClr>
              <a:buFont typeface="Arial" panose="020B0604020202020204" pitchFamily="34" charset="0"/>
              <a:buChar char="•"/>
              <a:defRPr sz="1500"/>
            </a:lvl2pPr>
            <a:lvl3pPr marL="482204" indent="-96441">
              <a:buClr>
                <a:schemeClr val="bg1">
                  <a:lumMod val="50000"/>
                </a:schemeClr>
              </a:buClr>
              <a:buFont typeface="Arial" panose="020B0604020202020204" pitchFamily="34" charset="0"/>
              <a:buChar char="•"/>
              <a:defRPr sz="1050"/>
            </a:lvl3pPr>
            <a:lvl4pPr marL="675085" indent="-96441">
              <a:buClr>
                <a:schemeClr val="bg1">
                  <a:lumMod val="50000"/>
                </a:schemeClr>
              </a:buClr>
              <a:buFont typeface="Arial" panose="020B0604020202020204" pitchFamily="34" charset="0"/>
              <a:buChar char="•"/>
              <a:defRPr sz="1050"/>
            </a:lvl4pPr>
            <a:lvl5pPr marL="867966" indent="-96441">
              <a:buClr>
                <a:schemeClr val="bg1">
                  <a:lumMod val="50000"/>
                </a:schemeClr>
              </a:buClr>
              <a:buFont typeface="Arial" panose="020B0604020202020204" pitchFamily="34" charset="0"/>
              <a:buChar char="•"/>
              <a:defRPr sz="105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29150" y="1184672"/>
            <a:ext cx="4322344" cy="617934"/>
          </a:xfrm>
        </p:spPr>
        <p:txBody>
          <a:bodyPr anchor="b">
            <a:noAutofit/>
          </a:bodyPr>
          <a:lstStyle>
            <a:lvl1pPr marL="0" indent="0">
              <a:buNone/>
              <a:defRPr sz="2400" b="1"/>
            </a:lvl1pPr>
            <a:lvl2pPr marL="192881" indent="0">
              <a:buNone/>
              <a:defRPr sz="844" b="1"/>
            </a:lvl2pPr>
            <a:lvl3pPr marL="385763" indent="0">
              <a:buNone/>
              <a:defRPr sz="760" b="1"/>
            </a:lvl3pPr>
            <a:lvl4pPr marL="578644" indent="0">
              <a:buNone/>
              <a:defRPr sz="675" b="1"/>
            </a:lvl4pPr>
            <a:lvl5pPr marL="771525" indent="0">
              <a:buNone/>
              <a:defRPr sz="675" b="1"/>
            </a:lvl5pPr>
            <a:lvl6pPr marL="964406" indent="0">
              <a:buNone/>
              <a:defRPr sz="675" b="1"/>
            </a:lvl6pPr>
            <a:lvl7pPr marL="1157288" indent="0">
              <a:buNone/>
              <a:defRPr sz="675" b="1"/>
            </a:lvl7pPr>
            <a:lvl8pPr marL="1350169" indent="0">
              <a:buNone/>
              <a:defRPr sz="675" b="1"/>
            </a:lvl8pPr>
            <a:lvl9pPr marL="1543050" indent="0">
              <a:buNone/>
              <a:defRPr sz="675" b="1"/>
            </a:lvl9pPr>
          </a:lstStyle>
          <a:p>
            <a:pPr lvl="0"/>
            <a:r>
              <a:rPr lang="en-US" smtClean="0"/>
              <a:t>Click to edit Master text styles</a:t>
            </a:r>
          </a:p>
        </p:txBody>
      </p:sp>
      <p:sp>
        <p:nvSpPr>
          <p:cNvPr id="6" name="Content Placeholder 5"/>
          <p:cNvSpPr>
            <a:spLocks noGrp="1"/>
          </p:cNvSpPr>
          <p:nvPr>
            <p:ph sz="quarter" idx="4"/>
          </p:nvPr>
        </p:nvSpPr>
        <p:spPr>
          <a:xfrm>
            <a:off x="4629150" y="1802606"/>
            <a:ext cx="4322344" cy="2763441"/>
          </a:xfrm>
        </p:spPr>
        <p:txBody>
          <a:bodyPr>
            <a:normAutofit/>
          </a:bodyPr>
          <a:lstStyle>
            <a:lvl1pPr marL="96441" indent="-96441">
              <a:buClr>
                <a:schemeClr val="bg1">
                  <a:lumMod val="50000"/>
                </a:schemeClr>
              </a:buClr>
              <a:buFont typeface="Arial" panose="020B0604020202020204" pitchFamily="34" charset="0"/>
              <a:buChar char="•"/>
              <a:defRPr sz="1800"/>
            </a:lvl1pPr>
            <a:lvl2pPr marL="289322" indent="-96441">
              <a:buClr>
                <a:schemeClr val="bg1">
                  <a:lumMod val="50000"/>
                </a:schemeClr>
              </a:buClr>
              <a:buFont typeface="Arial" panose="020B0604020202020204" pitchFamily="34" charset="0"/>
              <a:buChar char="•"/>
              <a:defRPr sz="1500"/>
            </a:lvl2pPr>
            <a:lvl3pPr marL="482204" indent="-96441">
              <a:buClr>
                <a:schemeClr val="bg1">
                  <a:lumMod val="50000"/>
                </a:schemeClr>
              </a:buClr>
              <a:buFont typeface="Arial" panose="020B0604020202020204" pitchFamily="34" charset="0"/>
              <a:buChar char="•"/>
              <a:defRPr sz="1050"/>
            </a:lvl3pPr>
            <a:lvl4pPr marL="675085" indent="-96441">
              <a:buClr>
                <a:schemeClr val="bg1">
                  <a:lumMod val="50000"/>
                </a:schemeClr>
              </a:buClr>
              <a:buFont typeface="Arial" panose="020B0604020202020204" pitchFamily="34" charset="0"/>
              <a:buChar char="•"/>
              <a:defRPr sz="1050"/>
            </a:lvl4pPr>
            <a:lvl5pPr marL="867966" indent="-96441">
              <a:buClr>
                <a:schemeClr val="bg1">
                  <a:lumMod val="50000"/>
                </a:schemeClr>
              </a:buClr>
              <a:buFont typeface="Arial" panose="020B0604020202020204" pitchFamily="34" charset="0"/>
              <a:buChar char="•"/>
              <a:defRPr sz="105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Title 6"/>
          <p:cNvSpPr>
            <a:spLocks noGrp="1"/>
          </p:cNvSpPr>
          <p:nvPr>
            <p:ph type="title"/>
          </p:nvPr>
        </p:nvSpPr>
        <p:spPr/>
        <p:txBody>
          <a:bodyPr/>
          <a:lstStyle>
            <a:lvl1pPr>
              <a:defRPr sz="3600"/>
            </a:lvl1pPr>
          </a:lstStyle>
          <a:p>
            <a:r>
              <a:rPr lang="en-US" smtClean="0"/>
              <a:t>Click to edit Master title style</a:t>
            </a:r>
            <a:endParaRPr lang="en-US" dirty="0"/>
          </a:p>
        </p:txBody>
      </p:sp>
    </p:spTree>
    <p:extLst>
      <p:ext uri="{BB962C8B-B14F-4D97-AF65-F5344CB8AC3E}">
        <p14:creationId xmlns:p14="http://schemas.microsoft.com/office/powerpoint/2010/main" val="15456122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xmlns:p14="http://schemas.microsoft.com/office/powerpoint/2010/mai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36726927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xmlns:p14="http://schemas.microsoft.com/office/powerpoint/2010/main">
        <p:fade/>
      </p:transition>
    </mc:Fallback>
  </mc:AlternateContent>
  <p:timing>
    <p:tnLst>
      <p:par>
        <p:cTn id="1" dur="indefinite" restart="never" nodeType="tmRoot"/>
      </p:par>
    </p:tnLst>
  </p:timing>
  <p:extLst mod="1">
    <p:ext uri="{DCECCB84-F9BA-43D5-87BE-67443E8EF086}">
      <p15:sldGuideLst xmlns:p15="http://schemas.microsoft.com/office/powerpoint/2012/main" xmlns="">
        <p15:guide id="1" pos="601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1" y="0"/>
            <a:ext cx="9144000" cy="1181100"/>
          </a:xfrm>
        </p:spPr>
        <p:txBody>
          <a:bodyPr/>
          <a:lstStyle>
            <a:lvl1pPr algn="ctr">
              <a:defRPr>
                <a:solidFill>
                  <a:schemeClr val="tx2">
                    <a:lumMod val="75000"/>
                  </a:schemeClr>
                </a:solidFill>
              </a:defRPr>
            </a:lvl1pPr>
          </a:lstStyle>
          <a:p>
            <a:r>
              <a:rPr lang="en-US" smtClean="0"/>
              <a:t>Click to edit Master title style</a:t>
            </a:r>
            <a:endParaRPr lang="en-US" dirty="0"/>
          </a:p>
        </p:txBody>
      </p:sp>
    </p:spTree>
    <p:extLst>
      <p:ext uri="{BB962C8B-B14F-4D97-AF65-F5344CB8AC3E}">
        <p14:creationId xmlns:p14="http://schemas.microsoft.com/office/powerpoint/2010/main" val="418207115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xmlns:p14="http://schemas.microsoft.com/office/powerpoint/2010/main">
        <p:fade/>
      </p:transition>
    </mc:Fallback>
  </mc:AlternateContent>
  <p:timing>
    <p:tnLst>
      <p:par>
        <p:cTn id="1" dur="indefinite" restart="never" nodeType="tmRoot"/>
      </p:par>
    </p:tnLst>
  </p:timing>
  <p:hf hdr="0" ftr="0" dt="0"/>
  <p:extLst mod="1">
    <p:ext uri="{DCECCB84-F9BA-43D5-87BE-67443E8EF086}">
      <p15:sldGuideLst xmlns:p15="http://schemas.microsoft.com/office/powerpoint/2012/main" xmlns="">
        <p15:guide id="1" pos="601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with logo">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286799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xmlns:p14="http://schemas.microsoft.com/office/powerpoint/2010/main">
        <p:fade/>
      </p:transition>
    </mc:Fallback>
  </mc:AlternateContent>
  <p:timing>
    <p:tnLst>
      <p:par>
        <p:cTn id="1" dur="indefinite" restart="never" nodeType="tmRoot"/>
      </p:par>
    </p:tnLst>
  </p:timing>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Left photo white">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bwMode="auto">
          <a:xfrm>
            <a:off x="0" y="0"/>
            <a:ext cx="461941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8"/>
          <p:cNvSpPr/>
          <p:nvPr/>
        </p:nvSpPr>
        <p:spPr>
          <a:xfrm>
            <a:off x="2459831" y="0"/>
            <a:ext cx="6743700" cy="5143500"/>
          </a:xfrm>
          <a:custGeom>
            <a:avLst/>
            <a:gdLst>
              <a:gd name="connsiteX0" fmla="*/ 0 w 8991600"/>
              <a:gd name="connsiteY0" fmla="*/ 0 h 6858000"/>
              <a:gd name="connsiteX1" fmla="*/ 8991600 w 8991600"/>
              <a:gd name="connsiteY1" fmla="*/ 0 h 6858000"/>
              <a:gd name="connsiteX2" fmla="*/ 8991600 w 8991600"/>
              <a:gd name="connsiteY2" fmla="*/ 6858000 h 6858000"/>
              <a:gd name="connsiteX3" fmla="*/ 0 w 8991600"/>
              <a:gd name="connsiteY3" fmla="*/ 6858000 h 6858000"/>
              <a:gd name="connsiteX4" fmla="*/ 0 w 8991600"/>
              <a:gd name="connsiteY4" fmla="*/ 0 h 6858000"/>
              <a:gd name="connsiteX0" fmla="*/ 0 w 8991600"/>
              <a:gd name="connsiteY0" fmla="*/ 0 h 6858000"/>
              <a:gd name="connsiteX1" fmla="*/ 8991600 w 8991600"/>
              <a:gd name="connsiteY1" fmla="*/ 0 h 6858000"/>
              <a:gd name="connsiteX2" fmla="*/ 8991600 w 8991600"/>
              <a:gd name="connsiteY2" fmla="*/ 6858000 h 6858000"/>
              <a:gd name="connsiteX3" fmla="*/ 0 w 8991600"/>
              <a:gd name="connsiteY3" fmla="*/ 6858000 h 6858000"/>
              <a:gd name="connsiteX4" fmla="*/ 0 w 8991600"/>
              <a:gd name="connsiteY4" fmla="*/ 0 h 6858000"/>
              <a:gd name="connsiteX0" fmla="*/ 0 w 8991600"/>
              <a:gd name="connsiteY0" fmla="*/ 0 h 6858000"/>
              <a:gd name="connsiteX1" fmla="*/ 8991600 w 8991600"/>
              <a:gd name="connsiteY1" fmla="*/ 0 h 6858000"/>
              <a:gd name="connsiteX2" fmla="*/ 8991600 w 8991600"/>
              <a:gd name="connsiteY2" fmla="*/ 6858000 h 6858000"/>
              <a:gd name="connsiteX3" fmla="*/ 0 w 8991600"/>
              <a:gd name="connsiteY3" fmla="*/ 6858000 h 6858000"/>
              <a:gd name="connsiteX4" fmla="*/ 0 w 8991600"/>
              <a:gd name="connsiteY4" fmla="*/ 0 h 6858000"/>
              <a:gd name="connsiteX0" fmla="*/ 0 w 8991600"/>
              <a:gd name="connsiteY0" fmla="*/ 0 h 6858000"/>
              <a:gd name="connsiteX1" fmla="*/ 8991600 w 8991600"/>
              <a:gd name="connsiteY1" fmla="*/ 0 h 6858000"/>
              <a:gd name="connsiteX2" fmla="*/ 8991600 w 8991600"/>
              <a:gd name="connsiteY2" fmla="*/ 6858000 h 6858000"/>
              <a:gd name="connsiteX3" fmla="*/ 0 w 8991600"/>
              <a:gd name="connsiteY3" fmla="*/ 6858000 h 6858000"/>
              <a:gd name="connsiteX4" fmla="*/ 0 w 89916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1600" h="6858000">
                <a:moveTo>
                  <a:pt x="0" y="0"/>
                </a:moveTo>
                <a:lnTo>
                  <a:pt x="8991600" y="0"/>
                </a:lnTo>
                <a:lnTo>
                  <a:pt x="8991600" y="6858000"/>
                </a:lnTo>
                <a:lnTo>
                  <a:pt x="0" y="6858000"/>
                </a:lnTo>
                <a:cubicBezTo>
                  <a:pt x="437322" y="5695122"/>
                  <a:pt x="1749287" y="2653749"/>
                  <a:pt x="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Trebuchet MS"/>
              <a:ea typeface="+mn-ea"/>
              <a:cs typeface="+mn-cs"/>
            </a:endParaRPr>
          </a:p>
        </p:txBody>
      </p:sp>
      <p:pic>
        <p:nvPicPr>
          <p:cNvPr id="5" name="Picture 10"/>
          <p:cNvPicPr>
            <a:picLocks noChangeAspect="1"/>
          </p:cNvPicPr>
          <p:nvPr/>
        </p:nvPicPr>
        <p:blipFill>
          <a:blip r:embed="rId3" cstate="email">
            <a:extLst>
              <a:ext uri="{28A0092B-C50C-407E-A947-70E740481C1C}">
                <a14:useLocalDpi xmlns:a14="http://schemas.microsoft.com/office/drawing/2010/main"/>
              </a:ext>
            </a:extLst>
          </a:blip>
          <a:srcRect l="22279" r="63603"/>
          <a:stretch>
            <a:fillRect/>
          </a:stretch>
        </p:blipFill>
        <p:spPr bwMode="auto">
          <a:xfrm>
            <a:off x="2075260" y="0"/>
            <a:ext cx="1290638"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7044259" y="4663393"/>
            <a:ext cx="2013821" cy="393192"/>
          </a:xfrm>
          <a:prstGeom prst="rect">
            <a:avLst/>
          </a:prstGeom>
        </p:spPr>
      </p:pic>
    </p:spTree>
    <p:extLst>
      <p:ext uri="{BB962C8B-B14F-4D97-AF65-F5344CB8AC3E}">
        <p14:creationId xmlns:p14="http://schemas.microsoft.com/office/powerpoint/2010/main" val="159877803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xmlns:p14="http://schemas.microsoft.com/office/powerpoint/2010/main">
        <p:fade/>
      </p:transition>
    </mc:Fallback>
  </mc:AlternateContent>
  <p:timing>
    <p:tnLst>
      <p:par>
        <p:cTn id="1" dur="indefinite" restart="never" nodeType="tmRoot"/>
      </p:par>
    </p:tnLst>
  </p:timing>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left photo blue">
    <p:spTree>
      <p:nvGrpSpPr>
        <p:cNvPr id="1" name=""/>
        <p:cNvGrpSpPr/>
        <p:nvPr/>
      </p:nvGrpSpPr>
      <p:grpSpPr>
        <a:xfrm>
          <a:off x="0" y="0"/>
          <a:ext cx="0" cy="0"/>
          <a:chOff x="0" y="0"/>
          <a:chExt cx="0" cy="0"/>
        </a:xfrm>
      </p:grpSpPr>
      <p:pic>
        <p:nvPicPr>
          <p:cNvPr id="2" name="Picture 5"/>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bwMode="auto">
          <a:xfrm>
            <a:off x="4524591" y="0"/>
            <a:ext cx="461941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4"/>
          <p:cNvGrpSpPr/>
          <p:nvPr/>
        </p:nvGrpSpPr>
        <p:grpSpPr>
          <a:xfrm>
            <a:off x="0" y="0"/>
            <a:ext cx="7187805" cy="5143500"/>
            <a:chOff x="0" y="0"/>
            <a:chExt cx="7187805" cy="5143500"/>
          </a:xfrm>
        </p:grpSpPr>
        <p:sp useBgFill="1">
          <p:nvSpPr>
            <p:cNvPr id="3" name="Rectangle 8"/>
            <p:cNvSpPr/>
            <p:nvPr/>
          </p:nvSpPr>
          <p:spPr>
            <a:xfrm flipH="1">
              <a:off x="0" y="0"/>
              <a:ext cx="6743700" cy="5143500"/>
            </a:xfrm>
            <a:custGeom>
              <a:avLst/>
              <a:gdLst>
                <a:gd name="connsiteX0" fmla="*/ 0 w 8991600"/>
                <a:gd name="connsiteY0" fmla="*/ 0 h 6858000"/>
                <a:gd name="connsiteX1" fmla="*/ 8991600 w 8991600"/>
                <a:gd name="connsiteY1" fmla="*/ 0 h 6858000"/>
                <a:gd name="connsiteX2" fmla="*/ 8991600 w 8991600"/>
                <a:gd name="connsiteY2" fmla="*/ 6858000 h 6858000"/>
                <a:gd name="connsiteX3" fmla="*/ 0 w 8991600"/>
                <a:gd name="connsiteY3" fmla="*/ 6858000 h 6858000"/>
                <a:gd name="connsiteX4" fmla="*/ 0 w 8991600"/>
                <a:gd name="connsiteY4" fmla="*/ 0 h 6858000"/>
                <a:gd name="connsiteX0" fmla="*/ 0 w 8991600"/>
                <a:gd name="connsiteY0" fmla="*/ 0 h 6858000"/>
                <a:gd name="connsiteX1" fmla="*/ 8991600 w 8991600"/>
                <a:gd name="connsiteY1" fmla="*/ 0 h 6858000"/>
                <a:gd name="connsiteX2" fmla="*/ 8991600 w 8991600"/>
                <a:gd name="connsiteY2" fmla="*/ 6858000 h 6858000"/>
                <a:gd name="connsiteX3" fmla="*/ 0 w 8991600"/>
                <a:gd name="connsiteY3" fmla="*/ 6858000 h 6858000"/>
                <a:gd name="connsiteX4" fmla="*/ 0 w 8991600"/>
                <a:gd name="connsiteY4" fmla="*/ 0 h 6858000"/>
                <a:gd name="connsiteX0" fmla="*/ 0 w 8991600"/>
                <a:gd name="connsiteY0" fmla="*/ 0 h 6858000"/>
                <a:gd name="connsiteX1" fmla="*/ 8991600 w 8991600"/>
                <a:gd name="connsiteY1" fmla="*/ 0 h 6858000"/>
                <a:gd name="connsiteX2" fmla="*/ 8991600 w 8991600"/>
                <a:gd name="connsiteY2" fmla="*/ 6858000 h 6858000"/>
                <a:gd name="connsiteX3" fmla="*/ 0 w 8991600"/>
                <a:gd name="connsiteY3" fmla="*/ 6858000 h 6858000"/>
                <a:gd name="connsiteX4" fmla="*/ 0 w 8991600"/>
                <a:gd name="connsiteY4" fmla="*/ 0 h 6858000"/>
                <a:gd name="connsiteX0" fmla="*/ 0 w 8991600"/>
                <a:gd name="connsiteY0" fmla="*/ 0 h 6858000"/>
                <a:gd name="connsiteX1" fmla="*/ 8991600 w 8991600"/>
                <a:gd name="connsiteY1" fmla="*/ 0 h 6858000"/>
                <a:gd name="connsiteX2" fmla="*/ 8991600 w 8991600"/>
                <a:gd name="connsiteY2" fmla="*/ 6858000 h 6858000"/>
                <a:gd name="connsiteX3" fmla="*/ 0 w 8991600"/>
                <a:gd name="connsiteY3" fmla="*/ 6858000 h 6858000"/>
                <a:gd name="connsiteX4" fmla="*/ 0 w 89916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1600" h="6858000">
                  <a:moveTo>
                    <a:pt x="0" y="0"/>
                  </a:moveTo>
                  <a:lnTo>
                    <a:pt x="8991600" y="0"/>
                  </a:lnTo>
                  <a:lnTo>
                    <a:pt x="8991600" y="6858000"/>
                  </a:lnTo>
                  <a:lnTo>
                    <a:pt x="0" y="6858000"/>
                  </a:lnTo>
                  <a:cubicBezTo>
                    <a:pt x="437322" y="5695122"/>
                    <a:pt x="1749287" y="2653749"/>
                    <a:pt x="0"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Trebuchet MS"/>
                <a:ea typeface="+mn-ea"/>
                <a:cs typeface="+mn-cs"/>
              </a:endParaRPr>
            </a:p>
          </p:txBody>
        </p:sp>
        <p:pic>
          <p:nvPicPr>
            <p:cNvPr id="4" name="Picture 9"/>
            <p:cNvPicPr>
              <a:picLocks noChangeAspect="1"/>
            </p:cNvPicPr>
            <p:nvPr/>
          </p:nvPicPr>
          <p:blipFill>
            <a:blip r:embed="rId3" cstate="email">
              <a:extLst>
                <a:ext uri="{28A0092B-C50C-407E-A947-70E740481C1C}">
                  <a14:useLocalDpi xmlns:a14="http://schemas.microsoft.com/office/drawing/2010/main"/>
                </a:ext>
              </a:extLst>
            </a:blip>
            <a:srcRect l="22279" r="63603"/>
            <a:stretch>
              <a:fillRect/>
            </a:stretch>
          </p:blipFill>
          <p:spPr bwMode="auto">
            <a:xfrm flipH="1">
              <a:off x="5897167" y="0"/>
              <a:ext cx="1290638"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8" name="Picture 7"/>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93083" y="4663393"/>
            <a:ext cx="2013821" cy="393192"/>
          </a:xfrm>
          <a:prstGeom prst="rect">
            <a:avLst/>
          </a:prstGeom>
        </p:spPr>
      </p:pic>
    </p:spTree>
    <p:extLst>
      <p:ext uri="{BB962C8B-B14F-4D97-AF65-F5344CB8AC3E}">
        <p14:creationId xmlns:p14="http://schemas.microsoft.com/office/powerpoint/2010/main" val="39341534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xmlns:p14="http://schemas.microsoft.com/office/powerpoint/2010/main">
        <p:fade/>
      </p:transition>
    </mc:Fallback>
  </mc:AlternateContent>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RedSideBar_Title and Content">
    <p:spTree>
      <p:nvGrpSpPr>
        <p:cNvPr id="1" name=""/>
        <p:cNvGrpSpPr/>
        <p:nvPr/>
      </p:nvGrpSpPr>
      <p:grpSpPr>
        <a:xfrm>
          <a:off x="0" y="0"/>
          <a:ext cx="0" cy="0"/>
          <a:chOff x="0" y="0"/>
          <a:chExt cx="0" cy="0"/>
        </a:xfrm>
      </p:grpSpPr>
      <p:pic>
        <p:nvPicPr>
          <p:cNvPr id="4" name="Picture 5"/>
          <p:cNvPicPr>
            <a:picLocks noChangeAspect="1"/>
          </p:cNvPicPr>
          <p:nvPr/>
        </p:nvPicPr>
        <p:blipFill>
          <a:blip r:embed="rId2" cstate="print">
            <a:extLst>
              <a:ext uri="{28A0092B-C50C-407E-A947-70E740481C1C}">
                <a14:useLocalDpi xmlns:a14="http://schemas.microsoft.com/office/drawing/2010/main"/>
              </a:ext>
            </a:extLst>
          </a:blip>
          <a:srcRect/>
          <a:stretch>
            <a:fillRect/>
          </a:stretch>
        </p:blipFill>
        <p:spPr bwMode="auto">
          <a:xfrm>
            <a:off x="-14288" y="0"/>
            <a:ext cx="2357438"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lvl1pPr marL="96441" indent="-96441">
              <a:spcBef>
                <a:spcPts val="0"/>
              </a:spcBef>
              <a:spcAft>
                <a:spcPts val="506"/>
              </a:spcAft>
              <a:buClr>
                <a:schemeClr val="accent6">
                  <a:lumMod val="60000"/>
                  <a:lumOff val="40000"/>
                </a:schemeClr>
              </a:buClr>
              <a:buFont typeface="Arial" panose="020B0604020202020204" pitchFamily="34" charset="0"/>
              <a:buChar char="•"/>
              <a:defRPr sz="2400"/>
            </a:lvl1pPr>
            <a:lvl2pPr marL="289322" indent="-96441">
              <a:spcBef>
                <a:spcPts val="0"/>
              </a:spcBef>
              <a:spcAft>
                <a:spcPts val="506"/>
              </a:spcAft>
              <a:buClr>
                <a:schemeClr val="accent6">
                  <a:lumMod val="60000"/>
                  <a:lumOff val="40000"/>
                </a:schemeClr>
              </a:buClr>
              <a:buFont typeface="Arial" panose="020B0604020202020204" pitchFamily="34" charset="0"/>
              <a:buChar char="•"/>
              <a:defRPr sz="1800"/>
            </a:lvl2pPr>
            <a:lvl3pPr marL="482204" indent="-96441">
              <a:spcBef>
                <a:spcPts val="0"/>
              </a:spcBef>
              <a:spcAft>
                <a:spcPts val="506"/>
              </a:spcAft>
              <a:buClr>
                <a:schemeClr val="accent6">
                  <a:lumMod val="60000"/>
                  <a:lumOff val="40000"/>
                </a:schemeClr>
              </a:buClr>
              <a:buFont typeface="Arial" panose="020B0604020202020204" pitchFamily="34" charset="0"/>
              <a:buChar char="•"/>
              <a:defRPr sz="1800"/>
            </a:lvl3pPr>
            <a:lvl4pPr marL="675085" indent="-96441">
              <a:spcBef>
                <a:spcPts val="0"/>
              </a:spcBef>
              <a:spcAft>
                <a:spcPts val="506"/>
              </a:spcAft>
              <a:buClr>
                <a:schemeClr val="accent6">
                  <a:lumMod val="60000"/>
                  <a:lumOff val="40000"/>
                </a:schemeClr>
              </a:buClr>
              <a:buFont typeface="Arial" panose="020B0604020202020204" pitchFamily="34" charset="0"/>
              <a:buChar char="•"/>
              <a:defRPr sz="1200"/>
            </a:lvl4pPr>
            <a:lvl5pPr marL="867966" indent="-96441">
              <a:spcBef>
                <a:spcPts val="0"/>
              </a:spcBef>
              <a:spcAft>
                <a:spcPts val="506"/>
              </a:spcAft>
              <a:buClr>
                <a:schemeClr val="accent6">
                  <a:lumMod val="60000"/>
                  <a:lumOff val="40000"/>
                </a:schemeClr>
              </a:buClr>
              <a:buFont typeface="Arial" panose="020B0604020202020204" pitchFamily="34" charset="0"/>
              <a:buChar char="•"/>
              <a:defRPr sz="12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6943968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xmlns:p14="http://schemas.microsoft.com/office/powerpoint/2010/main">
        <p:fade/>
      </p:transition>
    </mc:Fallback>
  </mc:AlternateContent>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1_RedSideBar_Title and Content">
    <p:spTree>
      <p:nvGrpSpPr>
        <p:cNvPr id="1" name=""/>
        <p:cNvGrpSpPr/>
        <p:nvPr/>
      </p:nvGrpSpPr>
      <p:grpSpPr>
        <a:xfrm>
          <a:off x="0" y="0"/>
          <a:ext cx="0" cy="0"/>
          <a:chOff x="0" y="0"/>
          <a:chExt cx="0" cy="0"/>
        </a:xfrm>
      </p:grpSpPr>
      <p:pic>
        <p:nvPicPr>
          <p:cNvPr id="4" name="Picture 5"/>
          <p:cNvPicPr>
            <a:picLocks noChangeAspect="1"/>
          </p:cNvPicPr>
          <p:nvPr/>
        </p:nvPicPr>
        <p:blipFill>
          <a:blip r:embed="rId2" cstate="print">
            <a:extLst>
              <a:ext uri="{28A0092B-C50C-407E-A947-70E740481C1C}">
                <a14:useLocalDpi xmlns:a14="http://schemas.microsoft.com/office/drawing/2010/main"/>
              </a:ext>
            </a:extLst>
          </a:blip>
          <a:srcRect/>
          <a:stretch>
            <a:fillRect/>
          </a:stretch>
        </p:blipFill>
        <p:spPr bwMode="auto">
          <a:xfrm>
            <a:off x="-14288" y="0"/>
            <a:ext cx="2357438"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1" y="0"/>
            <a:ext cx="9144000" cy="1181100"/>
          </a:xfrm>
        </p:spPr>
        <p:txBody>
          <a:bodyPr/>
          <a:lstStyle>
            <a:lvl1pPr algn="ctr">
              <a:defRPr/>
            </a:lvl1pPr>
          </a:lstStyle>
          <a:p>
            <a:r>
              <a:rPr lang="en-US" smtClean="0"/>
              <a:t>Click to edit Master title style</a:t>
            </a:r>
            <a:endParaRPr lang="en-US" dirty="0"/>
          </a:p>
        </p:txBody>
      </p:sp>
    </p:spTree>
    <p:extLst>
      <p:ext uri="{BB962C8B-B14F-4D97-AF65-F5344CB8AC3E}">
        <p14:creationId xmlns:p14="http://schemas.microsoft.com/office/powerpoint/2010/main" val="84600561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xmlns:p14="http://schemas.microsoft.com/office/powerpoint/2010/main">
        <p:fade/>
      </p:transition>
    </mc:Fallback>
  </mc:AlternateContent>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BlueSideBar_Title and Content">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flipH="1">
            <a:off x="1" y="0"/>
            <a:ext cx="3381608" cy="51435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lvl1pPr marL="96441" indent="-96441">
              <a:spcBef>
                <a:spcPts val="0"/>
              </a:spcBef>
              <a:spcAft>
                <a:spcPts val="506"/>
              </a:spcAft>
              <a:buClr>
                <a:schemeClr val="accent6">
                  <a:lumMod val="60000"/>
                  <a:lumOff val="40000"/>
                </a:schemeClr>
              </a:buClr>
              <a:buFont typeface="Arial" panose="020B0604020202020204" pitchFamily="34" charset="0"/>
              <a:buChar char="•"/>
              <a:defRPr/>
            </a:lvl1pPr>
            <a:lvl2pPr marL="289322" indent="-96441">
              <a:spcBef>
                <a:spcPts val="0"/>
              </a:spcBef>
              <a:spcAft>
                <a:spcPts val="506"/>
              </a:spcAft>
              <a:buClr>
                <a:schemeClr val="accent6">
                  <a:lumMod val="60000"/>
                  <a:lumOff val="40000"/>
                </a:schemeClr>
              </a:buClr>
              <a:buFont typeface="Arial" panose="020B0604020202020204" pitchFamily="34" charset="0"/>
              <a:buChar char="•"/>
              <a:defRPr/>
            </a:lvl2pPr>
            <a:lvl3pPr marL="482204" indent="-96441">
              <a:spcBef>
                <a:spcPts val="0"/>
              </a:spcBef>
              <a:spcAft>
                <a:spcPts val="506"/>
              </a:spcAft>
              <a:buClr>
                <a:schemeClr val="accent6">
                  <a:lumMod val="60000"/>
                  <a:lumOff val="40000"/>
                </a:schemeClr>
              </a:buClr>
              <a:buFont typeface="Arial" panose="020B0604020202020204" pitchFamily="34" charset="0"/>
              <a:buChar char="•"/>
              <a:defRPr/>
            </a:lvl3pPr>
            <a:lvl4pPr marL="675085" indent="-96441">
              <a:spcBef>
                <a:spcPts val="0"/>
              </a:spcBef>
              <a:spcAft>
                <a:spcPts val="506"/>
              </a:spcAft>
              <a:buClr>
                <a:schemeClr val="accent6">
                  <a:lumMod val="60000"/>
                  <a:lumOff val="40000"/>
                </a:schemeClr>
              </a:buClr>
              <a:buFont typeface="Arial" panose="020B0604020202020204" pitchFamily="34" charset="0"/>
              <a:buChar char="•"/>
              <a:defRPr/>
            </a:lvl4pPr>
            <a:lvl5pPr marL="867966" indent="-96441">
              <a:spcBef>
                <a:spcPts val="0"/>
              </a:spcBef>
              <a:spcAft>
                <a:spcPts val="506"/>
              </a:spcAft>
              <a:buClr>
                <a:schemeClr val="accent6">
                  <a:lumMod val="60000"/>
                  <a:lumOff val="40000"/>
                </a:schemeClr>
              </a:buClr>
              <a:buFont typeface="Arial" panose="020B0604020202020204"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754041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xmlns:p14="http://schemas.microsoft.com/office/powerpoint/2010/main">
        <p:fade/>
      </p:transition>
    </mc:Fallback>
  </mc:AlternateContent>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ue Side Blank">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flipH="1">
            <a:off x="1" y="0"/>
            <a:ext cx="3381608" cy="5143500"/>
          </a:xfrm>
          <a:prstGeom prst="rect">
            <a:avLst/>
          </a:prstGeom>
        </p:spPr>
      </p:pic>
    </p:spTree>
    <p:extLst>
      <p:ext uri="{BB962C8B-B14F-4D97-AF65-F5344CB8AC3E}">
        <p14:creationId xmlns:p14="http://schemas.microsoft.com/office/powerpoint/2010/main" val="24665922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xmlns:p14="http://schemas.microsoft.com/office/powerpoint/2010/main">
        <p:fade/>
      </p:transition>
    </mc:Fallback>
  </mc:AlternateContent>
  <p:timing>
    <p:tnLst>
      <p:par>
        <p:cTn id="1" dur="indefinite" restart="never" nodeType="tmRoot"/>
      </p:par>
    </p:tnLst>
  </p:timing>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secHead" preserve="1">
  <p:cSld name="1_Section Header">
    <p:spTree>
      <p:nvGrpSpPr>
        <p:cNvPr id="1" name=""/>
        <p:cNvGrpSpPr/>
        <p:nvPr/>
      </p:nvGrpSpPr>
      <p:grpSpPr>
        <a:xfrm>
          <a:off x="0" y="0"/>
          <a:ext cx="0" cy="0"/>
          <a:chOff x="0" y="0"/>
          <a:chExt cx="0" cy="0"/>
        </a:xfrm>
      </p:grpSpPr>
      <p:pic>
        <p:nvPicPr>
          <p:cNvPr id="8" name="Picture 7"/>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620370" y="3879285"/>
            <a:ext cx="3934346" cy="768169"/>
          </a:xfrm>
          <a:prstGeom prst="rect">
            <a:avLst/>
          </a:prstGeom>
        </p:spPr>
      </p:pic>
      <p:pic>
        <p:nvPicPr>
          <p:cNvPr id="7" name="Picture 5"/>
          <p:cNvPicPr>
            <a:picLocks noChangeAspect="1"/>
          </p:cNvPicPr>
          <p:nvPr/>
        </p:nvPicPr>
        <p:blipFill rotWithShape="1">
          <a:blip r:embed="rId3" cstate="email">
            <a:extLst>
              <a:ext uri="{28A0092B-C50C-407E-A947-70E740481C1C}">
                <a14:useLocalDpi xmlns:a14="http://schemas.microsoft.com/office/drawing/2010/main"/>
              </a:ext>
            </a:extLst>
          </a:blip>
          <a:srcRect l="62001" r="4527"/>
          <a:stretch/>
        </p:blipFill>
        <p:spPr bwMode="auto">
          <a:xfrm>
            <a:off x="6070600" y="0"/>
            <a:ext cx="30607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0" y="399522"/>
            <a:ext cx="9144000" cy="2139553"/>
          </a:xfrm>
        </p:spPr>
        <p:txBody>
          <a:bodyPr anchor="b">
            <a:normAutofit/>
          </a:bodyPr>
          <a:lstStyle>
            <a:lvl1pPr algn="ct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0" y="2559315"/>
            <a:ext cx="9144000" cy="1125140"/>
          </a:xfrm>
        </p:spPr>
        <p:txBody>
          <a:bodyPr>
            <a:normAutofit/>
          </a:bodyPr>
          <a:lstStyle>
            <a:lvl1pPr marL="0" indent="0" algn="ctr">
              <a:buNone/>
              <a:defRPr sz="2400">
                <a:solidFill>
                  <a:schemeClr val="bg1"/>
                </a:solidFill>
              </a:defRPr>
            </a:lvl1pPr>
            <a:lvl2pPr marL="192881" indent="0">
              <a:buNone/>
              <a:defRPr sz="844">
                <a:solidFill>
                  <a:schemeClr val="tx1">
                    <a:tint val="75000"/>
                  </a:schemeClr>
                </a:solidFill>
              </a:defRPr>
            </a:lvl2pPr>
            <a:lvl3pPr marL="385763" indent="0">
              <a:buNone/>
              <a:defRPr sz="760">
                <a:solidFill>
                  <a:schemeClr val="tx1">
                    <a:tint val="75000"/>
                  </a:schemeClr>
                </a:solidFill>
              </a:defRPr>
            </a:lvl3pPr>
            <a:lvl4pPr marL="578644" indent="0">
              <a:buNone/>
              <a:defRPr sz="675">
                <a:solidFill>
                  <a:schemeClr val="tx1">
                    <a:tint val="75000"/>
                  </a:schemeClr>
                </a:solidFill>
              </a:defRPr>
            </a:lvl4pPr>
            <a:lvl5pPr marL="771525" indent="0">
              <a:buNone/>
              <a:defRPr sz="675">
                <a:solidFill>
                  <a:schemeClr val="tx1">
                    <a:tint val="75000"/>
                  </a:schemeClr>
                </a:solidFill>
              </a:defRPr>
            </a:lvl5pPr>
            <a:lvl6pPr marL="964406" indent="0">
              <a:buNone/>
              <a:defRPr sz="675">
                <a:solidFill>
                  <a:schemeClr val="tx1">
                    <a:tint val="75000"/>
                  </a:schemeClr>
                </a:solidFill>
              </a:defRPr>
            </a:lvl6pPr>
            <a:lvl7pPr marL="1157288" indent="0">
              <a:buNone/>
              <a:defRPr sz="675">
                <a:solidFill>
                  <a:schemeClr val="tx1">
                    <a:tint val="75000"/>
                  </a:schemeClr>
                </a:solidFill>
              </a:defRPr>
            </a:lvl7pPr>
            <a:lvl8pPr marL="1350169" indent="0">
              <a:buNone/>
              <a:defRPr sz="675">
                <a:solidFill>
                  <a:schemeClr val="tx1">
                    <a:tint val="75000"/>
                  </a:schemeClr>
                </a:solidFill>
              </a:defRPr>
            </a:lvl8pPr>
            <a:lvl9pPr marL="1543050" indent="0">
              <a:buNone/>
              <a:defRPr sz="675">
                <a:solidFill>
                  <a:schemeClr val="tx1">
                    <a:tint val="75000"/>
                  </a:schemeClr>
                </a:solidFill>
              </a:defRPr>
            </a:lvl9pPr>
          </a:lstStyle>
          <a:p>
            <a:pPr lvl="0"/>
            <a:r>
              <a:rPr lang="en-US" smtClean="0"/>
              <a:t>Click to edit Master text styles</a:t>
            </a:r>
          </a:p>
        </p:txBody>
      </p:sp>
    </p:spTree>
    <p:extLst>
      <p:ext uri="{BB962C8B-B14F-4D97-AF65-F5344CB8AC3E}">
        <p14:creationId xmlns:p14="http://schemas.microsoft.com/office/powerpoint/2010/main" val="34967260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xmlns:p14="http://schemas.microsoft.com/office/powerpoint/2010/main">
        <p:fade/>
      </p:transition>
    </mc:Fallback>
  </mc:AlternateContent>
  <p:timing>
    <p:tnLst>
      <p:par>
        <p:cTn id="1" dur="indefinite" restart="never" nodeType="tmRoot"/>
      </p:par>
    </p:tnLst>
  </p:timing>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woObj" preserve="1">
  <p:cSld name="1_Two Content">
    <p:spTree>
      <p:nvGrpSpPr>
        <p:cNvPr id="1" name=""/>
        <p:cNvGrpSpPr/>
        <p:nvPr/>
      </p:nvGrpSpPr>
      <p:grpSpPr>
        <a:xfrm>
          <a:off x="0" y="0"/>
          <a:ext cx="0" cy="0"/>
          <a:chOff x="0" y="0"/>
          <a:chExt cx="0" cy="0"/>
        </a:xfrm>
      </p:grpSpPr>
      <p:pic>
        <p:nvPicPr>
          <p:cNvPr id="5" name="Picture 5"/>
          <p:cNvPicPr>
            <a:picLocks noChangeAspect="1"/>
          </p:cNvPicPr>
          <p:nvPr/>
        </p:nvPicPr>
        <p:blipFill rotWithShape="1">
          <a:blip r:embed="rId2" cstate="email">
            <a:extLst>
              <a:ext uri="{28A0092B-C50C-407E-A947-70E740481C1C}">
                <a14:useLocalDpi xmlns:a14="http://schemas.microsoft.com/office/drawing/2010/main"/>
              </a:ext>
            </a:extLst>
          </a:blip>
          <a:srcRect l="62001" r="4527"/>
          <a:stretch/>
        </p:blipFill>
        <p:spPr bwMode="auto">
          <a:xfrm>
            <a:off x="6070600" y="0"/>
            <a:ext cx="30607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93083" y="4663393"/>
            <a:ext cx="2013821" cy="393192"/>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317901" y="1216822"/>
            <a:ext cx="4196953" cy="3469481"/>
          </a:xfrm>
        </p:spPr>
        <p:txBody>
          <a:bodyPr/>
          <a:lstStyle>
            <a:lvl1pPr marL="96441" indent="-96441">
              <a:buClr>
                <a:schemeClr val="bg1">
                  <a:lumMod val="50000"/>
                </a:schemeClr>
              </a:buClr>
              <a:buFont typeface="Arial" panose="020B0604020202020204" pitchFamily="34" charset="0"/>
              <a:buChar char="•"/>
              <a:defRPr/>
            </a:lvl1pPr>
            <a:lvl2pPr marL="289322" indent="-96441">
              <a:buClr>
                <a:schemeClr val="bg1">
                  <a:lumMod val="50000"/>
                </a:schemeClr>
              </a:buClr>
              <a:buFont typeface="Arial" panose="020B0604020202020204" pitchFamily="34" charset="0"/>
              <a:buChar char="•"/>
              <a:defRPr/>
            </a:lvl2pPr>
            <a:lvl3pPr marL="482204" indent="-96441">
              <a:buClr>
                <a:schemeClr val="bg1">
                  <a:lumMod val="50000"/>
                </a:schemeClr>
              </a:buClr>
              <a:buFont typeface="Arial" panose="020B0604020202020204" pitchFamily="34" charset="0"/>
              <a:buChar char="•"/>
              <a:defRPr/>
            </a:lvl3pPr>
            <a:lvl4pPr marL="675085" indent="-96441">
              <a:buClr>
                <a:schemeClr val="bg1">
                  <a:lumMod val="50000"/>
                </a:schemeClr>
              </a:buClr>
              <a:buFont typeface="Arial" panose="020B0604020202020204" pitchFamily="34" charset="0"/>
              <a:buChar char="•"/>
              <a:defRPr/>
            </a:lvl4pPr>
            <a:lvl5pPr marL="867966" indent="-96441">
              <a:buClr>
                <a:schemeClr val="bg1">
                  <a:lumMod val="50000"/>
                </a:schemeClr>
              </a:buClr>
              <a:buFont typeface="Arial" panose="020B0604020202020204"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29153" y="1216822"/>
            <a:ext cx="4244579" cy="3469481"/>
          </a:xfrm>
        </p:spPr>
        <p:txBody>
          <a:bodyPr/>
          <a:lstStyle>
            <a:lvl1pPr marL="96441" indent="-96441">
              <a:buClr>
                <a:schemeClr val="bg1">
                  <a:lumMod val="50000"/>
                </a:schemeClr>
              </a:buClr>
              <a:buFont typeface="Arial" panose="020B0604020202020204" pitchFamily="34" charset="0"/>
              <a:buChar char="•"/>
              <a:defRPr/>
            </a:lvl1pPr>
            <a:lvl2pPr marL="289322" indent="-96441">
              <a:buClr>
                <a:schemeClr val="bg1">
                  <a:lumMod val="50000"/>
                </a:schemeClr>
              </a:buClr>
              <a:buFont typeface="Arial" panose="020B0604020202020204" pitchFamily="34" charset="0"/>
              <a:buChar char="•"/>
              <a:defRPr/>
            </a:lvl2pPr>
            <a:lvl3pPr marL="482204" indent="-96441">
              <a:buClr>
                <a:schemeClr val="bg1">
                  <a:lumMod val="50000"/>
                </a:schemeClr>
              </a:buClr>
              <a:buFont typeface="Arial" panose="020B0604020202020204" pitchFamily="34" charset="0"/>
              <a:buChar char="•"/>
              <a:defRPr/>
            </a:lvl3pPr>
            <a:lvl4pPr marL="675085" indent="-96441">
              <a:buClr>
                <a:schemeClr val="bg1">
                  <a:lumMod val="50000"/>
                </a:schemeClr>
              </a:buClr>
              <a:buFont typeface="Arial" panose="020B0604020202020204" pitchFamily="34" charset="0"/>
              <a:buChar char="•"/>
              <a:defRPr/>
            </a:lvl4pPr>
            <a:lvl5pPr marL="867966" indent="-96441">
              <a:buClr>
                <a:schemeClr val="bg1">
                  <a:lumMod val="50000"/>
                </a:schemeClr>
              </a:buClr>
              <a:buFont typeface="Arial" panose="020B0604020202020204"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2333985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xmlns:p14="http://schemas.microsoft.com/office/powerpoint/2010/main">
        <p:fade/>
      </p:transition>
    </mc:Fallback>
  </mc:AlternateContent>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blank no logo">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838851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xmlns:p14="http://schemas.microsoft.com/office/powerpoint/2010/main">
        <p:fade/>
      </p:transition>
    </mc:Fallback>
  </mc:AlternateContent>
  <p:timing>
    <p:tnLst>
      <p:par>
        <p:cTn id="1" dur="indefinite" restart="never" nodeType="tmRoot"/>
      </p:par>
    </p:tnLst>
  </p:timing>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Black ">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66277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xmlns:p14="http://schemas.microsoft.com/office/powerpoint/2010/main">
        <p:fade/>
      </p:transition>
    </mc:Fallback>
  </mc:AlternateContent>
  <p:timing>
    <p:tnLst>
      <p:par>
        <p:cTn id="1" dur="indefinite" restart="never" nodeType="tmRoot"/>
      </p:par>
    </p:tnLst>
  </p:timing>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userDrawn="1">
  <p:cSld name="Single Line Title/Presenter Blue">
    <p:spTree>
      <p:nvGrpSpPr>
        <p:cNvPr id="1" name=""/>
        <p:cNvGrpSpPr/>
        <p:nvPr/>
      </p:nvGrpSpPr>
      <p:grpSpPr>
        <a:xfrm>
          <a:off x="0" y="0"/>
          <a:ext cx="0" cy="0"/>
          <a:chOff x="0" y="0"/>
          <a:chExt cx="0" cy="0"/>
        </a:xfrm>
      </p:grpSpPr>
      <p:pic>
        <p:nvPicPr>
          <p:cNvPr id="9" name="Picture 8" descr="24840D_1123b_CP_RT.jpg"/>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6" name="Rectangle 5"/>
          <p:cNvSpPr/>
          <p:nvPr/>
        </p:nvSpPr>
        <p:spPr>
          <a:xfrm>
            <a:off x="0" y="1913335"/>
            <a:ext cx="9144000" cy="1649015"/>
          </a:xfrm>
          <a:prstGeom prst="rect">
            <a:avLst/>
          </a:prstGeom>
          <a:solidFill>
            <a:schemeClr val="bg2">
              <a:alpha val="79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2" name="Title 1"/>
          <p:cNvSpPr>
            <a:spLocks noGrp="1"/>
          </p:cNvSpPr>
          <p:nvPr>
            <p:ph type="title"/>
          </p:nvPr>
        </p:nvSpPr>
        <p:spPr>
          <a:xfrm>
            <a:off x="246899" y="1920818"/>
            <a:ext cx="8732520" cy="701842"/>
          </a:xfrm>
        </p:spPr>
        <p:txBody>
          <a:bodyPr>
            <a:normAutofit/>
          </a:bodyPr>
          <a:lstStyle>
            <a:lvl1pPr algn="l">
              <a:defRPr sz="4800" b="0">
                <a:solidFill>
                  <a:srgbClr val="FFFFFF"/>
                </a:solidFill>
                <a:latin typeface="Palatino Linotype"/>
                <a:cs typeface="Palatino Linotype"/>
              </a:defRPr>
            </a:lvl1pPr>
          </a:lstStyle>
          <a:p>
            <a:r>
              <a:rPr lang="en-US" dirty="0" smtClean="0"/>
              <a:t>Click to edit Master title style</a:t>
            </a:r>
            <a:endParaRPr lang="en-US" dirty="0"/>
          </a:p>
        </p:txBody>
      </p:sp>
      <p:sp>
        <p:nvSpPr>
          <p:cNvPr id="13" name="Content Placeholder 6"/>
          <p:cNvSpPr>
            <a:spLocks noGrp="1"/>
          </p:cNvSpPr>
          <p:nvPr>
            <p:ph sz="quarter" idx="13"/>
          </p:nvPr>
        </p:nvSpPr>
        <p:spPr>
          <a:xfrm>
            <a:off x="246665" y="2613182"/>
            <a:ext cx="8732520" cy="549651"/>
          </a:xfrm>
          <a:effectLst/>
        </p:spPr>
        <p:txBody>
          <a:bodyPr anchor="ctr">
            <a:noAutofit/>
          </a:bodyPr>
          <a:lstStyle>
            <a:lvl1pPr algn="l">
              <a:spcAft>
                <a:spcPts val="600"/>
              </a:spcAft>
              <a:buNone/>
              <a:defRPr sz="2800" cap="all">
                <a:solidFill>
                  <a:schemeClr val="accent3"/>
                </a:solidFill>
                <a:latin typeface="Helvetica LT Std" panose="020B0504020202020204" pitchFamily="34" charset="0"/>
              </a:defRPr>
            </a:lvl1pPr>
            <a:lvl2pPr marL="0" indent="0" algn="l">
              <a:buNone/>
              <a:defRPr sz="2600">
                <a:solidFill>
                  <a:srgbClr val="FFFFFF"/>
                </a:solidFill>
              </a:defRPr>
            </a:lvl2pPr>
          </a:lstStyle>
          <a:p>
            <a:pPr lvl="0"/>
            <a:r>
              <a:rPr lang="en-US" dirty="0" smtClean="0"/>
              <a:t>Click to edit Master text styles</a:t>
            </a:r>
          </a:p>
        </p:txBody>
      </p:sp>
      <p:sp>
        <p:nvSpPr>
          <p:cNvPr id="14" name="Content Placeholder 3"/>
          <p:cNvSpPr>
            <a:spLocks noGrp="1"/>
          </p:cNvSpPr>
          <p:nvPr>
            <p:ph sz="quarter" idx="14"/>
          </p:nvPr>
        </p:nvSpPr>
        <p:spPr>
          <a:xfrm>
            <a:off x="246433" y="3133966"/>
            <a:ext cx="8729333" cy="388937"/>
          </a:xfrm>
        </p:spPr>
        <p:txBody>
          <a:bodyPr/>
          <a:lstStyle>
            <a:lvl1pPr marL="0" indent="0">
              <a:buNone/>
              <a:defRPr>
                <a:solidFill>
                  <a:srgbClr val="FFFFFF"/>
                </a:solidFill>
                <a:latin typeface="Helvetica LT Std" panose="020B0504020202020204" pitchFamily="34" charset="0"/>
              </a:defRPr>
            </a:lvl1pPr>
            <a:lvl2pPr marL="406400" indent="0">
              <a:buNone/>
              <a:defRPr/>
            </a:lvl2pPr>
            <a:lvl3pPr marL="798513" indent="0">
              <a:buNone/>
              <a:defRPr/>
            </a:lvl3pPr>
            <a:lvl4pPr marL="1139825" indent="0">
              <a:buNone/>
              <a:defRPr/>
            </a:lvl4pPr>
            <a:lvl5pPr marL="1430338" indent="0">
              <a:buNone/>
              <a:defRPr/>
            </a:lvl5pPr>
          </a:lstStyle>
          <a:p>
            <a:pPr lvl="0"/>
            <a:r>
              <a:rPr lang="en-US" dirty="0" smtClean="0"/>
              <a:t>Click to edit Master text styles</a:t>
            </a:r>
          </a:p>
        </p:txBody>
      </p:sp>
      <p:sp>
        <p:nvSpPr>
          <p:cNvPr id="10" name="Rectangle 9"/>
          <p:cNvSpPr/>
          <p:nvPr userDrawn="1"/>
        </p:nvSpPr>
        <p:spPr>
          <a:xfrm>
            <a:off x="0" y="3600450"/>
            <a:ext cx="9144000" cy="1543050"/>
          </a:xfrm>
          <a:prstGeom prst="rect">
            <a:avLst/>
          </a:prstGeom>
          <a:gradFill>
            <a:gsLst>
              <a:gs pos="0">
                <a:schemeClr val="bg1">
                  <a:alpha val="64000"/>
                </a:schemeClr>
              </a:gs>
              <a:gs pos="43000">
                <a:schemeClr val="bg1">
                  <a:alpha val="0"/>
                </a:schemeClr>
              </a:gs>
            </a:gsLs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latin typeface="Helvetica Light"/>
            </a:endParaRPr>
          </a:p>
        </p:txBody>
      </p:sp>
      <p:pic>
        <p:nvPicPr>
          <p:cNvPr id="15" name="Picture 14"/>
          <p:cNvPicPr>
            <a:picLocks noChangeAspect="1"/>
          </p:cNvPicPr>
          <p:nvPr userDrawn="1"/>
        </p:nvPicPr>
        <p:blipFill rotWithShape="1">
          <a:blip r:embed="rId3" cstate="email">
            <a:extLst>
              <a:ext uri="{28A0092B-C50C-407E-A947-70E740481C1C}">
                <a14:useLocalDpi xmlns:a14="http://schemas.microsoft.com/office/drawing/2010/main" val="0"/>
              </a:ext>
            </a:extLst>
          </a:blip>
          <a:srcRect l="54857" t="43747" r="14732" b="42622"/>
          <a:stretch/>
        </p:blipFill>
        <p:spPr>
          <a:xfrm>
            <a:off x="7772400" y="4615274"/>
            <a:ext cx="1284437" cy="444848"/>
          </a:xfrm>
          <a:prstGeom prst="rect">
            <a:avLst/>
          </a:prstGeom>
        </p:spPr>
      </p:pic>
      <p:sp>
        <p:nvSpPr>
          <p:cNvPr id="16" name="Rectangle 15"/>
          <p:cNvSpPr/>
          <p:nvPr userDrawn="1"/>
        </p:nvSpPr>
        <p:spPr>
          <a:xfrm>
            <a:off x="5014912" y="4677358"/>
            <a:ext cx="3134668" cy="338554"/>
          </a:xfrm>
          <a:prstGeom prst="rect">
            <a:avLst/>
          </a:prstGeom>
        </p:spPr>
        <p:txBody>
          <a:bodyPr wrap="square">
            <a:spAutoFit/>
          </a:bodyPr>
          <a:lstStyle/>
          <a:p>
            <a:r>
              <a:rPr lang="en-US" sz="1600" b="1" dirty="0" smtClean="0">
                <a:solidFill>
                  <a:schemeClr val="bg1"/>
                </a:solidFill>
              </a:rPr>
              <a:t>Lyle School of Engineering</a:t>
            </a:r>
            <a:endParaRPr lang="en-US" sz="1600" b="1" dirty="0">
              <a:solidFill>
                <a:schemeClr val="bg1"/>
              </a:solidFill>
            </a:endParaRPr>
          </a:p>
        </p:txBody>
      </p:sp>
    </p:spTree>
    <p:extLst>
      <p:ext uri="{BB962C8B-B14F-4D97-AF65-F5344CB8AC3E}">
        <p14:creationId xmlns:p14="http://schemas.microsoft.com/office/powerpoint/2010/main" val="980042203"/>
      </p:ext>
    </p:extLst>
  </p:cSld>
  <p:clrMapOvr>
    <a:masterClrMapping/>
  </p:clrMapOvr>
  <p:transition>
    <p:fade/>
  </p:transition>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2 Line Title/Presenter Red">
    <p:spTree>
      <p:nvGrpSpPr>
        <p:cNvPr id="1" name=""/>
        <p:cNvGrpSpPr/>
        <p:nvPr/>
      </p:nvGrpSpPr>
      <p:grpSpPr>
        <a:xfrm>
          <a:off x="0" y="0"/>
          <a:ext cx="0" cy="0"/>
          <a:chOff x="0" y="0"/>
          <a:chExt cx="0" cy="0"/>
        </a:xfrm>
      </p:grpSpPr>
      <p:pic>
        <p:nvPicPr>
          <p:cNvPr id="9" name="Picture 8" descr="24840D_1123b_CP_RT.jpg"/>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6" name="Rectangle 5"/>
          <p:cNvSpPr/>
          <p:nvPr/>
        </p:nvSpPr>
        <p:spPr>
          <a:xfrm>
            <a:off x="0" y="1376362"/>
            <a:ext cx="9144000" cy="2185988"/>
          </a:xfrm>
          <a:prstGeom prst="rect">
            <a:avLst/>
          </a:prstGeom>
          <a:solidFill>
            <a:schemeClr val="accent2">
              <a:alpha val="87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 name="Title 1"/>
          <p:cNvSpPr>
            <a:spLocks noGrp="1"/>
          </p:cNvSpPr>
          <p:nvPr>
            <p:ph type="title"/>
          </p:nvPr>
        </p:nvSpPr>
        <p:spPr>
          <a:xfrm>
            <a:off x="246899" y="1473673"/>
            <a:ext cx="8732520" cy="1148987"/>
          </a:xfrm>
        </p:spPr>
        <p:txBody>
          <a:bodyPr>
            <a:normAutofit/>
          </a:bodyPr>
          <a:lstStyle>
            <a:lvl1pPr algn="l">
              <a:defRPr sz="4800" b="0">
                <a:solidFill>
                  <a:srgbClr val="FFFFFF"/>
                </a:solidFill>
                <a:latin typeface="Palatino Linotype"/>
                <a:cs typeface="Palatino Linotype"/>
              </a:defRPr>
            </a:lvl1pPr>
          </a:lstStyle>
          <a:p>
            <a:r>
              <a:rPr lang="en-US" dirty="0" smtClean="0"/>
              <a:t>Click to edit Master title style</a:t>
            </a:r>
            <a:endParaRPr lang="en-US" dirty="0"/>
          </a:p>
        </p:txBody>
      </p:sp>
      <p:sp>
        <p:nvSpPr>
          <p:cNvPr id="7" name="Content Placeholder 6"/>
          <p:cNvSpPr>
            <a:spLocks noGrp="1"/>
          </p:cNvSpPr>
          <p:nvPr>
            <p:ph sz="quarter" idx="13"/>
          </p:nvPr>
        </p:nvSpPr>
        <p:spPr>
          <a:xfrm>
            <a:off x="246665" y="2613182"/>
            <a:ext cx="8732520" cy="549651"/>
          </a:xfrm>
          <a:effectLst/>
        </p:spPr>
        <p:txBody>
          <a:bodyPr anchor="ctr">
            <a:noAutofit/>
          </a:bodyPr>
          <a:lstStyle>
            <a:lvl1pPr algn="l">
              <a:spcAft>
                <a:spcPts val="600"/>
              </a:spcAft>
              <a:buNone/>
              <a:defRPr sz="2800" cap="all">
                <a:solidFill>
                  <a:schemeClr val="accent3"/>
                </a:solidFill>
                <a:latin typeface="Helvetica LT Std" panose="020B0504020202020204" pitchFamily="34" charset="0"/>
              </a:defRPr>
            </a:lvl1pPr>
            <a:lvl2pPr marL="0" indent="0" algn="l">
              <a:buNone/>
              <a:defRPr sz="2600">
                <a:solidFill>
                  <a:srgbClr val="FFFFFF"/>
                </a:solidFill>
              </a:defRPr>
            </a:lvl2pPr>
          </a:lstStyle>
          <a:p>
            <a:pPr lvl="0"/>
            <a:r>
              <a:rPr lang="en-US" dirty="0" smtClean="0"/>
              <a:t>Click to edit Master text styles</a:t>
            </a:r>
          </a:p>
        </p:txBody>
      </p:sp>
      <p:sp>
        <p:nvSpPr>
          <p:cNvPr id="4" name="Content Placeholder 3"/>
          <p:cNvSpPr>
            <a:spLocks noGrp="1"/>
          </p:cNvSpPr>
          <p:nvPr>
            <p:ph sz="quarter" idx="14"/>
          </p:nvPr>
        </p:nvSpPr>
        <p:spPr>
          <a:xfrm>
            <a:off x="246433" y="3133966"/>
            <a:ext cx="8729333" cy="388937"/>
          </a:xfrm>
        </p:spPr>
        <p:txBody>
          <a:bodyPr/>
          <a:lstStyle>
            <a:lvl1pPr marL="0" indent="0">
              <a:buNone/>
              <a:defRPr>
                <a:solidFill>
                  <a:schemeClr val="tx1"/>
                </a:solidFill>
                <a:latin typeface="Helvetica LT Std" panose="020B0504020202020204" pitchFamily="34" charset="0"/>
              </a:defRPr>
            </a:lvl1pPr>
            <a:lvl2pPr marL="406400" indent="0">
              <a:buNone/>
              <a:defRPr/>
            </a:lvl2pPr>
            <a:lvl3pPr marL="798513" indent="0">
              <a:buNone/>
              <a:defRPr/>
            </a:lvl3pPr>
            <a:lvl4pPr marL="1139825" indent="0">
              <a:buNone/>
              <a:defRPr/>
            </a:lvl4pPr>
            <a:lvl5pPr marL="1430338" indent="0">
              <a:buNone/>
              <a:defRPr/>
            </a:lvl5pPr>
          </a:lstStyle>
          <a:p>
            <a:pPr lvl="0"/>
            <a:r>
              <a:rPr lang="en-US" dirty="0" smtClean="0"/>
              <a:t>Click to edit Master text styles</a:t>
            </a:r>
          </a:p>
        </p:txBody>
      </p:sp>
      <p:sp>
        <p:nvSpPr>
          <p:cNvPr id="11" name="Rectangle 10"/>
          <p:cNvSpPr/>
          <p:nvPr userDrawn="1"/>
        </p:nvSpPr>
        <p:spPr>
          <a:xfrm>
            <a:off x="0" y="3600450"/>
            <a:ext cx="9144000" cy="1543050"/>
          </a:xfrm>
          <a:prstGeom prst="rect">
            <a:avLst/>
          </a:prstGeom>
          <a:gradFill>
            <a:gsLst>
              <a:gs pos="0">
                <a:schemeClr val="bg1">
                  <a:alpha val="64000"/>
                </a:schemeClr>
              </a:gs>
              <a:gs pos="43000">
                <a:schemeClr val="bg1">
                  <a:alpha val="0"/>
                </a:schemeClr>
              </a:gs>
            </a:gsLs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latin typeface="Helvetica Light"/>
            </a:endParaRPr>
          </a:p>
        </p:txBody>
      </p:sp>
      <p:pic>
        <p:nvPicPr>
          <p:cNvPr id="10" name="Picture 9"/>
          <p:cNvPicPr>
            <a:picLocks noChangeAspect="1"/>
          </p:cNvPicPr>
          <p:nvPr userDrawn="1"/>
        </p:nvPicPr>
        <p:blipFill rotWithShape="1">
          <a:blip r:embed="rId3" cstate="email">
            <a:extLst>
              <a:ext uri="{28A0092B-C50C-407E-A947-70E740481C1C}">
                <a14:useLocalDpi xmlns:a14="http://schemas.microsoft.com/office/drawing/2010/main" val="0"/>
              </a:ext>
            </a:extLst>
          </a:blip>
          <a:srcRect l="54857" t="43747" r="14732" b="42622"/>
          <a:stretch/>
        </p:blipFill>
        <p:spPr>
          <a:xfrm>
            <a:off x="7772400" y="4615274"/>
            <a:ext cx="1284437" cy="444848"/>
          </a:xfrm>
          <a:prstGeom prst="rect">
            <a:avLst/>
          </a:prstGeom>
        </p:spPr>
      </p:pic>
      <p:sp>
        <p:nvSpPr>
          <p:cNvPr id="13" name="Rectangle 12"/>
          <p:cNvSpPr/>
          <p:nvPr userDrawn="1"/>
        </p:nvSpPr>
        <p:spPr>
          <a:xfrm>
            <a:off x="5670563" y="4701859"/>
            <a:ext cx="2014674" cy="276999"/>
          </a:xfrm>
          <a:prstGeom prst="rect">
            <a:avLst/>
          </a:prstGeom>
        </p:spPr>
        <p:txBody>
          <a:bodyPr wrap="square">
            <a:spAutoFit/>
          </a:bodyPr>
          <a:lstStyle/>
          <a:p>
            <a:r>
              <a:rPr lang="en-US" sz="1200" dirty="0" smtClean="0"/>
              <a:t>Lyle of Engineering School</a:t>
            </a:r>
            <a:endParaRPr lang="en-US" sz="1200" dirty="0"/>
          </a:p>
        </p:txBody>
      </p:sp>
    </p:spTree>
    <p:extLst>
      <p:ext uri="{BB962C8B-B14F-4D97-AF65-F5344CB8AC3E}">
        <p14:creationId xmlns:p14="http://schemas.microsoft.com/office/powerpoint/2010/main" val="1105045186"/>
      </p:ext>
    </p:extLst>
  </p:cSld>
  <p:clrMapOvr>
    <a:masterClrMapping/>
  </p:clrMapOvr>
  <p:transition>
    <p:fade/>
  </p:transition>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1_Bullets">
    <p:spTree>
      <p:nvGrpSpPr>
        <p:cNvPr id="1" name=""/>
        <p:cNvGrpSpPr/>
        <p:nvPr/>
      </p:nvGrpSpPr>
      <p:grpSpPr>
        <a:xfrm>
          <a:off x="0" y="0"/>
          <a:ext cx="0" cy="0"/>
          <a:chOff x="0" y="0"/>
          <a:chExt cx="0" cy="0"/>
        </a:xfrm>
      </p:grpSpPr>
      <p:sp>
        <p:nvSpPr>
          <p:cNvPr id="9" name="Content Placeholder 8"/>
          <p:cNvSpPr>
            <a:spLocks noGrp="1"/>
          </p:cNvSpPr>
          <p:nvPr>
            <p:ph sz="quarter" idx="10"/>
          </p:nvPr>
        </p:nvSpPr>
        <p:spPr>
          <a:xfrm>
            <a:off x="457200" y="1197865"/>
            <a:ext cx="8686800" cy="3637796"/>
          </a:xfrm>
        </p:spPr>
        <p:txBody>
          <a:bodyPr/>
          <a:lstStyle>
            <a:lvl1pPr>
              <a:defRPr>
                <a:latin typeface="Helvetica LT Std" panose="020B0504020202020204" pitchFamily="34" charset="0"/>
              </a:defRPr>
            </a:lvl1pPr>
            <a:lvl2pPr>
              <a:defRPr>
                <a:latin typeface="Helvetica LT Std" panose="020B0504020202020204" pitchFamily="34" charset="0"/>
              </a:defRPr>
            </a:lvl2pPr>
            <a:lvl3pPr>
              <a:defRPr>
                <a:latin typeface="Helvetica LT Std" panose="020B0504020202020204" pitchFamily="34" charset="0"/>
              </a:defRPr>
            </a:lvl3pPr>
            <a:lvl4pPr>
              <a:defRPr>
                <a:latin typeface="Helvetica LT Std" panose="020B0504020202020204" pitchFamily="34" charset="0"/>
              </a:defRPr>
            </a:lvl4pPr>
            <a:lvl5pPr>
              <a:defRPr>
                <a:latin typeface="Helvetica LT Std" panose="020B0504020202020204"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 name="Title 1"/>
          <p:cNvSpPr>
            <a:spLocks noGrp="1"/>
          </p:cNvSpPr>
          <p:nvPr>
            <p:ph type="title"/>
          </p:nvPr>
        </p:nvSpPr>
        <p:spPr/>
        <p:txBody>
          <a:bodyPr/>
          <a:lstStyle/>
          <a:p>
            <a:r>
              <a:rPr lang="en-US" smtClean="0"/>
              <a:t>Click to edit Master title style</a:t>
            </a:r>
            <a:endParaRPr lang="en-US" dirty="0"/>
          </a:p>
        </p:txBody>
      </p:sp>
      <p:pic>
        <p:nvPicPr>
          <p:cNvPr id="6" name="Picture 5"/>
          <p:cNvPicPr>
            <a:picLocks noChangeAspect="1"/>
          </p:cNvPicPr>
          <p:nvPr userDrawn="1"/>
        </p:nvPicPr>
        <p:blipFill rotWithShape="1">
          <a:blip r:embed="rId2" cstate="email">
            <a:extLst>
              <a:ext uri="{28A0092B-C50C-407E-A947-70E740481C1C}">
                <a14:useLocalDpi xmlns:a14="http://schemas.microsoft.com/office/drawing/2010/main" val="0"/>
              </a:ext>
            </a:extLst>
          </a:blip>
          <a:srcRect l="54857" t="43747" r="14732" b="42622"/>
          <a:stretch/>
        </p:blipFill>
        <p:spPr>
          <a:xfrm>
            <a:off x="7942997" y="4674358"/>
            <a:ext cx="1113840" cy="385764"/>
          </a:xfrm>
          <a:prstGeom prst="rect">
            <a:avLst/>
          </a:prstGeom>
        </p:spPr>
      </p:pic>
      <p:sp>
        <p:nvSpPr>
          <p:cNvPr id="7" name="Rectangle 6"/>
          <p:cNvSpPr/>
          <p:nvPr userDrawn="1"/>
        </p:nvSpPr>
        <p:spPr>
          <a:xfrm>
            <a:off x="6313447" y="4772739"/>
            <a:ext cx="1699504" cy="246221"/>
          </a:xfrm>
          <a:prstGeom prst="rect">
            <a:avLst/>
          </a:prstGeom>
        </p:spPr>
        <p:txBody>
          <a:bodyPr wrap="none">
            <a:spAutoFit/>
          </a:bodyPr>
          <a:lstStyle/>
          <a:p>
            <a:r>
              <a:rPr lang="en-US" sz="1000" dirty="0" smtClean="0"/>
              <a:t>Lyle of Engineering School</a:t>
            </a:r>
            <a:endParaRPr lang="en-US" sz="1000" dirty="0"/>
          </a:p>
        </p:txBody>
      </p:sp>
      <p:sp>
        <p:nvSpPr>
          <p:cNvPr id="8" name="Slide Number Placeholder 5"/>
          <p:cNvSpPr>
            <a:spLocks noGrp="1"/>
          </p:cNvSpPr>
          <p:nvPr>
            <p:ph type="sldNum" sz="quarter" idx="12"/>
          </p:nvPr>
        </p:nvSpPr>
        <p:spPr>
          <a:xfrm>
            <a:off x="3073400" y="4760914"/>
            <a:ext cx="2057400" cy="273844"/>
          </a:xfrm>
          <a:prstGeom prst="rect">
            <a:avLst/>
          </a:prstGeom>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2067158650"/>
      </p:ext>
    </p:extLst>
  </p:cSld>
  <p:clrMapOvr>
    <a:masterClrMapping/>
  </p:clrMapOvr>
  <p:transition>
    <p:fade/>
  </p:transition>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wo content w/headers">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5381" y="1648953"/>
            <a:ext cx="4148477" cy="3173880"/>
          </a:xfrm>
        </p:spPr>
        <p:txBody>
          <a:bodyPr/>
          <a:lstStyle>
            <a:lvl1pPr>
              <a:spcBef>
                <a:spcPts val="0"/>
              </a:spcBef>
              <a:spcAft>
                <a:spcPts val="1200"/>
              </a:spcAft>
              <a:defRPr sz="2000" b="0" i="0">
                <a:latin typeface="Helvetica LT Std" panose="020B0504020202020204" pitchFamily="34" charset="0"/>
                <a:cs typeface="Helvetica LT Std" panose="020B0504020202020204" pitchFamily="34" charset="0"/>
              </a:defRPr>
            </a:lvl1pPr>
            <a:lvl2pPr>
              <a:spcBef>
                <a:spcPts val="0"/>
              </a:spcBef>
              <a:spcAft>
                <a:spcPts val="1200"/>
              </a:spcAft>
              <a:defRPr sz="1800" b="0" i="0">
                <a:latin typeface="Helvetica LT Std" panose="020B0504020202020204" pitchFamily="34" charset="0"/>
                <a:cs typeface="Helvetica LT Std" panose="020B0504020202020204" pitchFamily="34" charset="0"/>
              </a:defRPr>
            </a:lvl2pPr>
            <a:lvl3pPr>
              <a:spcBef>
                <a:spcPts val="0"/>
              </a:spcBef>
              <a:spcAft>
                <a:spcPts val="1200"/>
              </a:spcAft>
              <a:defRPr sz="1600" b="0" i="0">
                <a:latin typeface="Helvetica LT Std" panose="020B0504020202020204" pitchFamily="34" charset="0"/>
                <a:cs typeface="Helvetica LT Std" panose="020B0504020202020204" pitchFamily="34" charset="0"/>
              </a:defRPr>
            </a:lvl3pPr>
            <a:lvl4pPr>
              <a:spcBef>
                <a:spcPts val="0"/>
              </a:spcBef>
              <a:spcAft>
                <a:spcPts val="1200"/>
              </a:spcAft>
              <a:defRPr sz="1400" b="0" i="0">
                <a:latin typeface="Helvetica LT Std" panose="020B0504020202020204" pitchFamily="34" charset="0"/>
                <a:cs typeface="Helvetica LT Std" panose="020B0504020202020204" pitchFamily="34" charset="0"/>
              </a:defRPr>
            </a:lvl4pPr>
            <a:lvl5pPr>
              <a:spcBef>
                <a:spcPts val="0"/>
              </a:spcBef>
              <a:spcAft>
                <a:spcPts val="1200"/>
              </a:spcAft>
              <a:defRPr sz="1400" b="0" i="0">
                <a:latin typeface="Helvetica LT Std" panose="020B0504020202020204" pitchFamily="34" charset="0"/>
                <a:cs typeface="Helvetica LT Std" panose="020B0504020202020204" pitchFamily="34" charset="0"/>
              </a:defRPr>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198" y="1648953"/>
            <a:ext cx="4151376" cy="3173880"/>
          </a:xfrm>
        </p:spPr>
        <p:txBody>
          <a:bodyPr rtlCol="0">
            <a:normAutofit/>
          </a:bodyPr>
          <a:lstStyle>
            <a:lvl1pPr>
              <a:spcAft>
                <a:spcPts val="1200"/>
              </a:spcAft>
              <a:defRPr lang="en-US" sz="2000" dirty="0" smtClean="0">
                <a:latin typeface="Helvetica LT Std" panose="020B0504020202020204" pitchFamily="34" charset="0"/>
              </a:defRPr>
            </a:lvl1pPr>
            <a:lvl2pPr>
              <a:spcAft>
                <a:spcPts val="1200"/>
              </a:spcAft>
              <a:defRPr lang="en-US" sz="1800" dirty="0" smtClean="0">
                <a:latin typeface="Helvetica LT Std" panose="020B0504020202020204" pitchFamily="34" charset="0"/>
              </a:defRPr>
            </a:lvl2pPr>
            <a:lvl3pPr>
              <a:spcAft>
                <a:spcPts val="1200"/>
              </a:spcAft>
              <a:defRPr lang="en-US" sz="1600" dirty="0" smtClean="0">
                <a:latin typeface="Helvetica LT Std" panose="020B0504020202020204" pitchFamily="34" charset="0"/>
              </a:defRPr>
            </a:lvl3pPr>
            <a:lvl4pPr>
              <a:spcAft>
                <a:spcPts val="1200"/>
              </a:spcAft>
              <a:defRPr lang="en-US" sz="1400" dirty="0" smtClean="0">
                <a:latin typeface="Helvetica LT Std" panose="020B0504020202020204" pitchFamily="34" charset="0"/>
              </a:defRPr>
            </a:lvl4pPr>
            <a:lvl5pPr>
              <a:spcAft>
                <a:spcPts val="1200"/>
              </a:spcAft>
              <a:defRPr lang="en-US" dirty="0">
                <a:latin typeface="Helvetica LT Std" panose="020B050402020202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Content Placeholder 5"/>
          <p:cNvSpPr>
            <a:spLocks noGrp="1"/>
          </p:cNvSpPr>
          <p:nvPr>
            <p:ph sz="quarter" idx="10"/>
          </p:nvPr>
        </p:nvSpPr>
        <p:spPr>
          <a:xfrm>
            <a:off x="455380" y="1136650"/>
            <a:ext cx="4141501" cy="503238"/>
          </a:xfrm>
        </p:spPr>
        <p:txBody>
          <a:bodyPr>
            <a:normAutofit/>
          </a:bodyPr>
          <a:lstStyle>
            <a:lvl1pPr marL="0" indent="0">
              <a:spcAft>
                <a:spcPts val="0"/>
              </a:spcAft>
              <a:buNone/>
              <a:defRPr sz="2000" b="1">
                <a:latin typeface="Helvetica LT Std" panose="020B0504020202020204" pitchFamily="34" charset="0"/>
              </a:defRPr>
            </a:lvl1pPr>
          </a:lstStyle>
          <a:p>
            <a:pPr lvl="0"/>
            <a:r>
              <a:rPr lang="en-US" dirty="0" smtClean="0"/>
              <a:t>Click to edit Master text styles</a:t>
            </a:r>
          </a:p>
        </p:txBody>
      </p:sp>
      <p:sp>
        <p:nvSpPr>
          <p:cNvPr id="7" name="Content Placeholder 5"/>
          <p:cNvSpPr>
            <a:spLocks noGrp="1"/>
          </p:cNvSpPr>
          <p:nvPr>
            <p:ph sz="quarter" idx="11"/>
          </p:nvPr>
        </p:nvSpPr>
        <p:spPr>
          <a:xfrm>
            <a:off x="4645502" y="1136650"/>
            <a:ext cx="4141501" cy="503238"/>
          </a:xfrm>
        </p:spPr>
        <p:txBody>
          <a:bodyPr>
            <a:normAutofit/>
          </a:bodyPr>
          <a:lstStyle>
            <a:lvl1pPr marL="0" indent="0">
              <a:spcAft>
                <a:spcPts val="0"/>
              </a:spcAft>
              <a:buNone/>
              <a:defRPr sz="2000" b="1">
                <a:latin typeface="Helvetica LT Std" panose="020B0504020202020204" pitchFamily="34" charset="0"/>
              </a:defRPr>
            </a:lvl1pPr>
          </a:lstStyle>
          <a:p>
            <a:pPr lvl="0"/>
            <a:r>
              <a:rPr lang="en-US" smtClean="0"/>
              <a:t>Click to edit Master text styles</a:t>
            </a:r>
          </a:p>
        </p:txBody>
      </p:sp>
      <p:sp>
        <p:nvSpPr>
          <p:cNvPr id="8" name="Title 7"/>
          <p:cNvSpPr>
            <a:spLocks noGrp="1"/>
          </p:cNvSpPr>
          <p:nvPr>
            <p:ph type="title"/>
          </p:nvPr>
        </p:nvSpPr>
        <p:spPr/>
        <p:txBody>
          <a:bodyPr/>
          <a:lstStyle/>
          <a:p>
            <a:r>
              <a:rPr lang="en-US" smtClean="0"/>
              <a:t>Click to edit Master title style</a:t>
            </a:r>
            <a:endParaRPr lang="en-US"/>
          </a:p>
        </p:txBody>
      </p:sp>
      <p:sp>
        <p:nvSpPr>
          <p:cNvPr id="9" name="Slide Number Placeholder 5"/>
          <p:cNvSpPr>
            <a:spLocks noGrp="1"/>
          </p:cNvSpPr>
          <p:nvPr>
            <p:ph type="sldNum" sz="quarter" idx="12"/>
          </p:nvPr>
        </p:nvSpPr>
        <p:spPr>
          <a:xfrm>
            <a:off x="3073400" y="4760914"/>
            <a:ext cx="2057400" cy="273844"/>
          </a:xfrm>
          <a:prstGeom prst="rect">
            <a:avLst/>
          </a:prstGeom>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1169203941"/>
      </p:ext>
    </p:extLst>
  </p:cSld>
  <p:clrMapOvr>
    <a:masterClrMapping/>
  </p:clrMapOvr>
  <p:transition>
    <p:fade/>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jp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p:cNvPicPr>
            <a:picLocks noChangeAspect="1"/>
          </p:cNvPicPr>
          <p:nvPr/>
        </p:nvPicPr>
        <p:blipFill>
          <a:blip r:embed="rId31" cstate="email">
            <a:extLst>
              <a:ext uri="{28A0092B-C50C-407E-A947-70E740481C1C}">
                <a14:useLocalDpi xmlns:a14="http://schemas.microsoft.com/office/drawing/2010/main" val="0"/>
              </a:ext>
            </a:extLst>
          </a:blip>
          <a:stretch>
            <a:fillRect/>
          </a:stretch>
        </p:blipFill>
        <p:spPr>
          <a:xfrm>
            <a:off x="7141464" y="4694954"/>
            <a:ext cx="1852411" cy="361678"/>
          </a:xfrm>
          <a:prstGeom prst="rect">
            <a:avLst/>
          </a:prstGeom>
        </p:spPr>
      </p:pic>
      <p:sp>
        <p:nvSpPr>
          <p:cNvPr id="1026" name="Title Placeholder 1"/>
          <p:cNvSpPr>
            <a:spLocks noGrp="1"/>
          </p:cNvSpPr>
          <p:nvPr>
            <p:ph type="title"/>
          </p:nvPr>
        </p:nvSpPr>
        <p:spPr bwMode="auto">
          <a:xfrm>
            <a:off x="317901" y="0"/>
            <a:ext cx="8826099" cy="118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endParaRPr lang="en-US" altLang="en-US" dirty="0"/>
          </a:p>
        </p:txBody>
      </p:sp>
      <p:sp>
        <p:nvSpPr>
          <p:cNvPr id="1027" name="Text Placeholder 2"/>
          <p:cNvSpPr>
            <a:spLocks noGrp="1"/>
          </p:cNvSpPr>
          <p:nvPr>
            <p:ph type="body" idx="1"/>
          </p:nvPr>
        </p:nvSpPr>
        <p:spPr bwMode="auto">
          <a:xfrm>
            <a:off x="317901" y="1181101"/>
            <a:ext cx="8826099" cy="3962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US" altLang="en-US" dirty="0"/>
          </a:p>
        </p:txBody>
      </p:sp>
      <p:sp>
        <p:nvSpPr>
          <p:cNvPr id="1029" name="AutoShape 11"/>
          <p:cNvSpPr>
            <a:spLocks noChangeAspect="1" noChangeArrowheads="1" noTextEdit="1"/>
          </p:cNvSpPr>
          <p:nvPr/>
        </p:nvSpPr>
        <p:spPr bwMode="auto">
          <a:xfrm>
            <a:off x="7602141" y="4575575"/>
            <a:ext cx="1360884" cy="48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350" b="0" i="0" u="none" strike="noStrike" kern="1200" cap="none" spc="0" normalizeH="0" baseline="0" noProof="0" dirty="0">
              <a:ln>
                <a:noFill/>
              </a:ln>
              <a:solidFill>
                <a:prstClr val="black"/>
              </a:solidFill>
              <a:effectLst/>
              <a:uLnTx/>
              <a:uFillTx/>
              <a:latin typeface="Trebuchet MS"/>
              <a:ea typeface="ＭＳ Ｐゴシック" charset="0"/>
              <a:cs typeface="+mn-cs"/>
            </a:endParaRPr>
          </a:p>
        </p:txBody>
      </p:sp>
    </p:spTree>
    <p:extLst>
      <p:ext uri="{BB962C8B-B14F-4D97-AF65-F5344CB8AC3E}">
        <p14:creationId xmlns:p14="http://schemas.microsoft.com/office/powerpoint/2010/main" val="3279911678"/>
      </p:ext>
    </p:extLst>
  </p:cSld>
  <p:clrMap bg1="lt1" tx1="dk1" bg2="lt2" tx2="dk2" accent1="accent1" accent2="accent2" accent3="accent3" accent4="accent4" accent5="accent5" accent6="accent6" hlink="hlink" folHlink="folHlink"/>
  <p:sldLayoutIdLst>
    <p:sldLayoutId id="2147483852" r:id="rId1"/>
    <p:sldLayoutId id="2147483853" r:id="rId2"/>
    <p:sldLayoutId id="2147483854" r:id="rId3"/>
    <p:sldLayoutId id="2147483855" r:id="rId4"/>
    <p:sldLayoutId id="2147483856" r:id="rId5"/>
    <p:sldLayoutId id="2147483857" r:id="rId6"/>
    <p:sldLayoutId id="2147483858" r:id="rId7"/>
    <p:sldLayoutId id="2147483859" r:id="rId8"/>
    <p:sldLayoutId id="2147483860" r:id="rId9"/>
    <p:sldLayoutId id="2147483861" r:id="rId10"/>
    <p:sldLayoutId id="2147483862" r:id="rId11"/>
    <p:sldLayoutId id="2147483863" r:id="rId12"/>
    <p:sldLayoutId id="2147483864" r:id="rId13"/>
    <p:sldLayoutId id="2147483865" r:id="rId14"/>
    <p:sldLayoutId id="2147483866" r:id="rId15"/>
    <p:sldLayoutId id="2147483867" r:id="rId16"/>
    <p:sldLayoutId id="2147483868" r:id="rId17"/>
    <p:sldLayoutId id="2147483869" r:id="rId18"/>
    <p:sldLayoutId id="2147483870" r:id="rId19"/>
    <p:sldLayoutId id="2147483871" r:id="rId20"/>
    <p:sldLayoutId id="2147483872" r:id="rId21"/>
    <p:sldLayoutId id="2147483873" r:id="rId22"/>
    <p:sldLayoutId id="2147483874" r:id="rId23"/>
    <p:sldLayoutId id="2147483875" r:id="rId24"/>
    <p:sldLayoutId id="2147483876" r:id="rId25"/>
    <p:sldLayoutId id="2147483877" r:id="rId26"/>
    <p:sldLayoutId id="2147483779" r:id="rId27"/>
    <p:sldLayoutId id="2147483790" r:id="rId28"/>
    <p:sldLayoutId id="2147483792" r:id="rId29"/>
  </p:sldLayoutIdLst>
  <mc:AlternateContent xmlns:mc="http://schemas.openxmlformats.org/markup-compatibility/2006" xmlns:p14="http://schemas.microsoft.com/office/powerpoint/2010/main">
    <mc:Choice Requires="p14">
      <p:transition p14:dur="250">
        <p:fade/>
      </p:transition>
    </mc:Choice>
    <mc:Fallback xmlns="">
      <p:transition xmlns:p14="http://schemas.microsoft.com/office/powerpoint/2010/main">
        <p:fade/>
      </p:transition>
    </mc:Fallback>
  </mc:AlternateContent>
  <p:timing>
    <p:tnLst>
      <p:par>
        <p:cTn id="1" dur="indefinite" restart="never" nodeType="tmRoot"/>
      </p:par>
    </p:tnLst>
  </p:timing>
  <p:hf hdr="0" ftr="0" dt="0"/>
  <p:txStyles>
    <p:titleStyle>
      <a:lvl1pPr algn="l" defTabSz="385763" rtl="0" eaLnBrk="1" fontAlgn="base" hangingPunct="1">
        <a:lnSpc>
          <a:spcPct val="90000"/>
        </a:lnSpc>
        <a:spcBef>
          <a:spcPct val="0"/>
        </a:spcBef>
        <a:spcAft>
          <a:spcPct val="0"/>
        </a:spcAft>
        <a:defRPr sz="3600" kern="1200">
          <a:solidFill>
            <a:schemeClr val="tx2">
              <a:lumMod val="75000"/>
            </a:schemeClr>
          </a:solidFill>
          <a:latin typeface="Palatino Linotype" panose="02040502050505030304" pitchFamily="18" charset="0"/>
          <a:ea typeface="+mj-ea"/>
          <a:cs typeface="+mj-cs"/>
        </a:defRPr>
      </a:lvl1pPr>
      <a:lvl2pPr algn="l" defTabSz="385763" rtl="0" eaLnBrk="1" fontAlgn="base" hangingPunct="1">
        <a:lnSpc>
          <a:spcPct val="90000"/>
        </a:lnSpc>
        <a:spcBef>
          <a:spcPct val="0"/>
        </a:spcBef>
        <a:spcAft>
          <a:spcPct val="0"/>
        </a:spcAft>
        <a:defRPr sz="2025">
          <a:solidFill>
            <a:schemeClr val="bg1"/>
          </a:solidFill>
          <a:latin typeface="Palatino Linotype" panose="02040502050505030304" pitchFamily="18" charset="0"/>
        </a:defRPr>
      </a:lvl2pPr>
      <a:lvl3pPr algn="l" defTabSz="385763" rtl="0" eaLnBrk="1" fontAlgn="base" hangingPunct="1">
        <a:lnSpc>
          <a:spcPct val="90000"/>
        </a:lnSpc>
        <a:spcBef>
          <a:spcPct val="0"/>
        </a:spcBef>
        <a:spcAft>
          <a:spcPct val="0"/>
        </a:spcAft>
        <a:defRPr sz="2025">
          <a:solidFill>
            <a:schemeClr val="bg1"/>
          </a:solidFill>
          <a:latin typeface="Palatino Linotype" panose="02040502050505030304" pitchFamily="18" charset="0"/>
        </a:defRPr>
      </a:lvl3pPr>
      <a:lvl4pPr algn="l" defTabSz="385763" rtl="0" eaLnBrk="1" fontAlgn="base" hangingPunct="1">
        <a:lnSpc>
          <a:spcPct val="90000"/>
        </a:lnSpc>
        <a:spcBef>
          <a:spcPct val="0"/>
        </a:spcBef>
        <a:spcAft>
          <a:spcPct val="0"/>
        </a:spcAft>
        <a:defRPr sz="2025">
          <a:solidFill>
            <a:schemeClr val="bg1"/>
          </a:solidFill>
          <a:latin typeface="Palatino Linotype" panose="02040502050505030304" pitchFamily="18" charset="0"/>
        </a:defRPr>
      </a:lvl4pPr>
      <a:lvl5pPr algn="l" defTabSz="385763" rtl="0" eaLnBrk="1" fontAlgn="base" hangingPunct="1">
        <a:lnSpc>
          <a:spcPct val="90000"/>
        </a:lnSpc>
        <a:spcBef>
          <a:spcPct val="0"/>
        </a:spcBef>
        <a:spcAft>
          <a:spcPct val="0"/>
        </a:spcAft>
        <a:defRPr sz="2025">
          <a:solidFill>
            <a:schemeClr val="bg1"/>
          </a:solidFill>
          <a:latin typeface="Palatino Linotype" panose="02040502050505030304" pitchFamily="18" charset="0"/>
        </a:defRPr>
      </a:lvl5pPr>
      <a:lvl6pPr marL="257175" algn="l" defTabSz="385763" rtl="0" eaLnBrk="1" fontAlgn="base" hangingPunct="1">
        <a:lnSpc>
          <a:spcPct val="90000"/>
        </a:lnSpc>
        <a:spcBef>
          <a:spcPct val="0"/>
        </a:spcBef>
        <a:spcAft>
          <a:spcPct val="0"/>
        </a:spcAft>
        <a:defRPr sz="2025">
          <a:solidFill>
            <a:schemeClr val="bg1"/>
          </a:solidFill>
          <a:latin typeface="Palatino Linotype" panose="02040502050505030304" pitchFamily="18" charset="0"/>
        </a:defRPr>
      </a:lvl6pPr>
      <a:lvl7pPr marL="514350" algn="l" defTabSz="385763" rtl="0" eaLnBrk="1" fontAlgn="base" hangingPunct="1">
        <a:lnSpc>
          <a:spcPct val="90000"/>
        </a:lnSpc>
        <a:spcBef>
          <a:spcPct val="0"/>
        </a:spcBef>
        <a:spcAft>
          <a:spcPct val="0"/>
        </a:spcAft>
        <a:defRPr sz="2025">
          <a:solidFill>
            <a:schemeClr val="bg1"/>
          </a:solidFill>
          <a:latin typeface="Palatino Linotype" panose="02040502050505030304" pitchFamily="18" charset="0"/>
        </a:defRPr>
      </a:lvl7pPr>
      <a:lvl8pPr marL="771525" algn="l" defTabSz="385763" rtl="0" eaLnBrk="1" fontAlgn="base" hangingPunct="1">
        <a:lnSpc>
          <a:spcPct val="90000"/>
        </a:lnSpc>
        <a:spcBef>
          <a:spcPct val="0"/>
        </a:spcBef>
        <a:spcAft>
          <a:spcPct val="0"/>
        </a:spcAft>
        <a:defRPr sz="2025">
          <a:solidFill>
            <a:schemeClr val="bg1"/>
          </a:solidFill>
          <a:latin typeface="Palatino Linotype" panose="02040502050505030304" pitchFamily="18" charset="0"/>
        </a:defRPr>
      </a:lvl8pPr>
      <a:lvl9pPr marL="1028700" algn="l" defTabSz="385763" rtl="0" eaLnBrk="1" fontAlgn="base" hangingPunct="1">
        <a:lnSpc>
          <a:spcPct val="90000"/>
        </a:lnSpc>
        <a:spcBef>
          <a:spcPct val="0"/>
        </a:spcBef>
        <a:spcAft>
          <a:spcPct val="0"/>
        </a:spcAft>
        <a:defRPr sz="2025">
          <a:solidFill>
            <a:schemeClr val="bg1"/>
          </a:solidFill>
          <a:latin typeface="Palatino Linotype" panose="02040502050505030304" pitchFamily="18" charset="0"/>
        </a:defRPr>
      </a:lvl9pPr>
    </p:titleStyle>
    <p:bodyStyle>
      <a:lvl1pPr marL="176213" indent="-176213" algn="l" defTabSz="385763" rtl="0" eaLnBrk="1" fontAlgn="base" hangingPunct="1">
        <a:lnSpc>
          <a:spcPct val="90000"/>
        </a:lnSpc>
        <a:spcBef>
          <a:spcPts val="0"/>
        </a:spcBef>
        <a:spcAft>
          <a:spcPts val="675"/>
        </a:spcAft>
        <a:buClr>
          <a:schemeClr val="bg1">
            <a:lumMod val="85000"/>
          </a:schemeClr>
        </a:buClr>
        <a:buFont typeface="Arial" panose="020B0604020202020204" pitchFamily="34" charset="0"/>
        <a:buChar char="•"/>
        <a:defRPr sz="2400" kern="1200">
          <a:solidFill>
            <a:schemeClr val="tx2">
              <a:lumMod val="75000"/>
            </a:schemeClr>
          </a:solidFill>
          <a:latin typeface="+mn-lt"/>
          <a:ea typeface="+mn-ea"/>
          <a:cs typeface="+mn-cs"/>
        </a:defRPr>
      </a:lvl1pPr>
      <a:lvl2pPr marL="341313" indent="-147638" algn="l" defTabSz="385763" rtl="0" eaLnBrk="1" fontAlgn="base" hangingPunct="1">
        <a:lnSpc>
          <a:spcPct val="90000"/>
        </a:lnSpc>
        <a:spcBef>
          <a:spcPts val="0"/>
        </a:spcBef>
        <a:spcAft>
          <a:spcPts val="675"/>
        </a:spcAft>
        <a:buClr>
          <a:schemeClr val="bg1">
            <a:lumMod val="85000"/>
          </a:schemeClr>
        </a:buClr>
        <a:buFont typeface="Arial" panose="020B0604020202020204" pitchFamily="34" charset="0"/>
        <a:buChar char="•"/>
        <a:defRPr sz="2000" kern="1200">
          <a:solidFill>
            <a:schemeClr val="tx2">
              <a:lumMod val="75000"/>
            </a:schemeClr>
          </a:solidFill>
          <a:latin typeface="+mn-lt"/>
          <a:ea typeface="+mn-ea"/>
          <a:cs typeface="+mn-cs"/>
        </a:defRPr>
      </a:lvl2pPr>
      <a:lvl3pPr marL="482204" indent="-96441" algn="l" defTabSz="385763" rtl="0" eaLnBrk="1" fontAlgn="base" hangingPunct="1">
        <a:lnSpc>
          <a:spcPct val="90000"/>
        </a:lnSpc>
        <a:spcBef>
          <a:spcPts val="0"/>
        </a:spcBef>
        <a:spcAft>
          <a:spcPts val="675"/>
        </a:spcAft>
        <a:buClr>
          <a:schemeClr val="bg1">
            <a:lumMod val="85000"/>
          </a:schemeClr>
        </a:buClr>
        <a:buFont typeface="Arial" panose="020B0604020202020204" pitchFamily="34" charset="0"/>
        <a:buChar char="•"/>
        <a:defRPr sz="2000" kern="1200">
          <a:solidFill>
            <a:schemeClr val="tx2">
              <a:lumMod val="75000"/>
            </a:schemeClr>
          </a:solidFill>
          <a:latin typeface="+mn-lt"/>
          <a:ea typeface="+mn-ea"/>
          <a:cs typeface="+mn-cs"/>
        </a:defRPr>
      </a:lvl3pPr>
      <a:lvl4pPr marL="675085" indent="-96441" algn="l" defTabSz="385763" rtl="0" eaLnBrk="1" fontAlgn="base" hangingPunct="1">
        <a:lnSpc>
          <a:spcPct val="90000"/>
        </a:lnSpc>
        <a:spcBef>
          <a:spcPts val="0"/>
        </a:spcBef>
        <a:spcAft>
          <a:spcPts val="675"/>
        </a:spcAft>
        <a:buClr>
          <a:schemeClr val="bg1">
            <a:lumMod val="85000"/>
          </a:schemeClr>
        </a:buClr>
        <a:buFont typeface="Arial" panose="020B0604020202020204" pitchFamily="34" charset="0"/>
        <a:buChar char="•"/>
        <a:defRPr sz="1400" kern="1200">
          <a:solidFill>
            <a:schemeClr val="tx2">
              <a:lumMod val="75000"/>
            </a:schemeClr>
          </a:solidFill>
          <a:latin typeface="+mn-lt"/>
          <a:ea typeface="+mn-ea"/>
          <a:cs typeface="+mn-cs"/>
        </a:defRPr>
      </a:lvl4pPr>
      <a:lvl5pPr marL="867966" indent="-96441" algn="l" defTabSz="385763" rtl="0" eaLnBrk="1" fontAlgn="base" hangingPunct="1">
        <a:lnSpc>
          <a:spcPct val="90000"/>
        </a:lnSpc>
        <a:spcBef>
          <a:spcPts val="0"/>
        </a:spcBef>
        <a:spcAft>
          <a:spcPts val="675"/>
        </a:spcAft>
        <a:buClr>
          <a:schemeClr val="bg1">
            <a:lumMod val="85000"/>
          </a:schemeClr>
        </a:buClr>
        <a:buFont typeface="Arial" panose="020B0604020202020204" pitchFamily="34" charset="0"/>
        <a:buChar char="•"/>
        <a:defRPr sz="1400" kern="1200">
          <a:solidFill>
            <a:schemeClr val="tx2">
              <a:lumMod val="75000"/>
            </a:schemeClr>
          </a:solidFill>
          <a:latin typeface="+mn-lt"/>
          <a:ea typeface="+mn-ea"/>
          <a:cs typeface="+mn-cs"/>
        </a:defRPr>
      </a:lvl5pPr>
      <a:lvl6pPr marL="1060847" indent="-96441" algn="l" defTabSz="385763"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29" indent="-96441" algn="l" defTabSz="385763"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10" indent="-96441" algn="l" defTabSz="385763"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491" indent="-96441" algn="l" defTabSz="385763"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p:bodyStyle>
    <p:otherStyle>
      <a:defPPr>
        <a:defRPr lang="en-US"/>
      </a:defPPr>
      <a:lvl1pPr marL="0" algn="l" defTabSz="385763" rtl="0" eaLnBrk="1" latinLnBrk="0" hangingPunct="1">
        <a:defRPr sz="760" kern="1200">
          <a:solidFill>
            <a:schemeClr val="tx1"/>
          </a:solidFill>
          <a:latin typeface="+mn-lt"/>
          <a:ea typeface="+mn-ea"/>
          <a:cs typeface="+mn-cs"/>
        </a:defRPr>
      </a:lvl1pPr>
      <a:lvl2pPr marL="192881" algn="l" defTabSz="385763" rtl="0" eaLnBrk="1" latinLnBrk="0" hangingPunct="1">
        <a:defRPr sz="760" kern="1200">
          <a:solidFill>
            <a:schemeClr val="tx1"/>
          </a:solidFill>
          <a:latin typeface="+mn-lt"/>
          <a:ea typeface="+mn-ea"/>
          <a:cs typeface="+mn-cs"/>
        </a:defRPr>
      </a:lvl2pPr>
      <a:lvl3pPr marL="385763" algn="l" defTabSz="385763" rtl="0" eaLnBrk="1" latinLnBrk="0" hangingPunct="1">
        <a:defRPr sz="760" kern="1200">
          <a:solidFill>
            <a:schemeClr val="tx1"/>
          </a:solidFill>
          <a:latin typeface="+mn-lt"/>
          <a:ea typeface="+mn-ea"/>
          <a:cs typeface="+mn-cs"/>
        </a:defRPr>
      </a:lvl3pPr>
      <a:lvl4pPr marL="578644" algn="l" defTabSz="385763" rtl="0" eaLnBrk="1" latinLnBrk="0" hangingPunct="1">
        <a:defRPr sz="760" kern="1200">
          <a:solidFill>
            <a:schemeClr val="tx1"/>
          </a:solidFill>
          <a:latin typeface="+mn-lt"/>
          <a:ea typeface="+mn-ea"/>
          <a:cs typeface="+mn-cs"/>
        </a:defRPr>
      </a:lvl4pPr>
      <a:lvl5pPr marL="771525" algn="l" defTabSz="385763" rtl="0" eaLnBrk="1" latinLnBrk="0" hangingPunct="1">
        <a:defRPr sz="760" kern="1200">
          <a:solidFill>
            <a:schemeClr val="tx1"/>
          </a:solidFill>
          <a:latin typeface="+mn-lt"/>
          <a:ea typeface="+mn-ea"/>
          <a:cs typeface="+mn-cs"/>
        </a:defRPr>
      </a:lvl5pPr>
      <a:lvl6pPr marL="964406" algn="l" defTabSz="385763" rtl="0" eaLnBrk="1" latinLnBrk="0" hangingPunct="1">
        <a:defRPr sz="760" kern="1200">
          <a:solidFill>
            <a:schemeClr val="tx1"/>
          </a:solidFill>
          <a:latin typeface="+mn-lt"/>
          <a:ea typeface="+mn-ea"/>
          <a:cs typeface="+mn-cs"/>
        </a:defRPr>
      </a:lvl6pPr>
      <a:lvl7pPr marL="1157288" algn="l" defTabSz="385763" rtl="0" eaLnBrk="1" latinLnBrk="0" hangingPunct="1">
        <a:defRPr sz="760" kern="1200">
          <a:solidFill>
            <a:schemeClr val="tx1"/>
          </a:solidFill>
          <a:latin typeface="+mn-lt"/>
          <a:ea typeface="+mn-ea"/>
          <a:cs typeface="+mn-cs"/>
        </a:defRPr>
      </a:lvl7pPr>
      <a:lvl8pPr marL="1350169" algn="l" defTabSz="385763" rtl="0" eaLnBrk="1" latinLnBrk="0" hangingPunct="1">
        <a:defRPr sz="760" kern="1200">
          <a:solidFill>
            <a:schemeClr val="tx1"/>
          </a:solidFill>
          <a:latin typeface="+mn-lt"/>
          <a:ea typeface="+mn-ea"/>
          <a:cs typeface="+mn-cs"/>
        </a:defRPr>
      </a:lvl8pPr>
      <a:lvl9pPr marL="1543050" algn="l" defTabSz="385763" rtl="0" eaLnBrk="1" latinLnBrk="0" hangingPunct="1">
        <a:defRPr sz="7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15.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13.xml"/><Relationship Id="rId5" Type="http://schemas.openxmlformats.org/officeDocument/2006/relationships/image" Target="../media/image30.png"/><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13.xml"/><Relationship Id="rId5" Type="http://schemas.openxmlformats.org/officeDocument/2006/relationships/image" Target="../media/image31.png"/><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15.xml"/><Relationship Id="rId6" Type="http://schemas.openxmlformats.org/officeDocument/2006/relationships/image" Target="../media/image26.png"/><Relationship Id="rId5" Type="http://schemas.openxmlformats.org/officeDocument/2006/relationships/image" Target="../media/image37.png"/><Relationship Id="rId4" Type="http://schemas.openxmlformats.org/officeDocument/2006/relationships/image" Target="../media/image36.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15.xml"/><Relationship Id="rId6" Type="http://schemas.openxmlformats.org/officeDocument/2006/relationships/image" Target="../media/image26.png"/><Relationship Id="rId5" Type="http://schemas.openxmlformats.org/officeDocument/2006/relationships/image" Target="../media/image37.png"/><Relationship Id="rId4" Type="http://schemas.openxmlformats.org/officeDocument/2006/relationships/image" Target="../media/image36.png"/></Relationships>
</file>

<file path=ppt/slides/_rels/slide22.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 Id="rId5" Type="http://schemas.openxmlformats.org/officeDocument/2006/relationships/image" Target="../media/image40.png"/><Relationship Id="rId4" Type="http://schemas.openxmlformats.org/officeDocument/2006/relationships/image" Target="../media/image98.png"/></Relationships>
</file>

<file path=ppt/slides/_rels/slide2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p:cNvSpPr>
            <a:spLocks noGrp="1"/>
          </p:cNvSpPr>
          <p:nvPr>
            <p:ph type="ctrTitle"/>
          </p:nvPr>
        </p:nvSpPr>
        <p:spPr>
          <a:xfrm>
            <a:off x="4699540" y="368240"/>
            <a:ext cx="4444460" cy="2391713"/>
          </a:xfrm>
        </p:spPr>
        <p:txBody>
          <a:bodyPr>
            <a:noAutofit/>
          </a:bodyPr>
          <a:lstStyle/>
          <a:p>
            <a:pPr algn="ctr"/>
            <a:r>
              <a:rPr lang="en-US" sz="2800" b="1" dirty="0">
                <a:solidFill>
                  <a:schemeClr val="tx1"/>
                </a:solidFill>
                <a:latin typeface="+mn-lt"/>
              </a:rPr>
              <a:t>The Impact of </a:t>
            </a:r>
            <a:r>
              <a:rPr lang="en-US" sz="2800" b="1" dirty="0" smtClean="0">
                <a:solidFill>
                  <a:schemeClr val="tx1"/>
                </a:solidFill>
                <a:latin typeface="+mn-lt"/>
              </a:rPr>
              <a:t>Information </a:t>
            </a:r>
            <a:r>
              <a:rPr lang="en-US" sz="2800" b="1" dirty="0">
                <a:solidFill>
                  <a:schemeClr val="tx1"/>
                </a:solidFill>
                <a:latin typeface="+mn-lt"/>
              </a:rPr>
              <a:t>Sharing on Organ Transplantation: </a:t>
            </a:r>
            <a:r>
              <a:rPr lang="en-US" sz="2800" b="1" dirty="0" smtClean="0">
                <a:solidFill>
                  <a:schemeClr val="tx1"/>
                </a:solidFill>
                <a:latin typeface="+mn-lt"/>
              </a:rPr>
              <a:t/>
            </a:r>
            <a:br>
              <a:rPr lang="en-US" sz="2800" b="1" dirty="0" smtClean="0">
                <a:solidFill>
                  <a:schemeClr val="tx1"/>
                </a:solidFill>
                <a:latin typeface="+mn-lt"/>
              </a:rPr>
            </a:br>
            <a:r>
              <a:rPr lang="en-US" sz="2800" b="1" dirty="0" smtClean="0">
                <a:solidFill>
                  <a:schemeClr val="tx1"/>
                </a:solidFill>
                <a:latin typeface="+mn-lt"/>
              </a:rPr>
              <a:t>A </a:t>
            </a:r>
            <a:r>
              <a:rPr lang="en-US" sz="2800" b="1" dirty="0">
                <a:solidFill>
                  <a:schemeClr val="tx1"/>
                </a:solidFill>
                <a:latin typeface="+mn-lt"/>
              </a:rPr>
              <a:t>Simulation Model </a:t>
            </a:r>
            <a:br>
              <a:rPr lang="en-US" sz="2800" b="1" dirty="0">
                <a:solidFill>
                  <a:schemeClr val="tx1"/>
                </a:solidFill>
                <a:latin typeface="+mn-lt"/>
              </a:rPr>
            </a:br>
            <a:endParaRPr lang="en-US" sz="2800" b="1" dirty="0">
              <a:solidFill>
                <a:schemeClr val="tx1"/>
              </a:solidFill>
              <a:latin typeface="+mn-lt"/>
            </a:endParaRPr>
          </a:p>
        </p:txBody>
      </p:sp>
      <p:sp>
        <p:nvSpPr>
          <p:cNvPr id="3" name="Content Placeholder 2"/>
          <p:cNvSpPr>
            <a:spLocks noGrp="1"/>
          </p:cNvSpPr>
          <p:nvPr>
            <p:ph type="subTitle" idx="1"/>
          </p:nvPr>
        </p:nvSpPr>
        <p:spPr>
          <a:xfrm>
            <a:off x="4677880" y="2630774"/>
            <a:ext cx="4444460" cy="680447"/>
          </a:xfrm>
        </p:spPr>
        <p:txBody>
          <a:bodyPr rtlCol="0"/>
          <a:lstStyle/>
          <a:p>
            <a:pPr algn="ctr">
              <a:lnSpc>
                <a:spcPct val="100000"/>
              </a:lnSpc>
            </a:pPr>
            <a:r>
              <a:rPr lang="en-US" sz="1600" b="1" cap="none" dirty="0" smtClean="0">
                <a:solidFill>
                  <a:schemeClr val="tx1"/>
                </a:solidFill>
              </a:rPr>
              <a:t>Zahra </a:t>
            </a:r>
            <a:r>
              <a:rPr lang="en-US" sz="1600" b="1" cap="none" dirty="0" err="1" smtClean="0">
                <a:solidFill>
                  <a:schemeClr val="tx1"/>
                </a:solidFill>
              </a:rPr>
              <a:t>Gharibi</a:t>
            </a:r>
            <a:r>
              <a:rPr lang="en-US" sz="1600" b="1" cap="none" dirty="0">
                <a:solidFill>
                  <a:schemeClr val="tx1"/>
                </a:solidFill>
              </a:rPr>
              <a:t> </a:t>
            </a:r>
            <a:r>
              <a:rPr lang="en-US" sz="1600" b="1" cap="none" dirty="0" smtClean="0">
                <a:solidFill>
                  <a:schemeClr val="tx1"/>
                </a:solidFill>
              </a:rPr>
              <a:t>and </a:t>
            </a:r>
            <a:r>
              <a:rPr lang="en-US" sz="1600" b="1" cap="none" dirty="0">
                <a:solidFill>
                  <a:schemeClr val="tx1"/>
                </a:solidFill>
              </a:rPr>
              <a:t>M</a:t>
            </a:r>
            <a:r>
              <a:rPr lang="en-US" sz="1600" b="1" cap="none" dirty="0" smtClean="0">
                <a:solidFill>
                  <a:schemeClr val="tx1"/>
                </a:solidFill>
              </a:rPr>
              <a:t>ichael </a:t>
            </a:r>
            <a:r>
              <a:rPr lang="en-US" sz="1600" b="1" cap="none" dirty="0" err="1" smtClean="0">
                <a:solidFill>
                  <a:schemeClr val="tx1"/>
                </a:solidFill>
              </a:rPr>
              <a:t>Hahsler</a:t>
            </a:r>
            <a:endParaRPr lang="en-US" sz="1600" b="1" cap="none" dirty="0" smtClean="0">
              <a:solidFill>
                <a:schemeClr val="tx1"/>
              </a:solidFill>
            </a:endParaRPr>
          </a:p>
          <a:p>
            <a:pPr algn="ctr">
              <a:lnSpc>
                <a:spcPct val="100000"/>
              </a:lnSpc>
            </a:pPr>
            <a:r>
              <a:rPr lang="en-US" sz="1050" b="1" cap="none" dirty="0">
                <a:solidFill>
                  <a:schemeClr val="tx1"/>
                </a:solidFill>
              </a:rPr>
              <a:t>Department of Engineering Management, Information, and  Systems</a:t>
            </a:r>
          </a:p>
          <a:p>
            <a:pPr algn="ctr">
              <a:lnSpc>
                <a:spcPct val="100000"/>
              </a:lnSpc>
            </a:pPr>
            <a:endParaRPr lang="en-US" sz="1600" b="1" cap="none" dirty="0" smtClean="0">
              <a:solidFill>
                <a:schemeClr val="tx1"/>
              </a:solidFill>
            </a:endParaRPr>
          </a:p>
          <a:p>
            <a:pPr marL="0" indent="0" algn="ctr">
              <a:lnSpc>
                <a:spcPct val="100000"/>
              </a:lnSpc>
              <a:spcBef>
                <a:spcPts val="0"/>
              </a:spcBef>
            </a:pPr>
            <a:endParaRPr lang="en-US" sz="1200" b="1" dirty="0" smtClean="0">
              <a:solidFill>
                <a:schemeClr val="tx1"/>
              </a:solidFill>
              <a:latin typeface="+mn-lt"/>
            </a:endParaRPr>
          </a:p>
        </p:txBody>
      </p:sp>
      <p:sp>
        <p:nvSpPr>
          <p:cNvPr id="2" name="Text Placeholder 1"/>
          <p:cNvSpPr>
            <a:spLocks noGrp="1"/>
          </p:cNvSpPr>
          <p:nvPr>
            <p:ph type="body" sz="quarter" idx="10"/>
          </p:nvPr>
        </p:nvSpPr>
        <p:spPr>
          <a:xfrm>
            <a:off x="4669067" y="3340267"/>
            <a:ext cx="4456143" cy="564670"/>
          </a:xfrm>
        </p:spPr>
        <p:txBody>
          <a:bodyPr/>
          <a:lstStyle/>
          <a:p>
            <a:pPr algn="ctr"/>
            <a:r>
              <a:rPr lang="en-US" sz="1800" dirty="0" smtClean="0"/>
              <a:t>INFORMS Annual Meeting 2018</a:t>
            </a:r>
          </a:p>
          <a:p>
            <a:pPr algn="ctr"/>
            <a:r>
              <a:rPr lang="en-US" sz="1800" dirty="0" smtClean="0"/>
              <a:t>Phoenix, AZ</a:t>
            </a:r>
          </a:p>
          <a:p>
            <a:endParaRPr lang="en-US" sz="1100" dirty="0" smtClean="0"/>
          </a:p>
          <a:p>
            <a:endParaRPr lang="en-US" sz="1100" dirty="0"/>
          </a:p>
        </p:txBody>
      </p:sp>
    </p:spTree>
    <p:extLst>
      <p:ext uri="{BB962C8B-B14F-4D97-AF65-F5344CB8AC3E}">
        <p14:creationId xmlns:p14="http://schemas.microsoft.com/office/powerpoint/2010/main" val="212516400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xmlns:p14="http://schemas.microsoft.com/office/powerpoint/2010/main">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Motivation</a:t>
            </a:r>
            <a:endParaRPr lang="en-US" dirty="0"/>
          </a:p>
        </p:txBody>
      </p:sp>
      <p:sp>
        <p:nvSpPr>
          <p:cNvPr id="4" name="Slide Number Placeholder 3"/>
          <p:cNvSpPr>
            <a:spLocks noGrp="1"/>
          </p:cNvSpPr>
          <p:nvPr>
            <p:ph type="sldNum" sz="quarter" idx="4294967295"/>
          </p:nvPr>
        </p:nvSpPr>
        <p:spPr>
          <a:xfrm>
            <a:off x="0" y="4760913"/>
            <a:ext cx="2057400" cy="274637"/>
          </a:xfrm>
          <a:prstGeom prst="rect">
            <a:avLst/>
          </a:prstGeom>
        </p:spPr>
        <p:txBody>
          <a:bodyPr/>
          <a:lstStyle/>
          <a:p>
            <a:fld id="{69E57DC2-970A-4B3E-BB1C-7A09969E49DF}" type="slidenum">
              <a:rPr lang="en-US" smtClean="0">
                <a:latin typeface="+mn-lt"/>
              </a:rPr>
              <a:pPr/>
              <a:t>2</a:t>
            </a:fld>
            <a:endParaRPr lang="en-US" dirty="0">
              <a:latin typeface="+mn-lt"/>
            </a:endParaRPr>
          </a:p>
        </p:txBody>
      </p:sp>
      <p:pic>
        <p:nvPicPr>
          <p:cNvPr id="7" name="Picture 6"/>
          <p:cNvPicPr>
            <a:picLocks noChangeAspect="1"/>
          </p:cNvPicPr>
          <p:nvPr/>
        </p:nvPicPr>
        <p:blipFill>
          <a:blip r:embed="rId3"/>
          <a:stretch>
            <a:fillRect/>
          </a:stretch>
        </p:blipFill>
        <p:spPr>
          <a:xfrm>
            <a:off x="4576095" y="1256914"/>
            <a:ext cx="4353444" cy="2819324"/>
          </a:xfrm>
          <a:prstGeom prst="rect">
            <a:avLst/>
          </a:prstGeom>
        </p:spPr>
        <p:style>
          <a:lnRef idx="1">
            <a:schemeClr val="accent4"/>
          </a:lnRef>
          <a:fillRef idx="3">
            <a:schemeClr val="accent4"/>
          </a:fillRef>
          <a:effectRef idx="2">
            <a:schemeClr val="accent4"/>
          </a:effectRef>
          <a:fontRef idx="minor">
            <a:schemeClr val="lt1"/>
          </a:fontRef>
        </p:style>
      </p:pic>
      <p:sp>
        <p:nvSpPr>
          <p:cNvPr id="8" name="TextBox 7"/>
          <p:cNvSpPr txBox="1"/>
          <p:nvPr/>
        </p:nvSpPr>
        <p:spPr>
          <a:xfrm>
            <a:off x="482768" y="2612145"/>
            <a:ext cx="3979350" cy="1938992"/>
          </a:xfrm>
          <a:prstGeom prst="rect">
            <a:avLst/>
          </a:prstGeom>
          <a:noFill/>
        </p:spPr>
        <p:txBody>
          <a:bodyPr wrap="square" rtlCol="0">
            <a:spAutoFit/>
          </a:bodyPr>
          <a:lstStyle/>
          <a:p>
            <a:r>
              <a:rPr lang="en-US" sz="1600" dirty="0" smtClean="0">
                <a:latin typeface="+mn-lt"/>
              </a:rPr>
              <a:t>Donor </a:t>
            </a:r>
            <a:r>
              <a:rPr lang="en-US" sz="1600" dirty="0">
                <a:latin typeface="+mn-lt"/>
              </a:rPr>
              <a:t>Kidneys are discarded because </a:t>
            </a:r>
            <a:r>
              <a:rPr lang="en-US" sz="1600" dirty="0" smtClean="0">
                <a:latin typeface="+mn-lt"/>
              </a:rPr>
              <a:t>of</a:t>
            </a:r>
            <a:endParaRPr lang="en-US" sz="1600" dirty="0">
              <a:latin typeface="+mn-lt"/>
            </a:endParaRPr>
          </a:p>
          <a:p>
            <a:pPr marL="285750" indent="-285750">
              <a:buFont typeface="Wingdings" panose="05000000000000000000" pitchFamily="2" charset="2"/>
              <a:buChar char="q"/>
            </a:pPr>
            <a:r>
              <a:rPr lang="en-US" sz="1600" dirty="0">
                <a:latin typeface="+mn-lt"/>
              </a:rPr>
              <a:t>Medical </a:t>
            </a:r>
            <a:r>
              <a:rPr lang="en-US" sz="1600" dirty="0" smtClean="0">
                <a:latin typeface="+mn-lt"/>
              </a:rPr>
              <a:t>concerns </a:t>
            </a:r>
          </a:p>
          <a:p>
            <a:pPr marL="285750" indent="-285750">
              <a:buFont typeface="Wingdings" panose="05000000000000000000" pitchFamily="2" charset="2"/>
              <a:buChar char="q"/>
            </a:pPr>
            <a:r>
              <a:rPr lang="en-US" sz="1600" dirty="0" smtClean="0">
                <a:latin typeface="+mn-lt"/>
              </a:rPr>
              <a:t>Kidney allocation process</a:t>
            </a:r>
          </a:p>
          <a:p>
            <a:pPr marL="742950" lvl="1" indent="-285750">
              <a:buFont typeface="Wingdings" panose="05000000000000000000" pitchFamily="2" charset="2"/>
              <a:buChar char="Ø"/>
            </a:pPr>
            <a:r>
              <a:rPr lang="en-US" sz="1600" dirty="0" smtClean="0">
                <a:latin typeface="+mn-lt"/>
              </a:rPr>
              <a:t>Time to find patient (CIT)</a:t>
            </a:r>
          </a:p>
          <a:p>
            <a:pPr marL="742950" lvl="1" indent="-285750">
              <a:buFont typeface="Wingdings" panose="05000000000000000000" pitchFamily="2" charset="2"/>
              <a:buChar char="Ø"/>
            </a:pPr>
            <a:r>
              <a:rPr lang="en-US" sz="1600" dirty="0" smtClean="0">
                <a:latin typeface="+mn-lt"/>
              </a:rPr>
              <a:t>Early </a:t>
            </a:r>
            <a:r>
              <a:rPr lang="en-US" sz="1600" dirty="0">
                <a:latin typeface="+mn-lt"/>
              </a:rPr>
              <a:t>donor kidney rejection </a:t>
            </a:r>
          </a:p>
          <a:p>
            <a:pPr marL="742950" lvl="1" indent="-285750">
              <a:buFont typeface="Wingdings" panose="05000000000000000000" pitchFamily="2" charset="2"/>
              <a:buChar char="Ø"/>
            </a:pPr>
            <a:r>
              <a:rPr lang="en-US" sz="1600" dirty="0" smtClean="0">
                <a:latin typeface="+mn-lt"/>
              </a:rPr>
              <a:t>Conditions of Participation (</a:t>
            </a:r>
            <a:r>
              <a:rPr lang="en-US" sz="1600" dirty="0" err="1" smtClean="0">
                <a:latin typeface="+mn-lt"/>
              </a:rPr>
              <a:t>CoP</a:t>
            </a:r>
            <a:r>
              <a:rPr lang="en-US" sz="1600" dirty="0" smtClean="0">
                <a:latin typeface="+mn-lt"/>
              </a:rPr>
              <a:t>)</a:t>
            </a:r>
            <a:endParaRPr lang="en-US" sz="1600" dirty="0">
              <a:latin typeface="+mn-lt"/>
            </a:endParaRPr>
          </a:p>
          <a:p>
            <a:pPr marL="742950" lvl="1" indent="-285750">
              <a:buFont typeface="Wingdings" panose="05000000000000000000" pitchFamily="2" charset="2"/>
              <a:buChar char="§"/>
            </a:pPr>
            <a:endParaRPr lang="en-US" sz="1200" dirty="0" smtClean="0">
              <a:latin typeface="+mn-lt"/>
            </a:endParaRPr>
          </a:p>
          <a:p>
            <a:pPr lvl="1"/>
            <a:endParaRPr lang="en-US" sz="1200" dirty="0" smtClean="0">
              <a:latin typeface="+mn-lt"/>
            </a:endParaRPr>
          </a:p>
        </p:txBody>
      </p:sp>
      <p:sp>
        <p:nvSpPr>
          <p:cNvPr id="2" name="Rectangle 1"/>
          <p:cNvSpPr/>
          <p:nvPr/>
        </p:nvSpPr>
        <p:spPr>
          <a:xfrm>
            <a:off x="137451" y="1127570"/>
            <a:ext cx="4324667" cy="830997"/>
          </a:xfrm>
          <a:prstGeom prst="rect">
            <a:avLst/>
          </a:prstGeom>
        </p:spPr>
        <p:txBody>
          <a:bodyPr wrap="square">
            <a:spAutoFit/>
          </a:bodyPr>
          <a:lstStyle/>
          <a:p>
            <a:pPr algn="ctr"/>
            <a:r>
              <a:rPr lang="en-US" sz="1600" b="1" dirty="0" smtClean="0">
                <a:solidFill>
                  <a:schemeClr val="accent1">
                    <a:lumMod val="75000"/>
                  </a:schemeClr>
                </a:solidFill>
                <a:latin typeface="+mn-lt"/>
              </a:rPr>
              <a:t>Key Question:</a:t>
            </a:r>
          </a:p>
          <a:p>
            <a:pPr algn="ctr"/>
            <a:r>
              <a:rPr lang="en-US" sz="1600" b="1" dirty="0" smtClean="0">
                <a:solidFill>
                  <a:schemeClr val="accent1">
                    <a:lumMod val="75000"/>
                  </a:schemeClr>
                </a:solidFill>
                <a:latin typeface="+mn-lt"/>
              </a:rPr>
              <a:t>Why </a:t>
            </a:r>
            <a:r>
              <a:rPr lang="en-US" sz="1600" b="1" dirty="0">
                <a:solidFill>
                  <a:schemeClr val="accent1">
                    <a:lumMod val="75000"/>
                  </a:schemeClr>
                </a:solidFill>
                <a:latin typeface="+mn-lt"/>
              </a:rPr>
              <a:t>Is The Kidney Discard Rate </a:t>
            </a:r>
            <a:endParaRPr lang="en-US" sz="1600" b="1" dirty="0" smtClean="0">
              <a:solidFill>
                <a:schemeClr val="accent1">
                  <a:lumMod val="75000"/>
                </a:schemeClr>
              </a:solidFill>
              <a:latin typeface="+mn-lt"/>
            </a:endParaRPr>
          </a:p>
          <a:p>
            <a:pPr algn="ctr"/>
            <a:r>
              <a:rPr lang="en-US" sz="1600" b="1" dirty="0" smtClean="0">
                <a:solidFill>
                  <a:schemeClr val="accent1">
                    <a:lumMod val="75000"/>
                  </a:schemeClr>
                </a:solidFill>
                <a:latin typeface="+mn-lt"/>
              </a:rPr>
              <a:t>in </a:t>
            </a:r>
            <a:r>
              <a:rPr lang="en-US" sz="1600" b="1" dirty="0">
                <a:solidFill>
                  <a:schemeClr val="accent1">
                    <a:lumMod val="75000"/>
                  </a:schemeClr>
                </a:solidFill>
                <a:latin typeface="+mn-lt"/>
              </a:rPr>
              <a:t>the US Greater Than 20 Percent?</a:t>
            </a:r>
          </a:p>
        </p:txBody>
      </p:sp>
      <p:sp>
        <p:nvSpPr>
          <p:cNvPr id="3" name="Rectangle 2"/>
          <p:cNvSpPr/>
          <p:nvPr/>
        </p:nvSpPr>
        <p:spPr>
          <a:xfrm>
            <a:off x="4778086" y="4076238"/>
            <a:ext cx="4572000" cy="276999"/>
          </a:xfrm>
          <a:prstGeom prst="rect">
            <a:avLst/>
          </a:prstGeom>
        </p:spPr>
        <p:txBody>
          <a:bodyPr>
            <a:spAutoFit/>
          </a:bodyPr>
          <a:lstStyle/>
          <a:p>
            <a:r>
              <a:rPr lang="en-US" sz="1200" b="1" dirty="0">
                <a:latin typeface="+mn-lt"/>
              </a:rPr>
              <a:t>Data sources:</a:t>
            </a:r>
            <a:r>
              <a:rPr lang="en-US" sz="1200" dirty="0">
                <a:latin typeface="+mn-lt"/>
              </a:rPr>
              <a:t> </a:t>
            </a:r>
            <a:r>
              <a:rPr lang="en-US" sz="1200" i="1" dirty="0">
                <a:latin typeface="+mn-lt"/>
              </a:rPr>
              <a:t>United Network for Organ Sharing (UNOS) </a:t>
            </a:r>
            <a:endParaRPr lang="en-US" sz="1200" dirty="0">
              <a:latin typeface="+mn-lt"/>
            </a:endParaRPr>
          </a:p>
        </p:txBody>
      </p:sp>
    </p:spTree>
    <p:extLst>
      <p:ext uri="{BB962C8B-B14F-4D97-AF65-F5344CB8AC3E}">
        <p14:creationId xmlns:p14="http://schemas.microsoft.com/office/powerpoint/2010/main" val="23754469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xmlns:p14="http://schemas.microsoft.com/office/powerpoint/2010/mai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4294967295"/>
          </p:nvPr>
        </p:nvSpPr>
        <p:spPr>
          <a:xfrm>
            <a:off x="0" y="4760913"/>
            <a:ext cx="2057400" cy="274637"/>
          </a:xfrm>
          <a:prstGeom prst="rect">
            <a:avLst/>
          </a:prstGeom>
        </p:spPr>
        <p:txBody>
          <a:bodyPr/>
          <a:lstStyle/>
          <a:p>
            <a:fld id="{69E57DC2-970A-4B3E-BB1C-7A09969E49DF}" type="slidenum">
              <a:rPr lang="en-US" smtClean="0"/>
              <a:t>3</a:t>
            </a:fld>
            <a:endParaRPr lang="en-US" dirty="0"/>
          </a:p>
        </p:txBody>
      </p:sp>
      <p:pic>
        <p:nvPicPr>
          <p:cNvPr id="3" name="Picture 2"/>
          <p:cNvPicPr>
            <a:picLocks noChangeAspect="1"/>
          </p:cNvPicPr>
          <p:nvPr/>
        </p:nvPicPr>
        <p:blipFill rotWithShape="1">
          <a:blip r:embed="rId2" cstate="email">
            <a:extLst>
              <a:ext uri="{28A0092B-C50C-407E-A947-70E740481C1C}">
                <a14:useLocalDpi xmlns:a14="http://schemas.microsoft.com/office/drawing/2010/main" val="0"/>
              </a:ext>
            </a:extLst>
          </a:blip>
          <a:srcRect l="1906" t="2105" r="1473" b="2458"/>
          <a:stretch/>
        </p:blipFill>
        <p:spPr>
          <a:xfrm>
            <a:off x="292308" y="1281659"/>
            <a:ext cx="4519536" cy="2683239"/>
          </a:xfrm>
          <a:prstGeom prst="rect">
            <a:avLst/>
          </a:prstGeom>
        </p:spPr>
      </p:pic>
      <p:sp>
        <p:nvSpPr>
          <p:cNvPr id="4" name="Rectangle 3"/>
          <p:cNvSpPr/>
          <p:nvPr/>
        </p:nvSpPr>
        <p:spPr>
          <a:xfrm>
            <a:off x="407547" y="166826"/>
            <a:ext cx="8029574" cy="707886"/>
          </a:xfrm>
          <a:prstGeom prst="rect">
            <a:avLst/>
          </a:prstGeom>
        </p:spPr>
        <p:txBody>
          <a:bodyPr wrap="square">
            <a:spAutoFit/>
          </a:bodyPr>
          <a:lstStyle/>
          <a:p>
            <a:pPr algn="ctr"/>
            <a:r>
              <a:rPr lang="en-US" sz="2000" b="1" dirty="0" smtClean="0">
                <a:solidFill>
                  <a:schemeClr val="accent1">
                    <a:lumMod val="75000"/>
                  </a:schemeClr>
                </a:solidFill>
                <a:latin typeface="+mj-lt"/>
              </a:rPr>
              <a:t>Motivation</a:t>
            </a:r>
            <a:br>
              <a:rPr lang="en-US" sz="2000" b="1" dirty="0" smtClean="0">
                <a:solidFill>
                  <a:schemeClr val="accent1">
                    <a:lumMod val="75000"/>
                  </a:schemeClr>
                </a:solidFill>
                <a:latin typeface="+mj-lt"/>
              </a:rPr>
            </a:br>
            <a:r>
              <a:rPr lang="en-US" sz="2000" dirty="0" smtClean="0">
                <a:solidFill>
                  <a:schemeClr val="accent1">
                    <a:lumMod val="75000"/>
                  </a:schemeClr>
                </a:solidFill>
                <a:latin typeface="+mj-lt"/>
              </a:rPr>
              <a:t>Regional Differences in the US </a:t>
            </a:r>
            <a:endParaRPr lang="en-US" sz="2000" dirty="0">
              <a:solidFill>
                <a:schemeClr val="accent1">
                  <a:lumMod val="75000"/>
                </a:schemeClr>
              </a:solidFill>
              <a:latin typeface="+mj-lt"/>
            </a:endParaRPr>
          </a:p>
        </p:txBody>
      </p:sp>
      <p:pic>
        <p:nvPicPr>
          <p:cNvPr id="5" name="Picture 4"/>
          <p:cNvPicPr>
            <a:picLocks noChangeAspect="1"/>
          </p:cNvPicPr>
          <p:nvPr/>
        </p:nvPicPr>
        <p:blipFill>
          <a:blip r:embed="rId3"/>
          <a:stretch>
            <a:fillRect/>
          </a:stretch>
        </p:blipFill>
        <p:spPr>
          <a:xfrm>
            <a:off x="5121815" y="1222466"/>
            <a:ext cx="4022185" cy="2420847"/>
          </a:xfrm>
          <a:prstGeom prst="rect">
            <a:avLst/>
          </a:prstGeom>
        </p:spPr>
      </p:pic>
      <p:sp>
        <p:nvSpPr>
          <p:cNvPr id="6" name="TextBox 5"/>
          <p:cNvSpPr txBox="1"/>
          <p:nvPr/>
        </p:nvSpPr>
        <p:spPr>
          <a:xfrm>
            <a:off x="269787" y="4396158"/>
            <a:ext cx="8264769" cy="276999"/>
          </a:xfrm>
          <a:prstGeom prst="rect">
            <a:avLst/>
          </a:prstGeom>
          <a:noFill/>
        </p:spPr>
        <p:txBody>
          <a:bodyPr wrap="square" rtlCol="0">
            <a:spAutoFit/>
          </a:bodyPr>
          <a:lstStyle/>
          <a:p>
            <a:pPr algn="ctr"/>
            <a:r>
              <a:rPr lang="en-US" sz="1200" b="1" dirty="0" smtClean="0">
                <a:latin typeface="+mn-lt"/>
              </a:rPr>
              <a:t>Data sources</a:t>
            </a:r>
            <a:r>
              <a:rPr lang="en-US" sz="1200" b="1" dirty="0">
                <a:latin typeface="+mn-lt"/>
              </a:rPr>
              <a:t>:</a:t>
            </a:r>
            <a:r>
              <a:rPr lang="en-US" sz="1200" dirty="0">
                <a:latin typeface="+mn-lt"/>
              </a:rPr>
              <a:t> </a:t>
            </a:r>
            <a:r>
              <a:rPr lang="en-US" sz="1200" i="1" dirty="0" smtClean="0">
                <a:latin typeface="+mn-lt"/>
              </a:rPr>
              <a:t>United </a:t>
            </a:r>
            <a:r>
              <a:rPr lang="en-US" sz="1200" i="1" dirty="0">
                <a:latin typeface="+mn-lt"/>
              </a:rPr>
              <a:t>Network for Organ </a:t>
            </a:r>
            <a:r>
              <a:rPr lang="en-US" sz="1200" i="1" dirty="0" smtClean="0">
                <a:latin typeface="+mn-lt"/>
              </a:rPr>
              <a:t>Sharing (UNOS) </a:t>
            </a:r>
            <a:r>
              <a:rPr lang="en-US" sz="1200" i="1" dirty="0">
                <a:latin typeface="+mn-lt"/>
              </a:rPr>
              <a:t>and Scientific Registry of Transplant Recipients (</a:t>
            </a:r>
            <a:r>
              <a:rPr lang="en-US" sz="1200" i="1" dirty="0" smtClean="0">
                <a:latin typeface="+mn-lt"/>
              </a:rPr>
              <a:t>SRTR)</a:t>
            </a:r>
            <a:endParaRPr lang="en-US" sz="1200" i="1" dirty="0">
              <a:latin typeface="+mn-lt"/>
            </a:endParaRPr>
          </a:p>
        </p:txBody>
      </p:sp>
    </p:spTree>
    <p:extLst>
      <p:ext uri="{BB962C8B-B14F-4D97-AF65-F5344CB8AC3E}">
        <p14:creationId xmlns:p14="http://schemas.microsoft.com/office/powerpoint/2010/main" val="27822141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xmlns:p14="http://schemas.microsoft.com/office/powerpoint/2010/main">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p:cNvSpPr>
            <a:spLocks noGrp="1"/>
          </p:cNvSpPr>
          <p:nvPr>
            <p:ph type="sldNum" sz="quarter" idx="4294967295"/>
          </p:nvPr>
        </p:nvSpPr>
        <p:spPr>
          <a:xfrm>
            <a:off x="0" y="4760913"/>
            <a:ext cx="2057400" cy="274637"/>
          </a:xfrm>
          <a:prstGeom prst="rect">
            <a:avLst/>
          </a:prstGeom>
        </p:spPr>
        <p:txBody>
          <a:bodyPr/>
          <a:lstStyle/>
          <a:p>
            <a:fld id="{69E57DC2-970A-4B3E-BB1C-7A09969E49DF}" type="slidenum">
              <a:rPr lang="en-US" smtClean="0"/>
              <a:t>4</a:t>
            </a:fld>
            <a:endParaRPr lang="en-US" dirty="0"/>
          </a:p>
        </p:txBody>
      </p:sp>
      <p:pic>
        <p:nvPicPr>
          <p:cNvPr id="3" name="Picture 2"/>
          <p:cNvPicPr>
            <a:picLocks noChangeAspect="1"/>
          </p:cNvPicPr>
          <p:nvPr/>
        </p:nvPicPr>
        <p:blipFill rotWithShape="1">
          <a:blip r:embed="rId2"/>
          <a:srcRect l="1111" t="11545" r="760" b="1909"/>
          <a:stretch/>
        </p:blipFill>
        <p:spPr>
          <a:xfrm>
            <a:off x="1131757" y="813230"/>
            <a:ext cx="6895475" cy="3575154"/>
          </a:xfrm>
          <a:prstGeom prst="rect">
            <a:avLst/>
          </a:prstGeom>
        </p:spPr>
      </p:pic>
      <p:sp>
        <p:nvSpPr>
          <p:cNvPr id="5" name="Rectangle 4"/>
          <p:cNvSpPr/>
          <p:nvPr/>
        </p:nvSpPr>
        <p:spPr>
          <a:xfrm>
            <a:off x="400052" y="172797"/>
            <a:ext cx="8029574" cy="707886"/>
          </a:xfrm>
          <a:prstGeom prst="rect">
            <a:avLst/>
          </a:prstGeom>
        </p:spPr>
        <p:txBody>
          <a:bodyPr wrap="square">
            <a:spAutoFit/>
          </a:bodyPr>
          <a:lstStyle/>
          <a:p>
            <a:pPr algn="ctr"/>
            <a:r>
              <a:rPr lang="en-US" sz="2000" b="1" dirty="0" smtClean="0">
                <a:solidFill>
                  <a:schemeClr val="accent1">
                    <a:lumMod val="75000"/>
                  </a:schemeClr>
                </a:solidFill>
                <a:latin typeface="+mj-lt"/>
              </a:rPr>
              <a:t>Motivation</a:t>
            </a:r>
            <a:br>
              <a:rPr lang="en-US" sz="2000" b="1" dirty="0" smtClean="0">
                <a:solidFill>
                  <a:schemeClr val="accent1">
                    <a:lumMod val="75000"/>
                  </a:schemeClr>
                </a:solidFill>
                <a:latin typeface="+mj-lt"/>
              </a:rPr>
            </a:br>
            <a:r>
              <a:rPr lang="en-US" sz="2000" dirty="0">
                <a:solidFill>
                  <a:schemeClr val="accent1">
                    <a:lumMod val="75000"/>
                  </a:schemeClr>
                </a:solidFill>
                <a:latin typeface="+mj-lt"/>
              </a:rPr>
              <a:t>Regional Differences in the US </a:t>
            </a:r>
          </a:p>
        </p:txBody>
      </p:sp>
      <p:sp>
        <p:nvSpPr>
          <p:cNvPr id="6" name="TextBox 5"/>
          <p:cNvSpPr txBox="1"/>
          <p:nvPr/>
        </p:nvSpPr>
        <p:spPr>
          <a:xfrm>
            <a:off x="269787" y="4403653"/>
            <a:ext cx="8424508" cy="276999"/>
          </a:xfrm>
          <a:prstGeom prst="rect">
            <a:avLst/>
          </a:prstGeom>
          <a:noFill/>
        </p:spPr>
        <p:txBody>
          <a:bodyPr wrap="square" rtlCol="0">
            <a:spAutoFit/>
          </a:bodyPr>
          <a:lstStyle/>
          <a:p>
            <a:pPr algn="ctr"/>
            <a:r>
              <a:rPr lang="en-US" sz="1200" b="1" dirty="0" smtClean="0">
                <a:latin typeface="+mn-lt"/>
              </a:rPr>
              <a:t>Data sources</a:t>
            </a:r>
            <a:r>
              <a:rPr lang="en-US" sz="1200" b="1" dirty="0">
                <a:latin typeface="+mn-lt"/>
              </a:rPr>
              <a:t>:</a:t>
            </a:r>
            <a:r>
              <a:rPr lang="en-US" sz="1200" dirty="0">
                <a:latin typeface="+mn-lt"/>
              </a:rPr>
              <a:t> </a:t>
            </a:r>
            <a:r>
              <a:rPr lang="en-US" sz="1200" i="1" dirty="0" smtClean="0">
                <a:latin typeface="+mn-lt"/>
              </a:rPr>
              <a:t>United </a:t>
            </a:r>
            <a:r>
              <a:rPr lang="en-US" sz="1200" i="1" dirty="0">
                <a:latin typeface="+mn-lt"/>
              </a:rPr>
              <a:t>Network for Organ </a:t>
            </a:r>
            <a:r>
              <a:rPr lang="en-US" sz="1200" i="1" dirty="0" smtClean="0">
                <a:latin typeface="+mn-lt"/>
              </a:rPr>
              <a:t>Sharing (UNOS) </a:t>
            </a:r>
            <a:r>
              <a:rPr lang="en-US" sz="1200" i="1" dirty="0">
                <a:latin typeface="+mn-lt"/>
              </a:rPr>
              <a:t>and Scientific Registry of Transplant Recipients (</a:t>
            </a:r>
            <a:r>
              <a:rPr lang="en-US" sz="1200" i="1" dirty="0" smtClean="0">
                <a:latin typeface="+mn-lt"/>
              </a:rPr>
              <a:t>SRTR) - 2015</a:t>
            </a:r>
            <a:endParaRPr lang="en-US" sz="1200" i="1" dirty="0">
              <a:latin typeface="+mn-lt"/>
            </a:endParaRPr>
          </a:p>
        </p:txBody>
      </p:sp>
    </p:spTree>
    <p:extLst>
      <p:ext uri="{BB962C8B-B14F-4D97-AF65-F5344CB8AC3E}">
        <p14:creationId xmlns:p14="http://schemas.microsoft.com/office/powerpoint/2010/main" val="32559685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0" y="4760913"/>
            <a:ext cx="2057400" cy="274637"/>
          </a:xfrm>
          <a:prstGeom prst="rect">
            <a:avLst/>
          </a:prstGeom>
        </p:spPr>
        <p:txBody>
          <a:bodyPr/>
          <a:lstStyle/>
          <a:p>
            <a:fld id="{69E57DC2-970A-4B3E-BB1C-7A09969E49DF}" type="slidenum">
              <a:rPr lang="en-US" smtClean="0"/>
              <a:pPr/>
              <a:t>5</a:t>
            </a:fld>
            <a:endParaRPr lang="en-US" dirty="0"/>
          </a:p>
        </p:txBody>
      </p:sp>
      <p:sp>
        <p:nvSpPr>
          <p:cNvPr id="9" name="Rectangle 8"/>
          <p:cNvSpPr/>
          <p:nvPr/>
        </p:nvSpPr>
        <p:spPr>
          <a:xfrm>
            <a:off x="178594" y="122941"/>
            <a:ext cx="8965406" cy="830997"/>
          </a:xfrm>
          <a:prstGeom prst="rect">
            <a:avLst/>
          </a:prstGeom>
        </p:spPr>
        <p:txBody>
          <a:bodyPr wrap="square">
            <a:spAutoFit/>
          </a:bodyPr>
          <a:lstStyle/>
          <a:p>
            <a:pPr algn="ctr"/>
            <a:r>
              <a:rPr lang="en-US" sz="2400" b="1" dirty="0" smtClean="0">
                <a:solidFill>
                  <a:schemeClr val="accent1">
                    <a:lumMod val="75000"/>
                  </a:schemeClr>
                </a:solidFill>
                <a:latin typeface="+mj-lt"/>
              </a:rPr>
              <a:t>Goal</a:t>
            </a:r>
            <a:br>
              <a:rPr lang="en-US" sz="2400" b="1" dirty="0" smtClean="0">
                <a:solidFill>
                  <a:schemeClr val="accent1">
                    <a:lumMod val="75000"/>
                  </a:schemeClr>
                </a:solidFill>
                <a:latin typeface="+mj-lt"/>
              </a:rPr>
            </a:br>
            <a:r>
              <a:rPr lang="en-US" sz="2400" dirty="0" smtClean="0">
                <a:solidFill>
                  <a:schemeClr val="accent1">
                    <a:lumMod val="75000"/>
                  </a:schemeClr>
                </a:solidFill>
                <a:latin typeface="+mj-lt"/>
              </a:rPr>
              <a:t>Increase Donor Kidney Utilization </a:t>
            </a:r>
            <a:endParaRPr lang="en-US" sz="2400" dirty="0">
              <a:latin typeface="+mj-lt"/>
            </a:endParaRPr>
          </a:p>
        </p:txBody>
      </p:sp>
      <p:sp>
        <p:nvSpPr>
          <p:cNvPr id="8" name="Text Placeholder 5"/>
          <p:cNvSpPr txBox="1">
            <a:spLocks/>
          </p:cNvSpPr>
          <p:nvPr/>
        </p:nvSpPr>
        <p:spPr>
          <a:xfrm>
            <a:off x="512763" y="1257975"/>
            <a:ext cx="8108950" cy="2589609"/>
          </a:xfrm>
          <a:prstGeom prst="rect">
            <a:avLst/>
          </a:prstGeom>
        </p:spPr>
        <p:txBody>
          <a:bodyPr vert="horz" lIns="91440" tIns="45720" rIns="91440" bIns="45720" rtlCol="0">
            <a:normAutofit lnSpcReduction="10000"/>
          </a:bodyPr>
          <a:lstStyle>
            <a:lvl1pPr marL="0" indent="0" algn="l" defTabSz="685800" rtl="0" eaLnBrk="1" latinLnBrk="0" hangingPunct="1">
              <a:lnSpc>
                <a:spcPct val="90000"/>
              </a:lnSpc>
              <a:spcBef>
                <a:spcPts val="750"/>
              </a:spcBef>
              <a:buFont typeface="Arial" panose="020B0604020202020204" pitchFamily="34" charset="0"/>
              <a:buNone/>
              <a:defRPr sz="1800" kern="1200">
                <a:solidFill>
                  <a:schemeClr val="tx1">
                    <a:tint val="75000"/>
                  </a:schemeClr>
                </a:solidFill>
                <a:latin typeface="+mn-lt"/>
                <a:ea typeface="+mn-ea"/>
                <a:cs typeface="+mn-cs"/>
              </a:defRPr>
            </a:lvl1pPr>
            <a:lvl2pPr marL="342900" indent="0" algn="l" defTabSz="685800" rtl="0" eaLnBrk="1" latinLnBrk="0" hangingPunct="1">
              <a:lnSpc>
                <a:spcPct val="90000"/>
              </a:lnSpc>
              <a:spcBef>
                <a:spcPts val="375"/>
              </a:spcBef>
              <a:buFont typeface="Arial" panose="020B0604020202020204" pitchFamily="34" charset="0"/>
              <a:buNone/>
              <a:defRPr sz="1500" kern="1200">
                <a:solidFill>
                  <a:schemeClr val="tx1">
                    <a:tint val="75000"/>
                  </a:schemeClr>
                </a:solidFill>
                <a:latin typeface="+mn-lt"/>
                <a:ea typeface="+mn-ea"/>
                <a:cs typeface="+mn-cs"/>
              </a:defRPr>
            </a:lvl2pPr>
            <a:lvl3pPr marL="685800" indent="0" algn="l" defTabSz="685800" rtl="0" eaLnBrk="1" latinLnBrk="0" hangingPunct="1">
              <a:lnSpc>
                <a:spcPct val="90000"/>
              </a:lnSpc>
              <a:spcBef>
                <a:spcPts val="375"/>
              </a:spcBef>
              <a:buFont typeface="Arial" panose="020B0604020202020204" pitchFamily="34" charset="0"/>
              <a:buNone/>
              <a:defRPr sz="1350" kern="1200">
                <a:solidFill>
                  <a:schemeClr val="tx1">
                    <a:tint val="75000"/>
                  </a:schemeClr>
                </a:solidFill>
                <a:latin typeface="+mn-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1200" kern="1200">
                <a:solidFill>
                  <a:schemeClr val="tx1">
                    <a:tint val="75000"/>
                  </a:schemeClr>
                </a:solidFill>
                <a:latin typeface="+mn-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1200" kern="1200">
                <a:solidFill>
                  <a:schemeClr val="tx1">
                    <a:tint val="75000"/>
                  </a:schemeClr>
                </a:solidFill>
                <a:latin typeface="+mn-lt"/>
                <a:ea typeface="+mn-ea"/>
                <a:cs typeface="+mn-cs"/>
              </a:defRPr>
            </a:lvl5pPr>
            <a:lvl6pPr marL="1714500" indent="0" algn="l" defTabSz="685800" rtl="0" eaLnBrk="1" latinLnBrk="0" hangingPunct="1">
              <a:lnSpc>
                <a:spcPct val="90000"/>
              </a:lnSpc>
              <a:spcBef>
                <a:spcPts val="375"/>
              </a:spcBef>
              <a:buFont typeface="Arial" panose="020B0604020202020204" pitchFamily="34" charset="0"/>
              <a:buNone/>
              <a:defRPr sz="1200" kern="1200">
                <a:solidFill>
                  <a:schemeClr val="tx1">
                    <a:tint val="75000"/>
                  </a:schemeClr>
                </a:solidFill>
                <a:latin typeface="+mn-lt"/>
                <a:ea typeface="+mn-ea"/>
                <a:cs typeface="+mn-cs"/>
              </a:defRPr>
            </a:lvl6pPr>
            <a:lvl7pPr marL="2057400" indent="0" algn="l" defTabSz="685800" rtl="0" eaLnBrk="1" latinLnBrk="0" hangingPunct="1">
              <a:lnSpc>
                <a:spcPct val="90000"/>
              </a:lnSpc>
              <a:spcBef>
                <a:spcPts val="375"/>
              </a:spcBef>
              <a:buFont typeface="Arial" panose="020B0604020202020204" pitchFamily="34" charset="0"/>
              <a:buNone/>
              <a:defRPr sz="1200" kern="1200">
                <a:solidFill>
                  <a:schemeClr val="tx1">
                    <a:tint val="75000"/>
                  </a:schemeClr>
                </a:solidFill>
                <a:latin typeface="+mn-lt"/>
                <a:ea typeface="+mn-ea"/>
                <a:cs typeface="+mn-cs"/>
              </a:defRPr>
            </a:lvl7pPr>
            <a:lvl8pPr marL="2400300" indent="0" algn="l" defTabSz="685800" rtl="0" eaLnBrk="1" latinLnBrk="0" hangingPunct="1">
              <a:lnSpc>
                <a:spcPct val="90000"/>
              </a:lnSpc>
              <a:spcBef>
                <a:spcPts val="375"/>
              </a:spcBef>
              <a:buFont typeface="Arial" panose="020B0604020202020204" pitchFamily="34" charset="0"/>
              <a:buNone/>
              <a:defRPr sz="1200" kern="1200">
                <a:solidFill>
                  <a:schemeClr val="tx1">
                    <a:tint val="75000"/>
                  </a:schemeClr>
                </a:solidFill>
                <a:latin typeface="+mn-lt"/>
                <a:ea typeface="+mn-ea"/>
                <a:cs typeface="+mn-cs"/>
              </a:defRPr>
            </a:lvl8pPr>
            <a:lvl9pPr marL="2743200" indent="0" algn="l" defTabSz="685800" rtl="0" eaLnBrk="1" latinLnBrk="0" hangingPunct="1">
              <a:lnSpc>
                <a:spcPct val="90000"/>
              </a:lnSpc>
              <a:spcBef>
                <a:spcPts val="375"/>
              </a:spcBef>
              <a:buFont typeface="Arial" panose="020B0604020202020204" pitchFamily="34" charset="0"/>
              <a:buNone/>
              <a:defRPr sz="1200" kern="1200">
                <a:solidFill>
                  <a:schemeClr val="tx1">
                    <a:tint val="75000"/>
                  </a:schemeClr>
                </a:solidFill>
                <a:latin typeface="+mn-lt"/>
                <a:ea typeface="+mn-ea"/>
                <a:cs typeface="+mn-cs"/>
              </a:defRPr>
            </a:lvl9pPr>
          </a:lstStyle>
          <a:p>
            <a:pPr marL="285750" indent="-285750" fontAlgn="auto">
              <a:spcAft>
                <a:spcPts val="0"/>
              </a:spcAft>
              <a:buFont typeface="Wingdings" panose="05000000000000000000" pitchFamily="2" charset="2"/>
              <a:buChar char="§"/>
            </a:pPr>
            <a:r>
              <a:rPr lang="en-US" sz="2100" dirty="0">
                <a:solidFill>
                  <a:schemeClr val="accent1">
                    <a:lumMod val="75000"/>
                  </a:schemeClr>
                </a:solidFill>
              </a:rPr>
              <a:t>Decision maker (patient &amp; surgeon):</a:t>
            </a:r>
          </a:p>
          <a:p>
            <a:pPr marL="628650" lvl="1" indent="-285750" fontAlgn="auto">
              <a:spcAft>
                <a:spcPts val="0"/>
              </a:spcAft>
              <a:buFont typeface="Wingdings" panose="05000000000000000000" pitchFamily="2" charset="2"/>
              <a:buChar char="§"/>
            </a:pPr>
            <a:r>
              <a:rPr lang="en-US" sz="1600" dirty="0">
                <a:solidFill>
                  <a:schemeClr val="tx1"/>
                </a:solidFill>
              </a:rPr>
              <a:t>Reconsidering decision criteria for acceptance/rejection of donor </a:t>
            </a:r>
            <a:r>
              <a:rPr lang="en-US" sz="1600" dirty="0" smtClean="0">
                <a:solidFill>
                  <a:schemeClr val="tx1"/>
                </a:solidFill>
              </a:rPr>
              <a:t>kidney</a:t>
            </a:r>
            <a:endParaRPr lang="en-US" sz="1600" dirty="0">
              <a:solidFill>
                <a:schemeClr val="tx1"/>
              </a:solidFill>
            </a:endParaRPr>
          </a:p>
          <a:p>
            <a:pPr marL="628650" lvl="1" indent="-285750" fontAlgn="auto">
              <a:spcAft>
                <a:spcPts val="0"/>
              </a:spcAft>
              <a:buFont typeface="Wingdings" panose="05000000000000000000" pitchFamily="2" charset="2"/>
              <a:buChar char="§"/>
            </a:pPr>
            <a:r>
              <a:rPr lang="en-US" sz="1600" dirty="0">
                <a:solidFill>
                  <a:schemeClr val="tx1"/>
                </a:solidFill>
              </a:rPr>
              <a:t>Listing decision (Multiple listing) </a:t>
            </a:r>
          </a:p>
          <a:p>
            <a:pPr marL="285750" indent="-285750" fontAlgn="auto">
              <a:spcAft>
                <a:spcPts val="0"/>
              </a:spcAft>
              <a:buFont typeface="Wingdings" panose="05000000000000000000" pitchFamily="2" charset="2"/>
              <a:buChar char="§"/>
            </a:pPr>
            <a:endParaRPr lang="en-US" sz="2100" dirty="0" smtClean="0">
              <a:solidFill>
                <a:schemeClr val="accent1">
                  <a:lumMod val="75000"/>
                </a:schemeClr>
              </a:solidFill>
            </a:endParaRPr>
          </a:p>
          <a:p>
            <a:pPr marL="285750" indent="-285750" fontAlgn="auto">
              <a:spcAft>
                <a:spcPts val="0"/>
              </a:spcAft>
              <a:buFont typeface="Wingdings" panose="05000000000000000000" pitchFamily="2" charset="2"/>
              <a:buChar char="§"/>
            </a:pPr>
            <a:r>
              <a:rPr lang="en-US" sz="2100" dirty="0" smtClean="0">
                <a:solidFill>
                  <a:schemeClr val="accent1">
                    <a:lumMod val="75000"/>
                  </a:schemeClr>
                </a:solidFill>
              </a:rPr>
              <a:t>Social planner (OPTN &amp; CMS):</a:t>
            </a:r>
          </a:p>
          <a:p>
            <a:pPr marL="628650" lvl="1" indent="-285750" fontAlgn="auto">
              <a:spcAft>
                <a:spcPts val="0"/>
              </a:spcAft>
              <a:buFont typeface="Wingdings" panose="05000000000000000000" pitchFamily="2" charset="2"/>
              <a:buChar char="§"/>
            </a:pPr>
            <a:r>
              <a:rPr lang="en-US" sz="1600" dirty="0" smtClean="0">
                <a:solidFill>
                  <a:schemeClr val="tx1"/>
                </a:solidFill>
              </a:rPr>
              <a:t>Changing kidney allocation system (KAS)</a:t>
            </a:r>
          </a:p>
          <a:p>
            <a:pPr marL="628650" lvl="1" indent="-285750" fontAlgn="auto">
              <a:spcAft>
                <a:spcPts val="0"/>
              </a:spcAft>
              <a:buFont typeface="Wingdings" panose="05000000000000000000" pitchFamily="2" charset="2"/>
              <a:buChar char="§"/>
            </a:pPr>
            <a:r>
              <a:rPr lang="en-US" sz="1600" dirty="0" smtClean="0">
                <a:solidFill>
                  <a:schemeClr val="tx1"/>
                </a:solidFill>
              </a:rPr>
              <a:t>Changes in </a:t>
            </a:r>
            <a:r>
              <a:rPr lang="en-US" sz="1600" dirty="0">
                <a:solidFill>
                  <a:schemeClr val="tx1"/>
                </a:solidFill>
              </a:rPr>
              <a:t>Organ Procurement and Transplantation </a:t>
            </a:r>
            <a:r>
              <a:rPr lang="en-US" sz="1600" dirty="0" smtClean="0">
                <a:solidFill>
                  <a:schemeClr val="tx1"/>
                </a:solidFill>
              </a:rPr>
              <a:t>Network (OPTN; currently performed by UNOS) and CMS evaluation metrics </a:t>
            </a:r>
          </a:p>
          <a:p>
            <a:pPr marL="628650" lvl="1" indent="-285750" fontAlgn="auto">
              <a:spcAft>
                <a:spcPts val="0"/>
              </a:spcAft>
              <a:buFont typeface="Wingdings" panose="05000000000000000000" pitchFamily="2" charset="2"/>
              <a:buChar char="§"/>
            </a:pPr>
            <a:r>
              <a:rPr lang="en-US" sz="1600" dirty="0" smtClean="0">
                <a:solidFill>
                  <a:schemeClr val="tx1"/>
                </a:solidFill>
              </a:rPr>
              <a:t>Using information technology such as </a:t>
            </a:r>
            <a:r>
              <a:rPr lang="en-US" sz="1600" dirty="0" err="1" smtClean="0">
                <a:solidFill>
                  <a:schemeClr val="tx1"/>
                </a:solidFill>
              </a:rPr>
              <a:t>Unet</a:t>
            </a:r>
            <a:r>
              <a:rPr lang="en-US" sz="1600" dirty="0" smtClean="0">
                <a:solidFill>
                  <a:schemeClr val="tx1"/>
                </a:solidFill>
              </a:rPr>
              <a:t> to improve efficiency.</a:t>
            </a:r>
          </a:p>
          <a:p>
            <a:pPr lvl="2" fontAlgn="auto">
              <a:spcAft>
                <a:spcPts val="0"/>
              </a:spcAft>
            </a:pPr>
            <a:endParaRPr lang="en-US" sz="1450" dirty="0" smtClean="0">
              <a:solidFill>
                <a:schemeClr val="tx1"/>
              </a:solidFill>
            </a:endParaRPr>
          </a:p>
        </p:txBody>
      </p:sp>
      <p:sp>
        <p:nvSpPr>
          <p:cNvPr id="3" name="Rounded Rectangle 2"/>
          <p:cNvSpPr/>
          <p:nvPr/>
        </p:nvSpPr>
        <p:spPr>
          <a:xfrm>
            <a:off x="857250" y="3435371"/>
            <a:ext cx="7140002" cy="307181"/>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a:off x="766761" y="1549952"/>
            <a:ext cx="7178025" cy="571156"/>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6625653" y="2368113"/>
            <a:ext cx="2159566" cy="3693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rtlCol="0">
            <a:spAutoFit/>
          </a:bodyPr>
          <a:lstStyle/>
          <a:p>
            <a:r>
              <a:rPr lang="en-US" dirty="0" smtClean="0"/>
              <a:t>Information sharing</a:t>
            </a:r>
            <a:endParaRPr lang="en-US" dirty="0"/>
          </a:p>
        </p:txBody>
      </p:sp>
      <p:cxnSp>
        <p:nvCxnSpPr>
          <p:cNvPr id="11" name="Straight Arrow Connector 10"/>
          <p:cNvCxnSpPr/>
          <p:nvPr/>
        </p:nvCxnSpPr>
        <p:spPr>
          <a:xfrm flipH="1" flipV="1">
            <a:off x="5951095" y="2008682"/>
            <a:ext cx="614597" cy="419725"/>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13" name="Straight Arrow Connector 12"/>
          <p:cNvCxnSpPr/>
          <p:nvPr/>
        </p:nvCxnSpPr>
        <p:spPr>
          <a:xfrm flipH="1">
            <a:off x="5951095" y="2637937"/>
            <a:ext cx="614598" cy="797434"/>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9173268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xmlns:p14="http://schemas.microsoft.com/office/powerpoint/2010/mai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75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2" grpId="0" animBg="1"/>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7901" y="0"/>
            <a:ext cx="8218997" cy="1181100"/>
          </a:xfrm>
        </p:spPr>
        <p:txBody>
          <a:bodyPr>
            <a:noAutofit/>
          </a:bodyPr>
          <a:lstStyle/>
          <a:p>
            <a:pPr algn="ctr"/>
            <a:r>
              <a:rPr lang="en-US" sz="2400" dirty="0" smtClean="0">
                <a:solidFill>
                  <a:schemeClr val="accent1">
                    <a:lumMod val="75000"/>
                  </a:schemeClr>
                </a:solidFill>
                <a:latin typeface="+mj-lt"/>
              </a:rPr>
              <a:t>Literature Review</a:t>
            </a:r>
            <a:endParaRPr lang="en-US" sz="2400" dirty="0">
              <a:solidFill>
                <a:schemeClr val="accent1">
                  <a:lumMod val="75000"/>
                </a:schemeClr>
              </a:solidFill>
              <a:latin typeface="+mj-lt"/>
            </a:endParaRPr>
          </a:p>
        </p:txBody>
      </p:sp>
      <p:sp>
        <p:nvSpPr>
          <p:cNvPr id="3" name="Text Placeholder 2"/>
          <p:cNvSpPr>
            <a:spLocks noGrp="1"/>
          </p:cNvSpPr>
          <p:nvPr>
            <p:ph idx="1"/>
          </p:nvPr>
        </p:nvSpPr>
        <p:spPr/>
        <p:txBody>
          <a:bodyPr>
            <a:normAutofit/>
          </a:bodyPr>
          <a:lstStyle/>
          <a:p>
            <a:pPr marL="21034" lvl="1" indent="0" fontAlgn="base">
              <a:spcBef>
                <a:spcPct val="0"/>
              </a:spcBef>
              <a:spcAft>
                <a:spcPts val="600"/>
              </a:spcAft>
              <a:buNone/>
            </a:pPr>
            <a:r>
              <a:rPr lang="en-US" sz="1650" b="1" dirty="0" smtClean="0">
                <a:solidFill>
                  <a:schemeClr val="tx1"/>
                </a:solidFill>
                <a:latin typeface="+mn-lt"/>
                <a:ea typeface="ＭＳ Ｐゴシック" charset="0"/>
                <a:cs typeface="ＭＳ Ｐゴシック" charset="0"/>
              </a:rPr>
              <a:t>Kidney acceptance decision making </a:t>
            </a:r>
          </a:p>
          <a:p>
            <a:pPr marL="21034" lvl="1" indent="0" fontAlgn="base">
              <a:spcBef>
                <a:spcPct val="0"/>
              </a:spcBef>
              <a:spcAft>
                <a:spcPts val="600"/>
              </a:spcAft>
              <a:buNone/>
            </a:pPr>
            <a:r>
              <a:rPr lang="en-US" sz="1650" dirty="0" smtClean="0">
                <a:solidFill>
                  <a:schemeClr val="tx1"/>
                </a:solidFill>
                <a:latin typeface="+mn-lt"/>
                <a:ea typeface="ＭＳ Ｐゴシック" charset="0"/>
                <a:cs typeface="ＭＳ Ｐゴシック" charset="0"/>
              </a:rPr>
              <a:t>	</a:t>
            </a:r>
            <a:r>
              <a:rPr lang="en-US" sz="1650" dirty="0" err="1" smtClean="0">
                <a:solidFill>
                  <a:schemeClr val="tx1"/>
                </a:solidFill>
                <a:latin typeface="+mn-lt"/>
                <a:ea typeface="ＭＳ Ｐゴシック" charset="0"/>
                <a:cs typeface="ＭＳ Ｐゴシック" charset="0"/>
              </a:rPr>
              <a:t>Ahn</a:t>
            </a:r>
            <a:r>
              <a:rPr lang="en-US" sz="1650" dirty="0" smtClean="0">
                <a:solidFill>
                  <a:schemeClr val="tx1"/>
                </a:solidFill>
                <a:latin typeface="+mn-lt"/>
                <a:ea typeface="ＭＳ Ｐゴシック" charset="0"/>
                <a:cs typeface="ＭＳ Ｐゴシック" charset="0"/>
              </a:rPr>
              <a:t> </a:t>
            </a:r>
            <a:r>
              <a:rPr lang="en-US" sz="1650" dirty="0">
                <a:solidFill>
                  <a:schemeClr val="tx1"/>
                </a:solidFill>
                <a:latin typeface="+mn-lt"/>
                <a:ea typeface="ＭＳ Ｐゴシック" charset="0"/>
                <a:cs typeface="ＭＳ Ｐゴシック" charset="0"/>
              </a:rPr>
              <a:t>and </a:t>
            </a:r>
            <a:r>
              <a:rPr lang="en-US" sz="1650" dirty="0" err="1">
                <a:solidFill>
                  <a:schemeClr val="tx1"/>
                </a:solidFill>
                <a:latin typeface="+mn-lt"/>
                <a:ea typeface="ＭＳ Ｐゴシック" charset="0"/>
                <a:cs typeface="ＭＳ Ｐゴシック" charset="0"/>
              </a:rPr>
              <a:t>Hornberger</a:t>
            </a:r>
            <a:r>
              <a:rPr lang="en-US" sz="1650" dirty="0">
                <a:solidFill>
                  <a:schemeClr val="tx1"/>
                </a:solidFill>
                <a:latin typeface="+mn-lt"/>
                <a:ea typeface="ＭＳ Ｐゴシック" charset="0"/>
                <a:cs typeface="ＭＳ Ｐゴシック" charset="0"/>
              </a:rPr>
              <a:t> (1996), Howard (2002), </a:t>
            </a:r>
            <a:r>
              <a:rPr lang="en-US" sz="1650" dirty="0" err="1">
                <a:solidFill>
                  <a:schemeClr val="tx1"/>
                </a:solidFill>
                <a:latin typeface="+mn-lt"/>
                <a:ea typeface="ＭＳ Ｐゴシック" charset="0"/>
                <a:cs typeface="ＭＳ Ｐゴシック" charset="0"/>
              </a:rPr>
              <a:t>Alagoz</a:t>
            </a:r>
            <a:r>
              <a:rPr lang="en-US" sz="1650" dirty="0">
                <a:solidFill>
                  <a:schemeClr val="tx1"/>
                </a:solidFill>
                <a:latin typeface="+mn-lt"/>
                <a:ea typeface="ＭＳ Ｐゴシック" charset="0"/>
                <a:cs typeface="ＭＳ Ｐゴシック" charset="0"/>
              </a:rPr>
              <a:t> et al. (2004</a:t>
            </a:r>
            <a:r>
              <a:rPr lang="en-US" sz="1650" dirty="0" smtClean="0">
                <a:solidFill>
                  <a:schemeClr val="tx1"/>
                </a:solidFill>
                <a:latin typeface="+mn-lt"/>
                <a:ea typeface="ＭＳ Ｐゴシック" charset="0"/>
                <a:cs typeface="ＭＳ Ｐゴシック" charset="0"/>
              </a:rPr>
              <a:t>)</a:t>
            </a:r>
          </a:p>
          <a:p>
            <a:pPr marL="117475" lvl="1" fontAlgn="base">
              <a:spcBef>
                <a:spcPct val="0"/>
              </a:spcBef>
              <a:spcAft>
                <a:spcPts val="600"/>
              </a:spcAft>
            </a:pPr>
            <a:endParaRPr lang="en-US" sz="1650" dirty="0">
              <a:solidFill>
                <a:schemeClr val="tx1"/>
              </a:solidFill>
              <a:latin typeface="+mn-lt"/>
              <a:ea typeface="ＭＳ Ｐゴシック" charset="0"/>
              <a:cs typeface="ＭＳ Ｐゴシック" charset="0"/>
            </a:endParaRPr>
          </a:p>
          <a:p>
            <a:pPr marL="21034" lvl="1" indent="0" fontAlgn="base">
              <a:spcBef>
                <a:spcPct val="0"/>
              </a:spcBef>
              <a:spcAft>
                <a:spcPts val="600"/>
              </a:spcAft>
              <a:buNone/>
            </a:pPr>
            <a:r>
              <a:rPr lang="en-US" sz="1650" b="1" dirty="0">
                <a:solidFill>
                  <a:schemeClr val="tx1"/>
                </a:solidFill>
                <a:latin typeface="+mn-lt"/>
                <a:ea typeface="ＭＳ Ｐゴシック" charset="0"/>
                <a:cs typeface="ＭＳ Ｐゴシック" charset="0"/>
              </a:rPr>
              <a:t>Allocation </a:t>
            </a:r>
            <a:r>
              <a:rPr lang="en-US" sz="1650" b="1" dirty="0" smtClean="0">
                <a:solidFill>
                  <a:schemeClr val="tx1"/>
                </a:solidFill>
                <a:latin typeface="+mn-lt"/>
                <a:ea typeface="ＭＳ Ｐゴシック" charset="0"/>
                <a:cs typeface="ＭＳ Ｐゴシック" charset="0"/>
              </a:rPr>
              <a:t>process and queueing models</a:t>
            </a:r>
          </a:p>
          <a:p>
            <a:pPr marL="21034" lvl="1" indent="0" fontAlgn="base">
              <a:spcBef>
                <a:spcPct val="0"/>
              </a:spcBef>
              <a:spcAft>
                <a:spcPts val="600"/>
              </a:spcAft>
              <a:buNone/>
            </a:pPr>
            <a:r>
              <a:rPr lang="en-US" sz="1650" dirty="0">
                <a:solidFill>
                  <a:schemeClr val="tx1"/>
                </a:solidFill>
                <a:latin typeface="+mn-lt"/>
                <a:ea typeface="ＭＳ Ｐゴシック" charset="0"/>
                <a:cs typeface="ＭＳ Ｐゴシック" charset="0"/>
              </a:rPr>
              <a:t>	</a:t>
            </a:r>
            <a:r>
              <a:rPr lang="en-US" sz="1650" dirty="0" err="1" smtClean="0">
                <a:solidFill>
                  <a:schemeClr val="tx1"/>
                </a:solidFill>
                <a:latin typeface="+mn-lt"/>
                <a:ea typeface="ＭＳ Ｐゴシック" charset="0"/>
                <a:cs typeface="ＭＳ Ｐゴシック" charset="0"/>
              </a:rPr>
              <a:t>Zenios</a:t>
            </a:r>
            <a:r>
              <a:rPr lang="en-US" sz="1650" dirty="0" smtClean="0">
                <a:solidFill>
                  <a:schemeClr val="tx1"/>
                </a:solidFill>
                <a:latin typeface="+mn-lt"/>
                <a:ea typeface="ＭＳ Ｐゴシック" charset="0"/>
                <a:cs typeface="ＭＳ Ｐゴシック" charset="0"/>
              </a:rPr>
              <a:t> </a:t>
            </a:r>
            <a:r>
              <a:rPr lang="en-US" sz="1650" dirty="0">
                <a:solidFill>
                  <a:schemeClr val="tx1"/>
                </a:solidFill>
                <a:latin typeface="+mn-lt"/>
                <a:ea typeface="ＭＳ Ｐゴシック" charset="0"/>
                <a:cs typeface="ＭＳ Ｐゴシック" charset="0"/>
              </a:rPr>
              <a:t>et al. (2000), Su and </a:t>
            </a:r>
            <a:r>
              <a:rPr lang="en-US" sz="1650" dirty="0" err="1">
                <a:solidFill>
                  <a:schemeClr val="tx1"/>
                </a:solidFill>
                <a:latin typeface="+mn-lt"/>
                <a:ea typeface="ＭＳ Ｐゴシック" charset="0"/>
                <a:cs typeface="ＭＳ Ｐゴシック" charset="0"/>
              </a:rPr>
              <a:t>Zenios</a:t>
            </a:r>
            <a:r>
              <a:rPr lang="en-US" sz="1650" dirty="0">
                <a:solidFill>
                  <a:schemeClr val="tx1"/>
                </a:solidFill>
                <a:latin typeface="+mn-lt"/>
                <a:ea typeface="ＭＳ Ｐゴシック" charset="0"/>
                <a:cs typeface="ＭＳ Ｐゴシック" charset="0"/>
              </a:rPr>
              <a:t> (2004), </a:t>
            </a:r>
            <a:r>
              <a:rPr lang="en-US" sz="1650" dirty="0" smtClean="0">
                <a:solidFill>
                  <a:schemeClr val="tx1"/>
                </a:solidFill>
                <a:latin typeface="+mn-lt"/>
                <a:ea typeface="ＭＳ Ｐゴシック" charset="0"/>
                <a:cs typeface="ＭＳ Ｐゴシック" charset="0"/>
              </a:rPr>
              <a:t>Su </a:t>
            </a:r>
            <a:r>
              <a:rPr lang="en-US" sz="1650" dirty="0">
                <a:solidFill>
                  <a:schemeClr val="tx1"/>
                </a:solidFill>
                <a:latin typeface="+mn-lt"/>
                <a:ea typeface="ＭＳ Ｐゴシック" charset="0"/>
                <a:cs typeface="ＭＳ Ｐゴシック" charset="0"/>
              </a:rPr>
              <a:t>and </a:t>
            </a:r>
            <a:r>
              <a:rPr lang="en-US" sz="1650" dirty="0" err="1">
                <a:solidFill>
                  <a:schemeClr val="tx1"/>
                </a:solidFill>
                <a:latin typeface="+mn-lt"/>
                <a:ea typeface="ＭＳ Ｐゴシック" charset="0"/>
                <a:cs typeface="ＭＳ Ｐゴシック" charset="0"/>
              </a:rPr>
              <a:t>Zenios</a:t>
            </a:r>
            <a:r>
              <a:rPr lang="en-US" sz="1650" dirty="0">
                <a:solidFill>
                  <a:schemeClr val="tx1"/>
                </a:solidFill>
                <a:latin typeface="+mn-lt"/>
                <a:ea typeface="ＭＳ Ｐゴシック" charset="0"/>
                <a:cs typeface="ＭＳ Ｐゴシック" charset="0"/>
              </a:rPr>
              <a:t> (2005), </a:t>
            </a:r>
            <a:r>
              <a:rPr lang="en-US" sz="1650" dirty="0" smtClean="0">
                <a:solidFill>
                  <a:schemeClr val="tx1"/>
                </a:solidFill>
                <a:latin typeface="+mn-lt"/>
                <a:ea typeface="ＭＳ Ｐゴシック" charset="0"/>
                <a:cs typeface="ＭＳ Ｐゴシック" charset="0"/>
              </a:rPr>
              <a:t> Su </a:t>
            </a:r>
            <a:r>
              <a:rPr lang="en-US" sz="1650" dirty="0">
                <a:solidFill>
                  <a:schemeClr val="tx1"/>
                </a:solidFill>
                <a:latin typeface="+mn-lt"/>
                <a:ea typeface="ＭＳ Ｐゴシック" charset="0"/>
                <a:cs typeface="ＭＳ Ｐゴシック" charset="0"/>
              </a:rPr>
              <a:t>and </a:t>
            </a:r>
            <a:r>
              <a:rPr lang="en-US" sz="1650" dirty="0" err="1">
                <a:solidFill>
                  <a:schemeClr val="tx1"/>
                </a:solidFill>
                <a:latin typeface="+mn-lt"/>
                <a:ea typeface="ＭＳ Ｐゴシック" charset="0"/>
                <a:cs typeface="ＭＳ Ｐゴシック" charset="0"/>
              </a:rPr>
              <a:t>Zenios</a:t>
            </a:r>
            <a:r>
              <a:rPr lang="en-US" sz="1650" dirty="0">
                <a:solidFill>
                  <a:schemeClr val="tx1"/>
                </a:solidFill>
                <a:latin typeface="+mn-lt"/>
                <a:ea typeface="ＭＳ Ｐゴシック" charset="0"/>
                <a:cs typeface="ＭＳ Ｐゴシック" charset="0"/>
              </a:rPr>
              <a:t> (2006</a:t>
            </a:r>
            <a:r>
              <a:rPr lang="en-US" sz="1650" dirty="0" smtClean="0">
                <a:solidFill>
                  <a:schemeClr val="tx1"/>
                </a:solidFill>
                <a:latin typeface="+mn-lt"/>
                <a:ea typeface="ＭＳ Ｐゴシック" charset="0"/>
                <a:cs typeface="ＭＳ Ｐゴシック" charset="0"/>
              </a:rPr>
              <a:t>)</a:t>
            </a:r>
          </a:p>
          <a:p>
            <a:pPr marL="21034" lvl="1" indent="0" fontAlgn="base">
              <a:spcBef>
                <a:spcPct val="0"/>
              </a:spcBef>
              <a:spcAft>
                <a:spcPts val="600"/>
              </a:spcAft>
              <a:buNone/>
            </a:pPr>
            <a:endParaRPr lang="en-US" sz="1650" dirty="0">
              <a:solidFill>
                <a:schemeClr val="tx1"/>
              </a:solidFill>
              <a:ea typeface="ＭＳ Ｐゴシック" charset="0"/>
              <a:cs typeface="ＭＳ Ｐゴシック" charset="0"/>
            </a:endParaRPr>
          </a:p>
          <a:p>
            <a:pPr marL="21034" lvl="1" indent="0">
              <a:spcBef>
                <a:spcPct val="0"/>
              </a:spcBef>
              <a:spcAft>
                <a:spcPts val="600"/>
              </a:spcAft>
              <a:buNone/>
            </a:pPr>
            <a:r>
              <a:rPr lang="en-US" sz="1650" b="1" dirty="0">
                <a:solidFill>
                  <a:schemeClr val="tx1"/>
                </a:solidFill>
                <a:ea typeface="ＭＳ Ｐゴシック" charset="0"/>
                <a:cs typeface="ＭＳ Ｐゴシック" charset="0"/>
              </a:rPr>
              <a:t>Simulation</a:t>
            </a:r>
            <a:r>
              <a:rPr lang="en-US" sz="1650" dirty="0">
                <a:solidFill>
                  <a:schemeClr val="tx1"/>
                </a:solidFill>
                <a:ea typeface="ＭＳ Ｐゴシック" charset="0"/>
                <a:cs typeface="ＭＳ Ｐゴシック" charset="0"/>
              </a:rPr>
              <a:t/>
            </a:r>
            <a:br>
              <a:rPr lang="en-US" sz="1650" dirty="0">
                <a:solidFill>
                  <a:schemeClr val="tx1"/>
                </a:solidFill>
                <a:ea typeface="ＭＳ Ｐゴシック" charset="0"/>
                <a:cs typeface="ＭＳ Ｐゴシック" charset="0"/>
              </a:rPr>
            </a:br>
            <a:r>
              <a:rPr lang="en-US" sz="1650" dirty="0">
                <a:solidFill>
                  <a:schemeClr val="tx1"/>
                </a:solidFill>
                <a:ea typeface="ＭＳ Ｐゴシック" charset="0"/>
                <a:cs typeface="ＭＳ Ｐゴシック" charset="0"/>
              </a:rPr>
              <a:t>	 Ruth et al. (1985</a:t>
            </a:r>
            <a:r>
              <a:rPr lang="en-US" sz="1650" dirty="0" smtClean="0">
                <a:solidFill>
                  <a:schemeClr val="tx1"/>
                </a:solidFill>
                <a:ea typeface="ＭＳ Ｐゴシック" charset="0"/>
                <a:cs typeface="ＭＳ Ｐゴシック" charset="0"/>
              </a:rPr>
              <a:t>)</a:t>
            </a:r>
            <a:endParaRPr lang="en-US" sz="1650" dirty="0" smtClean="0">
              <a:solidFill>
                <a:schemeClr val="tx1"/>
              </a:solidFill>
              <a:latin typeface="+mn-lt"/>
              <a:ea typeface="ＭＳ Ｐゴシック" charset="0"/>
              <a:cs typeface="ＭＳ Ｐゴシック" charset="0"/>
            </a:endParaRPr>
          </a:p>
          <a:p>
            <a:pPr marL="117475" lvl="1" fontAlgn="base">
              <a:spcBef>
                <a:spcPct val="0"/>
              </a:spcBef>
              <a:spcAft>
                <a:spcPts val="600"/>
              </a:spcAft>
            </a:pPr>
            <a:endParaRPr lang="en-US" sz="1650" dirty="0">
              <a:solidFill>
                <a:schemeClr val="tx1"/>
              </a:solidFill>
              <a:latin typeface="+mn-lt"/>
              <a:ea typeface="ＭＳ Ｐゴシック" charset="0"/>
              <a:cs typeface="ＭＳ Ｐゴシック" charset="0"/>
            </a:endParaRPr>
          </a:p>
          <a:p>
            <a:pPr marL="21034" lvl="1" indent="0" fontAlgn="base">
              <a:spcBef>
                <a:spcPct val="0"/>
              </a:spcBef>
              <a:spcAft>
                <a:spcPts val="600"/>
              </a:spcAft>
              <a:buNone/>
            </a:pPr>
            <a:r>
              <a:rPr lang="en-US" sz="1650" b="1" dirty="0">
                <a:solidFill>
                  <a:schemeClr val="tx1"/>
                </a:solidFill>
                <a:latin typeface="+mn-lt"/>
                <a:ea typeface="ＭＳ Ｐゴシック" charset="0"/>
                <a:cs typeface="ＭＳ Ｐゴシック" charset="0"/>
              </a:rPr>
              <a:t>Regional </a:t>
            </a:r>
            <a:r>
              <a:rPr lang="en-US" sz="1650" b="1" dirty="0" smtClean="0">
                <a:solidFill>
                  <a:schemeClr val="tx1"/>
                </a:solidFill>
                <a:latin typeface="+mn-lt"/>
                <a:ea typeface="ＭＳ Ｐゴシック" charset="0"/>
                <a:cs typeface="ＭＳ Ｐゴシック" charset="0"/>
              </a:rPr>
              <a:t>variations</a:t>
            </a:r>
          </a:p>
          <a:p>
            <a:pPr marL="21034" lvl="1" indent="0" fontAlgn="base">
              <a:spcBef>
                <a:spcPct val="0"/>
              </a:spcBef>
              <a:spcAft>
                <a:spcPts val="600"/>
              </a:spcAft>
              <a:buNone/>
            </a:pPr>
            <a:r>
              <a:rPr lang="en-US" sz="1650" dirty="0">
                <a:solidFill>
                  <a:schemeClr val="tx1"/>
                </a:solidFill>
                <a:latin typeface="+mn-lt"/>
                <a:ea typeface="ＭＳ Ｐゴシック" charset="0"/>
                <a:cs typeface="ＭＳ Ｐゴシック" charset="0"/>
              </a:rPr>
              <a:t>	</a:t>
            </a:r>
            <a:r>
              <a:rPr lang="en-US" sz="1650" dirty="0" smtClean="0">
                <a:solidFill>
                  <a:schemeClr val="tx1"/>
                </a:solidFill>
                <a:latin typeface="+mn-lt"/>
                <a:ea typeface="ＭＳ Ｐゴシック" charset="0"/>
                <a:cs typeface="ＭＳ Ｐゴシック" charset="0"/>
              </a:rPr>
              <a:t>Bertsimas </a:t>
            </a:r>
            <a:r>
              <a:rPr lang="en-US" sz="1650" dirty="0">
                <a:solidFill>
                  <a:schemeClr val="tx1"/>
                </a:solidFill>
                <a:latin typeface="+mn-lt"/>
                <a:ea typeface="ＭＳ Ｐゴシック" charset="0"/>
                <a:cs typeface="ＭＳ Ｐゴシック" charset="0"/>
              </a:rPr>
              <a:t>et al. (2013), Koizumi et al. (2015) </a:t>
            </a:r>
          </a:p>
          <a:p>
            <a:pPr marL="117475" lvl="1" fontAlgn="base">
              <a:spcBef>
                <a:spcPct val="0"/>
              </a:spcBef>
              <a:spcAft>
                <a:spcPts val="600"/>
              </a:spcAft>
            </a:pPr>
            <a:endParaRPr lang="en-US" sz="1650" dirty="0" smtClean="0">
              <a:solidFill>
                <a:schemeClr val="tx1"/>
              </a:solidFill>
              <a:latin typeface="+mn-lt"/>
              <a:ea typeface="ＭＳ Ｐゴシック" charset="0"/>
              <a:cs typeface="ＭＳ Ｐゴシック" charset="0"/>
            </a:endParaRPr>
          </a:p>
        </p:txBody>
      </p:sp>
      <p:sp>
        <p:nvSpPr>
          <p:cNvPr id="4" name="Slide Number Placeholder 3"/>
          <p:cNvSpPr>
            <a:spLocks noGrp="1"/>
          </p:cNvSpPr>
          <p:nvPr>
            <p:ph type="sldNum" sz="quarter" idx="4294967295"/>
          </p:nvPr>
        </p:nvSpPr>
        <p:spPr>
          <a:xfrm>
            <a:off x="0" y="4760913"/>
            <a:ext cx="2057400" cy="274637"/>
          </a:xfrm>
          <a:prstGeom prst="rect">
            <a:avLst/>
          </a:prstGeom>
        </p:spPr>
        <p:txBody>
          <a:bodyPr/>
          <a:lstStyle/>
          <a:p>
            <a:fld id="{69E57DC2-970A-4B3E-BB1C-7A09969E49DF}" type="slidenum">
              <a:rPr lang="en-US" smtClean="0"/>
              <a:pPr/>
              <a:t>6</a:t>
            </a:fld>
            <a:endParaRPr lang="en-US" dirty="0"/>
          </a:p>
        </p:txBody>
      </p:sp>
    </p:spTree>
    <p:extLst>
      <p:ext uri="{BB962C8B-B14F-4D97-AF65-F5344CB8AC3E}">
        <p14:creationId xmlns:p14="http://schemas.microsoft.com/office/powerpoint/2010/main" val="1454893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xmlns:p14="http://schemas.microsoft.com/office/powerpoint/2010/main">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2400" dirty="0" smtClean="0">
                <a:solidFill>
                  <a:schemeClr val="accent1">
                    <a:lumMod val="75000"/>
                  </a:schemeClr>
                </a:solidFill>
                <a:latin typeface="+mj-lt"/>
              </a:rPr>
              <a:t>Method and Questions</a:t>
            </a:r>
            <a:endParaRPr lang="en-US" sz="2400" dirty="0">
              <a:solidFill>
                <a:schemeClr val="accent1">
                  <a:lumMod val="75000"/>
                </a:schemeClr>
              </a:solidFill>
              <a:latin typeface="+mj-lt"/>
            </a:endParaRPr>
          </a:p>
        </p:txBody>
      </p:sp>
      <p:sp>
        <p:nvSpPr>
          <p:cNvPr id="3" name="Text Placeholder 2"/>
          <p:cNvSpPr>
            <a:spLocks noGrp="1"/>
          </p:cNvSpPr>
          <p:nvPr>
            <p:ph idx="1"/>
          </p:nvPr>
        </p:nvSpPr>
        <p:spPr/>
        <p:txBody>
          <a:bodyPr>
            <a:normAutofit/>
          </a:bodyPr>
          <a:lstStyle/>
          <a:p>
            <a:pPr marL="21034" lvl="1" indent="0" fontAlgn="base">
              <a:spcBef>
                <a:spcPct val="0"/>
              </a:spcBef>
              <a:spcAft>
                <a:spcPts val="600"/>
              </a:spcAft>
              <a:buNone/>
            </a:pPr>
            <a:r>
              <a:rPr lang="en-US" sz="1800" b="1" dirty="0" smtClean="0">
                <a:solidFill>
                  <a:schemeClr val="tx1"/>
                </a:solidFill>
                <a:latin typeface="+mn-lt"/>
              </a:rPr>
              <a:t>Simulation optimization model </a:t>
            </a:r>
            <a:r>
              <a:rPr lang="en-US" sz="1800" dirty="0" smtClean="0">
                <a:solidFill>
                  <a:schemeClr val="tx1"/>
                </a:solidFill>
                <a:latin typeface="+mn-lt"/>
              </a:rPr>
              <a:t>to evaluate the impact of information sharing on organ transplantation.</a:t>
            </a:r>
          </a:p>
          <a:p>
            <a:pPr marL="117475" lvl="1" fontAlgn="base">
              <a:spcBef>
                <a:spcPct val="0"/>
              </a:spcBef>
              <a:spcAft>
                <a:spcPts val="600"/>
              </a:spcAft>
            </a:pPr>
            <a:endParaRPr lang="en-US" sz="1750" dirty="0">
              <a:solidFill>
                <a:schemeClr val="tx1"/>
              </a:solidFill>
              <a:latin typeface="+mn-lt"/>
              <a:ea typeface="ＭＳ Ｐゴシック" charset="0"/>
              <a:cs typeface="ＭＳ Ｐゴシック" charset="0"/>
            </a:endParaRPr>
          </a:p>
          <a:p>
            <a:pPr marL="460375" lvl="1" indent="-342900" fontAlgn="base">
              <a:spcBef>
                <a:spcPct val="0"/>
              </a:spcBef>
              <a:spcAft>
                <a:spcPts val="600"/>
              </a:spcAft>
              <a:buFont typeface="+mj-lt"/>
              <a:buAutoNum type="arabicPeriod"/>
            </a:pPr>
            <a:r>
              <a:rPr lang="en-US" sz="1750" dirty="0" smtClean="0">
                <a:solidFill>
                  <a:schemeClr val="tx1"/>
                </a:solidFill>
                <a:latin typeface="+mn-lt"/>
                <a:ea typeface="ＭＳ Ｐゴシック" charset="0"/>
                <a:cs typeface="ＭＳ Ｐゴシック" charset="0"/>
              </a:rPr>
              <a:t>Information sharing from OPTN to patient and surgeon.</a:t>
            </a:r>
          </a:p>
          <a:p>
            <a:pPr marL="803275" lvl="2" indent="-342900" fontAlgn="base">
              <a:spcBef>
                <a:spcPct val="0"/>
              </a:spcBef>
              <a:spcAft>
                <a:spcPts val="600"/>
              </a:spcAft>
              <a:buFont typeface="Arial" panose="020B0604020202020204" pitchFamily="34" charset="0"/>
              <a:buChar char="•"/>
            </a:pPr>
            <a:r>
              <a:rPr lang="en-US" sz="1450" dirty="0" smtClean="0">
                <a:solidFill>
                  <a:schemeClr val="tx1"/>
                </a:solidFill>
                <a:latin typeface="+mn-lt"/>
                <a:ea typeface="ＭＳ Ｐゴシック" charset="0"/>
                <a:cs typeface="ＭＳ Ｐゴシック" charset="0"/>
              </a:rPr>
              <a:t>What </a:t>
            </a:r>
            <a:r>
              <a:rPr lang="en-US" sz="1450" dirty="0">
                <a:solidFill>
                  <a:schemeClr val="tx1"/>
                </a:solidFill>
                <a:latin typeface="+mn-lt"/>
                <a:ea typeface="ＭＳ Ｐゴシック" charset="0"/>
                <a:cs typeface="ＭＳ Ｐゴシック" charset="0"/>
              </a:rPr>
              <a:t>is the optimal </a:t>
            </a:r>
            <a:r>
              <a:rPr lang="en-US" sz="1450" b="1" dirty="0">
                <a:solidFill>
                  <a:srgbClr val="FF0000"/>
                </a:solidFill>
                <a:latin typeface="+mn-lt"/>
                <a:ea typeface="ＭＳ Ｐゴシック" charset="0"/>
                <a:cs typeface="ＭＳ Ｐゴシック" charset="0"/>
              </a:rPr>
              <a:t>kidney acceptance policy </a:t>
            </a:r>
            <a:r>
              <a:rPr lang="en-US" sz="1450" dirty="0">
                <a:solidFill>
                  <a:schemeClr val="tx1"/>
                </a:solidFill>
                <a:latin typeface="+mn-lt"/>
                <a:ea typeface="ＭＳ Ｐゴシック" charset="0"/>
                <a:cs typeface="ＭＳ Ｐゴシック" charset="0"/>
              </a:rPr>
              <a:t>depending on region</a:t>
            </a:r>
            <a:r>
              <a:rPr lang="en-US" sz="1450" dirty="0" smtClean="0">
                <a:solidFill>
                  <a:schemeClr val="tx1"/>
                </a:solidFill>
                <a:latin typeface="+mn-lt"/>
                <a:ea typeface="ＭＳ Ｐゴシック" charset="0"/>
                <a:cs typeface="ＭＳ Ｐゴシック" charset="0"/>
              </a:rPr>
              <a:t>?</a:t>
            </a:r>
            <a:endParaRPr lang="en-US" sz="1600" dirty="0" smtClean="0">
              <a:solidFill>
                <a:schemeClr val="tx1"/>
              </a:solidFill>
              <a:latin typeface="+mn-lt"/>
              <a:ea typeface="ＭＳ Ｐゴシック" charset="0"/>
              <a:cs typeface="ＭＳ Ｐゴシック" charset="0"/>
            </a:endParaRPr>
          </a:p>
          <a:p>
            <a:pPr marL="803275" lvl="2" indent="-342900" fontAlgn="base">
              <a:spcBef>
                <a:spcPct val="0"/>
              </a:spcBef>
              <a:spcAft>
                <a:spcPts val="600"/>
              </a:spcAft>
              <a:buFont typeface="Arial" panose="020B0604020202020204" pitchFamily="34" charset="0"/>
              <a:buChar char="•"/>
            </a:pPr>
            <a:r>
              <a:rPr lang="en-US" sz="1600" dirty="0" smtClean="0">
                <a:solidFill>
                  <a:schemeClr val="tx1"/>
                </a:solidFill>
                <a:latin typeface="+mn-lt"/>
                <a:ea typeface="ＭＳ Ｐゴシック" charset="0"/>
                <a:cs typeface="ＭＳ Ｐゴシック" charset="0"/>
              </a:rPr>
              <a:t>How to find the optimal </a:t>
            </a:r>
            <a:r>
              <a:rPr lang="en-US" sz="1600" b="1" dirty="0" smtClean="0">
                <a:solidFill>
                  <a:srgbClr val="FF0000"/>
                </a:solidFill>
                <a:latin typeface="+mn-lt"/>
                <a:ea typeface="ＭＳ Ｐゴシック" charset="0"/>
                <a:cs typeface="ＭＳ Ｐゴシック" charset="0"/>
              </a:rPr>
              <a:t>region selection policy </a:t>
            </a:r>
            <a:r>
              <a:rPr lang="en-US" sz="1600" dirty="0" smtClean="0">
                <a:solidFill>
                  <a:schemeClr val="tx1"/>
                </a:solidFill>
                <a:latin typeface="+mn-lt"/>
                <a:ea typeface="ＭＳ Ｐゴシック" charset="0"/>
                <a:cs typeface="ＭＳ Ｐゴシック" charset="0"/>
              </a:rPr>
              <a:t>under a set of budget, distance and performance constraints? </a:t>
            </a:r>
            <a:endParaRPr lang="en-US" sz="1650" dirty="0" smtClean="0">
              <a:solidFill>
                <a:schemeClr val="tx1"/>
              </a:solidFill>
              <a:latin typeface="+mn-lt"/>
              <a:ea typeface="ＭＳ Ｐゴシック" charset="0"/>
              <a:cs typeface="ＭＳ Ｐゴシック" charset="0"/>
            </a:endParaRPr>
          </a:p>
          <a:p>
            <a:pPr marL="460375" lvl="1" indent="-342900" fontAlgn="base">
              <a:spcBef>
                <a:spcPct val="0"/>
              </a:spcBef>
              <a:spcAft>
                <a:spcPts val="600"/>
              </a:spcAft>
              <a:buFont typeface="+mj-lt"/>
              <a:buAutoNum type="arabicPeriod"/>
            </a:pPr>
            <a:endParaRPr lang="en-US" sz="1800" dirty="0" smtClean="0">
              <a:solidFill>
                <a:schemeClr val="tx1"/>
              </a:solidFill>
              <a:latin typeface="+mn-lt"/>
              <a:ea typeface="ＭＳ Ｐゴシック" charset="0"/>
              <a:cs typeface="ＭＳ Ｐゴシック" charset="0"/>
            </a:endParaRPr>
          </a:p>
          <a:p>
            <a:pPr marL="460375" lvl="1" indent="-342900" fontAlgn="base">
              <a:spcBef>
                <a:spcPct val="0"/>
              </a:spcBef>
              <a:spcAft>
                <a:spcPts val="600"/>
              </a:spcAft>
              <a:buFont typeface="+mj-lt"/>
              <a:buAutoNum type="arabicPeriod"/>
            </a:pPr>
            <a:r>
              <a:rPr lang="en-US" sz="1800" dirty="0" smtClean="0">
                <a:solidFill>
                  <a:schemeClr val="tx1"/>
                </a:solidFill>
                <a:latin typeface="+mn-lt"/>
                <a:ea typeface="ＭＳ Ｐゴシック" charset="0"/>
                <a:cs typeface="ＭＳ Ｐゴシック" charset="0"/>
              </a:rPr>
              <a:t>Information sharing from patient/surgeon with OPTN</a:t>
            </a:r>
          </a:p>
          <a:p>
            <a:pPr marL="803275" lvl="2" indent="-342900" fontAlgn="base">
              <a:spcBef>
                <a:spcPct val="0"/>
              </a:spcBef>
              <a:spcAft>
                <a:spcPts val="600"/>
              </a:spcAft>
              <a:buFont typeface="Arial" panose="020B0604020202020204" pitchFamily="34" charset="0"/>
              <a:buChar char="•"/>
            </a:pPr>
            <a:r>
              <a:rPr lang="en-US" sz="1650" dirty="0" smtClean="0">
                <a:solidFill>
                  <a:schemeClr val="tx1"/>
                </a:solidFill>
                <a:latin typeface="+mn-lt"/>
                <a:ea typeface="ＭＳ Ｐゴシック" charset="0"/>
                <a:cs typeface="ＭＳ Ｐゴシック" charset="0"/>
              </a:rPr>
              <a:t>How  does </a:t>
            </a:r>
            <a:r>
              <a:rPr lang="en-US" sz="1650" b="1" dirty="0" smtClean="0">
                <a:solidFill>
                  <a:srgbClr val="FF0000"/>
                </a:solidFill>
                <a:latin typeface="+mn-lt"/>
                <a:ea typeface="ＭＳ Ｐゴシック" charset="0"/>
                <a:cs typeface="ＭＳ Ｐゴシック" charset="0"/>
              </a:rPr>
              <a:t>information sharing  </a:t>
            </a:r>
            <a:r>
              <a:rPr lang="en-US" sz="1650" dirty="0" smtClean="0">
                <a:solidFill>
                  <a:schemeClr val="tx1"/>
                </a:solidFill>
                <a:latin typeface="+mn-lt"/>
                <a:ea typeface="ＭＳ Ｐゴシック" charset="0"/>
                <a:cs typeface="ＭＳ Ｐゴシック" charset="0"/>
              </a:rPr>
              <a:t>improve the efficiency of the kidney allocation system  and enhance social welfare utility?</a:t>
            </a:r>
          </a:p>
        </p:txBody>
      </p:sp>
      <p:sp>
        <p:nvSpPr>
          <p:cNvPr id="4" name="Slide Number Placeholder 3"/>
          <p:cNvSpPr>
            <a:spLocks noGrp="1"/>
          </p:cNvSpPr>
          <p:nvPr>
            <p:ph type="sldNum" sz="quarter" idx="4294967295"/>
          </p:nvPr>
        </p:nvSpPr>
        <p:spPr>
          <a:xfrm>
            <a:off x="0" y="4760913"/>
            <a:ext cx="2057400" cy="274637"/>
          </a:xfrm>
          <a:prstGeom prst="rect">
            <a:avLst/>
          </a:prstGeom>
        </p:spPr>
        <p:txBody>
          <a:bodyPr/>
          <a:lstStyle/>
          <a:p>
            <a:fld id="{69E57DC2-970A-4B3E-BB1C-7A09969E49DF}" type="slidenum">
              <a:rPr lang="en-US" smtClean="0"/>
              <a:pPr/>
              <a:t>7</a:t>
            </a:fld>
            <a:endParaRPr lang="en-US" dirty="0"/>
          </a:p>
        </p:txBody>
      </p:sp>
    </p:spTree>
    <p:extLst>
      <p:ext uri="{BB962C8B-B14F-4D97-AF65-F5344CB8AC3E}">
        <p14:creationId xmlns:p14="http://schemas.microsoft.com/office/powerpoint/2010/main" val="25965758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xmlns:p14="http://schemas.microsoft.com/office/powerpoint/2010/main">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240651" y="567680"/>
            <a:ext cx="2683119" cy="221079"/>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Cambria Math" panose="02040503050406030204" pitchFamily="18" charset="0"/>
              </a:rPr>
              <a:t>Patient enrollment and arrival</a:t>
            </a:r>
          </a:p>
        </p:txBody>
      </p:sp>
      <p:sp>
        <p:nvSpPr>
          <p:cNvPr id="5" name="Rounded Rectangle 4"/>
          <p:cNvSpPr/>
          <p:nvPr/>
        </p:nvSpPr>
        <p:spPr>
          <a:xfrm>
            <a:off x="3054507" y="571364"/>
            <a:ext cx="2240756" cy="226774"/>
          </a:xfrm>
          <a:prstGeom prst="roundRect">
            <a:avLst/>
          </a:prstGeom>
          <a:solidFill>
            <a:schemeClr val="bg1">
              <a:lumMod val="85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Cambria Math" panose="02040503050406030204" pitchFamily="18" charset="0"/>
              </a:rPr>
              <a:t>R</a:t>
            </a:r>
            <a:r>
              <a:rPr lang="en-US" sz="1400" b="1" dirty="0" smtClean="0">
                <a:solidFill>
                  <a:schemeClr val="tx1"/>
                </a:solidFill>
                <a:latin typeface="Cambria Math" panose="02040503050406030204" pitchFamily="18" charset="0"/>
              </a:rPr>
              <a:t>egional waiting list</a:t>
            </a:r>
            <a:endParaRPr lang="en-US" sz="1400" b="1" dirty="0">
              <a:solidFill>
                <a:schemeClr val="tx1"/>
              </a:solidFill>
              <a:latin typeface="Cambria Math" panose="02040503050406030204" pitchFamily="18" charset="0"/>
            </a:endParaRPr>
          </a:p>
        </p:txBody>
      </p:sp>
      <p:sp>
        <p:nvSpPr>
          <p:cNvPr id="6" name="Rounded Rectangle 5"/>
          <p:cNvSpPr/>
          <p:nvPr/>
        </p:nvSpPr>
        <p:spPr>
          <a:xfrm>
            <a:off x="5444500" y="557880"/>
            <a:ext cx="3264902" cy="261277"/>
          </a:xfrm>
          <a:prstGeom prst="roundRect">
            <a:avLst/>
          </a:prstGeom>
          <a:solidFill>
            <a:srgbClr val="FFCCCC"/>
          </a:solidFill>
          <a:ln>
            <a:solidFill>
              <a:srgbClr val="D602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Cambria Math" panose="02040503050406030204" pitchFamily="18" charset="0"/>
              </a:rPr>
              <a:t>Kidney allocation and acceptance</a:t>
            </a:r>
          </a:p>
        </p:txBody>
      </p:sp>
      <mc:AlternateContent xmlns:mc="http://schemas.openxmlformats.org/markup-compatibility/2006" xmlns:a14="http://schemas.microsoft.com/office/drawing/2010/main">
        <mc:Choice Requires="a14">
          <p:sp>
            <p:nvSpPr>
              <p:cNvPr id="7" name="Rectangle 6"/>
              <p:cNvSpPr/>
              <p:nvPr/>
            </p:nvSpPr>
            <p:spPr>
              <a:xfrm>
                <a:off x="240650" y="810006"/>
                <a:ext cx="2658077" cy="1427995"/>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smtClean="0">
                    <a:solidFill>
                      <a:schemeClr val="tx1"/>
                    </a:solidFill>
                    <a:latin typeface="Cambria Math" panose="02040503050406030204" pitchFamily="18" charset="0"/>
                  </a:rPr>
                  <a:t>Patient arrival rate: </a:t>
                </a:r>
                <a14:m>
                  <m:oMath xmlns:m="http://schemas.openxmlformats.org/officeDocument/2006/math">
                    <m:r>
                      <a:rPr lang="en-US" sz="1400" b="0" i="1" smtClean="0">
                        <a:solidFill>
                          <a:schemeClr val="tx1"/>
                        </a:solidFill>
                        <a:latin typeface="Cambria Math" panose="02040503050406030204" pitchFamily="18" charset="0"/>
                      </a:rPr>
                      <m:t>𝜆</m:t>
                    </m:r>
                  </m:oMath>
                </a14:m>
                <a:endParaRPr lang="en-US" sz="1400" dirty="0">
                  <a:solidFill>
                    <a:schemeClr val="tx1"/>
                  </a:solidFill>
                  <a:latin typeface="Cambria Math" panose="02040503050406030204" pitchFamily="18" charset="0"/>
                </a:endParaRPr>
              </a:p>
              <a:p>
                <a:pPr algn="ctr"/>
                <a:endParaRPr lang="en-US" sz="1400" b="0" i="1" dirty="0" smtClean="0">
                  <a:solidFill>
                    <a:schemeClr val="tx1"/>
                  </a:solidFill>
                  <a:latin typeface="Cambria Math"/>
                </a:endParaRPr>
              </a:p>
              <a:p>
                <a:pPr algn="ctr"/>
                <a:r>
                  <a:rPr lang="en-US" sz="1400" b="0" dirty="0" smtClean="0">
                    <a:solidFill>
                      <a:schemeClr val="tx1"/>
                    </a:solidFill>
                    <a:latin typeface="Cambria Math" panose="02040503050406030204" pitchFamily="18" charset="0"/>
                    <a:ea typeface="Cambria Math" panose="02040503050406030204" pitchFamily="18" charset="0"/>
                  </a:rPr>
                  <a:t>Health: </a:t>
                </a:r>
                <a14:m>
                  <m:oMath xmlns:m="http://schemas.openxmlformats.org/officeDocument/2006/math">
                    <m:sSub>
                      <m:sSubPr>
                        <m:ctrlPr>
                          <a:rPr lang="en-US" sz="1400" b="0" i="1" smtClean="0">
                            <a:solidFill>
                              <a:schemeClr val="tx1"/>
                            </a:solidFill>
                            <a:latin typeface="Cambria Math"/>
                            <a:ea typeface="Cambria Math" panose="02040503050406030204" pitchFamily="18" charset="0"/>
                          </a:rPr>
                        </m:ctrlPr>
                      </m:sSubPr>
                      <m:e>
                        <m:r>
                          <a:rPr lang="en-US" sz="1400" b="0" i="1" smtClean="0">
                            <a:solidFill>
                              <a:schemeClr val="tx1"/>
                            </a:solidFill>
                            <a:latin typeface="Cambria Math" panose="02040503050406030204" pitchFamily="18" charset="0"/>
                            <a:ea typeface="Cambria Math" panose="02040503050406030204" pitchFamily="18" charset="0"/>
                          </a:rPr>
                          <m:t>𝐻</m:t>
                        </m:r>
                      </m:e>
                      <m:sub>
                        <m:r>
                          <a:rPr lang="en-US" sz="1400" b="0" i="1" smtClean="0">
                            <a:solidFill>
                              <a:schemeClr val="tx1"/>
                            </a:solidFill>
                            <a:latin typeface="Cambria Math" panose="02040503050406030204" pitchFamily="18" charset="0"/>
                            <a:ea typeface="Cambria Math" panose="02040503050406030204" pitchFamily="18" charset="0"/>
                          </a:rPr>
                          <m:t>0</m:t>
                        </m:r>
                      </m:sub>
                    </m:sSub>
                    <m:r>
                      <a:rPr lang="en-US" sz="1400" b="0" i="1" smtClean="0">
                        <a:solidFill>
                          <a:schemeClr val="tx1"/>
                        </a:solidFill>
                        <a:latin typeface="Cambria Math" panose="02040503050406030204" pitchFamily="18" charset="0"/>
                        <a:ea typeface="Cambria Math" panose="02040503050406030204" pitchFamily="18" charset="0"/>
                      </a:rPr>
                      <m:t>~</m:t>
                    </m:r>
                    <m:r>
                      <a:rPr lang="en-US" sz="1400" i="1">
                        <a:solidFill>
                          <a:schemeClr val="tx1"/>
                        </a:solidFill>
                        <a:latin typeface="Cambria Math" panose="02040503050406030204" pitchFamily="18" charset="0"/>
                        <a:ea typeface="Cambria Math" panose="02040503050406030204" pitchFamily="18" charset="0"/>
                      </a:rPr>
                      <m:t>𝑤𝑒𝑖𝑏𝑢𝑙𝑙</m:t>
                    </m:r>
                    <m:d>
                      <m:dPr>
                        <m:ctrlPr>
                          <a:rPr lang="en-US" sz="1400" b="0" i="1" smtClean="0">
                            <a:solidFill>
                              <a:schemeClr val="tx1"/>
                            </a:solidFill>
                            <a:latin typeface="Cambria Math"/>
                            <a:ea typeface="Cambria Math" panose="02040503050406030204" pitchFamily="18" charset="0"/>
                          </a:rPr>
                        </m:ctrlPr>
                      </m:dPr>
                      <m:e>
                        <m:r>
                          <a:rPr lang="en-US" sz="1400" b="0" i="1" smtClean="0">
                            <a:solidFill>
                              <a:schemeClr val="tx1"/>
                            </a:solidFill>
                            <a:latin typeface="Cambria Math" panose="02040503050406030204" pitchFamily="18" charset="0"/>
                            <a:ea typeface="Cambria Math" panose="02040503050406030204" pitchFamily="18" charset="0"/>
                          </a:rPr>
                          <m:t>𝑎</m:t>
                        </m:r>
                        <m:r>
                          <a:rPr lang="en-US" sz="1400" b="0" i="1" smtClean="0">
                            <a:solidFill>
                              <a:schemeClr val="tx1"/>
                            </a:solidFill>
                            <a:latin typeface="Cambria Math" panose="02040503050406030204" pitchFamily="18" charset="0"/>
                            <a:ea typeface="Cambria Math" panose="02040503050406030204" pitchFamily="18" charset="0"/>
                          </a:rPr>
                          <m:t>,</m:t>
                        </m:r>
                        <m:r>
                          <a:rPr lang="en-US" sz="1400" b="0" i="1" smtClean="0">
                            <a:solidFill>
                              <a:schemeClr val="tx1"/>
                            </a:solidFill>
                            <a:latin typeface="Cambria Math" panose="02040503050406030204" pitchFamily="18" charset="0"/>
                            <a:ea typeface="Cambria Math" panose="02040503050406030204" pitchFamily="18" charset="0"/>
                          </a:rPr>
                          <m:t>𝑏</m:t>
                        </m:r>
                      </m:e>
                    </m:d>
                  </m:oMath>
                </a14:m>
                <a:endParaRPr lang="en-US" sz="1400" b="0" i="1" dirty="0" smtClean="0">
                  <a:solidFill>
                    <a:schemeClr val="tx1"/>
                  </a:solidFill>
                  <a:latin typeface="Cambria Math" panose="02040503050406030204" pitchFamily="18" charset="0"/>
                  <a:ea typeface="Cambria Math" panose="02040503050406030204" pitchFamily="18" charset="0"/>
                </a:endParaRPr>
              </a:p>
              <a:p>
                <a:pPr algn="ctr"/>
                <a:r>
                  <a:rPr lang="en-US" sz="1400" dirty="0">
                    <a:solidFill>
                      <a:schemeClr val="tx1"/>
                    </a:solidFill>
                    <a:latin typeface="Cambria Math" panose="02040503050406030204" pitchFamily="18" charset="0"/>
                    <a:ea typeface="Cambria Math" panose="02040503050406030204" pitchFamily="18" charset="0"/>
                  </a:rPr>
                  <a:t>A</a:t>
                </a:r>
                <a:r>
                  <a:rPr lang="en-US" sz="1400" dirty="0" smtClean="0">
                    <a:solidFill>
                      <a:schemeClr val="tx1"/>
                    </a:solidFill>
                    <a:latin typeface="Cambria Math" panose="02040503050406030204" pitchFamily="18" charset="0"/>
                    <a:ea typeface="Cambria Math" panose="02040503050406030204" pitchFamily="18" charset="0"/>
                  </a:rPr>
                  <a:t>cceptance: </a:t>
                </a:r>
                <a14:m>
                  <m:oMath xmlns:m="http://schemas.openxmlformats.org/officeDocument/2006/math">
                    <m:r>
                      <a:rPr lang="en-US" sz="1400" b="0" i="1" smtClean="0">
                        <a:solidFill>
                          <a:schemeClr val="tx1"/>
                        </a:solidFill>
                        <a:latin typeface="Cambria Math" panose="02040503050406030204" pitchFamily="18" charset="0"/>
                        <a:ea typeface="Cambria Math" panose="02040503050406030204" pitchFamily="18" charset="0"/>
                      </a:rPr>
                      <m:t>𝐾</m:t>
                    </m:r>
                    <m:r>
                      <a:rPr lang="en-US" sz="1400" b="0" i="1" smtClean="0">
                        <a:solidFill>
                          <a:schemeClr val="tx1"/>
                        </a:solidFill>
                        <a:latin typeface="Cambria Math" panose="02040503050406030204" pitchFamily="18" charset="0"/>
                        <a:ea typeface="Cambria Math" panose="02040503050406030204" pitchFamily="18" charset="0"/>
                      </a:rPr>
                      <m:t>~</m:t>
                    </m:r>
                    <m:r>
                      <a:rPr lang="en-US" sz="1400" b="0" i="1" smtClean="0">
                        <a:solidFill>
                          <a:schemeClr val="tx1"/>
                        </a:solidFill>
                        <a:latin typeface="Cambria Math" panose="02040503050406030204" pitchFamily="18" charset="0"/>
                        <a:ea typeface="Cambria Math" panose="02040503050406030204" pitchFamily="18" charset="0"/>
                      </a:rPr>
                      <m:t>𝑢𝑛𝑖𝑓</m:t>
                    </m:r>
                    <m:d>
                      <m:dPr>
                        <m:ctrlPr>
                          <a:rPr lang="en-US" sz="1400" b="0" i="1" smtClean="0">
                            <a:solidFill>
                              <a:schemeClr val="tx1"/>
                            </a:solidFill>
                            <a:latin typeface="Cambria Math"/>
                            <a:ea typeface="Cambria Math" panose="02040503050406030204" pitchFamily="18" charset="0"/>
                          </a:rPr>
                        </m:ctrlPr>
                      </m:dPr>
                      <m:e>
                        <m:r>
                          <a:rPr lang="en-US" sz="1400" b="0" i="1" smtClean="0">
                            <a:solidFill>
                              <a:schemeClr val="tx1"/>
                            </a:solidFill>
                            <a:latin typeface="Cambria Math" panose="02040503050406030204" pitchFamily="18" charset="0"/>
                            <a:ea typeface="Cambria Math" panose="02040503050406030204" pitchFamily="18" charset="0"/>
                          </a:rPr>
                          <m:t>0,1</m:t>
                        </m:r>
                      </m:e>
                    </m:d>
                  </m:oMath>
                </a14:m>
                <a:endParaRPr lang="en-US" sz="1400" b="0" dirty="0" smtClean="0">
                  <a:solidFill>
                    <a:schemeClr val="tx1"/>
                  </a:solidFill>
                  <a:latin typeface="Cambria Math" panose="02040503050406030204" pitchFamily="18" charset="0"/>
                  <a:ea typeface="Cambria Math" panose="02040503050406030204" pitchFamily="18" charset="0"/>
                </a:endParaRPr>
              </a:p>
              <a:p>
                <a:pPr algn="ctr"/>
                <a:endParaRPr lang="en-US" dirty="0" smtClean="0">
                  <a:solidFill>
                    <a:schemeClr val="tx1"/>
                  </a:solidFill>
                </a:endParaRPr>
              </a:p>
            </p:txBody>
          </p:sp>
        </mc:Choice>
        <mc:Fallback xmlns="">
          <p:sp>
            <p:nvSpPr>
              <p:cNvPr id="7" name="Rectangle 6"/>
              <p:cNvSpPr>
                <a:spLocks noRot="1" noChangeAspect="1" noMove="1" noResize="1" noEditPoints="1" noAdjustHandles="1" noChangeArrowheads="1" noChangeShapeType="1" noTextEdit="1"/>
              </p:cNvSpPr>
              <p:nvPr/>
            </p:nvSpPr>
            <p:spPr>
              <a:xfrm>
                <a:off x="240650" y="810006"/>
                <a:ext cx="2658077" cy="1427995"/>
              </a:xfrm>
              <a:prstGeom prst="rect">
                <a:avLst/>
              </a:prstGeom>
              <a:blipFill rotWithShape="1">
                <a:blip r:embed="rId3"/>
                <a:stretch>
                  <a:fillRect l="-22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5436752" y="840867"/>
                <a:ext cx="3272650" cy="1522191"/>
              </a:xfrm>
              <a:prstGeom prst="rect">
                <a:avLst/>
              </a:prstGeom>
              <a:solidFill>
                <a:srgbClr val="FFCCCC"/>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smtClean="0">
                    <a:solidFill>
                      <a:schemeClr val="tx1"/>
                    </a:solidFill>
                    <a:latin typeface="Cambria Math" panose="02040503050406030204" pitchFamily="18" charset="0"/>
                  </a:rPr>
                  <a:t>Kidney arrival rate: </a:t>
                </a:r>
                <a14:m>
                  <m:oMath xmlns:m="http://schemas.openxmlformats.org/officeDocument/2006/math">
                    <m:r>
                      <a:rPr lang="en-US" sz="1200">
                        <a:solidFill>
                          <a:schemeClr val="tx1"/>
                        </a:solidFill>
                        <a:latin typeface="Cambria Math" panose="02040503050406030204" pitchFamily="18" charset="0"/>
                      </a:rPr>
                      <m:t>𝜇</m:t>
                    </m:r>
                  </m:oMath>
                </a14:m>
                <a:r>
                  <a:rPr lang="en-US" sz="1200" dirty="0" smtClean="0">
                    <a:solidFill>
                      <a:schemeClr val="tx1"/>
                    </a:solidFill>
                    <a:latin typeface="Cambria Math" panose="02040503050406030204" pitchFamily="18" charset="0"/>
                  </a:rPr>
                  <a:t> with quality </a:t>
                </a:r>
                <a14:m>
                  <m:oMath xmlns:m="http://schemas.openxmlformats.org/officeDocument/2006/math">
                    <m:sSub>
                      <m:sSubPr>
                        <m:ctrlPr>
                          <a:rPr lang="en-US" sz="1200" i="1">
                            <a:solidFill>
                              <a:schemeClr val="tx1"/>
                            </a:solidFill>
                            <a:latin typeface="Cambria Math"/>
                          </a:rPr>
                        </m:ctrlPr>
                      </m:sSubPr>
                      <m:e>
                        <m:r>
                          <a:rPr lang="en-US" sz="1200" i="1">
                            <a:solidFill>
                              <a:schemeClr val="tx1"/>
                            </a:solidFill>
                            <a:latin typeface="Cambria Math"/>
                          </a:rPr>
                          <m:t>𝑞</m:t>
                        </m:r>
                      </m:e>
                      <m:sub>
                        <m:r>
                          <a:rPr lang="en-US" sz="1200" b="0" i="1" smtClean="0">
                            <a:solidFill>
                              <a:schemeClr val="tx1"/>
                            </a:solidFill>
                            <a:latin typeface="Cambria Math"/>
                          </a:rPr>
                          <m:t>𝑡</m:t>
                        </m:r>
                      </m:sub>
                    </m:sSub>
                    <m:r>
                      <a:rPr lang="en-US" sz="1200" b="0" i="1" smtClean="0">
                        <a:solidFill>
                          <a:schemeClr val="tx1"/>
                        </a:solidFill>
                        <a:latin typeface="Cambria Math"/>
                      </a:rPr>
                      <m:t>;</m:t>
                    </m:r>
                  </m:oMath>
                </a14:m>
                <a:r>
                  <a:rPr lang="en-US" sz="1200" dirty="0" smtClean="0">
                    <a:solidFill>
                      <a:schemeClr val="tx1"/>
                    </a:solidFill>
                    <a:latin typeface="Cambria Math" panose="02040503050406030204" pitchFamily="18" charset="0"/>
                  </a:rPr>
                  <a:t> </a:t>
                </a:r>
                <a14:m>
                  <m:oMath xmlns:m="http://schemas.openxmlformats.org/officeDocument/2006/math">
                    <m:r>
                      <a:rPr lang="en-US" sz="1200" b="0" i="1" smtClean="0">
                        <a:solidFill>
                          <a:schemeClr val="tx1"/>
                        </a:solidFill>
                        <a:latin typeface="Cambria Math"/>
                      </a:rPr>
                      <m:t>𝑡</m:t>
                    </m:r>
                    <m:r>
                      <a:rPr lang="en-US" sz="1200" b="0" i="1" smtClean="0">
                        <a:solidFill>
                          <a:schemeClr val="tx1"/>
                        </a:solidFill>
                        <a:latin typeface="Cambria Math"/>
                      </a:rPr>
                      <m:t>=0</m:t>
                    </m:r>
                  </m:oMath>
                </a14:m>
                <a:endParaRPr lang="en-US" sz="1200" dirty="0" smtClean="0">
                  <a:solidFill>
                    <a:schemeClr val="tx1"/>
                  </a:solidFill>
                  <a:latin typeface="Cambria Math" panose="02040503050406030204" pitchFamily="18" charset="0"/>
                </a:endParaRPr>
              </a:p>
              <a:p>
                <a:r>
                  <a:rPr lang="en-US" sz="1200" dirty="0" smtClean="0">
                    <a:solidFill>
                      <a:schemeClr val="tx1"/>
                    </a:solidFill>
                    <a:latin typeface="Cambria Math" panose="02040503050406030204" pitchFamily="18" charset="0"/>
                  </a:rPr>
                  <a:t>Offering </a:t>
                </a:r>
                <a:r>
                  <a:rPr lang="en-US" sz="1200" dirty="0">
                    <a:solidFill>
                      <a:schemeClr val="tx1"/>
                    </a:solidFill>
                    <a:latin typeface="Cambria Math" panose="02040503050406030204" pitchFamily="18" charset="0"/>
                  </a:rPr>
                  <a:t>group size: </a:t>
                </a:r>
                <a:r>
                  <a:rPr lang="en-US" sz="1200" dirty="0" smtClean="0">
                    <a:solidFill>
                      <a:schemeClr val="tx1"/>
                    </a:solidFill>
                    <a:latin typeface="Cambria Math" panose="02040503050406030204" pitchFamily="18" charset="0"/>
                  </a:rPr>
                  <a:t>g / decision </a:t>
                </a:r>
                <a:r>
                  <a:rPr lang="en-US" sz="1200" dirty="0">
                    <a:solidFill>
                      <a:schemeClr val="tx1"/>
                    </a:solidFill>
                    <a:latin typeface="Cambria Math" panose="02040503050406030204" pitchFamily="18" charset="0"/>
                  </a:rPr>
                  <a:t>time: </a:t>
                </a:r>
                <a:r>
                  <a:rPr lang="en-US" sz="1200" dirty="0" smtClean="0">
                    <a:solidFill>
                      <a:schemeClr val="tx1"/>
                    </a:solidFill>
                    <a:latin typeface="Cambria Math" panose="02040503050406030204" pitchFamily="18" charset="0"/>
                  </a:rPr>
                  <a:t>1 hour</a:t>
                </a:r>
                <a:endParaRPr lang="en-US" sz="1200" dirty="0">
                  <a:solidFill>
                    <a:schemeClr val="tx1"/>
                  </a:solidFill>
                  <a:latin typeface="Cambria Math" panose="02040503050406030204" pitchFamily="18" charset="0"/>
                </a:endParaRPr>
              </a:p>
              <a:p>
                <a:endParaRPr lang="en-US" sz="1200" dirty="0" smtClean="0">
                  <a:solidFill>
                    <a:schemeClr val="tx1"/>
                  </a:solidFill>
                  <a:latin typeface="Cambria Math" panose="02040503050406030204" pitchFamily="18" charset="0"/>
                </a:endParaRPr>
              </a:p>
              <a:p>
                <a:r>
                  <a:rPr lang="en-US" sz="1200" dirty="0" smtClean="0">
                    <a:solidFill>
                      <a:schemeClr val="tx1"/>
                    </a:solidFill>
                    <a:latin typeface="Cambria Math" panose="02040503050406030204" pitchFamily="18" charset="0"/>
                  </a:rPr>
                  <a:t>if </a:t>
                </a:r>
                <a:r>
                  <a:rPr lang="en-US" sz="1200" i="1" dirty="0" smtClean="0">
                    <a:solidFill>
                      <a:schemeClr val="tx1"/>
                    </a:solidFill>
                    <a:latin typeface="Cambria Math" panose="02040503050406030204" pitchFamily="18" charset="0"/>
                  </a:rPr>
                  <a:t> </a:t>
                </a:r>
                <a14:m>
                  <m:oMath xmlns:m="http://schemas.openxmlformats.org/officeDocument/2006/math">
                    <m:sSub>
                      <m:sSubPr>
                        <m:ctrlPr>
                          <a:rPr lang="en-US" sz="1200" b="1" i="1" smtClean="0">
                            <a:solidFill>
                              <a:schemeClr val="tx1"/>
                            </a:solidFill>
                            <a:latin typeface="Cambria Math"/>
                          </a:rPr>
                        </m:ctrlPr>
                      </m:sSubPr>
                      <m:e>
                        <m:r>
                          <a:rPr lang="en-US" sz="1200" b="1" i="1" smtClean="0">
                            <a:solidFill>
                              <a:schemeClr val="tx1"/>
                            </a:solidFill>
                            <a:latin typeface="Cambria Math"/>
                          </a:rPr>
                          <m:t>𝒒</m:t>
                        </m:r>
                      </m:e>
                      <m:sub>
                        <m:r>
                          <a:rPr lang="en-US" sz="1200" b="1" i="1" smtClean="0">
                            <a:solidFill>
                              <a:schemeClr val="tx1"/>
                            </a:solidFill>
                            <a:latin typeface="Cambria Math"/>
                          </a:rPr>
                          <m:t>𝒕</m:t>
                        </m:r>
                      </m:sub>
                    </m:sSub>
                    <m:r>
                      <a:rPr lang="en-US" sz="1200" b="1">
                        <a:solidFill>
                          <a:schemeClr val="tx1"/>
                        </a:solidFill>
                        <a:latin typeface="Cambria Math" panose="02040503050406030204" pitchFamily="18" charset="0"/>
                      </a:rPr>
                      <m:t>&gt;</m:t>
                    </m:r>
                    <m:r>
                      <a:rPr lang="en-US" sz="1200" b="1" i="1">
                        <a:solidFill>
                          <a:schemeClr val="tx1"/>
                        </a:solidFill>
                        <a:latin typeface="Cambria Math" panose="02040503050406030204" pitchFamily="18" charset="0"/>
                      </a:rPr>
                      <m:t>𝐤</m:t>
                    </m:r>
                  </m:oMath>
                </a14:m>
                <a:r>
                  <a:rPr lang="en-US" sz="1200" b="1" dirty="0">
                    <a:solidFill>
                      <a:schemeClr val="tx1"/>
                    </a:solidFill>
                    <a:latin typeface="Cambria Math" panose="02040503050406030204" pitchFamily="18" charset="0"/>
                  </a:rPr>
                  <a:t>, </a:t>
                </a:r>
                <a:r>
                  <a:rPr lang="en-US" sz="1200" dirty="0">
                    <a:solidFill>
                      <a:schemeClr val="tx1"/>
                    </a:solidFill>
                    <a:latin typeface="Cambria Math" panose="02040503050406030204" pitchFamily="18" charset="0"/>
                  </a:rPr>
                  <a:t>accept </a:t>
                </a:r>
                <a:r>
                  <a:rPr lang="en-US" sz="1200" dirty="0" smtClean="0">
                    <a:solidFill>
                      <a:schemeClr val="tx1"/>
                    </a:solidFill>
                    <a:latin typeface="Cambria Math" panose="02040503050406030204" pitchFamily="18" charset="0"/>
                  </a:rPr>
                  <a:t>and transplant with </a:t>
                </a:r>
                <a:r>
                  <a:rPr lang="en-US" sz="1200" dirty="0">
                    <a:solidFill>
                      <a:schemeClr val="tx1"/>
                    </a:solidFill>
                    <a:latin typeface="Cambria Math" panose="02040503050406030204" pitchFamily="18" charset="0"/>
                  </a:rPr>
                  <a:t>probability </a:t>
                </a:r>
                <a14:m>
                  <m:oMath xmlns:m="http://schemas.openxmlformats.org/officeDocument/2006/math">
                    <m:r>
                      <a:rPr lang="en-US" sz="1200" i="1" dirty="0">
                        <a:solidFill>
                          <a:schemeClr val="tx1"/>
                        </a:solidFill>
                        <a:latin typeface="Cambria Math" panose="02040503050406030204" pitchFamily="18" charset="0"/>
                      </a:rPr>
                      <m:t>𝑝</m:t>
                    </m:r>
                    <m:d>
                      <m:dPr>
                        <m:ctrlPr>
                          <a:rPr lang="en-US" sz="1200" i="1" dirty="0">
                            <a:solidFill>
                              <a:schemeClr val="tx1"/>
                            </a:solidFill>
                            <a:latin typeface="Cambria Math"/>
                          </a:rPr>
                        </m:ctrlPr>
                      </m:dPr>
                      <m:e>
                        <m:r>
                          <a:rPr lang="en-US" sz="1200" b="0" i="1" dirty="0" smtClean="0">
                            <a:solidFill>
                              <a:schemeClr val="tx1"/>
                            </a:solidFill>
                            <a:latin typeface="Cambria Math"/>
                          </a:rPr>
                          <m:t>𝑡𝑟𝑎𝑛𝑠</m:t>
                        </m:r>
                      </m:e>
                    </m:d>
                    <m:r>
                      <a:rPr lang="en-US" sz="1200" i="1" dirty="0" smtClean="0">
                        <a:solidFill>
                          <a:schemeClr val="tx1"/>
                        </a:solidFill>
                        <a:latin typeface="Cambria Math" panose="02040503050406030204" pitchFamily="18" charset="0"/>
                      </a:rPr>
                      <m:t>=</m:t>
                    </m:r>
                    <m:r>
                      <a:rPr lang="en-US" sz="1200" i="1" dirty="0" smtClean="0">
                        <a:solidFill>
                          <a:schemeClr val="tx1"/>
                        </a:solidFill>
                        <a:latin typeface="Cambria Math" panose="02040503050406030204" pitchFamily="18" charset="0"/>
                      </a:rPr>
                      <m:t>𝑝</m:t>
                    </m:r>
                    <m:r>
                      <a:rPr lang="en-US" sz="1200" i="1" dirty="0" smtClean="0">
                        <a:solidFill>
                          <a:schemeClr val="tx1"/>
                        </a:solidFill>
                        <a:latin typeface="Cambria Math" panose="02040503050406030204" pitchFamily="18" charset="0"/>
                      </a:rPr>
                      <m:t>(</m:t>
                    </m:r>
                    <m:r>
                      <a:rPr lang="en-US" sz="1200" i="1" dirty="0" smtClean="0">
                        <a:solidFill>
                          <a:schemeClr val="tx1"/>
                        </a:solidFill>
                        <a:latin typeface="Cambria Math" panose="02040503050406030204" pitchFamily="18" charset="0"/>
                      </a:rPr>
                      <m:t>𝑝𝑎𝑡𝑖𝑒𝑛𝑡</m:t>
                    </m:r>
                    <m:r>
                      <a:rPr lang="en-US" sz="1200" i="1" dirty="0" smtClean="0">
                        <a:solidFill>
                          <a:schemeClr val="tx1"/>
                        </a:solidFill>
                        <a:latin typeface="Cambria Math" panose="02040503050406030204" pitchFamily="18" charset="0"/>
                      </a:rPr>
                      <m:t>)</m:t>
                    </m:r>
                    <m:r>
                      <a:rPr lang="en-US" sz="1200" i="1" dirty="0" smtClean="0">
                        <a:solidFill>
                          <a:schemeClr val="tx1"/>
                        </a:solidFill>
                        <a:latin typeface="Cambria Math" panose="02040503050406030204" pitchFamily="18" charset="0"/>
                      </a:rPr>
                      <m:t>𝑝</m:t>
                    </m:r>
                    <m:r>
                      <a:rPr lang="en-US" sz="1200" i="1" dirty="0" smtClean="0">
                        <a:solidFill>
                          <a:schemeClr val="tx1"/>
                        </a:solidFill>
                        <a:latin typeface="Cambria Math" panose="02040503050406030204" pitchFamily="18" charset="0"/>
                      </a:rPr>
                      <m:t>(</m:t>
                    </m:r>
                    <m:r>
                      <a:rPr lang="en-US" sz="1200" i="1" dirty="0" smtClean="0">
                        <a:solidFill>
                          <a:schemeClr val="tx1"/>
                        </a:solidFill>
                        <a:latin typeface="Cambria Math" panose="02040503050406030204" pitchFamily="18" charset="0"/>
                      </a:rPr>
                      <m:t>𝑐𝑒𝑛𝑡𝑒𝑟</m:t>
                    </m:r>
                    <m:r>
                      <a:rPr lang="en-US" sz="1200" i="1" dirty="0" smtClean="0">
                        <a:solidFill>
                          <a:schemeClr val="tx1"/>
                        </a:solidFill>
                        <a:latin typeface="Cambria Math" panose="02040503050406030204" pitchFamily="18" charset="0"/>
                      </a:rPr>
                      <m:t>)</m:t>
                    </m:r>
                  </m:oMath>
                </a14:m>
                <a:endParaRPr lang="en-US" sz="1200" dirty="0">
                  <a:solidFill>
                    <a:schemeClr val="tx1"/>
                  </a:solidFill>
                  <a:latin typeface="Cambria Math" panose="02040503050406030204" pitchFamily="18" charset="0"/>
                </a:endParaRPr>
              </a:p>
              <a:p>
                <a:r>
                  <a:rPr lang="en-US" sz="1200" dirty="0">
                    <a:solidFill>
                      <a:schemeClr val="tx1"/>
                    </a:solidFill>
                    <a:latin typeface="Cambria Math" panose="02040503050406030204" pitchFamily="18" charset="0"/>
                  </a:rPr>
                  <a:t>else set </a:t>
                </a:r>
                <a14:m>
                  <m:oMath xmlns:m="http://schemas.openxmlformats.org/officeDocument/2006/math">
                    <m:sSub>
                      <m:sSubPr>
                        <m:ctrlPr>
                          <a:rPr lang="en-US" sz="1200" i="1">
                            <a:solidFill>
                              <a:schemeClr val="tx1"/>
                            </a:solidFill>
                            <a:latin typeface="Cambria Math"/>
                          </a:rPr>
                        </m:ctrlPr>
                      </m:sSubPr>
                      <m:e>
                        <m:r>
                          <a:rPr lang="en-US" sz="1200">
                            <a:solidFill>
                              <a:schemeClr val="tx1"/>
                            </a:solidFill>
                            <a:latin typeface="Cambria Math" panose="02040503050406030204" pitchFamily="18" charset="0"/>
                          </a:rPr>
                          <m:t>𝑞</m:t>
                        </m:r>
                      </m:e>
                      <m:sub>
                        <m:r>
                          <a:rPr lang="en-US" sz="1200">
                            <a:solidFill>
                              <a:schemeClr val="tx1"/>
                            </a:solidFill>
                            <a:latin typeface="Cambria Math" panose="02040503050406030204" pitchFamily="18" charset="0"/>
                          </a:rPr>
                          <m:t>𝑡</m:t>
                        </m:r>
                      </m:sub>
                    </m:sSub>
                    <m:r>
                      <a:rPr lang="en-US" sz="1200">
                        <a:solidFill>
                          <a:schemeClr val="tx1"/>
                        </a:solidFill>
                        <a:latin typeface="Cambria Math" panose="02040503050406030204" pitchFamily="18" charset="0"/>
                      </a:rPr>
                      <m:t>=</m:t>
                    </m:r>
                    <m:sSub>
                      <m:sSubPr>
                        <m:ctrlPr>
                          <a:rPr lang="en-US" sz="1200" i="1">
                            <a:solidFill>
                              <a:schemeClr val="tx1"/>
                            </a:solidFill>
                            <a:latin typeface="Cambria Math"/>
                          </a:rPr>
                        </m:ctrlPr>
                      </m:sSubPr>
                      <m:e>
                        <m:r>
                          <a:rPr lang="en-US" sz="1200">
                            <a:solidFill>
                              <a:schemeClr val="tx1"/>
                            </a:solidFill>
                            <a:latin typeface="Cambria Math" panose="02040503050406030204" pitchFamily="18" charset="0"/>
                          </a:rPr>
                          <m:t>𝑞</m:t>
                        </m:r>
                      </m:e>
                      <m:sub>
                        <m:r>
                          <a:rPr lang="en-US" sz="1200">
                            <a:solidFill>
                              <a:schemeClr val="tx1"/>
                            </a:solidFill>
                            <a:latin typeface="Cambria Math" panose="02040503050406030204" pitchFamily="18" charset="0"/>
                          </a:rPr>
                          <m:t>0</m:t>
                        </m:r>
                      </m:sub>
                    </m:sSub>
                    <m:r>
                      <a:rPr lang="en-US" sz="1200">
                        <a:solidFill>
                          <a:schemeClr val="tx1"/>
                        </a:solidFill>
                        <a:latin typeface="Cambria Math" panose="02040503050406030204" pitchFamily="18" charset="0"/>
                      </a:rPr>
                      <m:t> </m:t>
                    </m:r>
                    <m:sSup>
                      <m:sSupPr>
                        <m:ctrlPr>
                          <a:rPr lang="en-US" sz="1200" i="1">
                            <a:solidFill>
                              <a:schemeClr val="tx1"/>
                            </a:solidFill>
                            <a:latin typeface="Cambria Math"/>
                          </a:rPr>
                        </m:ctrlPr>
                      </m:sSupPr>
                      <m:e>
                        <m:d>
                          <m:dPr>
                            <m:ctrlPr>
                              <a:rPr lang="en-US" sz="1200" i="1">
                                <a:solidFill>
                                  <a:schemeClr val="tx1"/>
                                </a:solidFill>
                                <a:latin typeface="Cambria Math"/>
                              </a:rPr>
                            </m:ctrlPr>
                          </m:dPr>
                          <m:e>
                            <m:r>
                              <a:rPr lang="en-US" sz="1200">
                                <a:solidFill>
                                  <a:schemeClr val="tx1"/>
                                </a:solidFill>
                                <a:latin typeface="Cambria Math" panose="02040503050406030204" pitchFamily="18" charset="0"/>
                              </a:rPr>
                              <m:t>1−</m:t>
                            </m:r>
                            <m:r>
                              <a:rPr lang="en-US" sz="1200">
                                <a:solidFill>
                                  <a:schemeClr val="tx1"/>
                                </a:solidFill>
                                <a:latin typeface="Cambria Math" panose="02040503050406030204" pitchFamily="18" charset="0"/>
                              </a:rPr>
                              <m:t>𝛿</m:t>
                            </m:r>
                          </m:e>
                        </m:d>
                      </m:e>
                      <m:sup>
                        <m:r>
                          <a:rPr lang="en-US" sz="1200">
                            <a:solidFill>
                              <a:schemeClr val="tx1"/>
                            </a:solidFill>
                            <a:latin typeface="Cambria Math" panose="02040503050406030204" pitchFamily="18" charset="0"/>
                          </a:rPr>
                          <m:t>𝑡</m:t>
                        </m:r>
                      </m:sup>
                    </m:sSup>
                    <m:r>
                      <a:rPr lang="en-US" sz="1200">
                        <a:solidFill>
                          <a:schemeClr val="tx1"/>
                        </a:solidFill>
                        <a:latin typeface="Cambria Math" panose="02040503050406030204" pitchFamily="18" charset="0"/>
                      </a:rPr>
                      <m:t> </m:t>
                    </m:r>
                  </m:oMath>
                </a14:m>
                <a:r>
                  <a:rPr lang="en-US" sz="1200" dirty="0">
                    <a:solidFill>
                      <a:schemeClr val="tx1"/>
                    </a:solidFill>
                    <a:latin typeface="Cambria Math" panose="02040503050406030204" pitchFamily="18" charset="0"/>
                  </a:rPr>
                  <a:t>and reoffer</a:t>
                </a:r>
              </a:p>
              <a:p>
                <a:r>
                  <a:rPr lang="en-US" sz="1200" dirty="0">
                    <a:solidFill>
                      <a:schemeClr val="tx1"/>
                    </a:solidFill>
                    <a:latin typeface="Cambria Math" panose="02040503050406030204" pitchFamily="18" charset="0"/>
                  </a:rPr>
                  <a:t>if </a:t>
                </a:r>
                <a14:m>
                  <m:oMath xmlns:m="http://schemas.openxmlformats.org/officeDocument/2006/math">
                    <m:sSub>
                      <m:sSubPr>
                        <m:ctrlPr>
                          <a:rPr lang="en-US" sz="1200" b="1" i="1">
                            <a:solidFill>
                              <a:schemeClr val="tx1"/>
                            </a:solidFill>
                            <a:latin typeface="Cambria Math"/>
                          </a:rPr>
                        </m:ctrlPr>
                      </m:sSubPr>
                      <m:e>
                        <m:r>
                          <a:rPr lang="en-US" sz="1200" b="1" i="1">
                            <a:solidFill>
                              <a:schemeClr val="tx1"/>
                            </a:solidFill>
                            <a:latin typeface="Cambria Math" panose="02040503050406030204" pitchFamily="18" charset="0"/>
                          </a:rPr>
                          <m:t>𝐪</m:t>
                        </m:r>
                      </m:e>
                      <m:sub>
                        <m:r>
                          <a:rPr lang="en-US" sz="1200" b="1" i="1">
                            <a:solidFill>
                              <a:schemeClr val="tx1"/>
                            </a:solidFill>
                            <a:latin typeface="Cambria Math" panose="02040503050406030204" pitchFamily="18" charset="0"/>
                          </a:rPr>
                          <m:t>𝐭</m:t>
                        </m:r>
                      </m:sub>
                    </m:sSub>
                    <m:r>
                      <a:rPr lang="en-US" sz="1200" b="1" i="0" smtClean="0">
                        <a:solidFill>
                          <a:schemeClr val="tx1"/>
                        </a:solidFill>
                        <a:latin typeface="Cambria Math" panose="02040503050406030204" pitchFamily="18" charset="0"/>
                      </a:rPr>
                      <m:t>&lt;</m:t>
                    </m:r>
                    <m:r>
                      <a:rPr lang="en-US" sz="1200" b="1" i="1">
                        <a:solidFill>
                          <a:schemeClr val="tx1"/>
                        </a:solidFill>
                        <a:latin typeface="Cambria Math" panose="02040503050406030204" pitchFamily="18" charset="0"/>
                      </a:rPr>
                      <m:t>𝟎</m:t>
                    </m:r>
                  </m:oMath>
                </a14:m>
                <a:r>
                  <a:rPr lang="en-US" sz="1200" b="1" dirty="0">
                    <a:solidFill>
                      <a:schemeClr val="tx1"/>
                    </a:solidFill>
                    <a:latin typeface="Cambria Math" panose="02040503050406030204" pitchFamily="18" charset="0"/>
                  </a:rPr>
                  <a:t> </a:t>
                </a:r>
                <a:r>
                  <a:rPr lang="en-US" sz="1200" dirty="0">
                    <a:solidFill>
                      <a:schemeClr val="tx1"/>
                    </a:solidFill>
                    <a:latin typeface="Cambria Math" panose="02040503050406030204" pitchFamily="18" charset="0"/>
                  </a:rPr>
                  <a:t>discard the kidney</a:t>
                </a:r>
              </a:p>
            </p:txBody>
          </p:sp>
        </mc:Choice>
        <mc:Fallback xmlns="">
          <p:sp>
            <p:nvSpPr>
              <p:cNvPr id="9" name="Rectangle 8"/>
              <p:cNvSpPr>
                <a:spLocks noRot="1" noChangeAspect="1" noMove="1" noResize="1" noEditPoints="1" noAdjustHandles="1" noChangeArrowheads="1" noChangeShapeType="1" noTextEdit="1"/>
              </p:cNvSpPr>
              <p:nvPr/>
            </p:nvSpPr>
            <p:spPr>
              <a:xfrm>
                <a:off x="5436752" y="840867"/>
                <a:ext cx="3272650" cy="1522191"/>
              </a:xfrm>
              <a:prstGeom prst="rect">
                <a:avLst/>
              </a:prstGeom>
              <a:blipFill rotWithShape="1">
                <a:blip r:embed="rId4"/>
                <a:stretch>
                  <a:fillRect/>
                </a:stretch>
              </a:blipFill>
              <a:ln>
                <a:solidFill>
                  <a:srgbClr val="FF00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3424917" y="2572467"/>
                <a:ext cx="1557338" cy="605447"/>
              </a:xfrm>
              <a:prstGeom prst="rect">
                <a:avLst/>
              </a:prstGeom>
              <a:no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1400" b="0" i="1" smtClean="0">
                              <a:solidFill>
                                <a:schemeClr val="tx1"/>
                              </a:solidFill>
                              <a:latin typeface="Cambria Math"/>
                            </a:rPr>
                          </m:ctrlPr>
                        </m:sSubPr>
                        <m:e>
                          <m:r>
                            <a:rPr lang="en-US" sz="1400" b="0" i="1" smtClean="0">
                              <a:solidFill>
                                <a:schemeClr val="tx1"/>
                              </a:solidFill>
                              <a:latin typeface="Cambria Math" panose="02040503050406030204" pitchFamily="18" charset="0"/>
                            </a:rPr>
                            <m:t>h</m:t>
                          </m:r>
                        </m:e>
                        <m:sub>
                          <m:r>
                            <a:rPr lang="en-US" sz="1400" b="0" i="1" smtClean="0">
                              <a:solidFill>
                                <a:schemeClr val="tx1"/>
                              </a:solidFill>
                              <a:latin typeface="Cambria Math" panose="02040503050406030204" pitchFamily="18" charset="0"/>
                            </a:rPr>
                            <m:t>𝑤</m:t>
                          </m:r>
                        </m:sub>
                      </m:sSub>
                      <m:r>
                        <a:rPr lang="en-US" sz="1400" b="0" i="1" smtClean="0">
                          <a:solidFill>
                            <a:schemeClr val="tx1"/>
                          </a:solidFill>
                          <a:latin typeface="Cambria Math" panose="02040503050406030204" pitchFamily="18" charset="0"/>
                        </a:rPr>
                        <m:t>≤2 </m:t>
                      </m:r>
                      <m:r>
                        <a:rPr lang="en-US" sz="1400" b="0" i="1" smtClean="0">
                          <a:solidFill>
                            <a:schemeClr val="tx1"/>
                          </a:solidFill>
                          <a:latin typeface="Cambria Math" panose="02040503050406030204" pitchFamily="18" charset="0"/>
                        </a:rPr>
                        <m:t>𝑚𝑜𝑛𝑡h</m:t>
                      </m:r>
                      <m:r>
                        <a:rPr lang="en-US" sz="1400" b="0" i="1" smtClean="0">
                          <a:solidFill>
                            <a:schemeClr val="tx1"/>
                          </a:solidFill>
                          <a:latin typeface="Cambria Math"/>
                        </a:rPr>
                        <m:t>+</m:t>
                      </m:r>
                    </m:oMath>
                  </m:oMathPara>
                </a14:m>
                <a:endParaRPr lang="en-US" sz="1400" dirty="0" smtClean="0">
                  <a:solidFill>
                    <a:schemeClr val="tx1"/>
                  </a:solidFill>
                </a:endParaRPr>
              </a:p>
              <a:p>
                <a:pPr algn="ctr"/>
                <a:r>
                  <a:rPr lang="en-US" sz="1400" dirty="0" smtClean="0">
                    <a:solidFill>
                      <a:schemeClr val="tx1"/>
                    </a:solidFill>
                    <a:latin typeface="Cambria Math" panose="02040503050406030204" pitchFamily="18" charset="0"/>
                    <a:ea typeface="Cambria Math" panose="02040503050406030204" pitchFamily="18" charset="0"/>
                  </a:rPr>
                  <a:t>departure rate: </a:t>
                </a:r>
                <a14:m>
                  <m:oMath xmlns:m="http://schemas.openxmlformats.org/officeDocument/2006/math">
                    <m:r>
                      <a:rPr lang="en-US" sz="1400" i="1" smtClean="0">
                        <a:solidFill>
                          <a:schemeClr val="tx1"/>
                        </a:solidFill>
                        <a:latin typeface="Cambria Math"/>
                        <a:ea typeface="Cambria Math"/>
                      </a:rPr>
                      <m:t>𝛿</m:t>
                    </m:r>
                  </m:oMath>
                </a14:m>
                <a:endParaRPr lang="en-US" sz="1400" dirty="0">
                  <a:solidFill>
                    <a:schemeClr val="tx1"/>
                  </a:solidFill>
                </a:endParaRPr>
              </a:p>
            </p:txBody>
          </p:sp>
        </mc:Choice>
        <mc:Fallback xmlns="">
          <p:sp>
            <p:nvSpPr>
              <p:cNvPr id="10" name="Rectangle 9"/>
              <p:cNvSpPr>
                <a:spLocks noRot="1" noChangeAspect="1" noMove="1" noResize="1" noEditPoints="1" noAdjustHandles="1" noChangeArrowheads="1" noChangeShapeType="1" noTextEdit="1"/>
              </p:cNvSpPr>
              <p:nvPr/>
            </p:nvSpPr>
            <p:spPr>
              <a:xfrm>
                <a:off x="3424917" y="2572467"/>
                <a:ext cx="1557338" cy="605447"/>
              </a:xfrm>
              <a:prstGeom prst="rect">
                <a:avLst/>
              </a:prstGeom>
              <a:blipFill rotWithShape="1">
                <a:blip r:embed="rId5"/>
                <a:stretch>
                  <a:fillRect b="-990"/>
                </a:stretch>
              </a:blipFill>
              <a:ln>
                <a:solidFill>
                  <a:schemeClr val="accent4">
                    <a:lumMod val="50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5436752" y="3060431"/>
                <a:ext cx="3272650" cy="1563851"/>
              </a:xfrm>
              <a:prstGeom prst="rect">
                <a:avLst/>
              </a:prstGeom>
              <a:no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sz="1200" dirty="0" smtClean="0">
                    <a:solidFill>
                      <a:schemeClr val="tx1"/>
                    </a:solidFill>
                    <a:latin typeface="Cambria Math" panose="02040503050406030204" pitchFamily="18" charset="0"/>
                  </a:rPr>
                  <a:t>Post-transplant  utility </a:t>
                </a:r>
              </a:p>
              <a:p>
                <a:pPr>
                  <a:lnSpc>
                    <a:spcPct val="150000"/>
                  </a:lnSpc>
                </a:pPr>
                <a14:m>
                  <m:oMath xmlns:m="http://schemas.openxmlformats.org/officeDocument/2006/math">
                    <m:sSup>
                      <m:sSupPr>
                        <m:ctrlPr>
                          <a:rPr lang="en-US" sz="1200" i="1">
                            <a:solidFill>
                              <a:schemeClr val="tx1"/>
                            </a:solidFill>
                            <a:latin typeface="Cambria Math"/>
                          </a:rPr>
                        </m:ctrlPr>
                      </m:sSupPr>
                      <m:e>
                        <m:r>
                          <a:rPr lang="en-US" sz="1200" b="0" i="0" smtClean="0">
                            <a:solidFill>
                              <a:schemeClr val="tx1"/>
                            </a:solidFill>
                            <a:latin typeface="Cambria Math" panose="02040503050406030204" pitchFamily="18" charset="0"/>
                          </a:rPr>
                          <m:t>  </m:t>
                        </m:r>
                        <m:r>
                          <a:rPr lang="en-US" sz="1200">
                            <a:solidFill>
                              <a:schemeClr val="tx1"/>
                            </a:solidFill>
                            <a:latin typeface="Cambria Math" panose="02040503050406030204" pitchFamily="18" charset="0"/>
                          </a:rPr>
                          <m:t>𝑈</m:t>
                        </m:r>
                      </m:e>
                      <m:sup>
                        <m:r>
                          <a:rPr lang="en-US" sz="1200">
                            <a:solidFill>
                              <a:schemeClr val="tx1"/>
                            </a:solidFill>
                            <a:latin typeface="Cambria Math" panose="02040503050406030204" pitchFamily="18" charset="0"/>
                          </a:rPr>
                          <m:t>𝑐</m:t>
                        </m:r>
                      </m:sup>
                    </m:sSup>
                    <m:d>
                      <m:dPr>
                        <m:ctrlPr>
                          <a:rPr lang="en-US" sz="1200" i="1">
                            <a:solidFill>
                              <a:schemeClr val="tx1"/>
                            </a:solidFill>
                            <a:latin typeface="Cambria Math"/>
                          </a:rPr>
                        </m:ctrlPr>
                      </m:dPr>
                      <m:e>
                        <m:r>
                          <a:rPr lang="en-US" sz="1200">
                            <a:solidFill>
                              <a:schemeClr val="tx1"/>
                            </a:solidFill>
                            <a:latin typeface="Cambria Math" panose="02040503050406030204" pitchFamily="18" charset="0"/>
                          </a:rPr>
                          <m:t>𝑞</m:t>
                        </m:r>
                        <m:r>
                          <a:rPr lang="en-US" sz="1200">
                            <a:solidFill>
                              <a:schemeClr val="tx1"/>
                            </a:solidFill>
                            <a:latin typeface="Cambria Math" panose="02040503050406030204" pitchFamily="18" charset="0"/>
                          </a:rPr>
                          <m:t>,</m:t>
                        </m:r>
                        <m:sSub>
                          <m:sSubPr>
                            <m:ctrlPr>
                              <a:rPr lang="en-US" sz="1200" i="1">
                                <a:solidFill>
                                  <a:schemeClr val="tx1"/>
                                </a:solidFill>
                                <a:latin typeface="Cambria Math"/>
                              </a:rPr>
                            </m:ctrlPr>
                          </m:sSubPr>
                          <m:e>
                            <m:r>
                              <a:rPr lang="en-US" sz="1200">
                                <a:solidFill>
                                  <a:schemeClr val="tx1"/>
                                </a:solidFill>
                                <a:latin typeface="Cambria Math" panose="02040503050406030204" pitchFamily="18" charset="0"/>
                              </a:rPr>
                              <m:t>h</m:t>
                            </m:r>
                          </m:e>
                          <m:sub>
                            <m:r>
                              <a:rPr lang="en-US" sz="1200">
                                <a:solidFill>
                                  <a:schemeClr val="tx1"/>
                                </a:solidFill>
                                <a:latin typeface="Cambria Math" panose="02040503050406030204" pitchFamily="18" charset="0"/>
                              </a:rPr>
                              <m:t>0</m:t>
                            </m:r>
                          </m:sub>
                        </m:sSub>
                        <m:r>
                          <a:rPr lang="en-US" sz="1200">
                            <a:solidFill>
                              <a:schemeClr val="tx1"/>
                            </a:solidFill>
                            <a:latin typeface="Cambria Math" panose="02040503050406030204" pitchFamily="18" charset="0"/>
                          </a:rPr>
                          <m:t>,</m:t>
                        </m:r>
                        <m:r>
                          <a:rPr lang="en-US" sz="1200">
                            <a:solidFill>
                              <a:schemeClr val="tx1"/>
                            </a:solidFill>
                            <a:latin typeface="Cambria Math" panose="02040503050406030204" pitchFamily="18" charset="0"/>
                          </a:rPr>
                          <m:t>𝑤</m:t>
                        </m:r>
                        <m:r>
                          <a:rPr lang="en-US" sz="1200">
                            <a:solidFill>
                              <a:schemeClr val="tx1"/>
                            </a:solidFill>
                            <a:latin typeface="Cambria Math" panose="02040503050406030204" pitchFamily="18" charset="0"/>
                          </a:rPr>
                          <m:t> </m:t>
                        </m:r>
                      </m:e>
                    </m:d>
                  </m:oMath>
                </a14:m>
                <a:r>
                  <a:rPr lang="en-US" sz="1200" dirty="0">
                    <a:solidFill>
                      <a:schemeClr val="tx1"/>
                    </a:solidFill>
                    <a:latin typeface="Cambria Math" panose="02040503050406030204" pitchFamily="18" charset="0"/>
                  </a:rPr>
                  <a:t> </a:t>
                </a:r>
                <a14:m>
                  <m:oMath xmlns:m="http://schemas.openxmlformats.org/officeDocument/2006/math">
                    <m:r>
                      <a:rPr lang="en-US" sz="1200" dirty="0">
                        <a:solidFill>
                          <a:schemeClr val="tx1"/>
                        </a:solidFill>
                        <a:latin typeface="Cambria Math" panose="02040503050406030204" pitchFamily="18" charset="0"/>
                      </a:rPr>
                      <m:t>=</m:t>
                    </m:r>
                  </m:oMath>
                </a14:m>
                <a:r>
                  <a:rPr lang="en-US" sz="1200" dirty="0">
                    <a:solidFill>
                      <a:schemeClr val="tx1"/>
                    </a:solidFill>
                    <a:latin typeface="Cambria Math" panose="02040503050406030204" pitchFamily="18" charset="0"/>
                  </a:rPr>
                  <a:t> </a:t>
                </a:r>
                <a14:m>
                  <m:oMath xmlns:m="http://schemas.openxmlformats.org/officeDocument/2006/math">
                    <m:r>
                      <a:rPr lang="en-US" sz="1200">
                        <a:solidFill>
                          <a:schemeClr val="tx1"/>
                        </a:solidFill>
                        <a:latin typeface="Cambria Math" panose="02040503050406030204" pitchFamily="18" charset="0"/>
                      </a:rPr>
                      <m:t>𝐵</m:t>
                    </m:r>
                    <m:d>
                      <m:dPr>
                        <m:ctrlPr>
                          <a:rPr lang="en-US" sz="1200" i="1">
                            <a:solidFill>
                              <a:schemeClr val="tx1"/>
                            </a:solidFill>
                            <a:latin typeface="Cambria Math"/>
                          </a:rPr>
                        </m:ctrlPr>
                      </m:dPr>
                      <m:e>
                        <m:sSub>
                          <m:sSubPr>
                            <m:ctrlPr>
                              <a:rPr lang="en-US" sz="1200" i="1">
                                <a:solidFill>
                                  <a:schemeClr val="tx1"/>
                                </a:solidFill>
                                <a:latin typeface="Cambria Math"/>
                              </a:rPr>
                            </m:ctrlPr>
                          </m:sSubPr>
                          <m:e>
                            <m:r>
                              <a:rPr lang="en-US" sz="1200">
                                <a:solidFill>
                                  <a:schemeClr val="tx1"/>
                                </a:solidFill>
                                <a:latin typeface="Cambria Math" panose="02040503050406030204" pitchFamily="18" charset="0"/>
                              </a:rPr>
                              <m:t>h</m:t>
                            </m:r>
                          </m:e>
                          <m:sub>
                            <m:r>
                              <a:rPr lang="en-US" sz="1200">
                                <a:solidFill>
                                  <a:schemeClr val="tx1"/>
                                </a:solidFill>
                                <a:latin typeface="Cambria Math" panose="02040503050406030204" pitchFamily="18" charset="0"/>
                              </a:rPr>
                              <m:t>0</m:t>
                            </m:r>
                          </m:sub>
                        </m:sSub>
                        <m:r>
                          <a:rPr lang="en-US" sz="1200">
                            <a:solidFill>
                              <a:schemeClr val="tx1"/>
                            </a:solidFill>
                            <a:latin typeface="Cambria Math" panose="02040503050406030204" pitchFamily="18" charset="0"/>
                          </a:rPr>
                          <m:t>,</m:t>
                        </m:r>
                        <m:sSub>
                          <m:sSubPr>
                            <m:ctrlPr>
                              <a:rPr lang="en-US" sz="1200" i="1">
                                <a:solidFill>
                                  <a:schemeClr val="tx1"/>
                                </a:solidFill>
                                <a:latin typeface="Cambria Math"/>
                              </a:rPr>
                            </m:ctrlPr>
                          </m:sSubPr>
                          <m:e>
                            <m:r>
                              <a:rPr lang="en-US" sz="1200">
                                <a:solidFill>
                                  <a:schemeClr val="tx1"/>
                                </a:solidFill>
                                <a:latin typeface="Cambria Math" panose="02040503050406030204" pitchFamily="18" charset="0"/>
                              </a:rPr>
                              <m:t>𝑞</m:t>
                            </m:r>
                          </m:e>
                          <m:sub>
                            <m:r>
                              <a:rPr lang="en-US" sz="1200">
                                <a:solidFill>
                                  <a:schemeClr val="tx1"/>
                                </a:solidFill>
                                <a:latin typeface="Cambria Math" panose="02040503050406030204" pitchFamily="18" charset="0"/>
                              </a:rPr>
                              <m:t>𝑡</m:t>
                            </m:r>
                          </m:sub>
                        </m:sSub>
                      </m:e>
                    </m:d>
                  </m:oMath>
                </a14:m>
                <a:r>
                  <a:rPr lang="en-US" sz="1200" dirty="0">
                    <a:solidFill>
                      <a:schemeClr val="tx1"/>
                    </a:solidFill>
                    <a:latin typeface="Cambria Math" panose="02040503050406030204" pitchFamily="18" charset="0"/>
                  </a:rPr>
                  <a:t> </a:t>
                </a:r>
                <a14:m>
                  <m:oMath xmlns:m="http://schemas.openxmlformats.org/officeDocument/2006/math">
                    <m:r>
                      <a:rPr lang="en-US" sz="1200" dirty="0">
                        <a:solidFill>
                          <a:schemeClr val="tx1"/>
                        </a:solidFill>
                        <a:latin typeface="Cambria Math" panose="02040503050406030204" pitchFamily="18" charset="0"/>
                      </a:rPr>
                      <m:t>  ∗</m:t>
                    </m:r>
                  </m:oMath>
                </a14:m>
                <a:r>
                  <a:rPr lang="en-US" sz="1200" dirty="0">
                    <a:solidFill>
                      <a:schemeClr val="tx1"/>
                    </a:solidFill>
                    <a:latin typeface="Cambria Math" panose="02040503050406030204" pitchFamily="18" charset="0"/>
                  </a:rPr>
                  <a:t>  </a:t>
                </a:r>
                <a14:m>
                  <m:oMath xmlns:m="http://schemas.openxmlformats.org/officeDocument/2006/math">
                    <m:d>
                      <m:dPr>
                        <m:begChr m:val="["/>
                        <m:endChr m:val="]"/>
                        <m:ctrlPr>
                          <a:rPr lang="en-US" sz="1200" i="1" dirty="0">
                            <a:solidFill>
                              <a:schemeClr val="tx1"/>
                            </a:solidFill>
                            <a:latin typeface="Cambria Math"/>
                          </a:rPr>
                        </m:ctrlPr>
                      </m:dPr>
                      <m:e>
                        <m:r>
                          <a:rPr lang="en-US" sz="1200" dirty="0">
                            <a:solidFill>
                              <a:schemeClr val="tx1"/>
                            </a:solidFill>
                            <a:latin typeface="Cambria Math" panose="02040503050406030204" pitchFamily="18" charset="0"/>
                          </a:rPr>
                          <m:t>1−</m:t>
                        </m:r>
                        <m:r>
                          <a:rPr lang="en-US" sz="1200" b="0" i="1" dirty="0" smtClean="0">
                            <a:solidFill>
                              <a:schemeClr val="tx1"/>
                            </a:solidFill>
                            <a:latin typeface="Cambria Math" panose="02040503050406030204" pitchFamily="18" charset="0"/>
                          </a:rPr>
                          <m:t>𝐶</m:t>
                        </m:r>
                        <m:d>
                          <m:dPr>
                            <m:ctrlPr>
                              <a:rPr lang="en-US" sz="1200" i="1" dirty="0">
                                <a:solidFill>
                                  <a:schemeClr val="tx1"/>
                                </a:solidFill>
                                <a:latin typeface="Cambria Math"/>
                              </a:rPr>
                            </m:ctrlPr>
                          </m:dPr>
                          <m:e>
                            <m:sSub>
                              <m:sSubPr>
                                <m:ctrlPr>
                                  <a:rPr lang="en-US" sz="1200" i="1" dirty="0">
                                    <a:solidFill>
                                      <a:schemeClr val="tx1"/>
                                    </a:solidFill>
                                    <a:latin typeface="Cambria Math"/>
                                  </a:rPr>
                                </m:ctrlPr>
                              </m:sSubPr>
                              <m:e>
                                <m:r>
                                  <a:rPr lang="en-US" sz="1200" dirty="0">
                                    <a:solidFill>
                                      <a:schemeClr val="tx1"/>
                                    </a:solidFill>
                                    <a:latin typeface="Cambria Math" panose="02040503050406030204" pitchFamily="18" charset="0"/>
                                  </a:rPr>
                                  <m:t>h</m:t>
                                </m:r>
                              </m:e>
                              <m:sub>
                                <m:r>
                                  <a:rPr lang="en-US" sz="1200" dirty="0">
                                    <a:solidFill>
                                      <a:schemeClr val="tx1"/>
                                    </a:solidFill>
                                    <a:latin typeface="Cambria Math" panose="02040503050406030204" pitchFamily="18" charset="0"/>
                                  </a:rPr>
                                  <m:t>0</m:t>
                                </m:r>
                              </m:sub>
                            </m:sSub>
                            <m:r>
                              <a:rPr lang="en-US" sz="1200" dirty="0">
                                <a:solidFill>
                                  <a:schemeClr val="tx1"/>
                                </a:solidFill>
                                <a:latin typeface="Cambria Math" panose="02040503050406030204" pitchFamily="18" charset="0"/>
                              </a:rPr>
                              <m:t>,</m:t>
                            </m:r>
                            <m:r>
                              <a:rPr lang="en-US" sz="1200" dirty="0">
                                <a:solidFill>
                                  <a:schemeClr val="tx1"/>
                                </a:solidFill>
                                <a:latin typeface="Cambria Math" panose="02040503050406030204" pitchFamily="18" charset="0"/>
                              </a:rPr>
                              <m:t>𝑤</m:t>
                            </m:r>
                            <m:r>
                              <a:rPr lang="en-US" sz="1200" dirty="0">
                                <a:solidFill>
                                  <a:schemeClr val="tx1"/>
                                </a:solidFill>
                                <a:latin typeface="Cambria Math" panose="02040503050406030204" pitchFamily="18" charset="0"/>
                              </a:rPr>
                              <m:t> </m:t>
                            </m:r>
                          </m:e>
                        </m:d>
                      </m:e>
                    </m:d>
                  </m:oMath>
                </a14:m>
                <a:endParaRPr lang="en-US" sz="1200" dirty="0">
                  <a:solidFill>
                    <a:schemeClr val="tx1"/>
                  </a:solidFill>
                  <a:latin typeface="Cambria Math" panose="02040503050406030204" pitchFamily="18" charset="0"/>
                </a:endParaRPr>
              </a:p>
              <a:p>
                <a:pPr>
                  <a:lnSpc>
                    <a:spcPct val="150000"/>
                  </a:lnSpc>
                </a:pPr>
                <a:r>
                  <a:rPr lang="en-US" sz="1200" dirty="0">
                    <a:solidFill>
                      <a:schemeClr val="tx1"/>
                    </a:solidFill>
                    <a:latin typeface="Cambria Math" panose="02040503050406030204" pitchFamily="18" charset="0"/>
                  </a:rPr>
                  <a:t> Benefit  function:</a:t>
                </a:r>
                <a:r>
                  <a:rPr lang="en-US" sz="1200" dirty="0" smtClean="0">
                    <a:solidFill>
                      <a:schemeClr val="tx1"/>
                    </a:solidFill>
                    <a:latin typeface="Cambria Math" panose="02040503050406030204" pitchFamily="18" charset="0"/>
                  </a:rPr>
                  <a:t>  </a:t>
                </a:r>
                <a14:m>
                  <m:oMath xmlns:m="http://schemas.openxmlformats.org/officeDocument/2006/math">
                    <m:r>
                      <a:rPr lang="en-US" sz="1200">
                        <a:solidFill>
                          <a:schemeClr val="tx1"/>
                        </a:solidFill>
                        <a:latin typeface="Cambria Math" panose="02040503050406030204" pitchFamily="18" charset="0"/>
                      </a:rPr>
                      <m:t>𝐵</m:t>
                    </m:r>
                    <m:d>
                      <m:dPr>
                        <m:ctrlPr>
                          <a:rPr lang="en-US" sz="1200" i="1">
                            <a:solidFill>
                              <a:schemeClr val="tx1"/>
                            </a:solidFill>
                            <a:latin typeface="Cambria Math"/>
                          </a:rPr>
                        </m:ctrlPr>
                      </m:dPr>
                      <m:e>
                        <m:sSub>
                          <m:sSubPr>
                            <m:ctrlPr>
                              <a:rPr lang="en-US" sz="1200" i="1">
                                <a:solidFill>
                                  <a:schemeClr val="tx1"/>
                                </a:solidFill>
                                <a:latin typeface="Cambria Math"/>
                              </a:rPr>
                            </m:ctrlPr>
                          </m:sSubPr>
                          <m:e>
                            <m:r>
                              <a:rPr lang="en-US" sz="1200">
                                <a:solidFill>
                                  <a:schemeClr val="tx1"/>
                                </a:solidFill>
                                <a:latin typeface="Cambria Math" panose="02040503050406030204" pitchFamily="18" charset="0"/>
                              </a:rPr>
                              <m:t>h</m:t>
                            </m:r>
                          </m:e>
                          <m:sub>
                            <m:r>
                              <a:rPr lang="en-US" sz="1200">
                                <a:solidFill>
                                  <a:schemeClr val="tx1"/>
                                </a:solidFill>
                                <a:latin typeface="Cambria Math" panose="02040503050406030204" pitchFamily="18" charset="0"/>
                              </a:rPr>
                              <m:t>0</m:t>
                            </m:r>
                          </m:sub>
                        </m:sSub>
                        <m:r>
                          <a:rPr lang="en-US" sz="1200">
                            <a:solidFill>
                              <a:schemeClr val="tx1"/>
                            </a:solidFill>
                            <a:latin typeface="Cambria Math" panose="02040503050406030204" pitchFamily="18" charset="0"/>
                          </a:rPr>
                          <m:t>,</m:t>
                        </m:r>
                        <m:r>
                          <a:rPr lang="en-US" sz="1200">
                            <a:solidFill>
                              <a:schemeClr val="tx1"/>
                            </a:solidFill>
                            <a:latin typeface="Cambria Math" panose="02040503050406030204" pitchFamily="18" charset="0"/>
                          </a:rPr>
                          <m:t>𝑞</m:t>
                        </m:r>
                      </m:e>
                    </m:d>
                    <m:r>
                      <a:rPr lang="en-US" sz="1200">
                        <a:solidFill>
                          <a:schemeClr val="tx1"/>
                        </a:solidFill>
                        <a:latin typeface="Cambria Math" panose="02040503050406030204" pitchFamily="18" charset="0"/>
                      </a:rPr>
                      <m:t>=</m:t>
                    </m:r>
                    <m:f>
                      <m:fPr>
                        <m:ctrlPr>
                          <a:rPr lang="en-US" sz="1200" i="1">
                            <a:solidFill>
                              <a:schemeClr val="tx1"/>
                            </a:solidFill>
                            <a:latin typeface="Cambria Math"/>
                          </a:rPr>
                        </m:ctrlPr>
                      </m:fPr>
                      <m:num>
                        <m:r>
                          <a:rPr lang="en-US" sz="1200">
                            <a:solidFill>
                              <a:schemeClr val="tx1"/>
                            </a:solidFill>
                            <a:latin typeface="Cambria Math" panose="02040503050406030204" pitchFamily="18" charset="0"/>
                          </a:rPr>
                          <m:t>𝑚</m:t>
                        </m:r>
                        <m:r>
                          <a:rPr lang="en-US" sz="1200">
                            <a:solidFill>
                              <a:schemeClr val="tx1"/>
                            </a:solidFill>
                            <a:latin typeface="Cambria Math" panose="02040503050406030204" pitchFamily="18" charset="0"/>
                          </a:rPr>
                          <m:t>(</m:t>
                        </m:r>
                        <m:sSub>
                          <m:sSubPr>
                            <m:ctrlPr>
                              <a:rPr lang="en-US" sz="1200" i="1">
                                <a:solidFill>
                                  <a:schemeClr val="tx1"/>
                                </a:solidFill>
                                <a:latin typeface="Cambria Math"/>
                              </a:rPr>
                            </m:ctrlPr>
                          </m:sSubPr>
                          <m:e>
                            <m:r>
                              <a:rPr lang="en-US" sz="1200">
                                <a:solidFill>
                                  <a:schemeClr val="tx1"/>
                                </a:solidFill>
                                <a:latin typeface="Cambria Math" panose="02040503050406030204" pitchFamily="18" charset="0"/>
                              </a:rPr>
                              <m:t>h</m:t>
                            </m:r>
                          </m:e>
                          <m:sub>
                            <m:r>
                              <a:rPr lang="en-US" sz="1200">
                                <a:solidFill>
                                  <a:schemeClr val="tx1"/>
                                </a:solidFill>
                                <a:latin typeface="Cambria Math" panose="02040503050406030204" pitchFamily="18" charset="0"/>
                              </a:rPr>
                              <m:t>0</m:t>
                            </m:r>
                          </m:sub>
                        </m:sSub>
                        <m:r>
                          <a:rPr lang="en-US" sz="1200">
                            <a:solidFill>
                              <a:schemeClr val="tx1"/>
                            </a:solidFill>
                            <a:latin typeface="Cambria Math" panose="02040503050406030204" pitchFamily="18" charset="0"/>
                          </a:rPr>
                          <m:t>)</m:t>
                        </m:r>
                      </m:num>
                      <m:den>
                        <m:r>
                          <a:rPr lang="en-US" sz="1200">
                            <a:solidFill>
                              <a:schemeClr val="tx1"/>
                            </a:solidFill>
                            <a:latin typeface="Cambria Math" panose="02040503050406030204" pitchFamily="18" charset="0"/>
                          </a:rPr>
                          <m:t>1+</m:t>
                        </m:r>
                        <m:r>
                          <m:rPr>
                            <m:sty m:val="p"/>
                          </m:rPr>
                          <a:rPr lang="en-US" sz="1200">
                            <a:solidFill>
                              <a:schemeClr val="tx1"/>
                            </a:solidFill>
                            <a:latin typeface="Cambria Math" panose="02040503050406030204" pitchFamily="18" charset="0"/>
                          </a:rPr>
                          <m:t>exp</m:t>
                        </m:r>
                        <m:r>
                          <a:rPr lang="en-US" sz="1200">
                            <a:solidFill>
                              <a:schemeClr val="tx1"/>
                            </a:solidFill>
                            <a:latin typeface="Cambria Math" panose="02040503050406030204" pitchFamily="18" charset="0"/>
                          </a:rPr>
                          <m:t>⁡(−</m:t>
                        </m:r>
                        <m:r>
                          <a:rPr lang="en-US" sz="1200">
                            <a:solidFill>
                              <a:schemeClr val="tx1"/>
                            </a:solidFill>
                            <a:latin typeface="Cambria Math" panose="02040503050406030204" pitchFamily="18" charset="0"/>
                          </a:rPr>
                          <m:t>𝛽</m:t>
                        </m:r>
                        <m:d>
                          <m:dPr>
                            <m:ctrlPr>
                              <a:rPr lang="en-US" sz="1200" i="1">
                                <a:solidFill>
                                  <a:schemeClr val="tx1"/>
                                </a:solidFill>
                                <a:latin typeface="Cambria Math"/>
                              </a:rPr>
                            </m:ctrlPr>
                          </m:dPr>
                          <m:e>
                            <m:sSub>
                              <m:sSubPr>
                                <m:ctrlPr>
                                  <a:rPr lang="en-US" sz="1200" i="1">
                                    <a:solidFill>
                                      <a:schemeClr val="tx1"/>
                                    </a:solidFill>
                                    <a:latin typeface="Cambria Math"/>
                                  </a:rPr>
                                </m:ctrlPr>
                              </m:sSubPr>
                              <m:e>
                                <m:r>
                                  <a:rPr lang="en-US" sz="1200">
                                    <a:solidFill>
                                      <a:schemeClr val="tx1"/>
                                    </a:solidFill>
                                    <a:latin typeface="Cambria Math" panose="02040503050406030204" pitchFamily="18" charset="0"/>
                                  </a:rPr>
                                  <m:t>𝑞</m:t>
                                </m:r>
                              </m:e>
                              <m:sub>
                                <m:r>
                                  <a:rPr lang="en-US" sz="1200">
                                    <a:solidFill>
                                      <a:schemeClr val="tx1"/>
                                    </a:solidFill>
                                    <a:latin typeface="Cambria Math" panose="02040503050406030204" pitchFamily="18" charset="0"/>
                                  </a:rPr>
                                  <m:t>𝑡</m:t>
                                </m:r>
                              </m:sub>
                            </m:sSub>
                            <m:r>
                              <a:rPr lang="en-US" sz="1200">
                                <a:solidFill>
                                  <a:schemeClr val="tx1"/>
                                </a:solidFill>
                                <a:latin typeface="Cambria Math" panose="02040503050406030204" pitchFamily="18" charset="0"/>
                              </a:rPr>
                              <m:t>−</m:t>
                            </m:r>
                            <m:r>
                              <a:rPr lang="en-US" sz="1200">
                                <a:solidFill>
                                  <a:schemeClr val="tx1"/>
                                </a:solidFill>
                                <a:latin typeface="Cambria Math" panose="02040503050406030204" pitchFamily="18" charset="0"/>
                              </a:rPr>
                              <m:t>𝛼</m:t>
                            </m:r>
                          </m:e>
                        </m:d>
                        <m:r>
                          <a:rPr lang="en-US" sz="1200">
                            <a:solidFill>
                              <a:schemeClr val="tx1"/>
                            </a:solidFill>
                            <a:latin typeface="Cambria Math" panose="02040503050406030204" pitchFamily="18" charset="0"/>
                          </a:rPr>
                          <m:t>)</m:t>
                        </m:r>
                      </m:den>
                    </m:f>
                  </m:oMath>
                </a14:m>
                <a:endParaRPr lang="en-US" sz="1200" dirty="0">
                  <a:solidFill>
                    <a:schemeClr val="tx1"/>
                  </a:solidFill>
                  <a:latin typeface="Cambria Math" panose="02040503050406030204" pitchFamily="18" charset="0"/>
                </a:endParaRPr>
              </a:p>
              <a:p>
                <a:pPr>
                  <a:lnSpc>
                    <a:spcPct val="150000"/>
                  </a:lnSpc>
                </a:pPr>
                <a:r>
                  <a:rPr lang="en-US" sz="1200" dirty="0" smtClean="0">
                    <a:solidFill>
                      <a:schemeClr val="tx1"/>
                    </a:solidFill>
                    <a:latin typeface="Cambria Math" panose="02040503050406030204" pitchFamily="18" charset="0"/>
                  </a:rPr>
                  <a:t>Deterioration </a:t>
                </a:r>
                <a:r>
                  <a:rPr lang="en-US" sz="1200" dirty="0">
                    <a:solidFill>
                      <a:schemeClr val="tx1"/>
                    </a:solidFill>
                    <a:latin typeface="Cambria Math" panose="02040503050406030204" pitchFamily="18" charset="0"/>
                  </a:rPr>
                  <a:t>factor</a:t>
                </a:r>
                <a:r>
                  <a:rPr lang="en-US" sz="1200" dirty="0" smtClean="0">
                    <a:solidFill>
                      <a:schemeClr val="tx1"/>
                    </a:solidFill>
                    <a:latin typeface="Cambria Math" panose="02040503050406030204" pitchFamily="18" charset="0"/>
                  </a:rPr>
                  <a:t>:  </a:t>
                </a:r>
                <a14:m>
                  <m:oMath xmlns:m="http://schemas.openxmlformats.org/officeDocument/2006/math">
                    <m:r>
                      <m:rPr>
                        <m:sty m:val="p"/>
                      </m:rPr>
                      <a:rPr lang="en-US" sz="1200" b="0" i="0" dirty="0" smtClean="0">
                        <a:solidFill>
                          <a:schemeClr val="tx1"/>
                        </a:solidFill>
                        <a:latin typeface="Cambria Math" panose="02040503050406030204" pitchFamily="18" charset="0"/>
                      </a:rPr>
                      <m:t>C</m:t>
                    </m:r>
                    <m:r>
                      <a:rPr lang="en-US" sz="1200" dirty="0">
                        <a:solidFill>
                          <a:schemeClr val="tx1"/>
                        </a:solidFill>
                        <a:latin typeface="Cambria Math" panose="02040503050406030204" pitchFamily="18" charset="0"/>
                      </a:rPr>
                      <m:t>(</m:t>
                    </m:r>
                    <m:sSub>
                      <m:sSubPr>
                        <m:ctrlPr>
                          <a:rPr lang="en-US" sz="1200" i="1" dirty="0">
                            <a:solidFill>
                              <a:schemeClr val="tx1"/>
                            </a:solidFill>
                            <a:latin typeface="Cambria Math"/>
                          </a:rPr>
                        </m:ctrlPr>
                      </m:sSubPr>
                      <m:e>
                        <m:r>
                          <a:rPr lang="en-US" sz="1200" dirty="0">
                            <a:solidFill>
                              <a:schemeClr val="tx1"/>
                            </a:solidFill>
                            <a:latin typeface="Cambria Math" panose="02040503050406030204" pitchFamily="18" charset="0"/>
                          </a:rPr>
                          <m:t>h</m:t>
                        </m:r>
                      </m:e>
                      <m:sub>
                        <m:r>
                          <a:rPr lang="en-US" sz="1200" dirty="0">
                            <a:solidFill>
                              <a:schemeClr val="tx1"/>
                            </a:solidFill>
                            <a:latin typeface="Cambria Math" panose="02040503050406030204" pitchFamily="18" charset="0"/>
                          </a:rPr>
                          <m:t>𝑜</m:t>
                        </m:r>
                      </m:sub>
                    </m:sSub>
                    <m:r>
                      <a:rPr lang="en-US" sz="1200" dirty="0">
                        <a:solidFill>
                          <a:schemeClr val="tx1"/>
                        </a:solidFill>
                        <a:latin typeface="Cambria Math" panose="02040503050406030204" pitchFamily="18" charset="0"/>
                      </a:rPr>
                      <m:t>,</m:t>
                    </m:r>
                    <m:r>
                      <a:rPr lang="en-US" sz="1200" dirty="0">
                        <a:solidFill>
                          <a:schemeClr val="tx1"/>
                        </a:solidFill>
                        <a:latin typeface="Cambria Math" panose="02040503050406030204" pitchFamily="18" charset="0"/>
                      </a:rPr>
                      <m:t>𝑤</m:t>
                    </m:r>
                    <m:r>
                      <a:rPr lang="en-US" sz="1200" dirty="0">
                        <a:solidFill>
                          <a:schemeClr val="tx1"/>
                        </a:solidFill>
                        <a:latin typeface="Cambria Math" panose="02040503050406030204" pitchFamily="18" charset="0"/>
                      </a:rPr>
                      <m:t>)=</m:t>
                    </m:r>
                    <m:sSup>
                      <m:sSupPr>
                        <m:ctrlPr>
                          <a:rPr lang="en-US" sz="1200" i="1" dirty="0">
                            <a:solidFill>
                              <a:schemeClr val="tx1"/>
                            </a:solidFill>
                            <a:latin typeface="Cambria Math"/>
                          </a:rPr>
                        </m:ctrlPr>
                      </m:sSupPr>
                      <m:e>
                        <m:d>
                          <m:dPr>
                            <m:ctrlPr>
                              <a:rPr lang="en-US" sz="1200" i="1" dirty="0">
                                <a:solidFill>
                                  <a:schemeClr val="tx1"/>
                                </a:solidFill>
                                <a:latin typeface="Cambria Math"/>
                              </a:rPr>
                            </m:ctrlPr>
                          </m:dPr>
                          <m:e>
                            <m:r>
                              <a:rPr lang="en-US" sz="1200" dirty="0">
                                <a:solidFill>
                                  <a:schemeClr val="tx1"/>
                                </a:solidFill>
                                <a:latin typeface="Cambria Math" panose="02040503050406030204" pitchFamily="18" charset="0"/>
                              </a:rPr>
                              <m:t>1−</m:t>
                            </m:r>
                            <m:f>
                              <m:fPr>
                                <m:ctrlPr>
                                  <a:rPr lang="en-US" sz="1200" i="1" dirty="0">
                                    <a:solidFill>
                                      <a:schemeClr val="tx1"/>
                                    </a:solidFill>
                                    <a:latin typeface="Cambria Math"/>
                                  </a:rPr>
                                </m:ctrlPr>
                              </m:fPr>
                              <m:num>
                                <m:r>
                                  <a:rPr lang="en-US" sz="1200" dirty="0">
                                    <a:solidFill>
                                      <a:schemeClr val="tx1"/>
                                    </a:solidFill>
                                    <a:latin typeface="Cambria Math" panose="02040503050406030204" pitchFamily="18" charset="0"/>
                                  </a:rPr>
                                  <m:t>𝑤</m:t>
                                </m:r>
                              </m:num>
                              <m:den>
                                <m:sSub>
                                  <m:sSubPr>
                                    <m:ctrlPr>
                                      <a:rPr lang="en-US" sz="1200" i="1" dirty="0">
                                        <a:solidFill>
                                          <a:schemeClr val="tx1"/>
                                        </a:solidFill>
                                        <a:latin typeface="Cambria Math"/>
                                      </a:rPr>
                                    </m:ctrlPr>
                                  </m:sSubPr>
                                  <m:e>
                                    <m:r>
                                      <a:rPr lang="en-US" sz="1200" dirty="0">
                                        <a:solidFill>
                                          <a:schemeClr val="tx1"/>
                                        </a:solidFill>
                                        <a:latin typeface="Cambria Math" panose="02040503050406030204" pitchFamily="18" charset="0"/>
                                      </a:rPr>
                                      <m:t>h</m:t>
                                    </m:r>
                                  </m:e>
                                  <m:sub>
                                    <m:r>
                                      <a:rPr lang="en-US" sz="1200" dirty="0">
                                        <a:solidFill>
                                          <a:schemeClr val="tx1"/>
                                        </a:solidFill>
                                        <a:latin typeface="Cambria Math" panose="02040503050406030204" pitchFamily="18" charset="0"/>
                                      </a:rPr>
                                      <m:t>𝑜</m:t>
                                    </m:r>
                                  </m:sub>
                                </m:sSub>
                              </m:den>
                            </m:f>
                          </m:e>
                        </m:d>
                      </m:e>
                      <m:sup>
                        <m:r>
                          <a:rPr lang="en-US" sz="1200" dirty="0">
                            <a:solidFill>
                              <a:schemeClr val="tx1"/>
                            </a:solidFill>
                            <a:latin typeface="Cambria Math" panose="02040503050406030204" pitchFamily="18" charset="0"/>
                          </a:rPr>
                          <m:t>𝛾</m:t>
                        </m:r>
                      </m:sup>
                    </m:sSup>
                  </m:oMath>
                </a14:m>
                <a:endParaRPr lang="en-US" sz="1200" dirty="0">
                  <a:solidFill>
                    <a:schemeClr val="tx1"/>
                  </a:solidFill>
                </a:endParaRPr>
              </a:p>
            </p:txBody>
          </p:sp>
        </mc:Choice>
        <mc:Fallback xmlns="">
          <p:sp>
            <p:nvSpPr>
              <p:cNvPr id="11" name="Rectangle 10"/>
              <p:cNvSpPr>
                <a:spLocks noRot="1" noChangeAspect="1" noMove="1" noResize="1" noEditPoints="1" noAdjustHandles="1" noChangeArrowheads="1" noChangeShapeType="1" noTextEdit="1"/>
              </p:cNvSpPr>
              <p:nvPr/>
            </p:nvSpPr>
            <p:spPr>
              <a:xfrm>
                <a:off x="5436752" y="3060431"/>
                <a:ext cx="3272650" cy="1563851"/>
              </a:xfrm>
              <a:prstGeom prst="rect">
                <a:avLst/>
              </a:prstGeom>
              <a:blipFill rotWithShape="1">
                <a:blip r:embed="rId6"/>
                <a:stretch>
                  <a:fillRect/>
                </a:stretch>
              </a:blipFill>
              <a:ln>
                <a:solidFill>
                  <a:schemeClr val="accent6">
                    <a:lumMod val="50000"/>
                  </a:schemeClr>
                </a:solidFill>
              </a:ln>
            </p:spPr>
            <p:txBody>
              <a:bodyPr/>
              <a:lstStyle/>
              <a:p>
                <a:r>
                  <a:rPr lang="en-US">
                    <a:noFill/>
                  </a:rPr>
                  <a:t> </a:t>
                </a:r>
              </a:p>
            </p:txBody>
          </p:sp>
        </mc:Fallback>
      </mc:AlternateContent>
      <p:sp>
        <p:nvSpPr>
          <p:cNvPr id="12" name="Rounded Rectangle 11"/>
          <p:cNvSpPr/>
          <p:nvPr/>
        </p:nvSpPr>
        <p:spPr>
          <a:xfrm>
            <a:off x="5436752" y="2750520"/>
            <a:ext cx="3272650" cy="304061"/>
          </a:xfrm>
          <a:prstGeom prst="roundRect">
            <a:avLst/>
          </a:prstGeom>
          <a:solidFill>
            <a:schemeClr val="accent6">
              <a:lumMod val="60000"/>
              <a:lumOff val="4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Cambria Math" panose="02040503050406030204" pitchFamily="18" charset="0"/>
              </a:rPr>
              <a:t>Kidney transplant </a:t>
            </a:r>
          </a:p>
        </p:txBody>
      </p:sp>
      <p:sp>
        <p:nvSpPr>
          <p:cNvPr id="13" name="Rounded Rectangle 12"/>
          <p:cNvSpPr/>
          <p:nvPr/>
        </p:nvSpPr>
        <p:spPr>
          <a:xfrm>
            <a:off x="3424917" y="2260638"/>
            <a:ext cx="1557338" cy="285750"/>
          </a:xfrm>
          <a:prstGeom prst="roundRect">
            <a:avLst/>
          </a:prstGeom>
          <a:solidFill>
            <a:schemeClr val="accent4">
              <a:lumMod val="60000"/>
              <a:lumOff val="4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Cambria Math" panose="02040503050406030204" pitchFamily="18" charset="0"/>
              </a:rPr>
              <a:t>Patient removal</a:t>
            </a:r>
          </a:p>
        </p:txBody>
      </p:sp>
      <p:graphicFrame>
        <p:nvGraphicFramePr>
          <p:cNvPr id="14" name="Table 13"/>
          <p:cNvGraphicFramePr>
            <a:graphicFrameLocks noGrp="1"/>
          </p:cNvGraphicFramePr>
          <p:nvPr>
            <p:extLst>
              <p:ext uri="{D42A27DB-BD31-4B8C-83A1-F6EECF244321}">
                <p14:modId xmlns:p14="http://schemas.microsoft.com/office/powerpoint/2010/main" val="3618902311"/>
              </p:ext>
            </p:extLst>
          </p:nvPr>
        </p:nvGraphicFramePr>
        <p:xfrm>
          <a:off x="3054507" y="877664"/>
          <a:ext cx="2240756" cy="831412"/>
        </p:xfrm>
        <a:graphic>
          <a:graphicData uri="http://schemas.openxmlformats.org/drawingml/2006/table">
            <a:tbl>
              <a:tblPr firstRow="1" bandRow="1">
                <a:tableStyleId>{5C22544A-7EE6-4342-B048-85BDC9FD1C3A}</a:tableStyleId>
              </a:tblPr>
              <a:tblGrid>
                <a:gridCol w="560189">
                  <a:extLst>
                    <a:ext uri="{9D8B030D-6E8A-4147-A177-3AD203B41FA5}">
                      <a16:colId xmlns:a16="http://schemas.microsoft.com/office/drawing/2014/main" xmlns="" val="20000"/>
                    </a:ext>
                  </a:extLst>
                </a:gridCol>
                <a:gridCol w="560189">
                  <a:extLst>
                    <a:ext uri="{9D8B030D-6E8A-4147-A177-3AD203B41FA5}">
                      <a16:colId xmlns:a16="http://schemas.microsoft.com/office/drawing/2014/main" xmlns="" val="20001"/>
                    </a:ext>
                  </a:extLst>
                </a:gridCol>
                <a:gridCol w="560189">
                  <a:extLst>
                    <a:ext uri="{9D8B030D-6E8A-4147-A177-3AD203B41FA5}">
                      <a16:colId xmlns:a16="http://schemas.microsoft.com/office/drawing/2014/main" xmlns="" val="20002"/>
                    </a:ext>
                  </a:extLst>
                </a:gridCol>
                <a:gridCol w="560189">
                  <a:extLst>
                    <a:ext uri="{9D8B030D-6E8A-4147-A177-3AD203B41FA5}">
                      <a16:colId xmlns:a16="http://schemas.microsoft.com/office/drawing/2014/main" xmlns="" val="20003"/>
                    </a:ext>
                  </a:extLst>
                </a:gridCol>
              </a:tblGrid>
              <a:tr h="831412">
                <a:tc>
                  <a:txBody>
                    <a:bodyPr/>
                    <a:lstStyle/>
                    <a:p>
                      <a:endParaRPr lang="en-US"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0000"/>
                  </a:ext>
                </a:extLst>
              </a:tr>
            </a:tbl>
          </a:graphicData>
        </a:graphic>
      </p:graphicFrame>
      <p:cxnSp>
        <p:nvCxnSpPr>
          <p:cNvPr id="27" name="Straight Arrow Connector 26"/>
          <p:cNvCxnSpPr/>
          <p:nvPr/>
        </p:nvCxnSpPr>
        <p:spPr>
          <a:xfrm>
            <a:off x="4178259" y="1740061"/>
            <a:ext cx="0" cy="497941"/>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29" name="Straight Arrow Connector 28"/>
          <p:cNvCxnSpPr/>
          <p:nvPr/>
        </p:nvCxnSpPr>
        <p:spPr>
          <a:xfrm>
            <a:off x="7071449" y="2365938"/>
            <a:ext cx="0" cy="36576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23" name="Rectangle 22"/>
          <p:cNvSpPr/>
          <p:nvPr/>
        </p:nvSpPr>
        <p:spPr>
          <a:xfrm>
            <a:off x="1258093" y="-16725"/>
            <a:ext cx="6458713" cy="461665"/>
          </a:xfrm>
          <a:prstGeom prst="rect">
            <a:avLst/>
          </a:prstGeom>
        </p:spPr>
        <p:txBody>
          <a:bodyPr wrap="square">
            <a:spAutoFit/>
          </a:bodyPr>
          <a:lstStyle/>
          <a:p>
            <a:pPr algn="ctr"/>
            <a:r>
              <a:rPr lang="en-US" sz="2400" dirty="0" smtClean="0">
                <a:solidFill>
                  <a:schemeClr val="accent1">
                    <a:lumMod val="75000"/>
                  </a:schemeClr>
                </a:solidFill>
                <a:latin typeface="+mj-lt"/>
              </a:rPr>
              <a:t>Simulation Model &amp; Assumptions</a:t>
            </a:r>
            <a:endParaRPr lang="en-US" sz="2400" dirty="0">
              <a:solidFill>
                <a:schemeClr val="accent1">
                  <a:lumMod val="75000"/>
                </a:schemeClr>
              </a:solidFill>
              <a:latin typeface="+mj-lt"/>
            </a:endParaRPr>
          </a:p>
        </p:txBody>
      </p:sp>
      <p:sp>
        <p:nvSpPr>
          <p:cNvPr id="3" name="Slide Number Placeholder 2"/>
          <p:cNvSpPr>
            <a:spLocks noGrp="1"/>
          </p:cNvSpPr>
          <p:nvPr>
            <p:ph type="sldNum" sz="quarter" idx="4294967295"/>
          </p:nvPr>
        </p:nvSpPr>
        <p:spPr>
          <a:xfrm>
            <a:off x="0" y="4725988"/>
            <a:ext cx="2057400" cy="274637"/>
          </a:xfrm>
          <a:prstGeom prst="rect">
            <a:avLst/>
          </a:prstGeom>
        </p:spPr>
        <p:txBody>
          <a:bodyPr/>
          <a:lstStyle/>
          <a:p>
            <a:fld id="{69E57DC2-970A-4B3E-BB1C-7A09969E49DF}" type="slidenum">
              <a:rPr lang="en-US" smtClean="0"/>
              <a:t>8</a:t>
            </a:fld>
            <a:endParaRPr lang="en-US" dirty="0"/>
          </a:p>
        </p:txBody>
      </p:sp>
      <p:sp>
        <p:nvSpPr>
          <p:cNvPr id="2" name="Notched Right Arrow 1"/>
          <p:cNvSpPr/>
          <p:nvPr/>
        </p:nvSpPr>
        <p:spPr>
          <a:xfrm>
            <a:off x="2722793" y="1156727"/>
            <a:ext cx="401955" cy="273285"/>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p:cNvPicPr>
            <a:picLocks noChangeAspect="1"/>
          </p:cNvPicPr>
          <p:nvPr/>
        </p:nvPicPr>
        <p:blipFill>
          <a:blip r:embed="rId7"/>
          <a:stretch>
            <a:fillRect/>
          </a:stretch>
        </p:blipFill>
        <p:spPr>
          <a:xfrm>
            <a:off x="5117092" y="1156727"/>
            <a:ext cx="356342" cy="273285"/>
          </a:xfrm>
          <a:prstGeom prst="rect">
            <a:avLst/>
          </a:prstGeom>
        </p:spPr>
      </p:pic>
      <p:sp>
        <p:nvSpPr>
          <p:cNvPr id="17" name="Right Brace 16"/>
          <p:cNvSpPr/>
          <p:nvPr/>
        </p:nvSpPr>
        <p:spPr>
          <a:xfrm rot="5400000">
            <a:off x="4941125" y="1528333"/>
            <a:ext cx="142408" cy="565867"/>
          </a:xfrm>
          <a:prstGeom prst="rightBrace">
            <a:avLst>
              <a:gd name="adj1" fmla="val 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Rectangle 17"/>
          <p:cNvSpPr/>
          <p:nvPr/>
        </p:nvSpPr>
        <p:spPr>
          <a:xfrm>
            <a:off x="4855594" y="1751580"/>
            <a:ext cx="298480" cy="369332"/>
          </a:xfrm>
          <a:prstGeom prst="rect">
            <a:avLst/>
          </a:prstGeom>
        </p:spPr>
        <p:txBody>
          <a:bodyPr wrap="none">
            <a:spAutoFit/>
          </a:bodyPr>
          <a:lstStyle/>
          <a:p>
            <a:r>
              <a:rPr lang="en-US" dirty="0">
                <a:latin typeface="Cambria Math" panose="02040503050406030204" pitchFamily="18" charset="0"/>
              </a:rPr>
              <a:t>g</a:t>
            </a:r>
            <a:endParaRPr lang="en-US" dirty="0"/>
          </a:p>
        </p:txBody>
      </p:sp>
    </p:spTree>
    <p:extLst>
      <p:ext uri="{BB962C8B-B14F-4D97-AF65-F5344CB8AC3E}">
        <p14:creationId xmlns:p14="http://schemas.microsoft.com/office/powerpoint/2010/main" val="180921016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xmlns:p14="http://schemas.microsoft.com/office/powerpoint/2010/mai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0" grpId="0" animBg="1"/>
      <p:bldP spid="11" grpId="0" animBg="1"/>
      <p:bldP spid="12" grpId="0" animBg="1"/>
      <p:bldP spid="13" grpId="0" animBg="1"/>
      <p:bldP spid="17" grpId="0" animBg="1"/>
      <p:bldP spid="1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2400" dirty="0" smtClean="0">
                <a:solidFill>
                  <a:schemeClr val="accent1">
                    <a:lumMod val="75000"/>
                  </a:schemeClr>
                </a:solidFill>
                <a:latin typeface="+mj-lt"/>
              </a:rPr>
              <a:t>Method and Questions</a:t>
            </a:r>
            <a:endParaRPr lang="en-US" sz="2400" dirty="0">
              <a:solidFill>
                <a:schemeClr val="accent1">
                  <a:lumMod val="75000"/>
                </a:schemeClr>
              </a:solidFill>
              <a:latin typeface="+mj-lt"/>
            </a:endParaRPr>
          </a:p>
        </p:txBody>
      </p:sp>
      <p:sp>
        <p:nvSpPr>
          <p:cNvPr id="3" name="Text Placeholder 2"/>
          <p:cNvSpPr>
            <a:spLocks noGrp="1"/>
          </p:cNvSpPr>
          <p:nvPr>
            <p:ph idx="1"/>
          </p:nvPr>
        </p:nvSpPr>
        <p:spPr/>
        <p:txBody>
          <a:bodyPr>
            <a:normAutofit/>
          </a:bodyPr>
          <a:lstStyle/>
          <a:p>
            <a:pPr marL="21034" lvl="1" indent="0" fontAlgn="base">
              <a:spcBef>
                <a:spcPct val="0"/>
              </a:spcBef>
              <a:spcAft>
                <a:spcPts val="600"/>
              </a:spcAft>
              <a:buNone/>
            </a:pPr>
            <a:r>
              <a:rPr lang="en-US" sz="1800" b="1" dirty="0" smtClean="0">
                <a:solidFill>
                  <a:schemeClr val="tx1"/>
                </a:solidFill>
                <a:latin typeface="+mn-lt"/>
              </a:rPr>
              <a:t>Simulation optimization model </a:t>
            </a:r>
            <a:r>
              <a:rPr lang="en-US" sz="1800" dirty="0" smtClean="0">
                <a:solidFill>
                  <a:schemeClr val="tx1"/>
                </a:solidFill>
                <a:latin typeface="+mn-lt"/>
              </a:rPr>
              <a:t>to evaluate the impact of information sharing on organ transplantation.</a:t>
            </a:r>
          </a:p>
          <a:p>
            <a:pPr marL="117475" lvl="1" fontAlgn="base">
              <a:spcBef>
                <a:spcPct val="0"/>
              </a:spcBef>
              <a:spcAft>
                <a:spcPts val="600"/>
              </a:spcAft>
            </a:pPr>
            <a:endParaRPr lang="en-US" sz="1750" dirty="0">
              <a:solidFill>
                <a:schemeClr val="tx1"/>
              </a:solidFill>
              <a:latin typeface="+mn-lt"/>
              <a:ea typeface="ＭＳ Ｐゴシック" charset="0"/>
              <a:cs typeface="ＭＳ Ｐゴシック" charset="0"/>
            </a:endParaRPr>
          </a:p>
          <a:p>
            <a:pPr marL="460375" lvl="1" indent="-342900" fontAlgn="base">
              <a:spcBef>
                <a:spcPct val="0"/>
              </a:spcBef>
              <a:spcAft>
                <a:spcPts val="600"/>
              </a:spcAft>
              <a:buFont typeface="+mj-lt"/>
              <a:buAutoNum type="arabicPeriod"/>
            </a:pPr>
            <a:r>
              <a:rPr lang="en-US" sz="1750" dirty="0" smtClean="0">
                <a:solidFill>
                  <a:schemeClr val="tx1"/>
                </a:solidFill>
                <a:latin typeface="+mn-lt"/>
                <a:ea typeface="ＭＳ Ｐゴシック" charset="0"/>
                <a:cs typeface="ＭＳ Ｐゴシック" charset="0"/>
              </a:rPr>
              <a:t>Information sharing from OPTN to patient and surgeon.</a:t>
            </a:r>
          </a:p>
          <a:p>
            <a:pPr marL="803275" lvl="2" indent="-342900" fontAlgn="base">
              <a:spcBef>
                <a:spcPct val="0"/>
              </a:spcBef>
              <a:spcAft>
                <a:spcPts val="600"/>
              </a:spcAft>
              <a:buFont typeface="Arial" panose="020B0604020202020204" pitchFamily="34" charset="0"/>
              <a:buChar char="•"/>
            </a:pPr>
            <a:r>
              <a:rPr lang="en-US" sz="1450" dirty="0" smtClean="0">
                <a:solidFill>
                  <a:schemeClr val="tx1"/>
                </a:solidFill>
                <a:latin typeface="+mn-lt"/>
                <a:ea typeface="ＭＳ Ｐゴシック" charset="0"/>
                <a:cs typeface="ＭＳ Ｐゴシック" charset="0"/>
              </a:rPr>
              <a:t>What </a:t>
            </a:r>
            <a:r>
              <a:rPr lang="en-US" sz="1450" dirty="0">
                <a:solidFill>
                  <a:schemeClr val="tx1"/>
                </a:solidFill>
                <a:latin typeface="+mn-lt"/>
                <a:ea typeface="ＭＳ Ｐゴシック" charset="0"/>
                <a:cs typeface="ＭＳ Ｐゴシック" charset="0"/>
              </a:rPr>
              <a:t>is the optimal </a:t>
            </a:r>
            <a:r>
              <a:rPr lang="en-US" sz="1450" b="1" dirty="0">
                <a:solidFill>
                  <a:srgbClr val="FF0000"/>
                </a:solidFill>
                <a:latin typeface="+mn-lt"/>
                <a:ea typeface="ＭＳ Ｐゴシック" charset="0"/>
                <a:cs typeface="ＭＳ Ｐゴシック" charset="0"/>
              </a:rPr>
              <a:t>kidney acceptance policy </a:t>
            </a:r>
            <a:r>
              <a:rPr lang="en-US" sz="1450" dirty="0">
                <a:solidFill>
                  <a:schemeClr val="tx1"/>
                </a:solidFill>
                <a:latin typeface="+mn-lt"/>
                <a:ea typeface="ＭＳ Ｐゴシック" charset="0"/>
                <a:cs typeface="ＭＳ Ｐゴシック" charset="0"/>
              </a:rPr>
              <a:t>depending on region</a:t>
            </a:r>
            <a:r>
              <a:rPr lang="en-US" sz="1450" dirty="0" smtClean="0">
                <a:solidFill>
                  <a:schemeClr val="tx1"/>
                </a:solidFill>
                <a:latin typeface="+mn-lt"/>
                <a:ea typeface="ＭＳ Ｐゴシック" charset="0"/>
                <a:cs typeface="ＭＳ Ｐゴシック" charset="0"/>
              </a:rPr>
              <a:t>?</a:t>
            </a:r>
            <a:endParaRPr lang="en-US" sz="1600" dirty="0" smtClean="0">
              <a:solidFill>
                <a:schemeClr val="tx1"/>
              </a:solidFill>
              <a:latin typeface="+mn-lt"/>
              <a:ea typeface="ＭＳ Ｐゴシック" charset="0"/>
              <a:cs typeface="ＭＳ Ｐゴシック" charset="0"/>
            </a:endParaRPr>
          </a:p>
          <a:p>
            <a:pPr marL="803275" lvl="2" indent="-342900" fontAlgn="base">
              <a:spcBef>
                <a:spcPct val="0"/>
              </a:spcBef>
              <a:spcAft>
                <a:spcPts val="600"/>
              </a:spcAft>
              <a:buFont typeface="Arial" panose="020B0604020202020204" pitchFamily="34" charset="0"/>
              <a:buChar char="•"/>
            </a:pPr>
            <a:r>
              <a:rPr lang="en-US" sz="1600" dirty="0" smtClean="0">
                <a:solidFill>
                  <a:schemeClr val="tx1"/>
                </a:solidFill>
                <a:latin typeface="+mn-lt"/>
                <a:ea typeface="ＭＳ Ｐゴシック" charset="0"/>
                <a:cs typeface="ＭＳ Ｐゴシック" charset="0"/>
              </a:rPr>
              <a:t>How to find the optimal </a:t>
            </a:r>
            <a:r>
              <a:rPr lang="en-US" sz="1600" b="1" dirty="0" smtClean="0">
                <a:solidFill>
                  <a:srgbClr val="FF0000"/>
                </a:solidFill>
                <a:latin typeface="+mn-lt"/>
                <a:ea typeface="ＭＳ Ｐゴシック" charset="0"/>
                <a:cs typeface="ＭＳ Ｐゴシック" charset="0"/>
              </a:rPr>
              <a:t>region selection policy </a:t>
            </a:r>
            <a:r>
              <a:rPr lang="en-US" sz="1600" dirty="0" smtClean="0">
                <a:solidFill>
                  <a:schemeClr val="tx1"/>
                </a:solidFill>
                <a:latin typeface="+mn-lt"/>
                <a:ea typeface="ＭＳ Ｐゴシック" charset="0"/>
                <a:cs typeface="ＭＳ Ｐゴシック" charset="0"/>
              </a:rPr>
              <a:t>under a set of budget, distance and performance constraints? </a:t>
            </a:r>
            <a:endParaRPr lang="en-US" sz="1650" dirty="0" smtClean="0">
              <a:solidFill>
                <a:schemeClr val="tx1"/>
              </a:solidFill>
              <a:latin typeface="+mn-lt"/>
              <a:ea typeface="ＭＳ Ｐゴシック" charset="0"/>
              <a:cs typeface="ＭＳ Ｐゴシック" charset="0"/>
            </a:endParaRPr>
          </a:p>
          <a:p>
            <a:pPr marL="460375" lvl="1" indent="-342900" fontAlgn="base">
              <a:spcBef>
                <a:spcPct val="0"/>
              </a:spcBef>
              <a:spcAft>
                <a:spcPts val="600"/>
              </a:spcAft>
              <a:buFont typeface="+mj-lt"/>
              <a:buAutoNum type="arabicPeriod"/>
            </a:pPr>
            <a:endParaRPr lang="en-US" sz="1800" dirty="0" smtClean="0">
              <a:solidFill>
                <a:schemeClr val="tx1"/>
              </a:solidFill>
              <a:latin typeface="+mn-lt"/>
              <a:ea typeface="ＭＳ Ｐゴシック" charset="0"/>
              <a:cs typeface="ＭＳ Ｐゴシック" charset="0"/>
            </a:endParaRPr>
          </a:p>
          <a:p>
            <a:pPr marL="460375" lvl="1" indent="-342900" fontAlgn="base">
              <a:spcBef>
                <a:spcPct val="0"/>
              </a:spcBef>
              <a:spcAft>
                <a:spcPts val="600"/>
              </a:spcAft>
              <a:buFont typeface="+mj-lt"/>
              <a:buAutoNum type="arabicPeriod"/>
            </a:pPr>
            <a:r>
              <a:rPr lang="en-US" sz="1800" dirty="0" smtClean="0">
                <a:solidFill>
                  <a:schemeClr val="tx1"/>
                </a:solidFill>
                <a:latin typeface="+mn-lt"/>
                <a:ea typeface="ＭＳ Ｐゴシック" charset="0"/>
                <a:cs typeface="ＭＳ Ｐゴシック" charset="0"/>
              </a:rPr>
              <a:t>Information sharing from patient/surgeon with OPTN</a:t>
            </a:r>
          </a:p>
          <a:p>
            <a:pPr marL="803275" lvl="2" indent="-342900" fontAlgn="base">
              <a:spcBef>
                <a:spcPct val="0"/>
              </a:spcBef>
              <a:spcAft>
                <a:spcPts val="600"/>
              </a:spcAft>
              <a:buFont typeface="Arial" panose="020B0604020202020204" pitchFamily="34" charset="0"/>
              <a:buChar char="•"/>
            </a:pPr>
            <a:r>
              <a:rPr lang="en-US" sz="1650" dirty="0" smtClean="0">
                <a:solidFill>
                  <a:schemeClr val="tx1"/>
                </a:solidFill>
                <a:latin typeface="+mn-lt"/>
                <a:ea typeface="ＭＳ Ｐゴシック" charset="0"/>
                <a:cs typeface="ＭＳ Ｐゴシック" charset="0"/>
              </a:rPr>
              <a:t>How does </a:t>
            </a:r>
            <a:r>
              <a:rPr lang="en-US" sz="1650" b="1" dirty="0" smtClean="0">
                <a:solidFill>
                  <a:srgbClr val="FF0000"/>
                </a:solidFill>
                <a:latin typeface="+mn-lt"/>
                <a:ea typeface="ＭＳ Ｐゴシック" charset="0"/>
                <a:cs typeface="ＭＳ Ｐゴシック" charset="0"/>
              </a:rPr>
              <a:t>information sharing  </a:t>
            </a:r>
            <a:r>
              <a:rPr lang="en-US" sz="1650" dirty="0" smtClean="0">
                <a:solidFill>
                  <a:schemeClr val="tx1"/>
                </a:solidFill>
                <a:latin typeface="+mn-lt"/>
                <a:ea typeface="ＭＳ Ｐゴシック" charset="0"/>
                <a:cs typeface="ＭＳ Ｐゴシック" charset="0"/>
              </a:rPr>
              <a:t>improve the efficiency of the kidney allocation system and enhance social welfare utility?</a:t>
            </a:r>
          </a:p>
        </p:txBody>
      </p:sp>
      <p:sp>
        <p:nvSpPr>
          <p:cNvPr id="4" name="Slide Number Placeholder 3"/>
          <p:cNvSpPr>
            <a:spLocks noGrp="1"/>
          </p:cNvSpPr>
          <p:nvPr>
            <p:ph type="sldNum" sz="quarter" idx="4294967295"/>
          </p:nvPr>
        </p:nvSpPr>
        <p:spPr>
          <a:xfrm>
            <a:off x="0" y="4760913"/>
            <a:ext cx="2057400" cy="274637"/>
          </a:xfrm>
          <a:prstGeom prst="rect">
            <a:avLst/>
          </a:prstGeom>
        </p:spPr>
        <p:txBody>
          <a:bodyPr/>
          <a:lstStyle/>
          <a:p>
            <a:fld id="{69E57DC2-970A-4B3E-BB1C-7A09969E49DF}" type="slidenum">
              <a:rPr lang="en-US" smtClean="0"/>
              <a:pPr/>
              <a:t>9</a:t>
            </a:fld>
            <a:endParaRPr lang="en-US" dirty="0"/>
          </a:p>
        </p:txBody>
      </p:sp>
      <p:sp>
        <p:nvSpPr>
          <p:cNvPr id="5" name="Rounded Rectangle 4"/>
          <p:cNvSpPr/>
          <p:nvPr/>
        </p:nvSpPr>
        <p:spPr>
          <a:xfrm>
            <a:off x="667062" y="2276975"/>
            <a:ext cx="6723089" cy="308828"/>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0797265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xmlns:p14="http://schemas.microsoft.com/office/powerpoint/2010/main">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0" y="4760913"/>
            <a:ext cx="2057400" cy="274637"/>
          </a:xfrm>
          <a:prstGeom prst="rect">
            <a:avLst/>
          </a:prstGeom>
        </p:spPr>
        <p:txBody>
          <a:bodyPr/>
          <a:lstStyle/>
          <a:p>
            <a:fld id="{69E57DC2-970A-4B3E-BB1C-7A09969E49DF}" type="slidenum">
              <a:rPr lang="en-US" smtClean="0"/>
              <a:pPr/>
              <a:t>10</a:t>
            </a:fld>
            <a:endParaRPr lang="en-US" dirty="0"/>
          </a:p>
        </p:txBody>
      </p:sp>
      <mc:AlternateContent xmlns:mc="http://schemas.openxmlformats.org/markup-compatibility/2006" xmlns:a14="http://schemas.microsoft.com/office/drawing/2010/main">
        <mc:Choice Requires="a14">
          <p:sp>
            <p:nvSpPr>
              <p:cNvPr id="6" name="Rectangle 5"/>
              <p:cNvSpPr/>
              <p:nvPr/>
            </p:nvSpPr>
            <p:spPr>
              <a:xfrm>
                <a:off x="618517" y="1202125"/>
                <a:ext cx="7711561" cy="1464503"/>
              </a:xfrm>
              <a:prstGeom prst="rect">
                <a:avLst/>
              </a:prstGeom>
            </p:spPr>
            <p:txBody>
              <a:bodyPr wrap="square">
                <a:spAutoFit/>
              </a:bodyPr>
              <a:lstStyle/>
              <a:p>
                <a:pPr>
                  <a:spcAft>
                    <a:spcPts val="600"/>
                  </a:spcAft>
                </a:pPr>
                <a14:m>
                  <m:oMath xmlns:m="http://schemas.openxmlformats.org/officeDocument/2006/math">
                    <m:func>
                      <m:funcPr>
                        <m:ctrlPr>
                          <a:rPr lang="en-US" sz="2000" i="1" smtClean="0">
                            <a:solidFill>
                              <a:prstClr val="black"/>
                            </a:solidFill>
                            <a:latin typeface="Cambria Math"/>
                            <a:ea typeface="Cambria Math" panose="02040503050406030204" pitchFamily="18" charset="0"/>
                          </a:rPr>
                        </m:ctrlPr>
                      </m:funcPr>
                      <m:fName>
                        <m:limLow>
                          <m:limLowPr>
                            <m:ctrlPr>
                              <a:rPr lang="en-US" sz="2000" i="1">
                                <a:solidFill>
                                  <a:prstClr val="black"/>
                                </a:solidFill>
                                <a:latin typeface="Cambria Math"/>
                                <a:ea typeface="Cambria Math" panose="02040503050406030204" pitchFamily="18" charset="0"/>
                              </a:rPr>
                            </m:ctrlPr>
                          </m:limLowPr>
                          <m:e>
                            <m:r>
                              <m:rPr>
                                <m:sty m:val="p"/>
                              </m:rPr>
                              <a:rPr lang="en-US" sz="2000">
                                <a:solidFill>
                                  <a:prstClr val="black"/>
                                </a:solidFill>
                                <a:latin typeface="Cambria Math"/>
                                <a:ea typeface="Cambria Math" panose="02040503050406030204" pitchFamily="18" charset="0"/>
                              </a:rPr>
                              <m:t>max</m:t>
                            </m:r>
                          </m:e>
                          <m:lim>
                            <m:r>
                              <a:rPr lang="en-US" sz="2000" i="1">
                                <a:solidFill>
                                  <a:prstClr val="black"/>
                                </a:solidFill>
                                <a:latin typeface="Cambria Math"/>
                                <a:ea typeface="Cambria Math" panose="02040503050406030204" pitchFamily="18" charset="0"/>
                              </a:rPr>
                              <m:t>𝑘</m:t>
                            </m:r>
                          </m:lim>
                        </m:limLow>
                      </m:fName>
                      <m:e>
                        <m:r>
                          <m:rPr>
                            <m:sty m:val="p"/>
                          </m:rPr>
                          <a:rPr lang="en-US" sz="2000">
                            <a:solidFill>
                              <a:prstClr val="black"/>
                            </a:solidFill>
                            <a:latin typeface="Cambria Math" panose="02040503050406030204" pitchFamily="18" charset="0"/>
                            <a:ea typeface="Cambria Math" panose="02040503050406030204" pitchFamily="18" charset="0"/>
                          </a:rPr>
                          <m:t>E</m:t>
                        </m:r>
                        <m:r>
                          <a:rPr lang="en-US" sz="2000">
                            <a:solidFill>
                              <a:prstClr val="black"/>
                            </a:solidFill>
                            <a:latin typeface="Cambria Math" panose="02040503050406030204" pitchFamily="18" charset="0"/>
                            <a:ea typeface="Cambria Math" panose="02040503050406030204" pitchFamily="18" charset="0"/>
                          </a:rPr>
                          <m:t>[</m:t>
                        </m:r>
                        <m:sSub>
                          <m:sSubPr>
                            <m:ctrlPr>
                              <a:rPr lang="en-US" sz="2000" b="0" i="1" smtClean="0">
                                <a:solidFill>
                                  <a:prstClr val="black"/>
                                </a:solidFill>
                                <a:latin typeface="Cambria Math"/>
                                <a:ea typeface="Cambria Math" panose="02040503050406030204" pitchFamily="18" charset="0"/>
                              </a:rPr>
                            </m:ctrlPr>
                          </m:sSubPr>
                          <m:e>
                            <m:r>
                              <m:rPr>
                                <m:sty m:val="p"/>
                              </m:rPr>
                              <a:rPr lang="en-US" sz="2000">
                                <a:solidFill>
                                  <a:prstClr val="black"/>
                                </a:solidFill>
                                <a:latin typeface="Cambria Math" panose="02040503050406030204" pitchFamily="18" charset="0"/>
                                <a:ea typeface="Cambria Math" panose="02040503050406030204" pitchFamily="18" charset="0"/>
                              </a:rPr>
                              <m:t>U</m:t>
                            </m:r>
                          </m:e>
                          <m:sub>
                            <m:r>
                              <m:rPr>
                                <m:sty m:val="p"/>
                              </m:rPr>
                              <a:rPr lang="en-US" sz="2000" b="0" i="0" smtClean="0">
                                <a:solidFill>
                                  <a:prstClr val="black"/>
                                </a:solidFill>
                                <a:latin typeface="Cambria Math"/>
                                <a:ea typeface="Cambria Math" panose="02040503050406030204" pitchFamily="18" charset="0"/>
                              </a:rPr>
                              <m:t>i</m:t>
                            </m:r>
                          </m:sub>
                        </m:sSub>
                        <m:r>
                          <a:rPr lang="en-US" sz="2000">
                            <a:solidFill>
                              <a:prstClr val="black"/>
                            </a:solidFill>
                            <a:latin typeface="Cambria Math" panose="02040503050406030204" pitchFamily="18" charset="0"/>
                            <a:ea typeface="Cambria Math" panose="02040503050406030204" pitchFamily="18" charset="0"/>
                          </a:rPr>
                          <m:t>]</m:t>
                        </m:r>
                      </m:e>
                    </m:func>
                  </m:oMath>
                </a14:m>
                <a:r>
                  <a:rPr lang="en-US" sz="2000" dirty="0" smtClean="0">
                    <a:solidFill>
                      <a:prstClr val="black"/>
                    </a:solidFill>
                    <a:latin typeface="Cambria Math" panose="02040503050406030204" pitchFamily="18" charset="0"/>
                    <a:ea typeface="Cambria Math" panose="02040503050406030204" pitchFamily="18" charset="0"/>
                  </a:rPr>
                  <a:t>	</a:t>
                </a:r>
                <a:r>
                  <a:rPr lang="en-US" sz="1600" dirty="0" smtClean="0">
                    <a:solidFill>
                      <a:prstClr val="black"/>
                    </a:solidFill>
                    <a:latin typeface="Cambria Math" panose="02040503050406030204" pitchFamily="18" charset="0"/>
                    <a:ea typeface="Cambria Math" panose="02040503050406030204" pitchFamily="18" charset="0"/>
                  </a:rPr>
                  <a:t>				</a:t>
                </a:r>
                <a14:m>
                  <m:oMath xmlns:m="http://schemas.openxmlformats.org/officeDocument/2006/math">
                    <m:r>
                      <m:rPr>
                        <m:sty m:val="p"/>
                      </m:rPr>
                      <a:rPr lang="en-US" sz="2000" b="0" i="0" dirty="0" smtClean="0">
                        <a:solidFill>
                          <a:prstClr val="black"/>
                        </a:solidFill>
                        <a:latin typeface="Cambria Math"/>
                        <a:ea typeface="Cambria Math" panose="02040503050406030204" pitchFamily="18" charset="0"/>
                      </a:rPr>
                      <m:t>E</m:t>
                    </m:r>
                    <m:d>
                      <m:dPr>
                        <m:begChr m:val="["/>
                        <m:endChr m:val="]"/>
                        <m:ctrlPr>
                          <a:rPr lang="en-US" sz="2000" b="0" i="1" dirty="0" smtClean="0">
                            <a:solidFill>
                              <a:prstClr val="black"/>
                            </a:solidFill>
                            <a:latin typeface="Cambria Math"/>
                            <a:ea typeface="Cambria Math" panose="02040503050406030204" pitchFamily="18" charset="0"/>
                          </a:rPr>
                        </m:ctrlPr>
                      </m:dPr>
                      <m:e>
                        <m:sSub>
                          <m:sSubPr>
                            <m:ctrlPr>
                              <a:rPr lang="en-US" sz="2000" b="0" i="1" dirty="0" smtClean="0">
                                <a:solidFill>
                                  <a:prstClr val="black"/>
                                </a:solidFill>
                                <a:latin typeface="Cambria Math"/>
                                <a:ea typeface="Cambria Math" panose="02040503050406030204" pitchFamily="18" charset="0"/>
                              </a:rPr>
                            </m:ctrlPr>
                          </m:sSubPr>
                          <m:e>
                            <m:r>
                              <m:rPr>
                                <m:sty m:val="p"/>
                              </m:rPr>
                              <a:rPr lang="en-US" sz="2000" b="0" i="0" dirty="0" smtClean="0">
                                <a:solidFill>
                                  <a:prstClr val="black"/>
                                </a:solidFill>
                                <a:latin typeface="Cambria Math"/>
                                <a:ea typeface="Cambria Math" panose="02040503050406030204" pitchFamily="18" charset="0"/>
                              </a:rPr>
                              <m:t>U</m:t>
                            </m:r>
                          </m:e>
                          <m:sub>
                            <m:r>
                              <m:rPr>
                                <m:sty m:val="p"/>
                              </m:rPr>
                              <a:rPr lang="en-US" sz="2000" b="0" i="0" dirty="0" smtClean="0">
                                <a:solidFill>
                                  <a:prstClr val="black"/>
                                </a:solidFill>
                                <a:latin typeface="Cambria Math"/>
                                <a:ea typeface="Cambria Math" panose="02040503050406030204" pitchFamily="18" charset="0"/>
                              </a:rPr>
                              <m:t>i</m:t>
                            </m:r>
                          </m:sub>
                        </m:sSub>
                      </m:e>
                    </m:d>
                    <m:r>
                      <a:rPr lang="en-US" sz="2000" b="0" i="0" dirty="0" smtClean="0">
                        <a:solidFill>
                          <a:prstClr val="black"/>
                        </a:solidFill>
                        <a:latin typeface="Cambria Math"/>
                        <a:ea typeface="Cambria Math" panose="02040503050406030204" pitchFamily="18" charset="0"/>
                      </a:rPr>
                      <m:t>=</m:t>
                    </m:r>
                    <m:r>
                      <m:rPr>
                        <m:sty m:val="p"/>
                      </m:rPr>
                      <a:rPr lang="en-US" sz="2000" b="0" i="0" dirty="0" smtClean="0">
                        <a:solidFill>
                          <a:prstClr val="black"/>
                        </a:solidFill>
                        <a:latin typeface="Cambria Math"/>
                        <a:ea typeface="Cambria Math" panose="02040503050406030204" pitchFamily="18" charset="0"/>
                      </a:rPr>
                      <m:t>f</m:t>
                    </m:r>
                    <m:r>
                      <a:rPr lang="en-US" sz="2000" b="0" i="0" dirty="0" smtClean="0">
                        <a:solidFill>
                          <a:prstClr val="black"/>
                        </a:solidFill>
                        <a:latin typeface="Cambria Math"/>
                        <a:ea typeface="Cambria Math" panose="02040503050406030204" pitchFamily="18" charset="0"/>
                      </a:rPr>
                      <m:t>(</m:t>
                    </m:r>
                    <m:r>
                      <m:rPr>
                        <m:sty m:val="p"/>
                      </m:rPr>
                      <a:rPr lang="en-US" sz="2000" b="0" i="0" dirty="0" smtClean="0">
                        <a:solidFill>
                          <a:prstClr val="black"/>
                        </a:solidFill>
                        <a:latin typeface="Cambria Math"/>
                        <a:ea typeface="Cambria Math" panose="02040503050406030204" pitchFamily="18" charset="0"/>
                      </a:rPr>
                      <m:t>i</m:t>
                    </m:r>
                    <m:r>
                      <a:rPr lang="en-US" sz="2000" b="0" i="0" dirty="0" smtClean="0">
                        <a:solidFill>
                          <a:prstClr val="black"/>
                        </a:solidFill>
                        <a:latin typeface="Cambria Math"/>
                        <a:ea typeface="Cambria Math" panose="02040503050406030204" pitchFamily="18" charset="0"/>
                      </a:rPr>
                      <m:t>,</m:t>
                    </m:r>
                    <m:r>
                      <m:rPr>
                        <m:sty m:val="p"/>
                      </m:rPr>
                      <a:rPr lang="en-US" sz="2000" b="0" i="0" dirty="0" smtClean="0">
                        <a:solidFill>
                          <a:prstClr val="black"/>
                        </a:solidFill>
                        <a:latin typeface="Cambria Math"/>
                        <a:ea typeface="Cambria Math" panose="02040503050406030204" pitchFamily="18" charset="0"/>
                      </a:rPr>
                      <m:t>k</m:t>
                    </m:r>
                    <m:r>
                      <a:rPr lang="en-US" sz="2000" b="0" i="0" dirty="0" smtClean="0">
                        <a:solidFill>
                          <a:prstClr val="black"/>
                        </a:solidFill>
                        <a:latin typeface="Cambria Math"/>
                        <a:ea typeface="Cambria Math" panose="02040503050406030204" pitchFamily="18" charset="0"/>
                      </a:rPr>
                      <m:t>)</m:t>
                    </m:r>
                  </m:oMath>
                </a14:m>
                <a:r>
                  <a:rPr lang="en-US" sz="2000" dirty="0" smtClean="0">
                    <a:solidFill>
                      <a:prstClr val="black"/>
                    </a:solidFill>
                    <a:latin typeface="Cambria Math" panose="02040503050406030204" pitchFamily="18" charset="0"/>
                    <a:ea typeface="Cambria Math" panose="02040503050406030204" pitchFamily="18" charset="0"/>
                  </a:rPr>
                  <a:t> </a:t>
                </a:r>
                <a:endParaRPr lang="en-US" sz="1600" i="1" dirty="0">
                  <a:solidFill>
                    <a:prstClr val="black"/>
                  </a:solidFill>
                  <a:latin typeface="+mn-lt"/>
                </a:endParaRPr>
              </a:p>
              <a:p>
                <a:pPr lvl="0">
                  <a:spcAft>
                    <a:spcPts val="600"/>
                  </a:spcAft>
                </a:pPr>
                <a:endParaRPr lang="en-US" sz="1600" dirty="0" smtClean="0">
                  <a:solidFill>
                    <a:prstClr val="black"/>
                  </a:solidFill>
                  <a:latin typeface="+mn-lt"/>
                </a:endParaRPr>
              </a:p>
              <a:p>
                <a:pPr>
                  <a:spcAft>
                    <a:spcPts val="600"/>
                  </a:spcAft>
                </a:pPr>
                <a14:m>
                  <m:oMath xmlns:m="http://schemas.openxmlformats.org/officeDocument/2006/math">
                    <m:r>
                      <a:rPr lang="en-US" sz="1600" i="1" dirty="0" smtClean="0">
                        <a:latin typeface="Cambria Math"/>
                      </a:rPr>
                      <m:t>𝑘</m:t>
                    </m:r>
                  </m:oMath>
                </a14:m>
                <a:r>
                  <a:rPr lang="en-US" sz="1600" dirty="0" smtClean="0">
                    <a:latin typeface="+mn-lt"/>
                  </a:rPr>
                  <a:t> … kidney acceptance threshold</a:t>
                </a:r>
              </a:p>
              <a:p>
                <a:pPr>
                  <a:spcAft>
                    <a:spcPts val="600"/>
                  </a:spcAft>
                </a:pPr>
                <a14:m>
                  <m:oMath xmlns:m="http://schemas.openxmlformats.org/officeDocument/2006/math">
                    <m:r>
                      <a:rPr lang="en-US" sz="1600" i="1" dirty="0" smtClean="0">
                        <a:latin typeface="Cambria Math"/>
                      </a:rPr>
                      <m:t>𝑖</m:t>
                    </m:r>
                  </m:oMath>
                </a14:m>
                <a:r>
                  <a:rPr lang="en-US" sz="1600" dirty="0" smtClean="0">
                    <a:latin typeface="+mn-lt"/>
                  </a:rPr>
                  <a:t>  … region</a:t>
                </a:r>
                <a:endParaRPr lang="en-US" sz="1600" dirty="0">
                  <a:latin typeface="+mn-lt"/>
                </a:endParaRPr>
              </a:p>
            </p:txBody>
          </p:sp>
        </mc:Choice>
        <mc:Fallback xmlns="">
          <p:sp>
            <p:nvSpPr>
              <p:cNvPr id="6" name="Rectangle 5"/>
              <p:cNvSpPr>
                <a:spLocks noRot="1" noChangeAspect="1" noMove="1" noResize="1" noEditPoints="1" noAdjustHandles="1" noChangeArrowheads="1" noChangeShapeType="1" noTextEdit="1"/>
              </p:cNvSpPr>
              <p:nvPr/>
            </p:nvSpPr>
            <p:spPr>
              <a:xfrm>
                <a:off x="618517" y="1202125"/>
                <a:ext cx="7711561" cy="1464503"/>
              </a:xfrm>
              <a:prstGeom prst="rect">
                <a:avLst/>
              </a:prstGeom>
              <a:blipFill rotWithShape="1">
                <a:blip r:embed="rId3"/>
                <a:stretch>
                  <a:fillRect b="-4167"/>
                </a:stretch>
              </a:blipFill>
            </p:spPr>
            <p:txBody>
              <a:bodyPr/>
              <a:lstStyle/>
              <a:p>
                <a:r>
                  <a:rPr lang="en-US">
                    <a:noFill/>
                  </a:rPr>
                  <a:t> </a:t>
                </a:r>
              </a:p>
            </p:txBody>
          </p:sp>
        </mc:Fallback>
      </mc:AlternateContent>
      <p:sp>
        <p:nvSpPr>
          <p:cNvPr id="8" name="Rectangle 7"/>
          <p:cNvSpPr/>
          <p:nvPr/>
        </p:nvSpPr>
        <p:spPr>
          <a:xfrm>
            <a:off x="240408" y="223304"/>
            <a:ext cx="8552052" cy="461665"/>
          </a:xfrm>
          <a:prstGeom prst="rect">
            <a:avLst/>
          </a:prstGeom>
        </p:spPr>
        <p:txBody>
          <a:bodyPr wrap="square">
            <a:spAutoFit/>
          </a:bodyPr>
          <a:lstStyle/>
          <a:p>
            <a:pPr algn="ctr"/>
            <a:r>
              <a:rPr lang="en-US" sz="2400" dirty="0">
                <a:solidFill>
                  <a:schemeClr val="accent1">
                    <a:lumMod val="75000"/>
                  </a:schemeClr>
                </a:solidFill>
                <a:latin typeface="+mj-lt"/>
              </a:rPr>
              <a:t>Optimal Kidney Acceptance Threshold</a:t>
            </a:r>
            <a:endParaRPr lang="en-US" sz="2400" dirty="0">
              <a:latin typeface="+mj-lt"/>
            </a:endParaRPr>
          </a:p>
        </p:txBody>
      </p:sp>
      <p:sp>
        <p:nvSpPr>
          <p:cNvPr id="3" name="Rounded Rectangular Callout 2"/>
          <p:cNvSpPr/>
          <p:nvPr/>
        </p:nvSpPr>
        <p:spPr>
          <a:xfrm>
            <a:off x="6857999" y="849859"/>
            <a:ext cx="1124263" cy="322286"/>
          </a:xfrm>
          <a:prstGeom prst="wedgeRoundRectCallou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1400" dirty="0" smtClean="0"/>
              <a:t>Simulation</a:t>
            </a:r>
            <a:endParaRPr lang="en-US" sz="1400" dirty="0"/>
          </a:p>
        </p:txBody>
      </p:sp>
    </p:spTree>
    <p:extLst>
      <p:ext uri="{BB962C8B-B14F-4D97-AF65-F5344CB8AC3E}">
        <p14:creationId xmlns:p14="http://schemas.microsoft.com/office/powerpoint/2010/main" val="33992056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xmlns:p14="http://schemas.microsoft.com/office/powerpoint/2010/main">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0" y="4760913"/>
            <a:ext cx="2057400" cy="274637"/>
          </a:xfrm>
          <a:prstGeom prst="rect">
            <a:avLst/>
          </a:prstGeom>
        </p:spPr>
        <p:txBody>
          <a:bodyPr/>
          <a:lstStyle/>
          <a:p>
            <a:fld id="{69E57DC2-970A-4B3E-BB1C-7A09969E49DF}" type="slidenum">
              <a:rPr lang="en-US" smtClean="0"/>
              <a:pPr/>
              <a:t>11</a:t>
            </a:fld>
            <a:endParaRPr lang="en-US" dirty="0"/>
          </a:p>
        </p:txBody>
      </p:sp>
      <p:sp>
        <p:nvSpPr>
          <p:cNvPr id="7" name="Rectangle 6"/>
          <p:cNvSpPr/>
          <p:nvPr/>
        </p:nvSpPr>
        <p:spPr>
          <a:xfrm>
            <a:off x="0" y="166580"/>
            <a:ext cx="8749466" cy="461665"/>
          </a:xfrm>
          <a:prstGeom prst="rect">
            <a:avLst/>
          </a:prstGeom>
        </p:spPr>
        <p:txBody>
          <a:bodyPr wrap="square">
            <a:spAutoFit/>
          </a:bodyPr>
          <a:lstStyle/>
          <a:p>
            <a:pPr algn="ctr"/>
            <a:r>
              <a:rPr lang="en-US" sz="2400" dirty="0" smtClean="0">
                <a:solidFill>
                  <a:schemeClr val="accent1">
                    <a:lumMod val="75000"/>
                  </a:schemeClr>
                </a:solidFill>
                <a:latin typeface="Book Antiqua" panose="02040602050305030304" pitchFamily="18" charset="0"/>
              </a:rPr>
              <a:t>Estimation of Arrival Rates</a:t>
            </a:r>
            <a:endParaRPr lang="en-US" sz="2400" dirty="0"/>
          </a:p>
        </p:txBody>
      </p:sp>
      <mc:AlternateContent xmlns:mc="http://schemas.openxmlformats.org/markup-compatibility/2006" xmlns:a14="http://schemas.microsoft.com/office/drawing/2010/main">
        <mc:Choice Requires="a14">
          <p:graphicFrame>
            <p:nvGraphicFramePr>
              <p:cNvPr id="10" name="Table 9"/>
              <p:cNvGraphicFramePr>
                <a:graphicFrameLocks noGrp="1"/>
              </p:cNvGraphicFramePr>
              <p:nvPr>
                <p:extLst>
                  <p:ext uri="{D42A27DB-BD31-4B8C-83A1-F6EECF244321}">
                    <p14:modId xmlns:p14="http://schemas.microsoft.com/office/powerpoint/2010/main" val="125466447"/>
                  </p:ext>
                </p:extLst>
              </p:nvPr>
            </p:nvGraphicFramePr>
            <p:xfrm>
              <a:off x="1896851" y="988098"/>
              <a:ext cx="5021109" cy="2849880"/>
            </p:xfrm>
            <a:graphic>
              <a:graphicData uri="http://schemas.openxmlformats.org/drawingml/2006/table">
                <a:tbl>
                  <a:tblPr firstRow="1" bandRow="1">
                    <a:tableStyleId>{68D230F3-CF80-4859-8CE7-A43EE81993B5}</a:tableStyleId>
                  </a:tblPr>
                  <a:tblGrid>
                    <a:gridCol w="1024991">
                      <a:extLst>
                        <a:ext uri="{9D8B030D-6E8A-4147-A177-3AD203B41FA5}">
                          <a16:colId xmlns:a16="http://schemas.microsoft.com/office/drawing/2014/main" xmlns="" val="20000"/>
                        </a:ext>
                      </a:extLst>
                    </a:gridCol>
                    <a:gridCol w="1118781">
                      <a:extLst>
                        <a:ext uri="{9D8B030D-6E8A-4147-A177-3AD203B41FA5}">
                          <a16:colId xmlns:a16="http://schemas.microsoft.com/office/drawing/2014/main" xmlns="" val="20001"/>
                        </a:ext>
                      </a:extLst>
                    </a:gridCol>
                    <a:gridCol w="1011590">
                      <a:extLst>
                        <a:ext uri="{9D8B030D-6E8A-4147-A177-3AD203B41FA5}">
                          <a16:colId xmlns:a16="http://schemas.microsoft.com/office/drawing/2014/main" xmlns="" val="20002"/>
                        </a:ext>
                      </a:extLst>
                    </a:gridCol>
                    <a:gridCol w="1011590"/>
                    <a:gridCol w="854157">
                      <a:extLst>
                        <a:ext uri="{9D8B030D-6E8A-4147-A177-3AD203B41FA5}">
                          <a16:colId xmlns:a16="http://schemas.microsoft.com/office/drawing/2014/main" xmlns="" val="20003"/>
                        </a:ext>
                      </a:extLst>
                    </a:gridCol>
                  </a:tblGrid>
                  <a:tr h="380506">
                    <a:tc>
                      <a:txBody>
                        <a:bodyPr/>
                        <a:lstStyle/>
                        <a:p>
                          <a:pPr marL="0" algn="ctr" defTabSz="685800" rtl="0" eaLnBrk="1" fontAlgn="b" latinLnBrk="0" hangingPunct="1"/>
                          <a:r>
                            <a:rPr lang="en-US" sz="1400" u="none" strike="noStrike" kern="1200" dirty="0">
                              <a:effectLst/>
                              <a:latin typeface="Book Antiqua" panose="02040602050305030304" pitchFamily="18" charset="0"/>
                            </a:rPr>
                            <a:t>Region</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Donor </a:t>
                          </a:r>
                          <a:r>
                            <a:rPr lang="en-US" sz="1400" u="none" strike="noStrike" kern="1200" dirty="0" smtClean="0">
                              <a:effectLst/>
                              <a:latin typeface="Book Antiqua" panose="02040602050305030304" pitchFamily="18" charset="0"/>
                            </a:rPr>
                            <a:t>A (94%)</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Donor </a:t>
                          </a:r>
                          <a:r>
                            <a:rPr lang="en-US" sz="1400" u="none" strike="noStrike" kern="1200" dirty="0" smtClean="0">
                              <a:effectLst/>
                              <a:latin typeface="Book Antiqua" panose="02040602050305030304" pitchFamily="18" charset="0"/>
                            </a:rPr>
                            <a:t>O (2%)</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b="1" u="none" strike="noStrike" kern="1200" dirty="0" smtClean="0">
                              <a:effectLst/>
                            </a:rPr>
                            <a:t>Kidney </a:t>
                          </a:r>
                        </a:p>
                        <a:p>
                          <a:pPr marL="0" algn="ctr" defTabSz="685800" rtl="0" eaLnBrk="1" fontAlgn="b" latinLnBrk="0" hangingPunct="1"/>
                          <a14:m>
                            <m:oMathPara xmlns:m="http://schemas.openxmlformats.org/officeDocument/2006/math">
                              <m:oMathParaPr>
                                <m:jc m:val="centerGroup"/>
                              </m:oMathParaPr>
                              <m:oMath xmlns:m="http://schemas.openxmlformats.org/officeDocument/2006/math">
                                <m:r>
                                  <a:rPr lang="en-US" sz="1400" b="1" i="1" u="none" strike="noStrike" kern="1200" smtClean="0">
                                    <a:effectLst/>
                                    <a:latin typeface="Cambria Math" panose="02040503050406030204" pitchFamily="18" charset="0"/>
                                  </a:rPr>
                                  <m:t>𝝁</m:t>
                                </m:r>
                              </m:oMath>
                            </m:oMathPara>
                          </a14:m>
                          <a:endParaRPr lang="en-US" sz="1400" b="1"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b="1" u="none" strike="noStrike" kern="1200" dirty="0" smtClean="0">
                              <a:effectLst/>
                            </a:rPr>
                            <a:t>Patient</a:t>
                          </a:r>
                        </a:p>
                        <a:p>
                          <a:pPr marL="0" algn="ctr" defTabSz="685800" rtl="0" eaLnBrk="1" fontAlgn="b" latinLnBrk="0" hangingPunct="1"/>
                          <a14:m>
                            <m:oMathPara xmlns:m="http://schemas.openxmlformats.org/officeDocument/2006/math">
                              <m:oMathParaPr>
                                <m:jc m:val="centerGroup"/>
                              </m:oMathParaPr>
                              <m:oMath xmlns:m="http://schemas.openxmlformats.org/officeDocument/2006/math">
                                <m:r>
                                  <a:rPr lang="en-US" sz="1400" b="1" i="1" u="none" strike="noStrike" kern="1200" smtClean="0">
                                    <a:effectLst/>
                                    <a:latin typeface="Cambria Math" panose="02040503050406030204" pitchFamily="18" charset="0"/>
                                  </a:rPr>
                                  <m:t>𝝀</m:t>
                                </m:r>
                              </m:oMath>
                            </m:oMathPara>
                          </a14:m>
                          <a:endParaRPr lang="en-US" sz="1400" b="1" u="none" strike="noStrike" kern="1200" dirty="0">
                            <a:solidFill>
                              <a:schemeClr val="tx1"/>
                            </a:solidFill>
                            <a:effectLst/>
                            <a:latin typeface="Book Antiqua" panose="02040602050305030304" pitchFamily="18" charset="0"/>
                            <a:ea typeface="+mn-ea"/>
                            <a:cs typeface="+mn-cs"/>
                          </a:endParaRPr>
                        </a:p>
                      </a:txBody>
                      <a:tcPr marL="6350" marR="6350" marT="6350" marB="0" anchor="b"/>
                    </a:tc>
                    <a:extLst>
                      <a:ext uri="{0D108BD9-81ED-4DB2-BD59-A6C34878D82A}">
                        <a16:rowId xmlns:a16="http://schemas.microsoft.com/office/drawing/2014/main" xmlns="" val="10000"/>
                      </a:ext>
                    </a:extLst>
                  </a:tr>
                  <a:tr h="217629">
                    <a:tc>
                      <a:txBody>
                        <a:bodyPr/>
                        <a:lstStyle/>
                        <a:p>
                          <a:pPr marL="0" algn="ctr" defTabSz="685800" rtl="0" eaLnBrk="1" fontAlgn="b" latinLnBrk="0" hangingPunct="1"/>
                          <a:r>
                            <a:rPr lang="en-US" sz="1400" u="none" strike="noStrike" kern="1200" dirty="0">
                              <a:effectLst/>
                              <a:latin typeface="Book Antiqua" panose="02040602050305030304" pitchFamily="18" charset="0"/>
                            </a:rPr>
                            <a:t>1</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118</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143</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228</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a:effectLst/>
                              <a:latin typeface="Book Antiqua" panose="02040602050305030304" pitchFamily="18" charset="0"/>
                            </a:rPr>
                            <a:t>537</a:t>
                          </a:r>
                          <a:endParaRPr lang="en-US" sz="1400" u="none" strike="noStrike" kern="1200">
                            <a:solidFill>
                              <a:schemeClr val="tx1"/>
                            </a:solidFill>
                            <a:effectLst/>
                            <a:latin typeface="Book Antiqua" panose="02040602050305030304" pitchFamily="18" charset="0"/>
                            <a:ea typeface="+mn-ea"/>
                            <a:cs typeface="+mn-cs"/>
                          </a:endParaRPr>
                        </a:p>
                      </a:txBody>
                      <a:tcPr marL="6350" marR="6350" marT="6350" marB="0" anchor="b"/>
                    </a:tc>
                    <a:extLst>
                      <a:ext uri="{0D108BD9-81ED-4DB2-BD59-A6C34878D82A}">
                        <a16:rowId xmlns:a16="http://schemas.microsoft.com/office/drawing/2014/main" xmlns="" val="10001"/>
                      </a:ext>
                    </a:extLst>
                  </a:tr>
                  <a:tr h="217629">
                    <a:tc>
                      <a:txBody>
                        <a:bodyPr/>
                        <a:lstStyle/>
                        <a:p>
                          <a:pPr marL="0" algn="ctr" defTabSz="685800" rtl="0" eaLnBrk="1" fontAlgn="b" latinLnBrk="0" hangingPunct="1"/>
                          <a:r>
                            <a:rPr lang="en-US" sz="1400" u="none" strike="noStrike" kern="1200" dirty="0">
                              <a:effectLst/>
                              <a:latin typeface="Book Antiqua" panose="02040602050305030304" pitchFamily="18" charset="0"/>
                            </a:rPr>
                            <a:t>2</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387</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473</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746</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a:effectLst/>
                              <a:latin typeface="Book Antiqua" panose="02040602050305030304" pitchFamily="18" charset="0"/>
                            </a:rPr>
                            <a:t>1769</a:t>
                          </a:r>
                          <a:endParaRPr lang="en-US" sz="1400" u="none" strike="noStrike" kern="1200">
                            <a:solidFill>
                              <a:schemeClr val="tx1"/>
                            </a:solidFill>
                            <a:effectLst/>
                            <a:latin typeface="Book Antiqua" panose="02040602050305030304" pitchFamily="18" charset="0"/>
                            <a:ea typeface="+mn-ea"/>
                            <a:cs typeface="+mn-cs"/>
                          </a:endParaRPr>
                        </a:p>
                      </a:txBody>
                      <a:tcPr marL="6350" marR="6350" marT="6350" marB="0" anchor="b"/>
                    </a:tc>
                    <a:extLst>
                      <a:ext uri="{0D108BD9-81ED-4DB2-BD59-A6C34878D82A}">
                        <a16:rowId xmlns:a16="http://schemas.microsoft.com/office/drawing/2014/main" xmlns="" val="10002"/>
                      </a:ext>
                    </a:extLst>
                  </a:tr>
                  <a:tr h="217629">
                    <a:tc>
                      <a:txBody>
                        <a:bodyPr/>
                        <a:lstStyle/>
                        <a:p>
                          <a:pPr marL="0" algn="ctr" defTabSz="685800" rtl="0" eaLnBrk="1" fontAlgn="b" latinLnBrk="0" hangingPunct="1"/>
                          <a:r>
                            <a:rPr lang="en-US" sz="1400" u="none" strike="noStrike" kern="1200" dirty="0">
                              <a:effectLst/>
                              <a:latin typeface="Book Antiqua" panose="02040602050305030304" pitchFamily="18" charset="0"/>
                            </a:rPr>
                            <a:t>3</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461</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625</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892</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a:effectLst/>
                              <a:latin typeface="Book Antiqua" panose="02040602050305030304" pitchFamily="18" charset="0"/>
                            </a:rPr>
                            <a:t>1680</a:t>
                          </a:r>
                          <a:endParaRPr lang="en-US" sz="1400" u="none" strike="noStrike" kern="1200">
                            <a:solidFill>
                              <a:schemeClr val="tx1"/>
                            </a:solidFill>
                            <a:effectLst/>
                            <a:latin typeface="Book Antiqua" panose="02040602050305030304" pitchFamily="18" charset="0"/>
                            <a:ea typeface="+mn-ea"/>
                            <a:cs typeface="+mn-cs"/>
                          </a:endParaRPr>
                        </a:p>
                      </a:txBody>
                      <a:tcPr marL="6350" marR="6350" marT="6350" marB="0" anchor="b"/>
                    </a:tc>
                    <a:extLst>
                      <a:ext uri="{0D108BD9-81ED-4DB2-BD59-A6C34878D82A}">
                        <a16:rowId xmlns:a16="http://schemas.microsoft.com/office/drawing/2014/main" xmlns="" val="10003"/>
                      </a:ext>
                    </a:extLst>
                  </a:tr>
                  <a:tr h="217629">
                    <a:tc>
                      <a:txBody>
                        <a:bodyPr/>
                        <a:lstStyle/>
                        <a:p>
                          <a:pPr marL="0" algn="ctr" defTabSz="685800" rtl="0" eaLnBrk="1" fontAlgn="b" latinLnBrk="0" hangingPunct="1"/>
                          <a:r>
                            <a:rPr lang="en-US" sz="1400" u="none" strike="noStrike" kern="1200" dirty="0">
                              <a:effectLst/>
                              <a:latin typeface="Book Antiqua" panose="02040602050305030304" pitchFamily="18" charset="0"/>
                            </a:rPr>
                            <a:t>4</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303</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421</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586</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a:effectLst/>
                              <a:latin typeface="Book Antiqua" panose="02040602050305030304" pitchFamily="18" charset="0"/>
                            </a:rPr>
                            <a:t>1154</a:t>
                          </a:r>
                          <a:endParaRPr lang="en-US" sz="1400" u="none" strike="noStrike" kern="1200">
                            <a:solidFill>
                              <a:schemeClr val="tx1"/>
                            </a:solidFill>
                            <a:effectLst/>
                            <a:latin typeface="Book Antiqua" panose="02040602050305030304" pitchFamily="18" charset="0"/>
                            <a:ea typeface="+mn-ea"/>
                            <a:cs typeface="+mn-cs"/>
                          </a:endParaRPr>
                        </a:p>
                      </a:txBody>
                      <a:tcPr marL="6350" marR="6350" marT="6350" marB="0" anchor="b"/>
                    </a:tc>
                    <a:extLst>
                      <a:ext uri="{0D108BD9-81ED-4DB2-BD59-A6C34878D82A}">
                        <a16:rowId xmlns:a16="http://schemas.microsoft.com/office/drawing/2014/main" xmlns="" val="10004"/>
                      </a:ext>
                    </a:extLst>
                  </a:tr>
                  <a:tr h="217629">
                    <a:tc>
                      <a:txBody>
                        <a:bodyPr/>
                        <a:lstStyle/>
                        <a:p>
                          <a:pPr marL="0" algn="ctr" defTabSz="685800" rtl="0" eaLnBrk="1" fontAlgn="b" latinLnBrk="0" hangingPunct="1"/>
                          <a:r>
                            <a:rPr lang="en-US" sz="1400" u="none" strike="noStrike" kern="1200" dirty="0">
                              <a:effectLst/>
                              <a:latin typeface="Book Antiqua" panose="02040602050305030304" pitchFamily="18" charset="0"/>
                            </a:rPr>
                            <a:t>5</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452</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636</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875</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1910</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extLst>
                      <a:ext uri="{0D108BD9-81ED-4DB2-BD59-A6C34878D82A}">
                        <a16:rowId xmlns:a16="http://schemas.microsoft.com/office/drawing/2014/main" xmlns="" val="10005"/>
                      </a:ext>
                    </a:extLst>
                  </a:tr>
                  <a:tr h="217629">
                    <a:tc>
                      <a:txBody>
                        <a:bodyPr/>
                        <a:lstStyle/>
                        <a:p>
                          <a:pPr marL="0" algn="ctr" defTabSz="685800" rtl="0" eaLnBrk="1" fontAlgn="b" latinLnBrk="0" hangingPunct="1"/>
                          <a:r>
                            <a:rPr lang="en-US" sz="1400" u="none" strike="noStrike" kern="1200" dirty="0">
                              <a:effectLst/>
                              <a:latin typeface="Book Antiqua" panose="02040602050305030304" pitchFamily="18" charset="0"/>
                            </a:rPr>
                            <a:t>6</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132</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165</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255</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a:effectLst/>
                              <a:latin typeface="Book Antiqua" panose="02040602050305030304" pitchFamily="18" charset="0"/>
                            </a:rPr>
                            <a:t>377</a:t>
                          </a:r>
                          <a:endParaRPr lang="en-US" sz="1400" u="none" strike="noStrike" kern="1200">
                            <a:solidFill>
                              <a:schemeClr val="tx1"/>
                            </a:solidFill>
                            <a:effectLst/>
                            <a:latin typeface="Book Antiqua" panose="02040602050305030304" pitchFamily="18" charset="0"/>
                            <a:ea typeface="+mn-ea"/>
                            <a:cs typeface="+mn-cs"/>
                          </a:endParaRPr>
                        </a:p>
                      </a:txBody>
                      <a:tcPr marL="6350" marR="6350" marT="6350" marB="0" anchor="b"/>
                    </a:tc>
                    <a:extLst>
                      <a:ext uri="{0D108BD9-81ED-4DB2-BD59-A6C34878D82A}">
                        <a16:rowId xmlns:a16="http://schemas.microsoft.com/office/drawing/2014/main" xmlns="" val="10006"/>
                      </a:ext>
                    </a:extLst>
                  </a:tr>
                  <a:tr h="217629">
                    <a:tc>
                      <a:txBody>
                        <a:bodyPr/>
                        <a:lstStyle/>
                        <a:p>
                          <a:pPr marL="0" algn="ctr" defTabSz="685800" rtl="0" eaLnBrk="1" fontAlgn="b" latinLnBrk="0" hangingPunct="1"/>
                          <a:r>
                            <a:rPr lang="en-US" sz="1400" u="none" strike="noStrike" kern="1200">
                              <a:effectLst/>
                              <a:latin typeface="Book Antiqua" panose="02040602050305030304" pitchFamily="18" charset="0"/>
                            </a:rPr>
                            <a:t>7</a:t>
                          </a:r>
                          <a:endParaRPr lang="en-US" sz="1400" u="none" strike="noStrike" kern="120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239</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300</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461</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1008</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extLst>
                      <a:ext uri="{0D108BD9-81ED-4DB2-BD59-A6C34878D82A}">
                        <a16:rowId xmlns:a16="http://schemas.microsoft.com/office/drawing/2014/main" xmlns="" val="10007"/>
                      </a:ext>
                    </a:extLst>
                  </a:tr>
                  <a:tr h="217629">
                    <a:tc>
                      <a:txBody>
                        <a:bodyPr/>
                        <a:lstStyle/>
                        <a:p>
                          <a:pPr marL="0" algn="ctr" defTabSz="685800" rtl="0" eaLnBrk="1" fontAlgn="b" latinLnBrk="0" hangingPunct="1"/>
                          <a:r>
                            <a:rPr lang="en-US" sz="1400" u="none" strike="noStrike" kern="1200">
                              <a:effectLst/>
                              <a:latin typeface="Book Antiqua" panose="02040602050305030304" pitchFamily="18" charset="0"/>
                            </a:rPr>
                            <a:t>8</a:t>
                          </a:r>
                          <a:endParaRPr lang="en-US" sz="1400" u="none" strike="noStrike" kern="120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226</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296</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437</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688</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extLst>
                      <a:ext uri="{0D108BD9-81ED-4DB2-BD59-A6C34878D82A}">
                        <a16:rowId xmlns:a16="http://schemas.microsoft.com/office/drawing/2014/main" xmlns="" val="10008"/>
                      </a:ext>
                    </a:extLst>
                  </a:tr>
                  <a:tr h="217629">
                    <a:tc>
                      <a:txBody>
                        <a:bodyPr/>
                        <a:lstStyle/>
                        <a:p>
                          <a:pPr marL="0" algn="ctr" defTabSz="685800" rtl="0" eaLnBrk="1" fontAlgn="b" latinLnBrk="0" hangingPunct="1"/>
                          <a:r>
                            <a:rPr lang="en-US" sz="1400" u="none" strike="noStrike" kern="1200">
                              <a:effectLst/>
                              <a:latin typeface="Book Antiqua" panose="02040602050305030304" pitchFamily="18" charset="0"/>
                            </a:rPr>
                            <a:t>9</a:t>
                          </a:r>
                          <a:endParaRPr lang="en-US" sz="1400" u="none" strike="noStrike" kern="120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114</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146</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220</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735</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extLst>
                      <a:ext uri="{0D108BD9-81ED-4DB2-BD59-A6C34878D82A}">
                        <a16:rowId xmlns:a16="http://schemas.microsoft.com/office/drawing/2014/main" xmlns="" val="10009"/>
                      </a:ext>
                    </a:extLst>
                  </a:tr>
                  <a:tr h="217629">
                    <a:tc>
                      <a:txBody>
                        <a:bodyPr/>
                        <a:lstStyle/>
                        <a:p>
                          <a:pPr marL="0" algn="ctr" defTabSz="685800" rtl="0" eaLnBrk="1" fontAlgn="b" latinLnBrk="0" hangingPunct="1"/>
                          <a:r>
                            <a:rPr lang="en-US" sz="1400" u="none" strike="noStrike" kern="1200">
                              <a:effectLst/>
                              <a:latin typeface="Book Antiqua" panose="02040602050305030304" pitchFamily="18" charset="0"/>
                            </a:rPr>
                            <a:t>10</a:t>
                          </a:r>
                          <a:endParaRPr lang="en-US" sz="1400" u="none" strike="noStrike" kern="120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284</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349</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548</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1040</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extLst>
                      <a:ext uri="{0D108BD9-81ED-4DB2-BD59-A6C34878D82A}">
                        <a16:rowId xmlns:a16="http://schemas.microsoft.com/office/drawing/2014/main" xmlns="" val="10010"/>
                      </a:ext>
                    </a:extLst>
                  </a:tr>
                  <a:tr h="217629">
                    <a:tc>
                      <a:txBody>
                        <a:bodyPr/>
                        <a:lstStyle/>
                        <a:p>
                          <a:pPr marL="0" algn="ctr" defTabSz="685800" rtl="0" eaLnBrk="1" fontAlgn="b" latinLnBrk="0" hangingPunct="1"/>
                          <a:r>
                            <a:rPr lang="en-US" sz="1400" u="none" strike="noStrike" kern="1200">
                              <a:effectLst/>
                              <a:latin typeface="Book Antiqua" panose="02040602050305030304" pitchFamily="18" charset="0"/>
                            </a:rPr>
                            <a:t>11</a:t>
                          </a:r>
                          <a:endParaRPr lang="en-US" sz="1400" u="none" strike="noStrike" kern="120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304</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423</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588</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1080</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extLst>
                      <a:ext uri="{0D108BD9-81ED-4DB2-BD59-A6C34878D82A}">
                        <a16:rowId xmlns:a16="http://schemas.microsoft.com/office/drawing/2014/main" xmlns="" val="10011"/>
                      </a:ext>
                    </a:extLst>
                  </a:tr>
                </a:tbl>
              </a:graphicData>
            </a:graphic>
          </p:graphicFrame>
        </mc:Choice>
        <mc:Fallback xmlns="">
          <p:graphicFrame>
            <p:nvGraphicFramePr>
              <p:cNvPr id="10" name="Table 9"/>
              <p:cNvGraphicFramePr>
                <a:graphicFrameLocks noGrp="1"/>
              </p:cNvGraphicFramePr>
              <p:nvPr>
                <p:extLst>
                  <p:ext uri="{D42A27DB-BD31-4B8C-83A1-F6EECF244321}">
                    <p14:modId xmlns:p14="http://schemas.microsoft.com/office/powerpoint/2010/main" val="125466447"/>
                  </p:ext>
                </p:extLst>
              </p:nvPr>
            </p:nvGraphicFramePr>
            <p:xfrm>
              <a:off x="1896851" y="988098"/>
              <a:ext cx="5021109" cy="2849880"/>
            </p:xfrm>
            <a:graphic>
              <a:graphicData uri="http://schemas.openxmlformats.org/drawingml/2006/table">
                <a:tbl>
                  <a:tblPr firstRow="1" bandRow="1">
                    <a:tableStyleId>{68D230F3-CF80-4859-8CE7-A43EE81993B5}</a:tableStyleId>
                  </a:tblPr>
                  <a:tblGrid>
                    <a:gridCol w="1024991">
                      <a:extLst>
                        <a:ext uri="{9D8B030D-6E8A-4147-A177-3AD203B41FA5}">
                          <a16:colId xmlns:a16="http://schemas.microsoft.com/office/drawing/2014/main" xmlns="" xmlns:a14="http://schemas.microsoft.com/office/drawing/2010/main" val="20000"/>
                        </a:ext>
                      </a:extLst>
                    </a:gridCol>
                    <a:gridCol w="1118781">
                      <a:extLst>
                        <a:ext uri="{9D8B030D-6E8A-4147-A177-3AD203B41FA5}">
                          <a16:colId xmlns:a16="http://schemas.microsoft.com/office/drawing/2014/main" xmlns="" xmlns:a14="http://schemas.microsoft.com/office/drawing/2010/main" val="20001"/>
                        </a:ext>
                      </a:extLst>
                    </a:gridCol>
                    <a:gridCol w="1011590">
                      <a:extLst>
                        <a:ext uri="{9D8B030D-6E8A-4147-A177-3AD203B41FA5}">
                          <a16:colId xmlns:a16="http://schemas.microsoft.com/office/drawing/2014/main" xmlns="" xmlns:a14="http://schemas.microsoft.com/office/drawing/2010/main" val="20002"/>
                        </a:ext>
                      </a:extLst>
                    </a:gridCol>
                    <a:gridCol w="1011590"/>
                    <a:gridCol w="854157">
                      <a:extLst>
                        <a:ext uri="{9D8B030D-6E8A-4147-A177-3AD203B41FA5}">
                          <a16:colId xmlns:a16="http://schemas.microsoft.com/office/drawing/2014/main" xmlns="" xmlns:a14="http://schemas.microsoft.com/office/drawing/2010/main" val="20003"/>
                        </a:ext>
                      </a:extLst>
                    </a:gridCol>
                  </a:tblGrid>
                  <a:tr h="433070">
                    <a:tc>
                      <a:txBody>
                        <a:bodyPr/>
                        <a:lstStyle/>
                        <a:p>
                          <a:pPr marL="0" algn="ctr" defTabSz="685800" rtl="0" eaLnBrk="1" fontAlgn="b" latinLnBrk="0" hangingPunct="1"/>
                          <a:r>
                            <a:rPr lang="en-US" sz="1400" u="none" strike="noStrike" kern="1200" dirty="0">
                              <a:effectLst/>
                              <a:latin typeface="Book Antiqua" panose="02040602050305030304" pitchFamily="18" charset="0"/>
                            </a:rPr>
                            <a:t>Region</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Donor </a:t>
                          </a:r>
                          <a:r>
                            <a:rPr lang="en-US" sz="1400" u="none" strike="noStrike" kern="1200" dirty="0" smtClean="0">
                              <a:effectLst/>
                              <a:latin typeface="Book Antiqua" panose="02040602050305030304" pitchFamily="18" charset="0"/>
                            </a:rPr>
                            <a:t>A (94%)</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Donor </a:t>
                          </a:r>
                          <a:r>
                            <a:rPr lang="en-US" sz="1400" u="none" strike="noStrike" kern="1200" dirty="0" smtClean="0">
                              <a:effectLst/>
                              <a:latin typeface="Book Antiqua" panose="02040602050305030304" pitchFamily="18" charset="0"/>
                            </a:rPr>
                            <a:t>O (2%)</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endParaRPr lang="en-US"/>
                        </a:p>
                      </a:txBody>
                      <a:tcPr marL="6350" marR="6350" marT="6350" marB="0" anchor="b">
                        <a:blipFill rotWithShape="1">
                          <a:blip r:embed="rId3"/>
                          <a:stretch>
                            <a:fillRect l="-312048" t="-9859" r="-84337" b="-583099"/>
                          </a:stretch>
                        </a:blipFill>
                      </a:tcPr>
                    </a:tc>
                    <a:tc>
                      <a:txBody>
                        <a:bodyPr/>
                        <a:lstStyle/>
                        <a:p>
                          <a:endParaRPr lang="en-US"/>
                        </a:p>
                      </a:txBody>
                      <a:tcPr marL="6350" marR="6350" marT="6350" marB="0" anchor="b">
                        <a:blipFill rotWithShape="1">
                          <a:blip r:embed="rId3"/>
                          <a:stretch>
                            <a:fillRect l="-488571" t="-9859" b="-583099"/>
                          </a:stretch>
                        </a:blipFill>
                      </a:tcPr>
                    </a:tc>
                    <a:extLst>
                      <a:ext uri="{0D108BD9-81ED-4DB2-BD59-A6C34878D82A}">
                        <a16:rowId xmlns:a16="http://schemas.microsoft.com/office/drawing/2014/main" xmlns="" xmlns:a14="http://schemas.microsoft.com/office/drawing/2010/main" val="10000"/>
                      </a:ext>
                    </a:extLst>
                  </a:tr>
                  <a:tr h="219710">
                    <a:tc>
                      <a:txBody>
                        <a:bodyPr/>
                        <a:lstStyle/>
                        <a:p>
                          <a:pPr marL="0" algn="ctr" defTabSz="685800" rtl="0" eaLnBrk="1" fontAlgn="b" latinLnBrk="0" hangingPunct="1"/>
                          <a:r>
                            <a:rPr lang="en-US" sz="1400" u="none" strike="noStrike" kern="1200" dirty="0">
                              <a:effectLst/>
                              <a:latin typeface="Book Antiqua" panose="02040602050305030304" pitchFamily="18" charset="0"/>
                            </a:rPr>
                            <a:t>1</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118</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143</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228</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a:effectLst/>
                              <a:latin typeface="Book Antiqua" panose="02040602050305030304" pitchFamily="18" charset="0"/>
                            </a:rPr>
                            <a:t>537</a:t>
                          </a:r>
                          <a:endParaRPr lang="en-US" sz="1400" u="none" strike="noStrike" kern="1200">
                            <a:solidFill>
                              <a:schemeClr val="tx1"/>
                            </a:solidFill>
                            <a:effectLst/>
                            <a:latin typeface="Book Antiqua" panose="02040602050305030304" pitchFamily="18" charset="0"/>
                            <a:ea typeface="+mn-ea"/>
                            <a:cs typeface="+mn-cs"/>
                          </a:endParaRPr>
                        </a:p>
                      </a:txBody>
                      <a:tcPr marL="6350" marR="6350" marT="6350" marB="0" anchor="b"/>
                    </a:tc>
                    <a:extLst>
                      <a:ext uri="{0D108BD9-81ED-4DB2-BD59-A6C34878D82A}">
                        <a16:rowId xmlns:a16="http://schemas.microsoft.com/office/drawing/2014/main" xmlns="" xmlns:a14="http://schemas.microsoft.com/office/drawing/2010/main" val="10001"/>
                      </a:ext>
                    </a:extLst>
                  </a:tr>
                  <a:tr h="219710">
                    <a:tc>
                      <a:txBody>
                        <a:bodyPr/>
                        <a:lstStyle/>
                        <a:p>
                          <a:pPr marL="0" algn="ctr" defTabSz="685800" rtl="0" eaLnBrk="1" fontAlgn="b" latinLnBrk="0" hangingPunct="1"/>
                          <a:r>
                            <a:rPr lang="en-US" sz="1400" u="none" strike="noStrike" kern="1200" dirty="0">
                              <a:effectLst/>
                              <a:latin typeface="Book Antiqua" panose="02040602050305030304" pitchFamily="18" charset="0"/>
                            </a:rPr>
                            <a:t>2</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387</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473</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746</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a:effectLst/>
                              <a:latin typeface="Book Antiqua" panose="02040602050305030304" pitchFamily="18" charset="0"/>
                            </a:rPr>
                            <a:t>1769</a:t>
                          </a:r>
                          <a:endParaRPr lang="en-US" sz="1400" u="none" strike="noStrike" kern="1200">
                            <a:solidFill>
                              <a:schemeClr val="tx1"/>
                            </a:solidFill>
                            <a:effectLst/>
                            <a:latin typeface="Book Antiqua" panose="02040602050305030304" pitchFamily="18" charset="0"/>
                            <a:ea typeface="+mn-ea"/>
                            <a:cs typeface="+mn-cs"/>
                          </a:endParaRPr>
                        </a:p>
                      </a:txBody>
                      <a:tcPr marL="6350" marR="6350" marT="6350" marB="0" anchor="b"/>
                    </a:tc>
                    <a:extLst>
                      <a:ext uri="{0D108BD9-81ED-4DB2-BD59-A6C34878D82A}">
                        <a16:rowId xmlns:a16="http://schemas.microsoft.com/office/drawing/2014/main" xmlns="" xmlns:a14="http://schemas.microsoft.com/office/drawing/2010/main" val="10002"/>
                      </a:ext>
                    </a:extLst>
                  </a:tr>
                  <a:tr h="219710">
                    <a:tc>
                      <a:txBody>
                        <a:bodyPr/>
                        <a:lstStyle/>
                        <a:p>
                          <a:pPr marL="0" algn="ctr" defTabSz="685800" rtl="0" eaLnBrk="1" fontAlgn="b" latinLnBrk="0" hangingPunct="1"/>
                          <a:r>
                            <a:rPr lang="en-US" sz="1400" u="none" strike="noStrike" kern="1200" dirty="0">
                              <a:effectLst/>
                              <a:latin typeface="Book Antiqua" panose="02040602050305030304" pitchFamily="18" charset="0"/>
                            </a:rPr>
                            <a:t>3</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461</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625</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892</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a:effectLst/>
                              <a:latin typeface="Book Antiqua" panose="02040602050305030304" pitchFamily="18" charset="0"/>
                            </a:rPr>
                            <a:t>1680</a:t>
                          </a:r>
                          <a:endParaRPr lang="en-US" sz="1400" u="none" strike="noStrike" kern="1200">
                            <a:solidFill>
                              <a:schemeClr val="tx1"/>
                            </a:solidFill>
                            <a:effectLst/>
                            <a:latin typeface="Book Antiqua" panose="02040602050305030304" pitchFamily="18" charset="0"/>
                            <a:ea typeface="+mn-ea"/>
                            <a:cs typeface="+mn-cs"/>
                          </a:endParaRPr>
                        </a:p>
                      </a:txBody>
                      <a:tcPr marL="6350" marR="6350" marT="6350" marB="0" anchor="b"/>
                    </a:tc>
                    <a:extLst>
                      <a:ext uri="{0D108BD9-81ED-4DB2-BD59-A6C34878D82A}">
                        <a16:rowId xmlns:a16="http://schemas.microsoft.com/office/drawing/2014/main" xmlns="" xmlns:a14="http://schemas.microsoft.com/office/drawing/2010/main" val="10003"/>
                      </a:ext>
                    </a:extLst>
                  </a:tr>
                  <a:tr h="219710">
                    <a:tc>
                      <a:txBody>
                        <a:bodyPr/>
                        <a:lstStyle/>
                        <a:p>
                          <a:pPr marL="0" algn="ctr" defTabSz="685800" rtl="0" eaLnBrk="1" fontAlgn="b" latinLnBrk="0" hangingPunct="1"/>
                          <a:r>
                            <a:rPr lang="en-US" sz="1400" u="none" strike="noStrike" kern="1200" dirty="0">
                              <a:effectLst/>
                              <a:latin typeface="Book Antiqua" panose="02040602050305030304" pitchFamily="18" charset="0"/>
                            </a:rPr>
                            <a:t>4</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303</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421</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586</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a:effectLst/>
                              <a:latin typeface="Book Antiqua" panose="02040602050305030304" pitchFamily="18" charset="0"/>
                            </a:rPr>
                            <a:t>1154</a:t>
                          </a:r>
                          <a:endParaRPr lang="en-US" sz="1400" u="none" strike="noStrike" kern="1200">
                            <a:solidFill>
                              <a:schemeClr val="tx1"/>
                            </a:solidFill>
                            <a:effectLst/>
                            <a:latin typeface="Book Antiqua" panose="02040602050305030304" pitchFamily="18" charset="0"/>
                            <a:ea typeface="+mn-ea"/>
                            <a:cs typeface="+mn-cs"/>
                          </a:endParaRPr>
                        </a:p>
                      </a:txBody>
                      <a:tcPr marL="6350" marR="6350" marT="6350" marB="0" anchor="b"/>
                    </a:tc>
                    <a:extLst>
                      <a:ext uri="{0D108BD9-81ED-4DB2-BD59-A6C34878D82A}">
                        <a16:rowId xmlns:a16="http://schemas.microsoft.com/office/drawing/2014/main" xmlns="" xmlns:a14="http://schemas.microsoft.com/office/drawing/2010/main" val="10004"/>
                      </a:ext>
                    </a:extLst>
                  </a:tr>
                  <a:tr h="219710">
                    <a:tc>
                      <a:txBody>
                        <a:bodyPr/>
                        <a:lstStyle/>
                        <a:p>
                          <a:pPr marL="0" algn="ctr" defTabSz="685800" rtl="0" eaLnBrk="1" fontAlgn="b" latinLnBrk="0" hangingPunct="1"/>
                          <a:r>
                            <a:rPr lang="en-US" sz="1400" u="none" strike="noStrike" kern="1200" dirty="0">
                              <a:effectLst/>
                              <a:latin typeface="Book Antiqua" panose="02040602050305030304" pitchFamily="18" charset="0"/>
                            </a:rPr>
                            <a:t>5</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452</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636</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875</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1910</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extLst>
                      <a:ext uri="{0D108BD9-81ED-4DB2-BD59-A6C34878D82A}">
                        <a16:rowId xmlns:a16="http://schemas.microsoft.com/office/drawing/2014/main" xmlns="" xmlns:a14="http://schemas.microsoft.com/office/drawing/2010/main" val="10005"/>
                      </a:ext>
                    </a:extLst>
                  </a:tr>
                  <a:tr h="219710">
                    <a:tc>
                      <a:txBody>
                        <a:bodyPr/>
                        <a:lstStyle/>
                        <a:p>
                          <a:pPr marL="0" algn="ctr" defTabSz="685800" rtl="0" eaLnBrk="1" fontAlgn="b" latinLnBrk="0" hangingPunct="1"/>
                          <a:r>
                            <a:rPr lang="en-US" sz="1400" u="none" strike="noStrike" kern="1200" dirty="0">
                              <a:effectLst/>
                              <a:latin typeface="Book Antiqua" panose="02040602050305030304" pitchFamily="18" charset="0"/>
                            </a:rPr>
                            <a:t>6</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132</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165</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255</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a:effectLst/>
                              <a:latin typeface="Book Antiqua" panose="02040602050305030304" pitchFamily="18" charset="0"/>
                            </a:rPr>
                            <a:t>377</a:t>
                          </a:r>
                          <a:endParaRPr lang="en-US" sz="1400" u="none" strike="noStrike" kern="1200">
                            <a:solidFill>
                              <a:schemeClr val="tx1"/>
                            </a:solidFill>
                            <a:effectLst/>
                            <a:latin typeface="Book Antiqua" panose="02040602050305030304" pitchFamily="18" charset="0"/>
                            <a:ea typeface="+mn-ea"/>
                            <a:cs typeface="+mn-cs"/>
                          </a:endParaRPr>
                        </a:p>
                      </a:txBody>
                      <a:tcPr marL="6350" marR="6350" marT="6350" marB="0" anchor="b"/>
                    </a:tc>
                    <a:extLst>
                      <a:ext uri="{0D108BD9-81ED-4DB2-BD59-A6C34878D82A}">
                        <a16:rowId xmlns:a16="http://schemas.microsoft.com/office/drawing/2014/main" xmlns="" xmlns:a14="http://schemas.microsoft.com/office/drawing/2010/main" val="10006"/>
                      </a:ext>
                    </a:extLst>
                  </a:tr>
                  <a:tr h="219710">
                    <a:tc>
                      <a:txBody>
                        <a:bodyPr/>
                        <a:lstStyle/>
                        <a:p>
                          <a:pPr marL="0" algn="ctr" defTabSz="685800" rtl="0" eaLnBrk="1" fontAlgn="b" latinLnBrk="0" hangingPunct="1"/>
                          <a:r>
                            <a:rPr lang="en-US" sz="1400" u="none" strike="noStrike" kern="1200">
                              <a:effectLst/>
                              <a:latin typeface="Book Antiqua" panose="02040602050305030304" pitchFamily="18" charset="0"/>
                            </a:rPr>
                            <a:t>7</a:t>
                          </a:r>
                          <a:endParaRPr lang="en-US" sz="1400" u="none" strike="noStrike" kern="120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239</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300</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461</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1008</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extLst>
                      <a:ext uri="{0D108BD9-81ED-4DB2-BD59-A6C34878D82A}">
                        <a16:rowId xmlns:a16="http://schemas.microsoft.com/office/drawing/2014/main" xmlns="" xmlns:a14="http://schemas.microsoft.com/office/drawing/2010/main" val="10007"/>
                      </a:ext>
                    </a:extLst>
                  </a:tr>
                  <a:tr h="219710">
                    <a:tc>
                      <a:txBody>
                        <a:bodyPr/>
                        <a:lstStyle/>
                        <a:p>
                          <a:pPr marL="0" algn="ctr" defTabSz="685800" rtl="0" eaLnBrk="1" fontAlgn="b" latinLnBrk="0" hangingPunct="1"/>
                          <a:r>
                            <a:rPr lang="en-US" sz="1400" u="none" strike="noStrike" kern="1200">
                              <a:effectLst/>
                              <a:latin typeface="Book Antiqua" panose="02040602050305030304" pitchFamily="18" charset="0"/>
                            </a:rPr>
                            <a:t>8</a:t>
                          </a:r>
                          <a:endParaRPr lang="en-US" sz="1400" u="none" strike="noStrike" kern="120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226</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296</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437</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688</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extLst>
                      <a:ext uri="{0D108BD9-81ED-4DB2-BD59-A6C34878D82A}">
                        <a16:rowId xmlns:a16="http://schemas.microsoft.com/office/drawing/2014/main" xmlns="" xmlns:a14="http://schemas.microsoft.com/office/drawing/2010/main" val="10008"/>
                      </a:ext>
                    </a:extLst>
                  </a:tr>
                  <a:tr h="219710">
                    <a:tc>
                      <a:txBody>
                        <a:bodyPr/>
                        <a:lstStyle/>
                        <a:p>
                          <a:pPr marL="0" algn="ctr" defTabSz="685800" rtl="0" eaLnBrk="1" fontAlgn="b" latinLnBrk="0" hangingPunct="1"/>
                          <a:r>
                            <a:rPr lang="en-US" sz="1400" u="none" strike="noStrike" kern="1200">
                              <a:effectLst/>
                              <a:latin typeface="Book Antiqua" panose="02040602050305030304" pitchFamily="18" charset="0"/>
                            </a:rPr>
                            <a:t>9</a:t>
                          </a:r>
                          <a:endParaRPr lang="en-US" sz="1400" u="none" strike="noStrike" kern="120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114</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146</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220</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735</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extLst>
                      <a:ext uri="{0D108BD9-81ED-4DB2-BD59-A6C34878D82A}">
                        <a16:rowId xmlns:a16="http://schemas.microsoft.com/office/drawing/2014/main" xmlns="" xmlns:a14="http://schemas.microsoft.com/office/drawing/2010/main" val="10009"/>
                      </a:ext>
                    </a:extLst>
                  </a:tr>
                  <a:tr h="219710">
                    <a:tc>
                      <a:txBody>
                        <a:bodyPr/>
                        <a:lstStyle/>
                        <a:p>
                          <a:pPr marL="0" algn="ctr" defTabSz="685800" rtl="0" eaLnBrk="1" fontAlgn="b" latinLnBrk="0" hangingPunct="1"/>
                          <a:r>
                            <a:rPr lang="en-US" sz="1400" u="none" strike="noStrike" kern="1200">
                              <a:effectLst/>
                              <a:latin typeface="Book Antiqua" panose="02040602050305030304" pitchFamily="18" charset="0"/>
                            </a:rPr>
                            <a:t>10</a:t>
                          </a:r>
                          <a:endParaRPr lang="en-US" sz="1400" u="none" strike="noStrike" kern="120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284</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349</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548</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1040</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extLst>
                      <a:ext uri="{0D108BD9-81ED-4DB2-BD59-A6C34878D82A}">
                        <a16:rowId xmlns:a16="http://schemas.microsoft.com/office/drawing/2014/main" xmlns="" xmlns:a14="http://schemas.microsoft.com/office/drawing/2010/main" val="10010"/>
                      </a:ext>
                    </a:extLst>
                  </a:tr>
                  <a:tr h="219710">
                    <a:tc>
                      <a:txBody>
                        <a:bodyPr/>
                        <a:lstStyle/>
                        <a:p>
                          <a:pPr marL="0" algn="ctr" defTabSz="685800" rtl="0" eaLnBrk="1" fontAlgn="b" latinLnBrk="0" hangingPunct="1"/>
                          <a:r>
                            <a:rPr lang="en-US" sz="1400" u="none" strike="noStrike" kern="1200">
                              <a:effectLst/>
                              <a:latin typeface="Book Antiqua" panose="02040602050305030304" pitchFamily="18" charset="0"/>
                            </a:rPr>
                            <a:t>11</a:t>
                          </a:r>
                          <a:endParaRPr lang="en-US" sz="1400" u="none" strike="noStrike" kern="120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304</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423</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588</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u="none" strike="noStrike" kern="1200" dirty="0">
                              <a:effectLst/>
                              <a:latin typeface="Book Antiqua" panose="02040602050305030304" pitchFamily="18" charset="0"/>
                            </a:rPr>
                            <a:t>1080</a:t>
                          </a:r>
                          <a:endParaRPr lang="en-US" sz="1400" u="none" strike="noStrike" kern="1200" dirty="0">
                            <a:solidFill>
                              <a:schemeClr val="tx1"/>
                            </a:solidFill>
                            <a:effectLst/>
                            <a:latin typeface="Book Antiqua" panose="02040602050305030304" pitchFamily="18" charset="0"/>
                            <a:ea typeface="+mn-ea"/>
                            <a:cs typeface="+mn-cs"/>
                          </a:endParaRPr>
                        </a:p>
                      </a:txBody>
                      <a:tcPr marL="6350" marR="6350" marT="6350" marB="0" anchor="b"/>
                    </a:tc>
                    <a:extLst>
                      <a:ext uri="{0D108BD9-81ED-4DB2-BD59-A6C34878D82A}">
                        <a16:rowId xmlns:a16="http://schemas.microsoft.com/office/drawing/2014/main" xmlns="" xmlns:a14="http://schemas.microsoft.com/office/drawing/2010/main" val="10011"/>
                      </a:ext>
                    </a:extLst>
                  </a:tr>
                </a:tbl>
              </a:graphicData>
            </a:graphic>
          </p:graphicFrame>
        </mc:Fallback>
      </mc:AlternateContent>
      <p:sp>
        <p:nvSpPr>
          <p:cNvPr id="6" name="TextBox 5"/>
          <p:cNvSpPr txBox="1"/>
          <p:nvPr/>
        </p:nvSpPr>
        <p:spPr>
          <a:xfrm>
            <a:off x="1888761" y="3856190"/>
            <a:ext cx="5036695" cy="461665"/>
          </a:xfrm>
          <a:prstGeom prst="rect">
            <a:avLst/>
          </a:prstGeom>
          <a:noFill/>
        </p:spPr>
        <p:txBody>
          <a:bodyPr wrap="square" rtlCol="0">
            <a:spAutoFit/>
          </a:bodyPr>
          <a:lstStyle/>
          <a:p>
            <a:r>
              <a:rPr lang="en-US" sz="1200" b="1" dirty="0" smtClean="0"/>
              <a:t>Data sources</a:t>
            </a:r>
            <a:r>
              <a:rPr lang="en-US" sz="1200" b="1" dirty="0"/>
              <a:t>:</a:t>
            </a:r>
            <a:r>
              <a:rPr lang="en-US" sz="1200" dirty="0"/>
              <a:t> </a:t>
            </a:r>
            <a:r>
              <a:rPr lang="en-US" sz="1200" i="1" dirty="0" smtClean="0"/>
              <a:t>United </a:t>
            </a:r>
            <a:r>
              <a:rPr lang="en-US" sz="1200" i="1" dirty="0"/>
              <a:t>Network for Organ </a:t>
            </a:r>
            <a:r>
              <a:rPr lang="en-US" sz="1200" i="1" dirty="0" smtClean="0"/>
              <a:t>Sharing (UNOS) and Scientific </a:t>
            </a:r>
            <a:r>
              <a:rPr lang="en-US" sz="1200" i="1" dirty="0"/>
              <a:t>Registry of Transplant Recipients (</a:t>
            </a:r>
            <a:r>
              <a:rPr lang="en-US" sz="1200" i="1" dirty="0" smtClean="0"/>
              <a:t>SRTR)</a:t>
            </a:r>
            <a:endParaRPr lang="en-US" sz="1200" i="1" dirty="0"/>
          </a:p>
        </p:txBody>
      </p:sp>
      <p:sp>
        <p:nvSpPr>
          <p:cNvPr id="5" name="TextBox 4"/>
          <p:cNvSpPr txBox="1"/>
          <p:nvPr/>
        </p:nvSpPr>
        <p:spPr>
          <a:xfrm>
            <a:off x="1821306" y="652072"/>
            <a:ext cx="4474564" cy="338554"/>
          </a:xfrm>
          <a:prstGeom prst="rect">
            <a:avLst/>
          </a:prstGeom>
          <a:noFill/>
        </p:spPr>
        <p:txBody>
          <a:bodyPr wrap="square" rtlCol="0">
            <a:spAutoFit/>
          </a:bodyPr>
          <a:lstStyle/>
          <a:p>
            <a:r>
              <a:rPr lang="en-US" sz="1600" dirty="0" smtClean="0">
                <a:latin typeface="+mn-lt"/>
              </a:rPr>
              <a:t>Recipient with blood type A</a:t>
            </a:r>
            <a:endParaRPr lang="en-US" sz="1600" dirty="0">
              <a:latin typeface="+mn-lt"/>
            </a:endParaRPr>
          </a:p>
        </p:txBody>
      </p:sp>
    </p:spTree>
    <p:extLst>
      <p:ext uri="{BB962C8B-B14F-4D97-AF65-F5344CB8AC3E}">
        <p14:creationId xmlns:p14="http://schemas.microsoft.com/office/powerpoint/2010/main" val="155168171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xmlns:p14="http://schemas.microsoft.com/office/powerpoint/2010/main">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400" dirty="0" smtClean="0">
                <a:solidFill>
                  <a:schemeClr val="accent1">
                    <a:lumMod val="75000"/>
                  </a:schemeClr>
                </a:solidFill>
                <a:latin typeface="+mj-lt"/>
              </a:rPr>
              <a:t>Optimal Kidney Acceptance Threshold by Regio</a:t>
            </a:r>
            <a:r>
              <a:rPr lang="en-US" sz="2400" dirty="0">
                <a:solidFill>
                  <a:schemeClr val="accent1">
                    <a:lumMod val="75000"/>
                  </a:schemeClr>
                </a:solidFill>
                <a:latin typeface="+mj-lt"/>
              </a:rPr>
              <a:t>n</a:t>
            </a:r>
            <a:r>
              <a:rPr lang="en-US" sz="2400" dirty="0" smtClean="0">
                <a:solidFill>
                  <a:schemeClr val="accent1">
                    <a:lumMod val="75000"/>
                  </a:schemeClr>
                </a:solidFill>
                <a:latin typeface="+mj-lt"/>
              </a:rPr>
              <a:t/>
            </a:r>
            <a:br>
              <a:rPr lang="en-US" sz="2400" dirty="0" smtClean="0">
                <a:solidFill>
                  <a:schemeClr val="accent1">
                    <a:lumMod val="75000"/>
                  </a:schemeClr>
                </a:solidFill>
                <a:latin typeface="+mj-lt"/>
              </a:rPr>
            </a:br>
            <a:endParaRPr lang="en-US" sz="2400" dirty="0">
              <a:latin typeface="+mj-lt"/>
            </a:endParaRPr>
          </a:p>
        </p:txBody>
      </p:sp>
      <p:sp>
        <p:nvSpPr>
          <p:cNvPr id="4" name="Slide Number Placeholder 3"/>
          <p:cNvSpPr>
            <a:spLocks noGrp="1"/>
          </p:cNvSpPr>
          <p:nvPr>
            <p:ph type="sldNum" sz="quarter" idx="4294967295"/>
          </p:nvPr>
        </p:nvSpPr>
        <p:spPr>
          <a:xfrm>
            <a:off x="0" y="4760913"/>
            <a:ext cx="2057400" cy="274637"/>
          </a:xfrm>
          <a:prstGeom prst="rect">
            <a:avLst/>
          </a:prstGeom>
        </p:spPr>
        <p:txBody>
          <a:bodyPr/>
          <a:lstStyle/>
          <a:p>
            <a:fld id="{69E57DC2-970A-4B3E-BB1C-7A09969E49DF}" type="slidenum">
              <a:rPr lang="en-US" smtClean="0"/>
              <a:pPr/>
              <a:t>12</a:t>
            </a:fld>
            <a:endParaRPr lang="en-US" dirty="0"/>
          </a:p>
        </p:txBody>
      </p:sp>
      <p:pic>
        <p:nvPicPr>
          <p:cNvPr id="6" name="Picture 5"/>
          <p:cNvPicPr>
            <a:picLocks noChangeAspect="1"/>
          </p:cNvPicPr>
          <p:nvPr/>
        </p:nvPicPr>
        <p:blipFill>
          <a:blip r:embed="rId3"/>
          <a:stretch>
            <a:fillRect/>
          </a:stretch>
        </p:blipFill>
        <p:spPr>
          <a:xfrm>
            <a:off x="511091" y="2069170"/>
            <a:ext cx="3336693" cy="2005344"/>
          </a:xfrm>
          <a:prstGeom prst="rect">
            <a:avLst/>
          </a:prstGeom>
        </p:spPr>
      </p:pic>
      <p:pic>
        <p:nvPicPr>
          <p:cNvPr id="3" name="Picture 2"/>
          <p:cNvPicPr>
            <a:picLocks noChangeAspect="1"/>
          </p:cNvPicPr>
          <p:nvPr/>
        </p:nvPicPr>
        <p:blipFill>
          <a:blip r:embed="rId4"/>
          <a:stretch>
            <a:fillRect/>
          </a:stretch>
        </p:blipFill>
        <p:spPr>
          <a:xfrm>
            <a:off x="4399099" y="1656707"/>
            <a:ext cx="3680594" cy="3026266"/>
          </a:xfrm>
          <a:prstGeom prst="rect">
            <a:avLst/>
          </a:prstGeom>
        </p:spPr>
      </p:pic>
      <mc:AlternateContent xmlns:mc="http://schemas.openxmlformats.org/markup-compatibility/2006" xmlns:a14="http://schemas.microsoft.com/office/drawing/2010/main">
        <mc:Choice Requires="a14">
          <p:graphicFrame>
            <p:nvGraphicFramePr>
              <p:cNvPr id="7" name="Table 6"/>
              <p:cNvGraphicFramePr>
                <a:graphicFrameLocks noGrp="1"/>
              </p:cNvGraphicFramePr>
              <p:nvPr>
                <p:extLst>
                  <p:ext uri="{D42A27DB-BD31-4B8C-83A1-F6EECF244321}">
                    <p14:modId xmlns:p14="http://schemas.microsoft.com/office/powerpoint/2010/main" val="1613638495"/>
                  </p:ext>
                </p:extLst>
              </p:nvPr>
            </p:nvGraphicFramePr>
            <p:xfrm>
              <a:off x="1296696" y="831953"/>
              <a:ext cx="6925408" cy="645315"/>
            </p:xfrm>
            <a:graphic>
              <a:graphicData uri="http://schemas.openxmlformats.org/drawingml/2006/table">
                <a:tbl>
                  <a:tblPr firstRow="1" bandRow="1">
                    <a:tableStyleId>{68D230F3-CF80-4859-8CE7-A43EE81993B5}</a:tableStyleId>
                  </a:tblPr>
                  <a:tblGrid>
                    <a:gridCol w="1159225">
                      <a:extLst>
                        <a:ext uri="{9D8B030D-6E8A-4147-A177-3AD203B41FA5}">
                          <a16:colId xmlns:a16="http://schemas.microsoft.com/office/drawing/2014/main" xmlns="" val="20001"/>
                        </a:ext>
                      </a:extLst>
                    </a:gridCol>
                    <a:gridCol w="633545">
                      <a:extLst>
                        <a:ext uri="{9D8B030D-6E8A-4147-A177-3AD203B41FA5}">
                          <a16:colId xmlns:a16="http://schemas.microsoft.com/office/drawing/2014/main" xmlns="" val="20002"/>
                        </a:ext>
                      </a:extLst>
                    </a:gridCol>
                    <a:gridCol w="351932">
                      <a:extLst>
                        <a:ext uri="{9D8B030D-6E8A-4147-A177-3AD203B41FA5}">
                          <a16:colId xmlns:a16="http://schemas.microsoft.com/office/drawing/2014/main" xmlns="" val="20005"/>
                        </a:ext>
                      </a:extLst>
                    </a:gridCol>
                    <a:gridCol w="566673">
                      <a:extLst>
                        <a:ext uri="{9D8B030D-6E8A-4147-A177-3AD203B41FA5}">
                          <a16:colId xmlns:a16="http://schemas.microsoft.com/office/drawing/2014/main" xmlns="" val="20006"/>
                        </a:ext>
                      </a:extLst>
                    </a:gridCol>
                    <a:gridCol w="351932">
                      <a:extLst>
                        <a:ext uri="{9D8B030D-6E8A-4147-A177-3AD203B41FA5}">
                          <a16:colId xmlns:a16="http://schemas.microsoft.com/office/drawing/2014/main" xmlns="" val="20007"/>
                        </a:ext>
                      </a:extLst>
                    </a:gridCol>
                    <a:gridCol w="566673">
                      <a:extLst>
                        <a:ext uri="{9D8B030D-6E8A-4147-A177-3AD203B41FA5}">
                          <a16:colId xmlns:a16="http://schemas.microsoft.com/office/drawing/2014/main" xmlns="" val="20008"/>
                        </a:ext>
                      </a:extLst>
                    </a:gridCol>
                    <a:gridCol w="362172">
                      <a:extLst>
                        <a:ext uri="{9D8B030D-6E8A-4147-A177-3AD203B41FA5}">
                          <a16:colId xmlns:a16="http://schemas.microsoft.com/office/drawing/2014/main" xmlns="" val="20009"/>
                        </a:ext>
                      </a:extLst>
                    </a:gridCol>
                    <a:gridCol w="474818">
                      <a:extLst>
                        <a:ext uri="{9D8B030D-6E8A-4147-A177-3AD203B41FA5}">
                          <a16:colId xmlns:a16="http://schemas.microsoft.com/office/drawing/2014/main" xmlns="" val="418939534"/>
                        </a:ext>
                      </a:extLst>
                    </a:gridCol>
                    <a:gridCol w="717792">
                      <a:extLst>
                        <a:ext uri="{9D8B030D-6E8A-4147-A177-3AD203B41FA5}">
                          <a16:colId xmlns:a16="http://schemas.microsoft.com/office/drawing/2014/main" xmlns="" val="20010"/>
                        </a:ext>
                      </a:extLst>
                    </a:gridCol>
                    <a:gridCol w="587463">
                      <a:extLst>
                        <a:ext uri="{9D8B030D-6E8A-4147-A177-3AD203B41FA5}">
                          <a16:colId xmlns:a16="http://schemas.microsoft.com/office/drawing/2014/main" xmlns="" val="20011"/>
                        </a:ext>
                      </a:extLst>
                    </a:gridCol>
                    <a:gridCol w="298745">
                      <a:extLst>
                        <a:ext uri="{9D8B030D-6E8A-4147-A177-3AD203B41FA5}">
                          <a16:colId xmlns:a16="http://schemas.microsoft.com/office/drawing/2014/main" xmlns="" val="20012"/>
                        </a:ext>
                      </a:extLst>
                    </a:gridCol>
                    <a:gridCol w="854438">
                      <a:extLst>
                        <a:ext uri="{9D8B030D-6E8A-4147-A177-3AD203B41FA5}">
                          <a16:colId xmlns:a16="http://schemas.microsoft.com/office/drawing/2014/main" xmlns="" val="20013"/>
                        </a:ext>
                      </a:extLst>
                    </a:gridCol>
                  </a:tblGrid>
                  <a:tr h="173100">
                    <a:tc>
                      <a:txBody>
                        <a:bodyPr/>
                        <a:lstStyle/>
                        <a:p>
                          <a:r>
                            <a:rPr lang="en-US" sz="1400" b="1" i="0" dirty="0" smtClean="0">
                              <a:latin typeface="Book Antiqua" panose="02040602050305030304" pitchFamily="18" charset="0"/>
                            </a:rPr>
                            <a:t>Blood</a:t>
                          </a:r>
                          <a:r>
                            <a:rPr lang="en-US" sz="1400" b="1" i="0" baseline="0" dirty="0" smtClean="0">
                              <a:latin typeface="Book Antiqua" panose="02040602050305030304" pitchFamily="18" charset="0"/>
                            </a:rPr>
                            <a:t> type</a:t>
                          </a:r>
                          <a:endParaRPr lang="en-US" sz="1400" b="1" i="0" dirty="0" smtClean="0">
                            <a:latin typeface="Book Antiqua" panose="0204060205030503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1400" b="1" i="1" smtClean="0">
                                        <a:latin typeface="Cambria Math"/>
                                      </a:rPr>
                                    </m:ctrlPr>
                                  </m:sSubPr>
                                  <m:e>
                                    <m:r>
                                      <a:rPr lang="en-US" sz="1400" b="1" i="1" smtClean="0">
                                        <a:latin typeface="Cambria Math" panose="02040503050406030204" pitchFamily="18" charset="0"/>
                                      </a:rPr>
                                      <m:t>𝒉</m:t>
                                    </m:r>
                                  </m:e>
                                  <m:sub>
                                    <m:r>
                                      <a:rPr lang="en-US" sz="1400" b="1" i="1" smtClean="0">
                                        <a:latin typeface="Cambria Math" panose="02040503050406030204" pitchFamily="18" charset="0"/>
                                      </a:rPr>
                                      <m:t>𝒐</m:t>
                                    </m:r>
                                  </m:sub>
                                </m:sSub>
                              </m:oMath>
                            </m:oMathPara>
                          </a14:m>
                          <a:endParaRPr lang="en-US" sz="1400" b="1" i="1" dirty="0" smtClean="0">
                            <a:latin typeface="Cambria Math" panose="020405030504060302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r>
                                  <a:rPr lang="en-US" sz="1400" b="1" i="1" smtClean="0">
                                    <a:latin typeface="Cambria Math" panose="02040503050406030204" pitchFamily="18" charset="0"/>
                                  </a:rPr>
                                  <m:t>𝒂</m:t>
                                </m:r>
                              </m:oMath>
                            </m:oMathPara>
                          </a14:m>
                          <a:endParaRPr lang="en-US" sz="1400" b="1" i="1" dirty="0"/>
                        </a:p>
                      </a:txBody>
                      <a:tcPr/>
                    </a:tc>
                    <a:tc>
                      <a:txBody>
                        <a:bodyPr/>
                        <a:lstStyle/>
                        <a:p>
                          <a:pPr/>
                          <a14:m>
                            <m:oMathPara xmlns:m="http://schemas.openxmlformats.org/officeDocument/2006/math">
                              <m:oMathParaPr>
                                <m:jc m:val="centerGroup"/>
                              </m:oMathParaPr>
                              <m:oMath xmlns:m="http://schemas.openxmlformats.org/officeDocument/2006/math">
                                <m:r>
                                  <a:rPr lang="en-US" sz="1400" b="1" i="1" smtClean="0">
                                    <a:latin typeface="Cambria Math" panose="02040503050406030204" pitchFamily="18" charset="0"/>
                                  </a:rPr>
                                  <m:t>𝒃</m:t>
                                </m:r>
                              </m:oMath>
                            </m:oMathPara>
                          </a14:m>
                          <a:endParaRPr lang="en-US" sz="1400" b="1" i="1" dirty="0"/>
                        </a:p>
                      </a:txBody>
                      <a:tcPr/>
                    </a:tc>
                    <a:tc>
                      <a:txBody>
                        <a:bodyPr/>
                        <a:lstStyle/>
                        <a:p>
                          <a:pPr/>
                          <a14:m>
                            <m:oMathPara xmlns:m="http://schemas.openxmlformats.org/officeDocument/2006/math">
                              <m:oMathParaPr>
                                <m:jc m:val="centerGroup"/>
                              </m:oMathParaPr>
                              <m:oMath xmlns:m="http://schemas.openxmlformats.org/officeDocument/2006/math">
                                <m:r>
                                  <a:rPr lang="en-US" sz="1400" b="1" i="1" smtClean="0">
                                    <a:latin typeface="Cambria Math" panose="02040503050406030204" pitchFamily="18" charset="0"/>
                                  </a:rPr>
                                  <m:t>𝜽</m:t>
                                </m:r>
                              </m:oMath>
                            </m:oMathPara>
                          </a14:m>
                          <a:endParaRPr lang="en-US" sz="1400" b="1" i="1" dirty="0"/>
                        </a:p>
                      </a:txBody>
                      <a:tcPr/>
                    </a:tc>
                    <a:tc>
                      <a:txBody>
                        <a:bodyPr/>
                        <a:lstStyle/>
                        <a:p>
                          <a:pPr/>
                          <a14:m>
                            <m:oMathPara xmlns:m="http://schemas.openxmlformats.org/officeDocument/2006/math">
                              <m:oMathParaPr>
                                <m:jc m:val="centerGroup"/>
                              </m:oMathParaPr>
                              <m:oMath xmlns:m="http://schemas.openxmlformats.org/officeDocument/2006/math">
                                <m:r>
                                  <a:rPr lang="en-US" sz="1400" b="1" i="1" smtClean="0">
                                    <a:latin typeface="Cambria Math" panose="02040503050406030204" pitchFamily="18" charset="0"/>
                                  </a:rPr>
                                  <m:t>𝜶</m:t>
                                </m:r>
                              </m:oMath>
                            </m:oMathPara>
                          </a14:m>
                          <a:endParaRPr lang="en-US" sz="1400" b="1" i="1" dirty="0"/>
                        </a:p>
                      </a:txBody>
                      <a:tcPr/>
                    </a:tc>
                    <a:tc>
                      <a:txBody>
                        <a:bodyPr/>
                        <a:lstStyle/>
                        <a:p>
                          <a:pPr/>
                          <a14:m>
                            <m:oMathPara xmlns:m="http://schemas.openxmlformats.org/officeDocument/2006/math">
                              <m:oMathParaPr>
                                <m:jc m:val="centerGroup"/>
                              </m:oMathParaPr>
                              <m:oMath xmlns:m="http://schemas.openxmlformats.org/officeDocument/2006/math">
                                <m:r>
                                  <a:rPr lang="en-US" sz="1400" b="1" i="1" smtClean="0">
                                    <a:latin typeface="Cambria Math" panose="02040503050406030204" pitchFamily="18" charset="0"/>
                                  </a:rPr>
                                  <m:t>𝜷</m:t>
                                </m:r>
                              </m:oMath>
                            </m:oMathPara>
                          </a14:m>
                          <a:endParaRPr lang="en-US" sz="1400" b="1" i="1" dirty="0"/>
                        </a:p>
                      </a:txBody>
                      <a:tcPr/>
                    </a:tc>
                    <a:tc>
                      <a:txBody>
                        <a:bodyPr/>
                        <a:lstStyle/>
                        <a:p>
                          <a:pPr/>
                          <a14:m>
                            <m:oMathPara xmlns:m="http://schemas.openxmlformats.org/officeDocument/2006/math">
                              <m:oMathParaPr>
                                <m:jc m:val="centerGroup"/>
                              </m:oMathParaPr>
                              <m:oMath xmlns:m="http://schemas.openxmlformats.org/officeDocument/2006/math">
                                <m:r>
                                  <a:rPr lang="en-US" sz="1400" b="1" i="1" smtClean="0">
                                    <a:latin typeface="Cambria Math" panose="02040503050406030204" pitchFamily="18" charset="0"/>
                                  </a:rPr>
                                  <m:t>𝜸</m:t>
                                </m:r>
                              </m:oMath>
                            </m:oMathPara>
                          </a14:m>
                          <a:endParaRPr lang="en-US" sz="1400" b="1" i="1" dirty="0"/>
                        </a:p>
                      </a:txBody>
                      <a:tcPr/>
                    </a:tc>
                    <a:tc>
                      <a:txBody>
                        <a:bodyPr/>
                        <a:lstStyle/>
                        <a:p>
                          <a:pPr/>
                          <a14:m>
                            <m:oMathPara xmlns:m="http://schemas.openxmlformats.org/officeDocument/2006/math">
                              <m:oMathParaPr>
                                <m:jc m:val="centerGroup"/>
                              </m:oMathParaPr>
                              <m:oMath xmlns:m="http://schemas.openxmlformats.org/officeDocument/2006/math">
                                <m:r>
                                  <a:rPr lang="en-US" sz="1400" b="1" i="1" smtClean="0">
                                    <a:latin typeface="Cambria Math" panose="02040503050406030204" pitchFamily="18" charset="0"/>
                                  </a:rPr>
                                  <m:t>𝒕</m:t>
                                </m:r>
                              </m:oMath>
                            </m:oMathPara>
                          </a14:m>
                          <a:endParaRPr lang="en-US" sz="1400" b="1" i="1" dirty="0"/>
                        </a:p>
                      </a:txBody>
                      <a:tcPr/>
                    </a:tc>
                    <a:tc>
                      <a:txBody>
                        <a:bodyPr/>
                        <a:lstStyle/>
                        <a:p>
                          <a:pPr/>
                          <a14:m>
                            <m:oMathPara xmlns:m="http://schemas.openxmlformats.org/officeDocument/2006/math">
                              <m:oMathParaPr>
                                <m:jc m:val="centerGroup"/>
                              </m:oMathParaPr>
                              <m:oMath xmlns:m="http://schemas.openxmlformats.org/officeDocument/2006/math">
                                <m:r>
                                  <a:rPr lang="en-US" sz="1400" b="1" i="1" smtClean="0">
                                    <a:latin typeface="Cambria Math" panose="02040503050406030204" pitchFamily="18" charset="0"/>
                                  </a:rPr>
                                  <m:t>𝜹</m:t>
                                </m:r>
                              </m:oMath>
                            </m:oMathPara>
                          </a14:m>
                          <a:endParaRPr lang="en-US" sz="1400" b="1" i="1" dirty="0" smtClean="0"/>
                        </a:p>
                      </a:txBody>
                      <a:tcPr/>
                    </a:tc>
                    <a:tc>
                      <a:txBody>
                        <a:bodyPr/>
                        <a:lstStyle/>
                        <a:p>
                          <a:pPr/>
                          <a14:m>
                            <m:oMathPara xmlns:m="http://schemas.openxmlformats.org/officeDocument/2006/math">
                              <m:oMathParaPr>
                                <m:jc m:val="centerGroup"/>
                              </m:oMathParaPr>
                              <m:oMath xmlns:m="http://schemas.openxmlformats.org/officeDocument/2006/math">
                                <m:r>
                                  <a:rPr lang="en-US" sz="1400" b="1" i="1" dirty="0" smtClean="0">
                                    <a:latin typeface="Cambria Math" panose="02040503050406030204" pitchFamily="18" charset="0"/>
                                  </a:rPr>
                                  <m:t>𝒈</m:t>
                                </m:r>
                              </m:oMath>
                            </m:oMathPara>
                          </a14:m>
                          <a:endParaRPr lang="en-US" sz="1400" b="1" i="1" dirty="0"/>
                        </a:p>
                      </a:txBody>
                      <a:tcPr/>
                    </a:tc>
                    <a:tc>
                      <a:txBody>
                        <a:bodyPr/>
                        <a:lstStyle/>
                        <a:p>
                          <a:pPr/>
                          <a14:m>
                            <m:oMathPara xmlns:m="http://schemas.openxmlformats.org/officeDocument/2006/math">
                              <m:oMathParaPr>
                                <m:jc m:val="centerGroup"/>
                              </m:oMathParaPr>
                              <m:oMath xmlns:m="http://schemas.openxmlformats.org/officeDocument/2006/math">
                                <m:r>
                                  <a:rPr lang="en-US" sz="1400" b="1" i="1" dirty="0" smtClean="0">
                                    <a:latin typeface="Cambria Math" panose="02040503050406030204" pitchFamily="18" charset="0"/>
                                  </a:rPr>
                                  <m:t>𝑷</m:t>
                                </m:r>
                                <m:r>
                                  <a:rPr lang="en-US" sz="1400" b="1" i="1" dirty="0" smtClean="0">
                                    <a:latin typeface="Cambria Math" panose="02040503050406030204" pitchFamily="18" charset="0"/>
                                  </a:rPr>
                                  <m:t>(</m:t>
                                </m:r>
                                <m:r>
                                  <a:rPr lang="en-US" sz="1400" b="1" i="1" dirty="0" smtClean="0">
                                    <a:latin typeface="Cambria Math"/>
                                  </a:rPr>
                                  <m:t>𝒕𝒓𝒂𝒏𝒔</m:t>
                                </m:r>
                                <m:r>
                                  <a:rPr lang="en-US" sz="1400" b="1" i="1" dirty="0" smtClean="0">
                                    <a:latin typeface="Cambria Math" panose="02040503050406030204" pitchFamily="18" charset="0"/>
                                  </a:rPr>
                                  <m:t>)</m:t>
                                </m:r>
                              </m:oMath>
                            </m:oMathPara>
                          </a14:m>
                          <a:endParaRPr lang="en-US" sz="1400" b="1" i="1" dirty="0"/>
                        </a:p>
                      </a:txBody>
                      <a:tcPr/>
                    </a:tc>
                    <a:extLst>
                      <a:ext uri="{0D108BD9-81ED-4DB2-BD59-A6C34878D82A}">
                        <a16:rowId xmlns:a16="http://schemas.microsoft.com/office/drawing/2014/main" xmlns="" val="10000"/>
                      </a:ext>
                    </a:extLst>
                  </a:tr>
                  <a:tr h="340515">
                    <a:tc>
                      <a:txBody>
                        <a:bodyPr/>
                        <a:lstStyle/>
                        <a:p>
                          <a:pPr/>
                          <a14:m>
                            <m:oMathPara xmlns:m="http://schemas.openxmlformats.org/officeDocument/2006/math">
                              <m:oMathParaPr>
                                <m:jc m:val="centerGroup"/>
                              </m:oMathParaPr>
                              <m:oMath xmlns:m="http://schemas.openxmlformats.org/officeDocument/2006/math">
                                <m:r>
                                  <a:rPr lang="en-US" sz="1400" i="1" dirty="0" smtClean="0">
                                    <a:latin typeface="Cambria Math" panose="02040503050406030204" pitchFamily="18" charset="0"/>
                                  </a:rPr>
                                  <m:t>𝐴</m:t>
                                </m:r>
                              </m:oMath>
                            </m:oMathPara>
                          </a14:m>
                          <a:endParaRPr lang="en-US" sz="1400" dirty="0">
                            <a:latin typeface="Book Antiqua" panose="02040602050305030304" pitchFamily="18" charset="0"/>
                          </a:endParaRPr>
                        </a:p>
                      </a:txBody>
                      <a:tcPr/>
                    </a:tc>
                    <a:tc>
                      <a:txBody>
                        <a:bodyPr/>
                        <a:lstStyle/>
                        <a:p>
                          <a:r>
                            <a:rPr lang="en-US" sz="1400" dirty="0" smtClean="0">
                              <a:latin typeface="Book Antiqua" panose="02040602050305030304" pitchFamily="18" charset="0"/>
                            </a:rPr>
                            <a:t>1(</a:t>
                          </a:r>
                          <a:r>
                            <a:rPr lang="en-US" sz="1400" dirty="0" err="1" smtClean="0">
                              <a:latin typeface="Book Antiqua" panose="02040602050305030304" pitchFamily="18" charset="0"/>
                            </a:rPr>
                            <a:t>yr</a:t>
                          </a:r>
                          <a:r>
                            <a:rPr lang="en-US" sz="1400" dirty="0" smtClean="0">
                              <a:latin typeface="Book Antiqua" panose="02040602050305030304" pitchFamily="18" charset="0"/>
                            </a:rPr>
                            <a:t>)</a:t>
                          </a:r>
                          <a:endParaRPr lang="en-US" sz="1400" dirty="0">
                            <a:latin typeface="Book Antiqua" panose="0204060205030503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r>
                                  <a:rPr lang="en-US" sz="1400" i="1" dirty="0" smtClean="0">
                                    <a:latin typeface="Cambria Math" panose="02040503050406030204" pitchFamily="18" charset="0"/>
                                  </a:rPr>
                                  <m:t>8</m:t>
                                </m:r>
                              </m:oMath>
                            </m:oMathPara>
                          </a14:m>
                          <a:endParaRPr lang="en-US" sz="1400" dirty="0">
                            <a:latin typeface="Book Antiqua" panose="0204060205030503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r>
                                  <a:rPr lang="en-US" sz="1400" i="1" dirty="0" smtClean="0">
                                    <a:latin typeface="Cambria Math" panose="02040503050406030204" pitchFamily="18" charset="0"/>
                                  </a:rPr>
                                  <m:t>2</m:t>
                                </m:r>
                              </m:oMath>
                            </m:oMathPara>
                          </a14:m>
                          <a:endParaRPr lang="en-US" sz="1400" dirty="0">
                            <a:latin typeface="Book Antiqua" panose="0204060205030503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r>
                                  <a:rPr lang="en-US" sz="1400" i="1" dirty="0" smtClean="0">
                                    <a:latin typeface="Cambria Math" panose="02040503050406030204" pitchFamily="18" charset="0"/>
                                  </a:rPr>
                                  <m:t>5</m:t>
                                </m:r>
                              </m:oMath>
                            </m:oMathPara>
                          </a14:m>
                          <a:endParaRPr lang="en-US" sz="1400" dirty="0">
                            <a:latin typeface="Book Antiqua" panose="0204060205030503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r>
                                  <a:rPr lang="en-US" sz="1400" i="1" dirty="0" smtClean="0">
                                    <a:latin typeface="Cambria Math" panose="02040503050406030204" pitchFamily="18" charset="0"/>
                                  </a:rPr>
                                  <m:t>0.4</m:t>
                                </m:r>
                              </m:oMath>
                            </m:oMathPara>
                          </a14:m>
                          <a:endParaRPr lang="en-US" sz="1400" dirty="0">
                            <a:latin typeface="Book Antiqua" panose="0204060205030503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r>
                                  <a:rPr lang="en-US" sz="1400" i="1" dirty="0" smtClean="0">
                                    <a:latin typeface="Cambria Math" panose="02040503050406030204" pitchFamily="18" charset="0"/>
                                  </a:rPr>
                                  <m:t>8</m:t>
                                </m:r>
                              </m:oMath>
                            </m:oMathPara>
                          </a14:m>
                          <a:endParaRPr lang="en-US" sz="1400" dirty="0">
                            <a:latin typeface="Book Antiqua" panose="02040602050305030304" pitchFamily="18" charset="0"/>
                          </a:endParaRPr>
                        </a:p>
                      </a:txBody>
                      <a:tcPr/>
                    </a:tc>
                    <a:tc>
                      <a:txBody>
                        <a:bodyPr/>
                        <a:lstStyle/>
                        <a:p>
                          <a:pPr marL="0" algn="l" defTabSz="685800" rtl="0" eaLnBrk="1" latinLnBrk="0" hangingPunct="1"/>
                          <a:r>
                            <a:rPr lang="en-US" sz="1400" i="0" kern="1200" dirty="0" smtClean="0">
                              <a:solidFill>
                                <a:schemeClr val="tx1"/>
                              </a:solidFill>
                              <a:latin typeface="Cambria Math" panose="02040503050406030204" pitchFamily="18" charset="0"/>
                              <a:ea typeface="+mn-ea"/>
                              <a:cs typeface="+mn-cs"/>
                            </a:rPr>
                            <a:t>0.5</a:t>
                          </a:r>
                          <a:endParaRPr lang="en-US" sz="1400" i="0" kern="1200" dirty="0">
                            <a:solidFill>
                              <a:schemeClr val="tx1"/>
                            </a:solidFill>
                            <a:latin typeface="Cambria Math" panose="02040503050406030204" pitchFamily="18" charset="0"/>
                            <a:ea typeface="+mn-ea"/>
                            <a:cs typeface="+mn-cs"/>
                          </a:endParaRPr>
                        </a:p>
                      </a:txBody>
                      <a:tcPr/>
                    </a:tc>
                    <a:tc>
                      <a:txBody>
                        <a:bodyPr/>
                        <a:lstStyle/>
                        <a:p>
                          <a14:m>
                            <m:oMath xmlns:m="http://schemas.openxmlformats.org/officeDocument/2006/math">
                              <m:r>
                                <a:rPr lang="en-US" sz="1400" i="1" dirty="0" smtClean="0">
                                  <a:latin typeface="Cambria Math" panose="02040503050406030204" pitchFamily="18" charset="0"/>
                                </a:rPr>
                                <m:t>1 (</m:t>
                              </m:r>
                              <m:r>
                                <a:rPr lang="en-US" sz="1400" i="1" dirty="0" err="1" smtClean="0">
                                  <a:latin typeface="Cambria Math" panose="02040503050406030204" pitchFamily="18" charset="0"/>
                                </a:rPr>
                                <m:t>h𝑟</m:t>
                              </m:r>
                            </m:oMath>
                          </a14:m>
                          <a:r>
                            <a:rPr lang="en-US" sz="1400" dirty="0" smtClean="0">
                              <a:latin typeface="Book Antiqua" panose="02040602050305030304" pitchFamily="18" charset="0"/>
                            </a:rPr>
                            <a:t>)</a:t>
                          </a:r>
                          <a:endParaRPr lang="en-US" sz="1400" dirty="0">
                            <a:latin typeface="Book Antiqua" panose="0204060205030503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r>
                                  <a:rPr lang="en-US" sz="1400" i="1" dirty="0" smtClean="0">
                                    <a:latin typeface="Cambria Math" panose="02040503050406030204" pitchFamily="18" charset="0"/>
                                  </a:rPr>
                                  <m:t>0.05</m:t>
                                </m:r>
                              </m:oMath>
                            </m:oMathPara>
                          </a14:m>
                          <a:endParaRPr lang="en-US" sz="1400" dirty="0">
                            <a:latin typeface="Book Antiqua" panose="0204060205030503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r>
                                  <a:rPr lang="en-US" sz="1400" i="1" dirty="0" smtClean="0">
                                    <a:latin typeface="Cambria Math" panose="02040503050406030204" pitchFamily="18" charset="0"/>
                                  </a:rPr>
                                  <m:t>5</m:t>
                                </m:r>
                              </m:oMath>
                            </m:oMathPara>
                          </a14:m>
                          <a:endParaRPr lang="en-US" sz="1400" dirty="0">
                            <a:latin typeface="Book Antiqua" panose="0204060205030503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r>
                                  <a:rPr lang="en-US" sz="1400" i="1" dirty="0" smtClean="0">
                                    <a:latin typeface="Cambria Math" panose="02040503050406030204" pitchFamily="18" charset="0"/>
                                  </a:rPr>
                                  <m:t>0.8</m:t>
                                </m:r>
                              </m:oMath>
                            </m:oMathPara>
                          </a14:m>
                          <a:endParaRPr lang="en-US" sz="1400" dirty="0">
                            <a:latin typeface="Book Antiqua" panose="02040602050305030304" pitchFamily="18" charset="0"/>
                          </a:endParaRPr>
                        </a:p>
                      </a:txBody>
                      <a:tcPr/>
                    </a:tc>
                    <a:extLst>
                      <a:ext uri="{0D108BD9-81ED-4DB2-BD59-A6C34878D82A}">
                        <a16:rowId xmlns:a16="http://schemas.microsoft.com/office/drawing/2014/main" xmlns="" val="10001"/>
                      </a:ext>
                    </a:extLst>
                  </a:tr>
                </a:tbl>
              </a:graphicData>
            </a:graphic>
          </p:graphicFrame>
        </mc:Choice>
        <mc:Fallback xmlns="">
          <p:graphicFrame>
            <p:nvGraphicFramePr>
              <p:cNvPr id="7" name="Table 6"/>
              <p:cNvGraphicFramePr>
                <a:graphicFrameLocks noGrp="1"/>
              </p:cNvGraphicFramePr>
              <p:nvPr>
                <p:extLst>
                  <p:ext uri="{D42A27DB-BD31-4B8C-83A1-F6EECF244321}">
                    <p14:modId xmlns:p14="http://schemas.microsoft.com/office/powerpoint/2010/main" val="1613638495"/>
                  </p:ext>
                </p:extLst>
              </p:nvPr>
            </p:nvGraphicFramePr>
            <p:xfrm>
              <a:off x="1296696" y="831953"/>
              <a:ext cx="6925408" cy="645315"/>
            </p:xfrm>
            <a:graphic>
              <a:graphicData uri="http://schemas.openxmlformats.org/drawingml/2006/table">
                <a:tbl>
                  <a:tblPr firstRow="1" bandRow="1">
                    <a:tableStyleId>{68D230F3-CF80-4859-8CE7-A43EE81993B5}</a:tableStyleId>
                  </a:tblPr>
                  <a:tblGrid>
                    <a:gridCol w="1159225">
                      <a:extLst>
                        <a:ext uri="{9D8B030D-6E8A-4147-A177-3AD203B41FA5}">
                          <a16:colId xmlns="" xmlns:a16="http://schemas.microsoft.com/office/drawing/2014/main" xmlns:a14="http://schemas.microsoft.com/office/drawing/2010/main" val="20001"/>
                        </a:ext>
                      </a:extLst>
                    </a:gridCol>
                    <a:gridCol w="633545">
                      <a:extLst>
                        <a:ext uri="{9D8B030D-6E8A-4147-A177-3AD203B41FA5}">
                          <a16:colId xmlns="" xmlns:a16="http://schemas.microsoft.com/office/drawing/2014/main" xmlns:a14="http://schemas.microsoft.com/office/drawing/2010/main" val="20002"/>
                        </a:ext>
                      </a:extLst>
                    </a:gridCol>
                    <a:gridCol w="351932">
                      <a:extLst>
                        <a:ext uri="{9D8B030D-6E8A-4147-A177-3AD203B41FA5}">
                          <a16:colId xmlns="" xmlns:a16="http://schemas.microsoft.com/office/drawing/2014/main" xmlns:a14="http://schemas.microsoft.com/office/drawing/2010/main" val="20005"/>
                        </a:ext>
                      </a:extLst>
                    </a:gridCol>
                    <a:gridCol w="566673">
                      <a:extLst>
                        <a:ext uri="{9D8B030D-6E8A-4147-A177-3AD203B41FA5}">
                          <a16:colId xmlns="" xmlns:a16="http://schemas.microsoft.com/office/drawing/2014/main" xmlns:a14="http://schemas.microsoft.com/office/drawing/2010/main" val="20006"/>
                        </a:ext>
                      </a:extLst>
                    </a:gridCol>
                    <a:gridCol w="351932">
                      <a:extLst>
                        <a:ext uri="{9D8B030D-6E8A-4147-A177-3AD203B41FA5}">
                          <a16:colId xmlns="" xmlns:a16="http://schemas.microsoft.com/office/drawing/2014/main" xmlns:a14="http://schemas.microsoft.com/office/drawing/2010/main" val="20007"/>
                        </a:ext>
                      </a:extLst>
                    </a:gridCol>
                    <a:gridCol w="566673">
                      <a:extLst>
                        <a:ext uri="{9D8B030D-6E8A-4147-A177-3AD203B41FA5}">
                          <a16:colId xmlns="" xmlns:a16="http://schemas.microsoft.com/office/drawing/2014/main" xmlns:a14="http://schemas.microsoft.com/office/drawing/2010/main" val="20008"/>
                        </a:ext>
                      </a:extLst>
                    </a:gridCol>
                    <a:gridCol w="362172">
                      <a:extLst>
                        <a:ext uri="{9D8B030D-6E8A-4147-A177-3AD203B41FA5}">
                          <a16:colId xmlns="" xmlns:a16="http://schemas.microsoft.com/office/drawing/2014/main" xmlns:a14="http://schemas.microsoft.com/office/drawing/2010/main" val="20009"/>
                        </a:ext>
                      </a:extLst>
                    </a:gridCol>
                    <a:gridCol w="474818">
                      <a:extLst>
                        <a:ext uri="{9D8B030D-6E8A-4147-A177-3AD203B41FA5}">
                          <a16:colId xmlns="" xmlns:a16="http://schemas.microsoft.com/office/drawing/2014/main" xmlns:a14="http://schemas.microsoft.com/office/drawing/2010/main" val="418939534"/>
                        </a:ext>
                      </a:extLst>
                    </a:gridCol>
                    <a:gridCol w="717792">
                      <a:extLst>
                        <a:ext uri="{9D8B030D-6E8A-4147-A177-3AD203B41FA5}">
                          <a16:colId xmlns="" xmlns:a16="http://schemas.microsoft.com/office/drawing/2014/main" xmlns:a14="http://schemas.microsoft.com/office/drawing/2010/main" val="20010"/>
                        </a:ext>
                      </a:extLst>
                    </a:gridCol>
                    <a:gridCol w="587463">
                      <a:extLst>
                        <a:ext uri="{9D8B030D-6E8A-4147-A177-3AD203B41FA5}">
                          <a16:colId xmlns="" xmlns:a16="http://schemas.microsoft.com/office/drawing/2014/main" xmlns:a14="http://schemas.microsoft.com/office/drawing/2010/main" val="20011"/>
                        </a:ext>
                      </a:extLst>
                    </a:gridCol>
                    <a:gridCol w="298745">
                      <a:extLst>
                        <a:ext uri="{9D8B030D-6E8A-4147-A177-3AD203B41FA5}">
                          <a16:colId xmlns="" xmlns:a16="http://schemas.microsoft.com/office/drawing/2014/main" xmlns:a14="http://schemas.microsoft.com/office/drawing/2010/main" val="20012"/>
                        </a:ext>
                      </a:extLst>
                    </a:gridCol>
                    <a:gridCol w="854438">
                      <a:extLst>
                        <a:ext uri="{9D8B030D-6E8A-4147-A177-3AD203B41FA5}">
                          <a16:colId xmlns="" xmlns:a16="http://schemas.microsoft.com/office/drawing/2014/main" xmlns:a14="http://schemas.microsoft.com/office/drawing/2010/main" val="20013"/>
                        </a:ext>
                      </a:extLst>
                    </a:gridCol>
                  </a:tblGrid>
                  <a:tr h="304800">
                    <a:tc>
                      <a:txBody>
                        <a:bodyPr/>
                        <a:lstStyle/>
                        <a:p>
                          <a:r>
                            <a:rPr lang="en-US" sz="1400" b="1" i="0" dirty="0" smtClean="0">
                              <a:latin typeface="Book Antiqua" panose="02040602050305030304" pitchFamily="18" charset="0"/>
                            </a:rPr>
                            <a:t>Blood</a:t>
                          </a:r>
                          <a:r>
                            <a:rPr lang="en-US" sz="1400" b="1" i="0" baseline="0" dirty="0" smtClean="0">
                              <a:latin typeface="Book Antiqua" panose="02040602050305030304" pitchFamily="18" charset="0"/>
                            </a:rPr>
                            <a:t> type</a:t>
                          </a:r>
                          <a:endParaRPr lang="en-US" sz="1400" b="1" i="0" dirty="0" smtClean="0">
                            <a:latin typeface="Book Antiqua" panose="02040602050305030304" pitchFamily="18" charset="0"/>
                          </a:endParaRPr>
                        </a:p>
                      </a:txBody>
                      <a:tcPr/>
                    </a:tc>
                    <a:tc>
                      <a:txBody>
                        <a:bodyPr/>
                        <a:lstStyle/>
                        <a:p>
                          <a:endParaRPr lang="en-US"/>
                        </a:p>
                      </a:txBody>
                      <a:tcPr>
                        <a:blipFill rotWithShape="1">
                          <a:blip r:embed="rId5"/>
                          <a:stretch>
                            <a:fillRect l="-183654" t="-2000" r="-809615" b="-120000"/>
                          </a:stretch>
                        </a:blipFill>
                      </a:tcPr>
                    </a:tc>
                    <a:tc>
                      <a:txBody>
                        <a:bodyPr/>
                        <a:lstStyle/>
                        <a:p>
                          <a:endParaRPr lang="en-US"/>
                        </a:p>
                      </a:txBody>
                      <a:tcPr>
                        <a:blipFill rotWithShape="1">
                          <a:blip r:embed="rId5"/>
                          <a:stretch>
                            <a:fillRect l="-508621" t="-2000" r="-1351724" b="-120000"/>
                          </a:stretch>
                        </a:blipFill>
                      </a:tcPr>
                    </a:tc>
                    <a:tc>
                      <a:txBody>
                        <a:bodyPr/>
                        <a:lstStyle/>
                        <a:p>
                          <a:endParaRPr lang="en-US"/>
                        </a:p>
                      </a:txBody>
                      <a:tcPr>
                        <a:blipFill rotWithShape="1">
                          <a:blip r:embed="rId5"/>
                          <a:stretch>
                            <a:fillRect l="-379570" t="-2000" r="-743011" b="-120000"/>
                          </a:stretch>
                        </a:blipFill>
                      </a:tcPr>
                    </a:tc>
                    <a:tc>
                      <a:txBody>
                        <a:bodyPr/>
                        <a:lstStyle/>
                        <a:p>
                          <a:endParaRPr lang="en-US"/>
                        </a:p>
                      </a:txBody>
                      <a:tcPr>
                        <a:blipFill rotWithShape="1">
                          <a:blip r:embed="rId5"/>
                          <a:stretch>
                            <a:fillRect l="-782456" t="-2000" r="-1112281" b="-120000"/>
                          </a:stretch>
                        </a:blipFill>
                      </a:tcPr>
                    </a:tc>
                    <a:tc>
                      <a:txBody>
                        <a:bodyPr/>
                        <a:lstStyle/>
                        <a:p>
                          <a:endParaRPr lang="en-US"/>
                        </a:p>
                      </a:txBody>
                      <a:tcPr>
                        <a:blipFill rotWithShape="1">
                          <a:blip r:embed="rId5"/>
                          <a:stretch>
                            <a:fillRect l="-540860" t="-2000" r="-581720" b="-120000"/>
                          </a:stretch>
                        </a:blipFill>
                      </a:tcPr>
                    </a:tc>
                    <a:tc>
                      <a:txBody>
                        <a:bodyPr/>
                        <a:lstStyle/>
                        <a:p>
                          <a:endParaRPr lang="en-US"/>
                        </a:p>
                      </a:txBody>
                      <a:tcPr>
                        <a:blipFill rotWithShape="1">
                          <a:blip r:embed="rId5"/>
                          <a:stretch>
                            <a:fillRect l="-993333" t="-2000" r="-801667" b="-120000"/>
                          </a:stretch>
                        </a:blipFill>
                      </a:tcPr>
                    </a:tc>
                    <a:tc>
                      <a:txBody>
                        <a:bodyPr/>
                        <a:lstStyle/>
                        <a:p>
                          <a:endParaRPr lang="en-US"/>
                        </a:p>
                      </a:txBody>
                      <a:tcPr>
                        <a:blipFill rotWithShape="1">
                          <a:blip r:embed="rId5"/>
                          <a:stretch>
                            <a:fillRect l="-841026" t="-2000" r="-516667" b="-120000"/>
                          </a:stretch>
                        </a:blipFill>
                      </a:tcPr>
                    </a:tc>
                    <a:tc>
                      <a:txBody>
                        <a:bodyPr/>
                        <a:lstStyle/>
                        <a:p>
                          <a:endParaRPr lang="en-US"/>
                        </a:p>
                      </a:txBody>
                      <a:tcPr>
                        <a:blipFill rotWithShape="1">
                          <a:blip r:embed="rId5"/>
                          <a:stretch>
                            <a:fillRect l="-627350" t="-2000" r="-244444" b="-120000"/>
                          </a:stretch>
                        </a:blipFill>
                      </a:tcPr>
                    </a:tc>
                    <a:tc>
                      <a:txBody>
                        <a:bodyPr/>
                        <a:lstStyle/>
                        <a:p>
                          <a:endParaRPr lang="en-US"/>
                        </a:p>
                      </a:txBody>
                      <a:tcPr>
                        <a:blipFill rotWithShape="1">
                          <a:blip r:embed="rId5"/>
                          <a:stretch>
                            <a:fillRect l="-877320" t="-2000" r="-194845" b="-120000"/>
                          </a:stretch>
                        </a:blipFill>
                      </a:tcPr>
                    </a:tc>
                    <a:tc>
                      <a:txBody>
                        <a:bodyPr/>
                        <a:lstStyle/>
                        <a:p>
                          <a:endParaRPr lang="en-US"/>
                        </a:p>
                      </a:txBody>
                      <a:tcPr>
                        <a:blipFill rotWithShape="1">
                          <a:blip r:embed="rId5"/>
                          <a:stretch>
                            <a:fillRect l="-1934694" t="-2000" r="-285714" b="-120000"/>
                          </a:stretch>
                        </a:blipFill>
                      </a:tcPr>
                    </a:tc>
                    <a:tc>
                      <a:txBody>
                        <a:bodyPr/>
                        <a:lstStyle/>
                        <a:p>
                          <a:endParaRPr lang="en-US"/>
                        </a:p>
                      </a:txBody>
                      <a:tcPr>
                        <a:blipFill rotWithShape="1">
                          <a:blip r:embed="rId5"/>
                          <a:stretch>
                            <a:fillRect l="-712143" t="-2000" b="-120000"/>
                          </a:stretch>
                        </a:blipFill>
                      </a:tcPr>
                    </a:tc>
                    <a:extLst>
                      <a:ext uri="{0D108BD9-81ED-4DB2-BD59-A6C34878D82A}">
                        <a16:rowId xmlns="" xmlns:a16="http://schemas.microsoft.com/office/drawing/2014/main" xmlns:a14="http://schemas.microsoft.com/office/drawing/2010/main" val="10000"/>
                      </a:ext>
                    </a:extLst>
                  </a:tr>
                  <a:tr h="340515">
                    <a:tc>
                      <a:txBody>
                        <a:bodyPr/>
                        <a:lstStyle/>
                        <a:p>
                          <a:endParaRPr lang="en-US"/>
                        </a:p>
                      </a:txBody>
                      <a:tcPr>
                        <a:blipFill rotWithShape="1">
                          <a:blip r:embed="rId5"/>
                          <a:stretch>
                            <a:fillRect l="-526" t="-91071" r="-497895" b="-7143"/>
                          </a:stretch>
                        </a:blipFill>
                      </a:tcPr>
                    </a:tc>
                    <a:tc>
                      <a:txBody>
                        <a:bodyPr/>
                        <a:lstStyle/>
                        <a:p>
                          <a:r>
                            <a:rPr lang="en-US" sz="1400" dirty="0" smtClean="0">
                              <a:latin typeface="Book Antiqua" panose="02040602050305030304" pitchFamily="18" charset="0"/>
                            </a:rPr>
                            <a:t>1(</a:t>
                          </a:r>
                          <a:r>
                            <a:rPr lang="en-US" sz="1400" dirty="0" err="1" smtClean="0">
                              <a:latin typeface="Book Antiqua" panose="02040602050305030304" pitchFamily="18" charset="0"/>
                            </a:rPr>
                            <a:t>yr</a:t>
                          </a:r>
                          <a:r>
                            <a:rPr lang="en-US" sz="1400" dirty="0" smtClean="0">
                              <a:latin typeface="Book Antiqua" panose="02040602050305030304" pitchFamily="18" charset="0"/>
                            </a:rPr>
                            <a:t>)</a:t>
                          </a:r>
                          <a:endParaRPr lang="en-US" sz="1400" dirty="0">
                            <a:latin typeface="Book Antiqua" panose="02040602050305030304" pitchFamily="18" charset="0"/>
                          </a:endParaRPr>
                        </a:p>
                      </a:txBody>
                      <a:tcPr/>
                    </a:tc>
                    <a:tc>
                      <a:txBody>
                        <a:bodyPr/>
                        <a:lstStyle/>
                        <a:p>
                          <a:endParaRPr lang="en-US"/>
                        </a:p>
                      </a:txBody>
                      <a:tcPr>
                        <a:blipFill rotWithShape="1">
                          <a:blip r:embed="rId5"/>
                          <a:stretch>
                            <a:fillRect l="-508621" t="-91071" r="-1351724" b="-7143"/>
                          </a:stretch>
                        </a:blipFill>
                      </a:tcPr>
                    </a:tc>
                    <a:tc>
                      <a:txBody>
                        <a:bodyPr/>
                        <a:lstStyle/>
                        <a:p>
                          <a:endParaRPr lang="en-US"/>
                        </a:p>
                      </a:txBody>
                      <a:tcPr>
                        <a:blipFill rotWithShape="1">
                          <a:blip r:embed="rId5"/>
                          <a:stretch>
                            <a:fillRect l="-379570" t="-91071" r="-743011" b="-7143"/>
                          </a:stretch>
                        </a:blipFill>
                      </a:tcPr>
                    </a:tc>
                    <a:tc>
                      <a:txBody>
                        <a:bodyPr/>
                        <a:lstStyle/>
                        <a:p>
                          <a:endParaRPr lang="en-US"/>
                        </a:p>
                      </a:txBody>
                      <a:tcPr>
                        <a:blipFill rotWithShape="1">
                          <a:blip r:embed="rId5"/>
                          <a:stretch>
                            <a:fillRect l="-782456" t="-91071" r="-1112281" b="-7143"/>
                          </a:stretch>
                        </a:blipFill>
                      </a:tcPr>
                    </a:tc>
                    <a:tc>
                      <a:txBody>
                        <a:bodyPr/>
                        <a:lstStyle/>
                        <a:p>
                          <a:endParaRPr lang="en-US"/>
                        </a:p>
                      </a:txBody>
                      <a:tcPr>
                        <a:blipFill rotWithShape="1">
                          <a:blip r:embed="rId5"/>
                          <a:stretch>
                            <a:fillRect l="-540860" t="-91071" r="-581720" b="-7143"/>
                          </a:stretch>
                        </a:blipFill>
                      </a:tcPr>
                    </a:tc>
                    <a:tc>
                      <a:txBody>
                        <a:bodyPr/>
                        <a:lstStyle/>
                        <a:p>
                          <a:endParaRPr lang="en-US"/>
                        </a:p>
                      </a:txBody>
                      <a:tcPr>
                        <a:blipFill rotWithShape="1">
                          <a:blip r:embed="rId5"/>
                          <a:stretch>
                            <a:fillRect l="-993333" t="-91071" r="-801667" b="-7143"/>
                          </a:stretch>
                        </a:blipFill>
                      </a:tcPr>
                    </a:tc>
                    <a:tc>
                      <a:txBody>
                        <a:bodyPr/>
                        <a:lstStyle/>
                        <a:p>
                          <a:pPr marL="0" algn="l" defTabSz="685800" rtl="0" eaLnBrk="1" latinLnBrk="0" hangingPunct="1"/>
                          <a:r>
                            <a:rPr lang="en-US" sz="1400" i="0" kern="1200" dirty="0" smtClean="0">
                              <a:solidFill>
                                <a:schemeClr val="tx1"/>
                              </a:solidFill>
                              <a:latin typeface="Cambria Math" panose="02040503050406030204" pitchFamily="18" charset="0"/>
                              <a:ea typeface="+mn-ea"/>
                              <a:cs typeface="+mn-cs"/>
                            </a:rPr>
                            <a:t>0.5</a:t>
                          </a:r>
                          <a:endParaRPr lang="en-US" sz="1400" i="0" kern="1200" dirty="0">
                            <a:solidFill>
                              <a:schemeClr val="tx1"/>
                            </a:solidFill>
                            <a:latin typeface="Cambria Math" panose="02040503050406030204" pitchFamily="18" charset="0"/>
                            <a:ea typeface="+mn-ea"/>
                            <a:cs typeface="+mn-cs"/>
                          </a:endParaRPr>
                        </a:p>
                      </a:txBody>
                      <a:tcPr/>
                    </a:tc>
                    <a:tc>
                      <a:txBody>
                        <a:bodyPr/>
                        <a:lstStyle/>
                        <a:p>
                          <a:endParaRPr lang="en-US"/>
                        </a:p>
                      </a:txBody>
                      <a:tcPr>
                        <a:blipFill rotWithShape="1">
                          <a:blip r:embed="rId5"/>
                          <a:stretch>
                            <a:fillRect l="-627350" t="-91071" r="-244444" b="-7143"/>
                          </a:stretch>
                        </a:blipFill>
                      </a:tcPr>
                    </a:tc>
                    <a:tc>
                      <a:txBody>
                        <a:bodyPr/>
                        <a:lstStyle/>
                        <a:p>
                          <a:endParaRPr lang="en-US"/>
                        </a:p>
                      </a:txBody>
                      <a:tcPr>
                        <a:blipFill rotWithShape="1">
                          <a:blip r:embed="rId5"/>
                          <a:stretch>
                            <a:fillRect l="-877320" t="-91071" r="-194845" b="-7143"/>
                          </a:stretch>
                        </a:blipFill>
                      </a:tcPr>
                    </a:tc>
                    <a:tc>
                      <a:txBody>
                        <a:bodyPr/>
                        <a:lstStyle/>
                        <a:p>
                          <a:endParaRPr lang="en-US"/>
                        </a:p>
                      </a:txBody>
                      <a:tcPr>
                        <a:blipFill rotWithShape="1">
                          <a:blip r:embed="rId5"/>
                          <a:stretch>
                            <a:fillRect l="-1934694" t="-91071" r="-285714" b="-7143"/>
                          </a:stretch>
                        </a:blipFill>
                      </a:tcPr>
                    </a:tc>
                    <a:tc>
                      <a:txBody>
                        <a:bodyPr/>
                        <a:lstStyle/>
                        <a:p>
                          <a:endParaRPr lang="en-US"/>
                        </a:p>
                      </a:txBody>
                      <a:tcPr>
                        <a:blipFill rotWithShape="1">
                          <a:blip r:embed="rId5"/>
                          <a:stretch>
                            <a:fillRect l="-712143" t="-91071" b="-7143"/>
                          </a:stretch>
                        </a:blipFill>
                      </a:tcPr>
                    </a:tc>
                    <a:extLst>
                      <a:ext uri="{0D108BD9-81ED-4DB2-BD59-A6C34878D82A}">
                        <a16:rowId xmlns="" xmlns:a16="http://schemas.microsoft.com/office/drawing/2014/main" xmlns:a14="http://schemas.microsoft.com/office/drawing/2010/main" val="10001"/>
                      </a:ext>
                    </a:extLst>
                  </a:tr>
                </a:tbl>
              </a:graphicData>
            </a:graphic>
          </p:graphicFrame>
        </mc:Fallback>
      </mc:AlternateContent>
    </p:spTree>
    <p:extLst>
      <p:ext uri="{BB962C8B-B14F-4D97-AF65-F5344CB8AC3E}">
        <p14:creationId xmlns:p14="http://schemas.microsoft.com/office/powerpoint/2010/main" val="256501561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xmlns:p14="http://schemas.microsoft.com/office/powerpoint/2010/main">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2400" dirty="0" smtClean="0">
                <a:solidFill>
                  <a:schemeClr val="accent1">
                    <a:lumMod val="75000"/>
                  </a:schemeClr>
                </a:solidFill>
                <a:latin typeface="+mj-lt"/>
              </a:rPr>
              <a:t>Method and Questions</a:t>
            </a:r>
            <a:endParaRPr lang="en-US" sz="2400" dirty="0">
              <a:solidFill>
                <a:schemeClr val="accent1">
                  <a:lumMod val="75000"/>
                </a:schemeClr>
              </a:solidFill>
              <a:latin typeface="+mj-lt"/>
            </a:endParaRPr>
          </a:p>
        </p:txBody>
      </p:sp>
      <p:sp>
        <p:nvSpPr>
          <p:cNvPr id="3" name="Text Placeholder 2"/>
          <p:cNvSpPr>
            <a:spLocks noGrp="1"/>
          </p:cNvSpPr>
          <p:nvPr>
            <p:ph idx="1"/>
          </p:nvPr>
        </p:nvSpPr>
        <p:spPr>
          <a:xfrm>
            <a:off x="302911" y="1078259"/>
            <a:ext cx="8496315" cy="4027764"/>
          </a:xfrm>
        </p:spPr>
        <p:txBody>
          <a:bodyPr>
            <a:normAutofit/>
          </a:bodyPr>
          <a:lstStyle/>
          <a:p>
            <a:pPr marL="117475" lvl="1" fontAlgn="base">
              <a:spcBef>
                <a:spcPct val="0"/>
              </a:spcBef>
              <a:spcAft>
                <a:spcPts val="600"/>
              </a:spcAft>
            </a:pPr>
            <a:r>
              <a:rPr lang="en-US" sz="1800" b="1" dirty="0" smtClean="0">
                <a:solidFill>
                  <a:schemeClr val="tx1"/>
                </a:solidFill>
                <a:latin typeface="+mn-lt"/>
              </a:rPr>
              <a:t>Simulation optimization model </a:t>
            </a:r>
            <a:r>
              <a:rPr lang="en-US" sz="1800" dirty="0" smtClean="0">
                <a:solidFill>
                  <a:schemeClr val="tx1"/>
                </a:solidFill>
                <a:latin typeface="+mn-lt"/>
              </a:rPr>
              <a:t>to evaluate the impact of information sharing on organ transplantation.</a:t>
            </a:r>
          </a:p>
          <a:p>
            <a:pPr marL="117475" lvl="1" fontAlgn="base">
              <a:spcBef>
                <a:spcPct val="0"/>
              </a:spcBef>
              <a:spcAft>
                <a:spcPts val="600"/>
              </a:spcAft>
            </a:pPr>
            <a:endParaRPr lang="en-US" sz="1750" dirty="0">
              <a:solidFill>
                <a:schemeClr val="tx1"/>
              </a:solidFill>
              <a:latin typeface="+mn-lt"/>
              <a:ea typeface="ＭＳ Ｐゴシック" charset="0"/>
              <a:cs typeface="ＭＳ Ｐゴシック" charset="0"/>
            </a:endParaRPr>
          </a:p>
          <a:p>
            <a:pPr marL="460375" lvl="1" indent="-342900" fontAlgn="base">
              <a:spcBef>
                <a:spcPct val="0"/>
              </a:spcBef>
              <a:spcAft>
                <a:spcPts val="600"/>
              </a:spcAft>
              <a:buFont typeface="+mj-lt"/>
              <a:buAutoNum type="arabicPeriod"/>
            </a:pPr>
            <a:r>
              <a:rPr lang="en-US" sz="1750" dirty="0" smtClean="0">
                <a:solidFill>
                  <a:schemeClr val="tx1"/>
                </a:solidFill>
                <a:latin typeface="+mn-lt"/>
                <a:ea typeface="ＭＳ Ｐゴシック" charset="0"/>
                <a:cs typeface="ＭＳ Ｐゴシック" charset="0"/>
              </a:rPr>
              <a:t>Information sharing from OPTN to patient and surgeon.</a:t>
            </a:r>
          </a:p>
          <a:p>
            <a:pPr marL="803275" lvl="2" indent="-342900" fontAlgn="base">
              <a:spcBef>
                <a:spcPct val="0"/>
              </a:spcBef>
              <a:spcAft>
                <a:spcPts val="600"/>
              </a:spcAft>
              <a:buFont typeface="Arial" panose="020B0604020202020204" pitchFamily="34" charset="0"/>
              <a:buChar char="•"/>
            </a:pPr>
            <a:r>
              <a:rPr lang="en-US" sz="1450" dirty="0" smtClean="0">
                <a:solidFill>
                  <a:schemeClr val="tx1"/>
                </a:solidFill>
                <a:latin typeface="+mn-lt"/>
                <a:ea typeface="ＭＳ Ｐゴシック" charset="0"/>
                <a:cs typeface="ＭＳ Ｐゴシック" charset="0"/>
              </a:rPr>
              <a:t>What </a:t>
            </a:r>
            <a:r>
              <a:rPr lang="en-US" sz="1450" dirty="0">
                <a:solidFill>
                  <a:schemeClr val="tx1"/>
                </a:solidFill>
                <a:latin typeface="+mn-lt"/>
                <a:ea typeface="ＭＳ Ｐゴシック" charset="0"/>
                <a:cs typeface="ＭＳ Ｐゴシック" charset="0"/>
              </a:rPr>
              <a:t>is the optimal </a:t>
            </a:r>
            <a:r>
              <a:rPr lang="en-US" sz="1450" b="1" dirty="0">
                <a:solidFill>
                  <a:srgbClr val="FF0000"/>
                </a:solidFill>
                <a:latin typeface="+mn-lt"/>
                <a:ea typeface="ＭＳ Ｐゴシック" charset="0"/>
                <a:cs typeface="ＭＳ Ｐゴシック" charset="0"/>
              </a:rPr>
              <a:t>kidney acceptance policy </a:t>
            </a:r>
            <a:r>
              <a:rPr lang="en-US" sz="1450" dirty="0">
                <a:solidFill>
                  <a:schemeClr val="tx1"/>
                </a:solidFill>
                <a:latin typeface="+mn-lt"/>
                <a:ea typeface="ＭＳ Ｐゴシック" charset="0"/>
                <a:cs typeface="ＭＳ Ｐゴシック" charset="0"/>
              </a:rPr>
              <a:t>depending on region</a:t>
            </a:r>
            <a:r>
              <a:rPr lang="en-US" sz="1450" dirty="0" smtClean="0">
                <a:solidFill>
                  <a:schemeClr val="tx1"/>
                </a:solidFill>
                <a:latin typeface="+mn-lt"/>
                <a:ea typeface="ＭＳ Ｐゴシック" charset="0"/>
                <a:cs typeface="ＭＳ Ｐゴシック" charset="0"/>
              </a:rPr>
              <a:t>?</a:t>
            </a:r>
            <a:endParaRPr lang="en-US" sz="1600" dirty="0" smtClean="0">
              <a:solidFill>
                <a:schemeClr val="tx1"/>
              </a:solidFill>
              <a:latin typeface="+mn-lt"/>
              <a:ea typeface="ＭＳ Ｐゴシック" charset="0"/>
              <a:cs typeface="ＭＳ Ｐゴシック" charset="0"/>
            </a:endParaRPr>
          </a:p>
          <a:p>
            <a:pPr marL="803275" lvl="2" indent="-342900" fontAlgn="base">
              <a:spcBef>
                <a:spcPct val="0"/>
              </a:spcBef>
              <a:spcAft>
                <a:spcPts val="600"/>
              </a:spcAft>
              <a:buFont typeface="Arial" panose="020B0604020202020204" pitchFamily="34" charset="0"/>
              <a:buChar char="•"/>
            </a:pPr>
            <a:r>
              <a:rPr lang="en-US" sz="1600" dirty="0" smtClean="0">
                <a:solidFill>
                  <a:schemeClr val="tx1"/>
                </a:solidFill>
                <a:latin typeface="+mn-lt"/>
                <a:ea typeface="ＭＳ Ｐゴシック" charset="0"/>
                <a:cs typeface="ＭＳ Ｐゴシック" charset="0"/>
              </a:rPr>
              <a:t>How to find the optimal </a:t>
            </a:r>
            <a:r>
              <a:rPr lang="en-US" sz="1600" b="1" dirty="0" smtClean="0">
                <a:solidFill>
                  <a:srgbClr val="FF0000"/>
                </a:solidFill>
                <a:latin typeface="+mn-lt"/>
                <a:ea typeface="ＭＳ Ｐゴシック" charset="0"/>
                <a:cs typeface="ＭＳ Ｐゴシック" charset="0"/>
              </a:rPr>
              <a:t>region selection policy </a:t>
            </a:r>
            <a:r>
              <a:rPr lang="en-US" sz="1600" dirty="0" smtClean="0">
                <a:solidFill>
                  <a:schemeClr val="tx1"/>
                </a:solidFill>
                <a:latin typeface="+mn-lt"/>
                <a:ea typeface="ＭＳ Ｐゴシック" charset="0"/>
                <a:cs typeface="ＭＳ Ｐゴシック" charset="0"/>
              </a:rPr>
              <a:t>under a set of budget, distance and performance constraints? </a:t>
            </a:r>
            <a:endParaRPr lang="en-US" sz="1650" dirty="0" smtClean="0">
              <a:solidFill>
                <a:schemeClr val="tx1"/>
              </a:solidFill>
              <a:latin typeface="+mn-lt"/>
              <a:ea typeface="ＭＳ Ｐゴシック" charset="0"/>
              <a:cs typeface="ＭＳ Ｐゴシック" charset="0"/>
            </a:endParaRPr>
          </a:p>
          <a:p>
            <a:pPr marL="460375" lvl="1" indent="-342900" fontAlgn="base">
              <a:spcBef>
                <a:spcPct val="0"/>
              </a:spcBef>
              <a:spcAft>
                <a:spcPts val="600"/>
              </a:spcAft>
              <a:buFont typeface="+mj-lt"/>
              <a:buAutoNum type="arabicPeriod"/>
            </a:pPr>
            <a:endParaRPr lang="en-US" sz="1800" dirty="0" smtClean="0">
              <a:solidFill>
                <a:schemeClr val="tx1"/>
              </a:solidFill>
              <a:latin typeface="+mn-lt"/>
              <a:ea typeface="ＭＳ Ｐゴシック" charset="0"/>
              <a:cs typeface="ＭＳ Ｐゴシック" charset="0"/>
            </a:endParaRPr>
          </a:p>
          <a:p>
            <a:pPr marL="460375" lvl="1" indent="-342900" fontAlgn="base">
              <a:spcBef>
                <a:spcPct val="0"/>
              </a:spcBef>
              <a:spcAft>
                <a:spcPts val="600"/>
              </a:spcAft>
              <a:buFont typeface="+mj-lt"/>
              <a:buAutoNum type="arabicPeriod"/>
            </a:pPr>
            <a:r>
              <a:rPr lang="en-US" sz="1800" dirty="0" smtClean="0">
                <a:solidFill>
                  <a:schemeClr val="tx1"/>
                </a:solidFill>
                <a:latin typeface="+mn-lt"/>
                <a:ea typeface="ＭＳ Ｐゴシック" charset="0"/>
                <a:cs typeface="ＭＳ Ｐゴシック" charset="0"/>
              </a:rPr>
              <a:t>Information sharing from patient/surgeon with OPTN</a:t>
            </a:r>
          </a:p>
          <a:p>
            <a:pPr marL="803275" lvl="2" indent="-342900" fontAlgn="base">
              <a:spcBef>
                <a:spcPct val="0"/>
              </a:spcBef>
              <a:spcAft>
                <a:spcPts val="600"/>
              </a:spcAft>
              <a:buFont typeface="Arial" panose="020B0604020202020204" pitchFamily="34" charset="0"/>
              <a:buChar char="•"/>
            </a:pPr>
            <a:r>
              <a:rPr lang="en-US" sz="1650" dirty="0" smtClean="0">
                <a:solidFill>
                  <a:schemeClr val="tx1"/>
                </a:solidFill>
                <a:latin typeface="+mn-lt"/>
                <a:ea typeface="ＭＳ Ｐゴシック" charset="0"/>
                <a:cs typeface="ＭＳ Ｐゴシック" charset="0"/>
              </a:rPr>
              <a:t>How  does </a:t>
            </a:r>
            <a:r>
              <a:rPr lang="en-US" sz="1650" b="1" dirty="0" smtClean="0">
                <a:solidFill>
                  <a:srgbClr val="FF0000"/>
                </a:solidFill>
                <a:latin typeface="+mn-lt"/>
                <a:ea typeface="ＭＳ Ｐゴシック" charset="0"/>
                <a:cs typeface="ＭＳ Ｐゴシック" charset="0"/>
              </a:rPr>
              <a:t>information sharing  </a:t>
            </a:r>
            <a:r>
              <a:rPr lang="en-US" sz="1650" dirty="0" smtClean="0">
                <a:solidFill>
                  <a:schemeClr val="tx1"/>
                </a:solidFill>
                <a:latin typeface="+mn-lt"/>
                <a:ea typeface="ＭＳ Ｐゴシック" charset="0"/>
                <a:cs typeface="ＭＳ Ｐゴシック" charset="0"/>
              </a:rPr>
              <a:t>improve the efficiency of the kidney allocation system  and enhance social welfare utility?</a:t>
            </a:r>
          </a:p>
        </p:txBody>
      </p:sp>
      <p:sp>
        <p:nvSpPr>
          <p:cNvPr id="4" name="Slide Number Placeholder 3"/>
          <p:cNvSpPr>
            <a:spLocks noGrp="1"/>
          </p:cNvSpPr>
          <p:nvPr>
            <p:ph type="sldNum" sz="quarter" idx="4294967295"/>
          </p:nvPr>
        </p:nvSpPr>
        <p:spPr>
          <a:xfrm>
            <a:off x="0" y="4760913"/>
            <a:ext cx="2057400" cy="274637"/>
          </a:xfrm>
          <a:prstGeom prst="rect">
            <a:avLst/>
          </a:prstGeom>
        </p:spPr>
        <p:txBody>
          <a:bodyPr/>
          <a:lstStyle/>
          <a:p>
            <a:fld id="{69E57DC2-970A-4B3E-BB1C-7A09969E49DF}" type="slidenum">
              <a:rPr lang="en-US" smtClean="0"/>
              <a:pPr/>
              <a:t>13</a:t>
            </a:fld>
            <a:endParaRPr lang="en-US" dirty="0"/>
          </a:p>
        </p:txBody>
      </p:sp>
      <p:sp>
        <p:nvSpPr>
          <p:cNvPr id="5" name="Rounded Rectangle 4"/>
          <p:cNvSpPr/>
          <p:nvPr/>
        </p:nvSpPr>
        <p:spPr>
          <a:xfrm>
            <a:off x="667062" y="2546798"/>
            <a:ext cx="8034728" cy="586145"/>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4996064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xmlns:p14="http://schemas.microsoft.com/office/powerpoint/2010/main">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400" dirty="0" smtClean="0">
                <a:solidFill>
                  <a:schemeClr val="accent1">
                    <a:lumMod val="75000"/>
                  </a:schemeClr>
                </a:solidFill>
                <a:latin typeface="+mj-lt"/>
              </a:rPr>
              <a:t>Optimal Decision Without Constraints</a:t>
            </a:r>
            <a:br>
              <a:rPr lang="en-US" sz="2400" dirty="0" smtClean="0">
                <a:solidFill>
                  <a:schemeClr val="accent1">
                    <a:lumMod val="75000"/>
                  </a:schemeClr>
                </a:solidFill>
                <a:latin typeface="+mj-lt"/>
              </a:rPr>
            </a:br>
            <a:endParaRPr lang="en-US" sz="2400" dirty="0">
              <a:latin typeface="+mj-lt"/>
            </a:endParaRPr>
          </a:p>
        </p:txBody>
      </p:sp>
      <p:sp>
        <p:nvSpPr>
          <p:cNvPr id="4" name="Slide Number Placeholder 3"/>
          <p:cNvSpPr>
            <a:spLocks noGrp="1"/>
          </p:cNvSpPr>
          <p:nvPr>
            <p:ph type="sldNum" sz="quarter" idx="4294967295"/>
          </p:nvPr>
        </p:nvSpPr>
        <p:spPr>
          <a:xfrm>
            <a:off x="0" y="4760913"/>
            <a:ext cx="2057400" cy="274637"/>
          </a:xfrm>
          <a:prstGeom prst="rect">
            <a:avLst/>
          </a:prstGeom>
        </p:spPr>
        <p:txBody>
          <a:bodyPr/>
          <a:lstStyle/>
          <a:p>
            <a:fld id="{69E57DC2-970A-4B3E-BB1C-7A09969E49DF}" type="slidenum">
              <a:rPr lang="en-US" smtClean="0"/>
              <a:pPr/>
              <a:t>14</a:t>
            </a:fld>
            <a:endParaRPr lang="en-US" dirty="0"/>
          </a:p>
        </p:txBody>
      </p:sp>
      <p:pic>
        <p:nvPicPr>
          <p:cNvPr id="6" name="Picture 5"/>
          <p:cNvPicPr>
            <a:picLocks noChangeAspect="1"/>
          </p:cNvPicPr>
          <p:nvPr/>
        </p:nvPicPr>
        <p:blipFill>
          <a:blip r:embed="rId3"/>
          <a:stretch>
            <a:fillRect/>
          </a:stretch>
        </p:blipFill>
        <p:spPr>
          <a:xfrm>
            <a:off x="511091" y="2069170"/>
            <a:ext cx="3336693" cy="2005344"/>
          </a:xfrm>
          <a:prstGeom prst="rect">
            <a:avLst/>
          </a:prstGeom>
        </p:spPr>
      </p:pic>
      <p:pic>
        <p:nvPicPr>
          <p:cNvPr id="3" name="Picture 2"/>
          <p:cNvPicPr>
            <a:picLocks noChangeAspect="1"/>
          </p:cNvPicPr>
          <p:nvPr/>
        </p:nvPicPr>
        <p:blipFill>
          <a:blip r:embed="rId4"/>
          <a:stretch>
            <a:fillRect/>
          </a:stretch>
        </p:blipFill>
        <p:spPr>
          <a:xfrm>
            <a:off x="4399099" y="1656707"/>
            <a:ext cx="3680594" cy="3026266"/>
          </a:xfrm>
          <a:prstGeom prst="rect">
            <a:avLst/>
          </a:prstGeom>
        </p:spPr>
      </p:pic>
      <mc:AlternateContent xmlns:mc="http://schemas.openxmlformats.org/markup-compatibility/2006" xmlns:a14="http://schemas.microsoft.com/office/drawing/2010/main">
        <mc:Choice Requires="a14">
          <p:graphicFrame>
            <p:nvGraphicFramePr>
              <p:cNvPr id="7" name="Table 6"/>
              <p:cNvGraphicFramePr>
                <a:graphicFrameLocks noGrp="1"/>
              </p:cNvGraphicFramePr>
              <p:nvPr>
                <p:extLst>
                  <p:ext uri="{D42A27DB-BD31-4B8C-83A1-F6EECF244321}">
                    <p14:modId xmlns:p14="http://schemas.microsoft.com/office/powerpoint/2010/main" val="675123127"/>
                  </p:ext>
                </p:extLst>
              </p:nvPr>
            </p:nvGraphicFramePr>
            <p:xfrm>
              <a:off x="1296698" y="831953"/>
              <a:ext cx="6678068" cy="614835"/>
            </p:xfrm>
            <a:graphic>
              <a:graphicData uri="http://schemas.openxmlformats.org/drawingml/2006/table">
                <a:tbl>
                  <a:tblPr firstRow="1" bandRow="1">
                    <a:tableStyleId>{68D230F3-CF80-4859-8CE7-A43EE81993B5}</a:tableStyleId>
                  </a:tblPr>
                  <a:tblGrid>
                    <a:gridCol w="1117824">
                      <a:extLst>
                        <a:ext uri="{9D8B030D-6E8A-4147-A177-3AD203B41FA5}">
                          <a16:colId xmlns:a16="http://schemas.microsoft.com/office/drawing/2014/main" xmlns="" val="20001"/>
                        </a:ext>
                      </a:extLst>
                    </a:gridCol>
                    <a:gridCol w="610918">
                      <a:extLst>
                        <a:ext uri="{9D8B030D-6E8A-4147-A177-3AD203B41FA5}">
                          <a16:colId xmlns:a16="http://schemas.microsoft.com/office/drawing/2014/main" xmlns="" val="20002"/>
                        </a:ext>
                      </a:extLst>
                    </a:gridCol>
                    <a:gridCol w="339363">
                      <a:extLst>
                        <a:ext uri="{9D8B030D-6E8A-4147-A177-3AD203B41FA5}">
                          <a16:colId xmlns:a16="http://schemas.microsoft.com/office/drawing/2014/main" xmlns="" val="20005"/>
                        </a:ext>
                      </a:extLst>
                    </a:gridCol>
                    <a:gridCol w="546434">
                      <a:extLst>
                        <a:ext uri="{9D8B030D-6E8A-4147-A177-3AD203B41FA5}">
                          <a16:colId xmlns:a16="http://schemas.microsoft.com/office/drawing/2014/main" xmlns="" val="20006"/>
                        </a:ext>
                      </a:extLst>
                    </a:gridCol>
                    <a:gridCol w="339363">
                      <a:extLst>
                        <a:ext uri="{9D8B030D-6E8A-4147-A177-3AD203B41FA5}">
                          <a16:colId xmlns:a16="http://schemas.microsoft.com/office/drawing/2014/main" xmlns="" val="20007"/>
                        </a:ext>
                      </a:extLst>
                    </a:gridCol>
                    <a:gridCol w="546434">
                      <a:extLst>
                        <a:ext uri="{9D8B030D-6E8A-4147-A177-3AD203B41FA5}">
                          <a16:colId xmlns:a16="http://schemas.microsoft.com/office/drawing/2014/main" xmlns="" val="20008"/>
                        </a:ext>
                      </a:extLst>
                    </a:gridCol>
                    <a:gridCol w="349237">
                      <a:extLst>
                        <a:ext uri="{9D8B030D-6E8A-4147-A177-3AD203B41FA5}">
                          <a16:colId xmlns:a16="http://schemas.microsoft.com/office/drawing/2014/main" xmlns="" val="20009"/>
                        </a:ext>
                      </a:extLst>
                    </a:gridCol>
                    <a:gridCol w="457860">
                      <a:extLst>
                        <a:ext uri="{9D8B030D-6E8A-4147-A177-3AD203B41FA5}">
                          <a16:colId xmlns:a16="http://schemas.microsoft.com/office/drawing/2014/main" xmlns="" val="418939534"/>
                        </a:ext>
                      </a:extLst>
                    </a:gridCol>
                    <a:gridCol w="692156">
                      <a:extLst>
                        <a:ext uri="{9D8B030D-6E8A-4147-A177-3AD203B41FA5}">
                          <a16:colId xmlns:a16="http://schemas.microsoft.com/office/drawing/2014/main" xmlns="" val="20010"/>
                        </a:ext>
                      </a:extLst>
                    </a:gridCol>
                    <a:gridCol w="566482">
                      <a:extLst>
                        <a:ext uri="{9D8B030D-6E8A-4147-A177-3AD203B41FA5}">
                          <a16:colId xmlns:a16="http://schemas.microsoft.com/office/drawing/2014/main" xmlns="" val="20011"/>
                        </a:ext>
                      </a:extLst>
                    </a:gridCol>
                    <a:gridCol w="295034">
                      <a:extLst>
                        <a:ext uri="{9D8B030D-6E8A-4147-A177-3AD203B41FA5}">
                          <a16:colId xmlns:a16="http://schemas.microsoft.com/office/drawing/2014/main" xmlns="" val="20012"/>
                        </a:ext>
                      </a:extLst>
                    </a:gridCol>
                    <a:gridCol w="816963">
                      <a:extLst>
                        <a:ext uri="{9D8B030D-6E8A-4147-A177-3AD203B41FA5}">
                          <a16:colId xmlns:a16="http://schemas.microsoft.com/office/drawing/2014/main" xmlns="" val="20013"/>
                        </a:ext>
                      </a:extLst>
                    </a:gridCol>
                  </a:tblGrid>
                  <a:tr h="173100">
                    <a:tc>
                      <a:txBody>
                        <a:bodyPr/>
                        <a:lstStyle/>
                        <a:p>
                          <a:r>
                            <a:rPr lang="en-US" sz="1200" b="1" i="0" dirty="0" smtClean="0">
                              <a:latin typeface="Book Antiqua" panose="02040602050305030304" pitchFamily="18" charset="0"/>
                            </a:rPr>
                            <a:t>Blood</a:t>
                          </a:r>
                          <a:r>
                            <a:rPr lang="en-US" sz="1200" b="1" i="0" baseline="0" dirty="0" smtClean="0">
                              <a:latin typeface="Book Antiqua" panose="02040602050305030304" pitchFamily="18" charset="0"/>
                            </a:rPr>
                            <a:t> type</a:t>
                          </a:r>
                          <a:endParaRPr lang="en-US" sz="1200" b="1" i="0" dirty="0" smtClean="0">
                            <a:latin typeface="Book Antiqua" panose="0204060205030503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1200" b="1" i="1" smtClean="0">
                                        <a:latin typeface="Cambria Math"/>
                                      </a:rPr>
                                    </m:ctrlPr>
                                  </m:sSubPr>
                                  <m:e>
                                    <m:r>
                                      <a:rPr lang="en-US" sz="1200" b="1" i="1" smtClean="0">
                                        <a:latin typeface="Cambria Math" panose="02040503050406030204" pitchFamily="18" charset="0"/>
                                      </a:rPr>
                                      <m:t>𝒉</m:t>
                                    </m:r>
                                  </m:e>
                                  <m:sub>
                                    <m:r>
                                      <a:rPr lang="en-US" sz="1200" b="1" i="1" smtClean="0">
                                        <a:latin typeface="Cambria Math" panose="02040503050406030204" pitchFamily="18" charset="0"/>
                                      </a:rPr>
                                      <m:t>𝒐</m:t>
                                    </m:r>
                                  </m:sub>
                                </m:sSub>
                              </m:oMath>
                            </m:oMathPara>
                          </a14:m>
                          <a:endParaRPr lang="en-US" sz="1200" b="1" i="1" dirty="0" smtClean="0">
                            <a:latin typeface="Cambria Math" panose="020405030504060302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r>
                                  <a:rPr lang="en-US" sz="1200" b="1" i="1" smtClean="0">
                                    <a:latin typeface="Cambria Math" panose="02040503050406030204" pitchFamily="18" charset="0"/>
                                  </a:rPr>
                                  <m:t>𝒂</m:t>
                                </m:r>
                              </m:oMath>
                            </m:oMathPara>
                          </a14:m>
                          <a:endParaRPr lang="en-US" sz="1200" b="1" i="1" dirty="0"/>
                        </a:p>
                      </a:txBody>
                      <a:tcPr/>
                    </a:tc>
                    <a:tc>
                      <a:txBody>
                        <a:bodyPr/>
                        <a:lstStyle/>
                        <a:p>
                          <a:pPr/>
                          <a14:m>
                            <m:oMathPara xmlns:m="http://schemas.openxmlformats.org/officeDocument/2006/math">
                              <m:oMathParaPr>
                                <m:jc m:val="centerGroup"/>
                              </m:oMathParaPr>
                              <m:oMath xmlns:m="http://schemas.openxmlformats.org/officeDocument/2006/math">
                                <m:r>
                                  <a:rPr lang="en-US" sz="1200" b="1" i="1" smtClean="0">
                                    <a:latin typeface="Cambria Math" panose="02040503050406030204" pitchFamily="18" charset="0"/>
                                  </a:rPr>
                                  <m:t>𝒃</m:t>
                                </m:r>
                              </m:oMath>
                            </m:oMathPara>
                          </a14:m>
                          <a:endParaRPr lang="en-US" sz="1200" b="1" i="1" dirty="0"/>
                        </a:p>
                      </a:txBody>
                      <a:tcPr/>
                    </a:tc>
                    <a:tc>
                      <a:txBody>
                        <a:bodyPr/>
                        <a:lstStyle/>
                        <a:p>
                          <a:pPr/>
                          <a14:m>
                            <m:oMathPara xmlns:m="http://schemas.openxmlformats.org/officeDocument/2006/math">
                              <m:oMathParaPr>
                                <m:jc m:val="centerGroup"/>
                              </m:oMathParaPr>
                              <m:oMath xmlns:m="http://schemas.openxmlformats.org/officeDocument/2006/math">
                                <m:r>
                                  <a:rPr lang="en-US" sz="1200" b="1" i="1" smtClean="0">
                                    <a:latin typeface="Cambria Math" panose="02040503050406030204" pitchFamily="18" charset="0"/>
                                  </a:rPr>
                                  <m:t>𝜽</m:t>
                                </m:r>
                              </m:oMath>
                            </m:oMathPara>
                          </a14:m>
                          <a:endParaRPr lang="en-US" sz="1200" b="1" i="1" dirty="0"/>
                        </a:p>
                      </a:txBody>
                      <a:tcPr/>
                    </a:tc>
                    <a:tc>
                      <a:txBody>
                        <a:bodyPr/>
                        <a:lstStyle/>
                        <a:p>
                          <a:pPr/>
                          <a14:m>
                            <m:oMathPara xmlns:m="http://schemas.openxmlformats.org/officeDocument/2006/math">
                              <m:oMathParaPr>
                                <m:jc m:val="centerGroup"/>
                              </m:oMathParaPr>
                              <m:oMath xmlns:m="http://schemas.openxmlformats.org/officeDocument/2006/math">
                                <m:r>
                                  <a:rPr lang="en-US" sz="1200" b="1" i="1" smtClean="0">
                                    <a:latin typeface="Cambria Math" panose="02040503050406030204" pitchFamily="18" charset="0"/>
                                  </a:rPr>
                                  <m:t>𝜶</m:t>
                                </m:r>
                              </m:oMath>
                            </m:oMathPara>
                          </a14:m>
                          <a:endParaRPr lang="en-US" sz="1200" b="1" i="1" dirty="0"/>
                        </a:p>
                      </a:txBody>
                      <a:tcPr/>
                    </a:tc>
                    <a:tc>
                      <a:txBody>
                        <a:bodyPr/>
                        <a:lstStyle/>
                        <a:p>
                          <a:pPr/>
                          <a14:m>
                            <m:oMathPara xmlns:m="http://schemas.openxmlformats.org/officeDocument/2006/math">
                              <m:oMathParaPr>
                                <m:jc m:val="centerGroup"/>
                              </m:oMathParaPr>
                              <m:oMath xmlns:m="http://schemas.openxmlformats.org/officeDocument/2006/math">
                                <m:r>
                                  <a:rPr lang="en-US" sz="1200" b="1" i="1" smtClean="0">
                                    <a:latin typeface="Cambria Math" panose="02040503050406030204" pitchFamily="18" charset="0"/>
                                  </a:rPr>
                                  <m:t>𝜷</m:t>
                                </m:r>
                              </m:oMath>
                            </m:oMathPara>
                          </a14:m>
                          <a:endParaRPr lang="en-US" sz="1200" b="1" i="1" dirty="0"/>
                        </a:p>
                      </a:txBody>
                      <a:tcPr/>
                    </a:tc>
                    <a:tc>
                      <a:txBody>
                        <a:bodyPr/>
                        <a:lstStyle/>
                        <a:p>
                          <a:pPr/>
                          <a14:m>
                            <m:oMathPara xmlns:m="http://schemas.openxmlformats.org/officeDocument/2006/math">
                              <m:oMathParaPr>
                                <m:jc m:val="centerGroup"/>
                              </m:oMathParaPr>
                              <m:oMath xmlns:m="http://schemas.openxmlformats.org/officeDocument/2006/math">
                                <m:r>
                                  <a:rPr lang="en-US" sz="1200" b="1" i="1" smtClean="0">
                                    <a:latin typeface="Cambria Math" panose="02040503050406030204" pitchFamily="18" charset="0"/>
                                  </a:rPr>
                                  <m:t>𝜸</m:t>
                                </m:r>
                              </m:oMath>
                            </m:oMathPara>
                          </a14:m>
                          <a:endParaRPr lang="en-US" sz="1200" b="1" i="1" dirty="0"/>
                        </a:p>
                      </a:txBody>
                      <a:tcPr/>
                    </a:tc>
                    <a:tc>
                      <a:txBody>
                        <a:bodyPr/>
                        <a:lstStyle/>
                        <a:p>
                          <a:pPr/>
                          <a14:m>
                            <m:oMathPara xmlns:m="http://schemas.openxmlformats.org/officeDocument/2006/math">
                              <m:oMathParaPr>
                                <m:jc m:val="centerGroup"/>
                              </m:oMathParaPr>
                              <m:oMath xmlns:m="http://schemas.openxmlformats.org/officeDocument/2006/math">
                                <m:r>
                                  <a:rPr lang="en-US" sz="1200" b="1" i="1" smtClean="0">
                                    <a:latin typeface="Cambria Math" panose="02040503050406030204" pitchFamily="18" charset="0"/>
                                  </a:rPr>
                                  <m:t>𝒕</m:t>
                                </m:r>
                              </m:oMath>
                            </m:oMathPara>
                          </a14:m>
                          <a:endParaRPr lang="en-US" sz="1200" b="1" i="1" dirty="0"/>
                        </a:p>
                      </a:txBody>
                      <a:tcPr/>
                    </a:tc>
                    <a:tc>
                      <a:txBody>
                        <a:bodyPr/>
                        <a:lstStyle/>
                        <a:p>
                          <a:pPr/>
                          <a14:m>
                            <m:oMathPara xmlns:m="http://schemas.openxmlformats.org/officeDocument/2006/math">
                              <m:oMathParaPr>
                                <m:jc m:val="centerGroup"/>
                              </m:oMathParaPr>
                              <m:oMath xmlns:m="http://schemas.openxmlformats.org/officeDocument/2006/math">
                                <m:r>
                                  <a:rPr lang="en-US" sz="1200" b="1" i="1" smtClean="0">
                                    <a:latin typeface="Cambria Math" panose="02040503050406030204" pitchFamily="18" charset="0"/>
                                  </a:rPr>
                                  <m:t>𝜹</m:t>
                                </m:r>
                              </m:oMath>
                            </m:oMathPara>
                          </a14:m>
                          <a:endParaRPr lang="en-US" sz="1200" b="1" i="1" dirty="0" smtClean="0"/>
                        </a:p>
                      </a:txBody>
                      <a:tcPr/>
                    </a:tc>
                    <a:tc>
                      <a:txBody>
                        <a:bodyPr/>
                        <a:lstStyle/>
                        <a:p>
                          <a:pPr/>
                          <a14:m>
                            <m:oMathPara xmlns:m="http://schemas.openxmlformats.org/officeDocument/2006/math">
                              <m:oMathParaPr>
                                <m:jc m:val="centerGroup"/>
                              </m:oMathParaPr>
                              <m:oMath xmlns:m="http://schemas.openxmlformats.org/officeDocument/2006/math">
                                <m:r>
                                  <a:rPr lang="en-US" sz="1200" b="1" i="1" dirty="0" smtClean="0">
                                    <a:latin typeface="Cambria Math" panose="02040503050406030204" pitchFamily="18" charset="0"/>
                                  </a:rPr>
                                  <m:t>𝒈</m:t>
                                </m:r>
                              </m:oMath>
                            </m:oMathPara>
                          </a14:m>
                          <a:endParaRPr lang="en-US" sz="1200" b="1" i="1" dirty="0"/>
                        </a:p>
                      </a:txBody>
                      <a:tcPr/>
                    </a:tc>
                    <a:tc>
                      <a:txBody>
                        <a:bodyPr/>
                        <a:lstStyle/>
                        <a:p>
                          <a:pPr/>
                          <a14:m>
                            <m:oMathPara xmlns:m="http://schemas.openxmlformats.org/officeDocument/2006/math">
                              <m:oMathParaPr>
                                <m:jc m:val="centerGroup"/>
                              </m:oMathParaPr>
                              <m:oMath xmlns:m="http://schemas.openxmlformats.org/officeDocument/2006/math">
                                <m:r>
                                  <a:rPr lang="en-US" sz="1200" b="1" i="1" dirty="0" smtClean="0">
                                    <a:latin typeface="Cambria Math" panose="02040503050406030204" pitchFamily="18" charset="0"/>
                                  </a:rPr>
                                  <m:t>𝑷</m:t>
                                </m:r>
                                <m:r>
                                  <a:rPr lang="en-US" sz="1200" b="1" i="1" dirty="0" smtClean="0">
                                    <a:latin typeface="Cambria Math" panose="02040503050406030204" pitchFamily="18" charset="0"/>
                                  </a:rPr>
                                  <m:t>(</m:t>
                                </m:r>
                                <m:r>
                                  <a:rPr lang="en-US" sz="1200" b="1" i="1" dirty="0" smtClean="0">
                                    <a:latin typeface="Cambria Math"/>
                                  </a:rPr>
                                  <m:t>𝒕𝒓𝒂𝒏𝒔</m:t>
                                </m:r>
                                <m:r>
                                  <a:rPr lang="en-US" sz="1200" b="1" i="1" dirty="0" smtClean="0">
                                    <a:latin typeface="Cambria Math" panose="02040503050406030204" pitchFamily="18" charset="0"/>
                                  </a:rPr>
                                  <m:t>)</m:t>
                                </m:r>
                              </m:oMath>
                            </m:oMathPara>
                          </a14:m>
                          <a:endParaRPr lang="en-US" sz="1200" b="1" i="1" dirty="0"/>
                        </a:p>
                      </a:txBody>
                      <a:tcPr/>
                    </a:tc>
                    <a:extLst>
                      <a:ext uri="{0D108BD9-81ED-4DB2-BD59-A6C34878D82A}">
                        <a16:rowId xmlns:a16="http://schemas.microsoft.com/office/drawing/2014/main" xmlns="" val="10000"/>
                      </a:ext>
                    </a:extLst>
                  </a:tr>
                  <a:tr h="340515">
                    <a:tc>
                      <a:txBody>
                        <a:bodyPr/>
                        <a:lstStyle/>
                        <a:p>
                          <a:pPr/>
                          <a14:m>
                            <m:oMathPara xmlns:m="http://schemas.openxmlformats.org/officeDocument/2006/math">
                              <m:oMathParaPr>
                                <m:jc m:val="centerGroup"/>
                              </m:oMathParaPr>
                              <m:oMath xmlns:m="http://schemas.openxmlformats.org/officeDocument/2006/math">
                                <m:r>
                                  <a:rPr lang="en-US" sz="1200" i="1" dirty="0" smtClean="0">
                                    <a:latin typeface="Cambria Math" panose="02040503050406030204" pitchFamily="18" charset="0"/>
                                  </a:rPr>
                                  <m:t>𝐴</m:t>
                                </m:r>
                              </m:oMath>
                            </m:oMathPara>
                          </a14:m>
                          <a:endParaRPr lang="en-US" sz="1200" dirty="0">
                            <a:latin typeface="Book Antiqua" panose="02040602050305030304" pitchFamily="18" charset="0"/>
                          </a:endParaRPr>
                        </a:p>
                      </a:txBody>
                      <a:tcPr/>
                    </a:tc>
                    <a:tc>
                      <a:txBody>
                        <a:bodyPr/>
                        <a:lstStyle/>
                        <a:p>
                          <a:r>
                            <a:rPr lang="en-US" sz="1200" dirty="0" smtClean="0">
                              <a:latin typeface="Book Antiqua" panose="02040602050305030304" pitchFamily="18" charset="0"/>
                            </a:rPr>
                            <a:t>1(</a:t>
                          </a:r>
                          <a:r>
                            <a:rPr lang="en-US" sz="1200" dirty="0" err="1" smtClean="0">
                              <a:latin typeface="Book Antiqua" panose="02040602050305030304" pitchFamily="18" charset="0"/>
                            </a:rPr>
                            <a:t>yr</a:t>
                          </a:r>
                          <a:r>
                            <a:rPr lang="en-US" sz="1200" dirty="0" smtClean="0">
                              <a:latin typeface="Book Antiqua" panose="02040602050305030304" pitchFamily="18" charset="0"/>
                            </a:rPr>
                            <a:t>)</a:t>
                          </a:r>
                          <a:endParaRPr lang="en-US" sz="1200" dirty="0">
                            <a:latin typeface="Book Antiqua" panose="0204060205030503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r>
                                  <a:rPr lang="en-US" sz="1200" i="1" dirty="0" smtClean="0">
                                    <a:latin typeface="Cambria Math" panose="02040503050406030204" pitchFamily="18" charset="0"/>
                                  </a:rPr>
                                  <m:t>8</m:t>
                                </m:r>
                              </m:oMath>
                            </m:oMathPara>
                          </a14:m>
                          <a:endParaRPr lang="en-US" sz="1200" dirty="0">
                            <a:latin typeface="Book Antiqua" panose="0204060205030503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r>
                                  <a:rPr lang="en-US" sz="1200" i="1" dirty="0" smtClean="0">
                                    <a:latin typeface="Cambria Math" panose="02040503050406030204" pitchFamily="18" charset="0"/>
                                  </a:rPr>
                                  <m:t>2</m:t>
                                </m:r>
                              </m:oMath>
                            </m:oMathPara>
                          </a14:m>
                          <a:endParaRPr lang="en-US" sz="1200" dirty="0">
                            <a:latin typeface="Book Antiqua" panose="0204060205030503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r>
                                  <a:rPr lang="en-US" sz="1200" i="1" dirty="0" smtClean="0">
                                    <a:latin typeface="Cambria Math" panose="02040503050406030204" pitchFamily="18" charset="0"/>
                                  </a:rPr>
                                  <m:t>5</m:t>
                                </m:r>
                              </m:oMath>
                            </m:oMathPara>
                          </a14:m>
                          <a:endParaRPr lang="en-US" sz="1200" dirty="0">
                            <a:latin typeface="Book Antiqua" panose="0204060205030503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r>
                                  <a:rPr lang="en-US" sz="1200" i="1" dirty="0" smtClean="0">
                                    <a:latin typeface="Cambria Math" panose="02040503050406030204" pitchFamily="18" charset="0"/>
                                  </a:rPr>
                                  <m:t>0.4</m:t>
                                </m:r>
                              </m:oMath>
                            </m:oMathPara>
                          </a14:m>
                          <a:endParaRPr lang="en-US" sz="1200" dirty="0">
                            <a:latin typeface="Book Antiqua" panose="0204060205030503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r>
                                  <a:rPr lang="en-US" sz="1200" i="1" dirty="0" smtClean="0">
                                    <a:latin typeface="Cambria Math" panose="02040503050406030204" pitchFamily="18" charset="0"/>
                                  </a:rPr>
                                  <m:t>8</m:t>
                                </m:r>
                              </m:oMath>
                            </m:oMathPara>
                          </a14:m>
                          <a:endParaRPr lang="en-US" sz="1200" dirty="0">
                            <a:latin typeface="Book Antiqua" panose="02040602050305030304" pitchFamily="18" charset="0"/>
                          </a:endParaRPr>
                        </a:p>
                      </a:txBody>
                      <a:tcPr/>
                    </a:tc>
                    <a:tc>
                      <a:txBody>
                        <a:bodyPr/>
                        <a:lstStyle/>
                        <a:p>
                          <a:pPr marL="0" algn="l" defTabSz="685800" rtl="0" eaLnBrk="1" latinLnBrk="0" hangingPunct="1"/>
                          <a:r>
                            <a:rPr lang="en-US" sz="1200" i="0" kern="1200" dirty="0" smtClean="0">
                              <a:solidFill>
                                <a:schemeClr val="tx1"/>
                              </a:solidFill>
                              <a:latin typeface="Cambria Math" panose="02040503050406030204" pitchFamily="18" charset="0"/>
                              <a:ea typeface="+mn-ea"/>
                              <a:cs typeface="+mn-cs"/>
                            </a:rPr>
                            <a:t>0.5</a:t>
                          </a:r>
                          <a:endParaRPr lang="en-US" sz="1200" i="0" kern="1200" dirty="0">
                            <a:solidFill>
                              <a:schemeClr val="tx1"/>
                            </a:solidFill>
                            <a:latin typeface="Cambria Math" panose="02040503050406030204" pitchFamily="18" charset="0"/>
                            <a:ea typeface="+mn-ea"/>
                            <a:cs typeface="+mn-cs"/>
                          </a:endParaRPr>
                        </a:p>
                      </a:txBody>
                      <a:tcPr/>
                    </a:tc>
                    <a:tc>
                      <a:txBody>
                        <a:bodyPr/>
                        <a:lstStyle/>
                        <a:p>
                          <a14:m>
                            <m:oMath xmlns:m="http://schemas.openxmlformats.org/officeDocument/2006/math">
                              <m:r>
                                <a:rPr lang="en-US" sz="1200" i="1" dirty="0" smtClean="0">
                                  <a:latin typeface="Cambria Math" panose="02040503050406030204" pitchFamily="18" charset="0"/>
                                </a:rPr>
                                <m:t>1 (</m:t>
                              </m:r>
                              <m:r>
                                <a:rPr lang="en-US" sz="1200" i="1" dirty="0" err="1" smtClean="0">
                                  <a:latin typeface="Cambria Math" panose="02040503050406030204" pitchFamily="18" charset="0"/>
                                </a:rPr>
                                <m:t>h𝑟</m:t>
                              </m:r>
                            </m:oMath>
                          </a14:m>
                          <a:r>
                            <a:rPr lang="en-US" sz="1200" dirty="0" smtClean="0">
                              <a:latin typeface="Book Antiqua" panose="02040602050305030304" pitchFamily="18" charset="0"/>
                            </a:rPr>
                            <a:t>)</a:t>
                          </a:r>
                          <a:endParaRPr lang="en-US" sz="1200" dirty="0">
                            <a:latin typeface="Book Antiqua" panose="0204060205030503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r>
                                  <a:rPr lang="en-US" sz="1200" i="1" dirty="0" smtClean="0">
                                    <a:latin typeface="Cambria Math" panose="02040503050406030204" pitchFamily="18" charset="0"/>
                                  </a:rPr>
                                  <m:t>0.05</m:t>
                                </m:r>
                              </m:oMath>
                            </m:oMathPara>
                          </a14:m>
                          <a:endParaRPr lang="en-US" sz="1200" dirty="0">
                            <a:latin typeface="Book Antiqua" panose="0204060205030503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r>
                                  <a:rPr lang="en-US" sz="1200" i="1" dirty="0" smtClean="0">
                                    <a:latin typeface="Cambria Math" panose="02040503050406030204" pitchFamily="18" charset="0"/>
                                  </a:rPr>
                                  <m:t>5</m:t>
                                </m:r>
                              </m:oMath>
                            </m:oMathPara>
                          </a14:m>
                          <a:endParaRPr lang="en-US" sz="1200" dirty="0">
                            <a:latin typeface="Book Antiqua" panose="0204060205030503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r>
                                  <a:rPr lang="en-US" sz="1200" i="1" dirty="0" smtClean="0">
                                    <a:latin typeface="Cambria Math" panose="02040503050406030204" pitchFamily="18" charset="0"/>
                                  </a:rPr>
                                  <m:t>0.8</m:t>
                                </m:r>
                              </m:oMath>
                            </m:oMathPara>
                          </a14:m>
                          <a:endParaRPr lang="en-US" sz="1200" dirty="0">
                            <a:latin typeface="Book Antiqua" panose="02040602050305030304" pitchFamily="18" charset="0"/>
                          </a:endParaRPr>
                        </a:p>
                      </a:txBody>
                      <a:tcPr/>
                    </a:tc>
                    <a:extLst>
                      <a:ext uri="{0D108BD9-81ED-4DB2-BD59-A6C34878D82A}">
                        <a16:rowId xmlns:a16="http://schemas.microsoft.com/office/drawing/2014/main" xmlns="" val="10001"/>
                      </a:ext>
                    </a:extLst>
                  </a:tr>
                </a:tbl>
              </a:graphicData>
            </a:graphic>
          </p:graphicFrame>
        </mc:Choice>
        <mc:Fallback xmlns="">
          <p:graphicFrame>
            <p:nvGraphicFramePr>
              <p:cNvPr id="7" name="Table 6"/>
              <p:cNvGraphicFramePr>
                <a:graphicFrameLocks noGrp="1"/>
              </p:cNvGraphicFramePr>
              <p:nvPr>
                <p:extLst>
                  <p:ext uri="{D42A27DB-BD31-4B8C-83A1-F6EECF244321}">
                    <p14:modId xmlns:p14="http://schemas.microsoft.com/office/powerpoint/2010/main" val="675123127"/>
                  </p:ext>
                </p:extLst>
              </p:nvPr>
            </p:nvGraphicFramePr>
            <p:xfrm>
              <a:off x="1296698" y="831953"/>
              <a:ext cx="6678068" cy="614835"/>
            </p:xfrm>
            <a:graphic>
              <a:graphicData uri="http://schemas.openxmlformats.org/drawingml/2006/table">
                <a:tbl>
                  <a:tblPr firstRow="1" bandRow="1">
                    <a:tableStyleId>{68D230F3-CF80-4859-8CE7-A43EE81993B5}</a:tableStyleId>
                  </a:tblPr>
                  <a:tblGrid>
                    <a:gridCol w="1117824">
                      <a:extLst>
                        <a:ext uri="{9D8B030D-6E8A-4147-A177-3AD203B41FA5}">
                          <a16:colId xmlns="" xmlns:a16="http://schemas.microsoft.com/office/drawing/2014/main" xmlns:a14="http://schemas.microsoft.com/office/drawing/2010/main" val="20001"/>
                        </a:ext>
                      </a:extLst>
                    </a:gridCol>
                    <a:gridCol w="610918">
                      <a:extLst>
                        <a:ext uri="{9D8B030D-6E8A-4147-A177-3AD203B41FA5}">
                          <a16:colId xmlns="" xmlns:a16="http://schemas.microsoft.com/office/drawing/2014/main" xmlns:a14="http://schemas.microsoft.com/office/drawing/2010/main" val="20002"/>
                        </a:ext>
                      </a:extLst>
                    </a:gridCol>
                    <a:gridCol w="339363">
                      <a:extLst>
                        <a:ext uri="{9D8B030D-6E8A-4147-A177-3AD203B41FA5}">
                          <a16:colId xmlns="" xmlns:a16="http://schemas.microsoft.com/office/drawing/2014/main" xmlns:a14="http://schemas.microsoft.com/office/drawing/2010/main" val="20005"/>
                        </a:ext>
                      </a:extLst>
                    </a:gridCol>
                    <a:gridCol w="546434">
                      <a:extLst>
                        <a:ext uri="{9D8B030D-6E8A-4147-A177-3AD203B41FA5}">
                          <a16:colId xmlns="" xmlns:a16="http://schemas.microsoft.com/office/drawing/2014/main" xmlns:a14="http://schemas.microsoft.com/office/drawing/2010/main" val="20006"/>
                        </a:ext>
                      </a:extLst>
                    </a:gridCol>
                    <a:gridCol w="339363">
                      <a:extLst>
                        <a:ext uri="{9D8B030D-6E8A-4147-A177-3AD203B41FA5}">
                          <a16:colId xmlns="" xmlns:a16="http://schemas.microsoft.com/office/drawing/2014/main" xmlns:a14="http://schemas.microsoft.com/office/drawing/2010/main" val="20007"/>
                        </a:ext>
                      </a:extLst>
                    </a:gridCol>
                    <a:gridCol w="546434">
                      <a:extLst>
                        <a:ext uri="{9D8B030D-6E8A-4147-A177-3AD203B41FA5}">
                          <a16:colId xmlns="" xmlns:a16="http://schemas.microsoft.com/office/drawing/2014/main" xmlns:a14="http://schemas.microsoft.com/office/drawing/2010/main" val="20008"/>
                        </a:ext>
                      </a:extLst>
                    </a:gridCol>
                    <a:gridCol w="349237">
                      <a:extLst>
                        <a:ext uri="{9D8B030D-6E8A-4147-A177-3AD203B41FA5}">
                          <a16:colId xmlns="" xmlns:a16="http://schemas.microsoft.com/office/drawing/2014/main" xmlns:a14="http://schemas.microsoft.com/office/drawing/2010/main" val="20009"/>
                        </a:ext>
                      </a:extLst>
                    </a:gridCol>
                    <a:gridCol w="457860">
                      <a:extLst>
                        <a:ext uri="{9D8B030D-6E8A-4147-A177-3AD203B41FA5}">
                          <a16:colId xmlns="" xmlns:a16="http://schemas.microsoft.com/office/drawing/2014/main" xmlns:a14="http://schemas.microsoft.com/office/drawing/2010/main" val="418939534"/>
                        </a:ext>
                      </a:extLst>
                    </a:gridCol>
                    <a:gridCol w="692156">
                      <a:extLst>
                        <a:ext uri="{9D8B030D-6E8A-4147-A177-3AD203B41FA5}">
                          <a16:colId xmlns="" xmlns:a16="http://schemas.microsoft.com/office/drawing/2014/main" xmlns:a14="http://schemas.microsoft.com/office/drawing/2010/main" val="20010"/>
                        </a:ext>
                      </a:extLst>
                    </a:gridCol>
                    <a:gridCol w="566482">
                      <a:extLst>
                        <a:ext uri="{9D8B030D-6E8A-4147-A177-3AD203B41FA5}">
                          <a16:colId xmlns="" xmlns:a16="http://schemas.microsoft.com/office/drawing/2014/main" xmlns:a14="http://schemas.microsoft.com/office/drawing/2010/main" val="20011"/>
                        </a:ext>
                      </a:extLst>
                    </a:gridCol>
                    <a:gridCol w="295034">
                      <a:extLst>
                        <a:ext uri="{9D8B030D-6E8A-4147-A177-3AD203B41FA5}">
                          <a16:colId xmlns="" xmlns:a16="http://schemas.microsoft.com/office/drawing/2014/main" xmlns:a14="http://schemas.microsoft.com/office/drawing/2010/main" val="20012"/>
                        </a:ext>
                      </a:extLst>
                    </a:gridCol>
                    <a:gridCol w="816963">
                      <a:extLst>
                        <a:ext uri="{9D8B030D-6E8A-4147-A177-3AD203B41FA5}">
                          <a16:colId xmlns="" xmlns:a16="http://schemas.microsoft.com/office/drawing/2014/main" xmlns:a14="http://schemas.microsoft.com/office/drawing/2010/main" val="20013"/>
                        </a:ext>
                      </a:extLst>
                    </a:gridCol>
                  </a:tblGrid>
                  <a:tr h="274320">
                    <a:tc>
                      <a:txBody>
                        <a:bodyPr/>
                        <a:lstStyle/>
                        <a:p>
                          <a:r>
                            <a:rPr lang="en-US" sz="1200" b="1" i="0" dirty="0" smtClean="0">
                              <a:latin typeface="Book Antiqua" panose="02040602050305030304" pitchFamily="18" charset="0"/>
                            </a:rPr>
                            <a:t>Blood</a:t>
                          </a:r>
                          <a:r>
                            <a:rPr lang="en-US" sz="1200" b="1" i="0" baseline="0" dirty="0" smtClean="0">
                              <a:latin typeface="Book Antiqua" panose="02040602050305030304" pitchFamily="18" charset="0"/>
                            </a:rPr>
                            <a:t> type</a:t>
                          </a:r>
                          <a:endParaRPr lang="en-US" sz="1200" b="1" i="0" dirty="0" smtClean="0">
                            <a:latin typeface="Book Antiqua" panose="02040602050305030304" pitchFamily="18" charset="0"/>
                          </a:endParaRPr>
                        </a:p>
                      </a:txBody>
                      <a:tcPr/>
                    </a:tc>
                    <a:tc>
                      <a:txBody>
                        <a:bodyPr/>
                        <a:lstStyle/>
                        <a:p>
                          <a:endParaRPr lang="en-US"/>
                        </a:p>
                      </a:txBody>
                      <a:tcPr>
                        <a:blipFill rotWithShape="1">
                          <a:blip r:embed="rId5"/>
                          <a:stretch>
                            <a:fillRect l="-184000" r="-813000" b="-126667"/>
                          </a:stretch>
                        </a:blipFill>
                      </a:tcPr>
                    </a:tc>
                    <a:tc>
                      <a:txBody>
                        <a:bodyPr/>
                        <a:lstStyle/>
                        <a:p>
                          <a:endParaRPr lang="en-US"/>
                        </a:p>
                      </a:txBody>
                      <a:tcPr>
                        <a:blipFill rotWithShape="1">
                          <a:blip r:embed="rId5"/>
                          <a:stretch>
                            <a:fillRect l="-507143" r="-1351786" b="-126667"/>
                          </a:stretch>
                        </a:blipFill>
                      </a:tcPr>
                    </a:tc>
                    <a:tc>
                      <a:txBody>
                        <a:bodyPr/>
                        <a:lstStyle/>
                        <a:p>
                          <a:endParaRPr lang="en-US"/>
                        </a:p>
                      </a:txBody>
                      <a:tcPr>
                        <a:blipFill rotWithShape="1">
                          <a:blip r:embed="rId5"/>
                          <a:stretch>
                            <a:fillRect l="-377778" r="-741111" b="-126667"/>
                          </a:stretch>
                        </a:blipFill>
                      </a:tcPr>
                    </a:tc>
                    <a:tc>
                      <a:txBody>
                        <a:bodyPr/>
                        <a:lstStyle/>
                        <a:p>
                          <a:endParaRPr lang="en-US"/>
                        </a:p>
                      </a:txBody>
                      <a:tcPr>
                        <a:blipFill rotWithShape="1">
                          <a:blip r:embed="rId5"/>
                          <a:stretch>
                            <a:fillRect l="-781818" r="-1112727" b="-126667"/>
                          </a:stretch>
                        </a:blipFill>
                      </a:tcPr>
                    </a:tc>
                    <a:tc>
                      <a:txBody>
                        <a:bodyPr/>
                        <a:lstStyle/>
                        <a:p>
                          <a:endParaRPr lang="en-US"/>
                        </a:p>
                      </a:txBody>
                      <a:tcPr>
                        <a:blipFill rotWithShape="1">
                          <a:blip r:embed="rId5"/>
                          <a:stretch>
                            <a:fillRect l="-538889" r="-580000" b="-126667"/>
                          </a:stretch>
                        </a:blipFill>
                      </a:tcPr>
                    </a:tc>
                    <a:tc>
                      <a:txBody>
                        <a:bodyPr/>
                        <a:lstStyle/>
                        <a:p>
                          <a:endParaRPr lang="en-US"/>
                        </a:p>
                      </a:txBody>
                      <a:tcPr>
                        <a:blipFill rotWithShape="1">
                          <a:blip r:embed="rId5"/>
                          <a:stretch>
                            <a:fillRect l="-1008772" r="-815789" b="-126667"/>
                          </a:stretch>
                        </a:blipFill>
                      </a:tcPr>
                    </a:tc>
                    <a:tc>
                      <a:txBody>
                        <a:bodyPr/>
                        <a:lstStyle/>
                        <a:p>
                          <a:endParaRPr lang="en-US"/>
                        </a:p>
                      </a:txBody>
                      <a:tcPr>
                        <a:blipFill rotWithShape="1">
                          <a:blip r:embed="rId5"/>
                          <a:stretch>
                            <a:fillRect l="-842667" r="-520000" b="-126667"/>
                          </a:stretch>
                        </a:blipFill>
                      </a:tcPr>
                    </a:tc>
                    <a:tc>
                      <a:txBody>
                        <a:bodyPr/>
                        <a:lstStyle/>
                        <a:p>
                          <a:endParaRPr lang="en-US"/>
                        </a:p>
                      </a:txBody>
                      <a:tcPr>
                        <a:blipFill rotWithShape="1">
                          <a:blip r:embed="rId5"/>
                          <a:stretch>
                            <a:fillRect l="-620175" r="-242105" b="-126667"/>
                          </a:stretch>
                        </a:blipFill>
                      </a:tcPr>
                    </a:tc>
                    <a:tc>
                      <a:txBody>
                        <a:bodyPr/>
                        <a:lstStyle/>
                        <a:p>
                          <a:endParaRPr lang="en-US"/>
                        </a:p>
                      </a:txBody>
                      <a:tcPr>
                        <a:blipFill rotWithShape="1">
                          <a:blip r:embed="rId5"/>
                          <a:stretch>
                            <a:fillRect l="-882796" r="-196774" b="-126667"/>
                          </a:stretch>
                        </a:blipFill>
                      </a:tcPr>
                    </a:tc>
                    <a:tc>
                      <a:txBody>
                        <a:bodyPr/>
                        <a:lstStyle/>
                        <a:p>
                          <a:endParaRPr lang="en-US"/>
                        </a:p>
                      </a:txBody>
                      <a:tcPr>
                        <a:blipFill rotWithShape="1">
                          <a:blip r:embed="rId5"/>
                          <a:stretch>
                            <a:fillRect l="-1904167" r="-281250" b="-126667"/>
                          </a:stretch>
                        </a:blipFill>
                      </a:tcPr>
                    </a:tc>
                    <a:tc>
                      <a:txBody>
                        <a:bodyPr/>
                        <a:lstStyle/>
                        <a:p>
                          <a:endParaRPr lang="en-US"/>
                        </a:p>
                      </a:txBody>
                      <a:tcPr>
                        <a:blipFill rotWithShape="1">
                          <a:blip r:embed="rId5"/>
                          <a:stretch>
                            <a:fillRect l="-717910" r="-746" b="-126667"/>
                          </a:stretch>
                        </a:blipFill>
                      </a:tcPr>
                    </a:tc>
                    <a:extLst>
                      <a:ext uri="{0D108BD9-81ED-4DB2-BD59-A6C34878D82A}">
                        <a16:rowId xmlns="" xmlns:a16="http://schemas.microsoft.com/office/drawing/2014/main" xmlns:a14="http://schemas.microsoft.com/office/drawing/2010/main" val="10000"/>
                      </a:ext>
                    </a:extLst>
                  </a:tr>
                  <a:tr h="340515">
                    <a:tc>
                      <a:txBody>
                        <a:bodyPr/>
                        <a:lstStyle/>
                        <a:p>
                          <a:endParaRPr lang="en-US"/>
                        </a:p>
                      </a:txBody>
                      <a:tcPr>
                        <a:blipFill rotWithShape="1">
                          <a:blip r:embed="rId5"/>
                          <a:stretch>
                            <a:fillRect l="-546" t="-80357" r="-498907" b="-1786"/>
                          </a:stretch>
                        </a:blipFill>
                      </a:tcPr>
                    </a:tc>
                    <a:tc>
                      <a:txBody>
                        <a:bodyPr/>
                        <a:lstStyle/>
                        <a:p>
                          <a:r>
                            <a:rPr lang="en-US" sz="1200" dirty="0" smtClean="0">
                              <a:latin typeface="Book Antiqua" panose="02040602050305030304" pitchFamily="18" charset="0"/>
                            </a:rPr>
                            <a:t>1(</a:t>
                          </a:r>
                          <a:r>
                            <a:rPr lang="en-US" sz="1200" dirty="0" err="1" smtClean="0">
                              <a:latin typeface="Book Antiqua" panose="02040602050305030304" pitchFamily="18" charset="0"/>
                            </a:rPr>
                            <a:t>yr</a:t>
                          </a:r>
                          <a:r>
                            <a:rPr lang="en-US" sz="1200" dirty="0" smtClean="0">
                              <a:latin typeface="Book Antiqua" panose="02040602050305030304" pitchFamily="18" charset="0"/>
                            </a:rPr>
                            <a:t>)</a:t>
                          </a:r>
                          <a:endParaRPr lang="en-US" sz="1200" dirty="0">
                            <a:latin typeface="Book Antiqua" panose="02040602050305030304" pitchFamily="18" charset="0"/>
                          </a:endParaRPr>
                        </a:p>
                      </a:txBody>
                      <a:tcPr/>
                    </a:tc>
                    <a:tc>
                      <a:txBody>
                        <a:bodyPr/>
                        <a:lstStyle/>
                        <a:p>
                          <a:endParaRPr lang="en-US"/>
                        </a:p>
                      </a:txBody>
                      <a:tcPr>
                        <a:blipFill rotWithShape="1">
                          <a:blip r:embed="rId5"/>
                          <a:stretch>
                            <a:fillRect l="-507143" t="-80357" r="-1351786" b="-1786"/>
                          </a:stretch>
                        </a:blipFill>
                      </a:tcPr>
                    </a:tc>
                    <a:tc>
                      <a:txBody>
                        <a:bodyPr/>
                        <a:lstStyle/>
                        <a:p>
                          <a:endParaRPr lang="en-US"/>
                        </a:p>
                      </a:txBody>
                      <a:tcPr>
                        <a:blipFill rotWithShape="1">
                          <a:blip r:embed="rId5"/>
                          <a:stretch>
                            <a:fillRect l="-377778" t="-80357" r="-741111" b="-1786"/>
                          </a:stretch>
                        </a:blipFill>
                      </a:tcPr>
                    </a:tc>
                    <a:tc>
                      <a:txBody>
                        <a:bodyPr/>
                        <a:lstStyle/>
                        <a:p>
                          <a:endParaRPr lang="en-US"/>
                        </a:p>
                      </a:txBody>
                      <a:tcPr>
                        <a:blipFill rotWithShape="1">
                          <a:blip r:embed="rId5"/>
                          <a:stretch>
                            <a:fillRect l="-781818" t="-80357" r="-1112727" b="-1786"/>
                          </a:stretch>
                        </a:blipFill>
                      </a:tcPr>
                    </a:tc>
                    <a:tc>
                      <a:txBody>
                        <a:bodyPr/>
                        <a:lstStyle/>
                        <a:p>
                          <a:endParaRPr lang="en-US"/>
                        </a:p>
                      </a:txBody>
                      <a:tcPr>
                        <a:blipFill rotWithShape="1">
                          <a:blip r:embed="rId5"/>
                          <a:stretch>
                            <a:fillRect l="-538889" t="-80357" r="-580000" b="-1786"/>
                          </a:stretch>
                        </a:blipFill>
                      </a:tcPr>
                    </a:tc>
                    <a:tc>
                      <a:txBody>
                        <a:bodyPr/>
                        <a:lstStyle/>
                        <a:p>
                          <a:endParaRPr lang="en-US"/>
                        </a:p>
                      </a:txBody>
                      <a:tcPr>
                        <a:blipFill rotWithShape="1">
                          <a:blip r:embed="rId5"/>
                          <a:stretch>
                            <a:fillRect l="-1008772" t="-80357" r="-815789" b="-1786"/>
                          </a:stretch>
                        </a:blipFill>
                      </a:tcPr>
                    </a:tc>
                    <a:tc>
                      <a:txBody>
                        <a:bodyPr/>
                        <a:lstStyle/>
                        <a:p>
                          <a:pPr marL="0" algn="l" defTabSz="685800" rtl="0" eaLnBrk="1" latinLnBrk="0" hangingPunct="1"/>
                          <a:r>
                            <a:rPr lang="en-US" sz="1200" i="0" kern="1200" dirty="0" smtClean="0">
                              <a:solidFill>
                                <a:schemeClr val="tx1"/>
                              </a:solidFill>
                              <a:latin typeface="Cambria Math" panose="02040503050406030204" pitchFamily="18" charset="0"/>
                              <a:ea typeface="+mn-ea"/>
                              <a:cs typeface="+mn-cs"/>
                            </a:rPr>
                            <a:t>0.5</a:t>
                          </a:r>
                          <a:endParaRPr lang="en-US" sz="1200" i="0" kern="1200" dirty="0">
                            <a:solidFill>
                              <a:schemeClr val="tx1"/>
                            </a:solidFill>
                            <a:latin typeface="Cambria Math" panose="02040503050406030204" pitchFamily="18" charset="0"/>
                            <a:ea typeface="+mn-ea"/>
                            <a:cs typeface="+mn-cs"/>
                          </a:endParaRPr>
                        </a:p>
                      </a:txBody>
                      <a:tcPr/>
                    </a:tc>
                    <a:tc>
                      <a:txBody>
                        <a:bodyPr/>
                        <a:lstStyle/>
                        <a:p>
                          <a:endParaRPr lang="en-US"/>
                        </a:p>
                      </a:txBody>
                      <a:tcPr>
                        <a:blipFill rotWithShape="1">
                          <a:blip r:embed="rId5"/>
                          <a:stretch>
                            <a:fillRect l="-620175" t="-80357" r="-242105" b="-1786"/>
                          </a:stretch>
                        </a:blipFill>
                      </a:tcPr>
                    </a:tc>
                    <a:tc>
                      <a:txBody>
                        <a:bodyPr/>
                        <a:lstStyle/>
                        <a:p>
                          <a:endParaRPr lang="en-US"/>
                        </a:p>
                      </a:txBody>
                      <a:tcPr>
                        <a:blipFill rotWithShape="1">
                          <a:blip r:embed="rId5"/>
                          <a:stretch>
                            <a:fillRect l="-882796" t="-80357" r="-196774" b="-1786"/>
                          </a:stretch>
                        </a:blipFill>
                      </a:tcPr>
                    </a:tc>
                    <a:tc>
                      <a:txBody>
                        <a:bodyPr/>
                        <a:lstStyle/>
                        <a:p>
                          <a:endParaRPr lang="en-US"/>
                        </a:p>
                      </a:txBody>
                      <a:tcPr>
                        <a:blipFill rotWithShape="1">
                          <a:blip r:embed="rId5"/>
                          <a:stretch>
                            <a:fillRect l="-1904167" t="-80357" r="-281250" b="-1786"/>
                          </a:stretch>
                        </a:blipFill>
                      </a:tcPr>
                    </a:tc>
                    <a:tc>
                      <a:txBody>
                        <a:bodyPr/>
                        <a:lstStyle/>
                        <a:p>
                          <a:endParaRPr lang="en-US"/>
                        </a:p>
                      </a:txBody>
                      <a:tcPr>
                        <a:blipFill rotWithShape="1">
                          <a:blip r:embed="rId5"/>
                          <a:stretch>
                            <a:fillRect l="-717910" t="-80357" r="-746" b="-1786"/>
                          </a:stretch>
                        </a:blipFill>
                      </a:tcPr>
                    </a:tc>
                    <a:extLst>
                      <a:ext uri="{0D108BD9-81ED-4DB2-BD59-A6C34878D82A}">
                        <a16:rowId xmlns="" xmlns:a16="http://schemas.microsoft.com/office/drawing/2014/main" xmlns:a14="http://schemas.microsoft.com/office/drawing/2010/main" val="10001"/>
                      </a:ext>
                    </a:extLst>
                  </a:tr>
                </a:tbl>
              </a:graphicData>
            </a:graphic>
          </p:graphicFrame>
        </mc:Fallback>
      </mc:AlternateContent>
      <p:sp>
        <p:nvSpPr>
          <p:cNvPr id="5" name="Oval 4"/>
          <p:cNvSpPr/>
          <p:nvPr/>
        </p:nvSpPr>
        <p:spPr>
          <a:xfrm>
            <a:off x="6693109" y="2390931"/>
            <a:ext cx="794478" cy="307299"/>
          </a:xfrm>
          <a:prstGeom prst="ellipse">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49856901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xmlns:p14="http://schemas.microsoft.com/office/powerpoint/2010/mai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0" y="4760913"/>
            <a:ext cx="2057400" cy="274637"/>
          </a:xfrm>
          <a:prstGeom prst="rect">
            <a:avLst/>
          </a:prstGeom>
        </p:spPr>
        <p:txBody>
          <a:bodyPr/>
          <a:lstStyle/>
          <a:p>
            <a:fld id="{69E57DC2-970A-4B3E-BB1C-7A09969E49DF}" type="slidenum">
              <a:rPr lang="en-US" smtClean="0"/>
              <a:pPr/>
              <a:t>15</a:t>
            </a:fld>
            <a:endParaRPr lang="en-US" dirty="0"/>
          </a:p>
        </p:txBody>
      </p:sp>
      <mc:AlternateContent xmlns:mc="http://schemas.openxmlformats.org/markup-compatibility/2006" xmlns:a14="http://schemas.microsoft.com/office/drawing/2010/main">
        <mc:Choice Requires="a14">
          <p:sp>
            <p:nvSpPr>
              <p:cNvPr id="6" name="Rectangle 5"/>
              <p:cNvSpPr/>
              <p:nvPr/>
            </p:nvSpPr>
            <p:spPr>
              <a:xfrm>
                <a:off x="618517" y="1202125"/>
                <a:ext cx="7711561" cy="3375155"/>
              </a:xfrm>
              <a:prstGeom prst="rect">
                <a:avLst/>
              </a:prstGeom>
            </p:spPr>
            <p:txBody>
              <a:bodyPr wrap="square">
                <a:spAutoFit/>
              </a:bodyPr>
              <a:lstStyle/>
              <a:p>
                <a:pPr>
                  <a:spcAft>
                    <a:spcPts val="600"/>
                  </a:spcAft>
                </a:pPr>
                <a14:m>
                  <m:oMath xmlns:m="http://schemas.openxmlformats.org/officeDocument/2006/math">
                    <m:func>
                      <m:funcPr>
                        <m:ctrlPr>
                          <a:rPr lang="en-US" sz="2000" i="1">
                            <a:solidFill>
                              <a:prstClr val="black"/>
                            </a:solidFill>
                            <a:latin typeface="Cambria Math"/>
                            <a:ea typeface="Cambria Math" panose="02040503050406030204" pitchFamily="18" charset="0"/>
                          </a:rPr>
                        </m:ctrlPr>
                      </m:funcPr>
                      <m:fName>
                        <m:limLow>
                          <m:limLowPr>
                            <m:ctrlPr>
                              <a:rPr lang="en-US" sz="2000" i="1">
                                <a:solidFill>
                                  <a:prstClr val="black"/>
                                </a:solidFill>
                                <a:latin typeface="Cambria Math"/>
                                <a:ea typeface="Cambria Math" panose="02040503050406030204" pitchFamily="18" charset="0"/>
                              </a:rPr>
                            </m:ctrlPr>
                          </m:limLowPr>
                          <m:e>
                            <m:r>
                              <m:rPr>
                                <m:sty m:val="p"/>
                              </m:rPr>
                              <a:rPr lang="en-US" sz="2000">
                                <a:solidFill>
                                  <a:prstClr val="black"/>
                                </a:solidFill>
                                <a:latin typeface="Cambria Math"/>
                                <a:ea typeface="Cambria Math" panose="02040503050406030204" pitchFamily="18" charset="0"/>
                              </a:rPr>
                              <m:t>max</m:t>
                            </m:r>
                          </m:e>
                          <m:lim>
                            <m:r>
                              <a:rPr lang="en-US" sz="2000" i="1">
                                <a:solidFill>
                                  <a:prstClr val="black"/>
                                </a:solidFill>
                                <a:latin typeface="Cambria Math"/>
                                <a:ea typeface="Cambria Math" panose="02040503050406030204" pitchFamily="18" charset="0"/>
                              </a:rPr>
                              <m:t>𝑟</m:t>
                            </m:r>
                            <m:r>
                              <a:rPr lang="en-US" sz="2000" i="1">
                                <a:solidFill>
                                  <a:prstClr val="black"/>
                                </a:solidFill>
                                <a:latin typeface="Cambria Math"/>
                                <a:ea typeface="Cambria Math" panose="02040503050406030204" pitchFamily="18" charset="0"/>
                              </a:rPr>
                              <m:t>,</m:t>
                            </m:r>
                            <m:r>
                              <a:rPr lang="en-US" sz="2000" i="1">
                                <a:solidFill>
                                  <a:prstClr val="black"/>
                                </a:solidFill>
                                <a:latin typeface="Cambria Math"/>
                                <a:ea typeface="Cambria Math" panose="02040503050406030204" pitchFamily="18" charset="0"/>
                              </a:rPr>
                              <m:t>𝑘</m:t>
                            </m:r>
                          </m:lim>
                        </m:limLow>
                      </m:fName>
                      <m:e>
                        <m:r>
                          <m:rPr>
                            <m:sty m:val="p"/>
                          </m:rPr>
                          <a:rPr lang="en-US" sz="2000">
                            <a:solidFill>
                              <a:prstClr val="black"/>
                            </a:solidFill>
                            <a:latin typeface="Cambria Math" panose="02040503050406030204" pitchFamily="18" charset="0"/>
                            <a:ea typeface="Cambria Math" panose="02040503050406030204" pitchFamily="18" charset="0"/>
                          </a:rPr>
                          <m:t>E</m:t>
                        </m:r>
                        <m:r>
                          <a:rPr lang="en-US" sz="2000">
                            <a:solidFill>
                              <a:prstClr val="black"/>
                            </a:solidFill>
                            <a:latin typeface="Cambria Math" panose="02040503050406030204" pitchFamily="18" charset="0"/>
                            <a:ea typeface="Cambria Math" panose="02040503050406030204" pitchFamily="18" charset="0"/>
                          </a:rPr>
                          <m:t>[</m:t>
                        </m:r>
                        <m:r>
                          <m:rPr>
                            <m:sty m:val="p"/>
                          </m:rPr>
                          <a:rPr lang="en-US" sz="2000">
                            <a:solidFill>
                              <a:prstClr val="black"/>
                            </a:solidFill>
                            <a:latin typeface="Cambria Math" panose="02040503050406030204" pitchFamily="18" charset="0"/>
                            <a:ea typeface="Cambria Math" panose="02040503050406030204" pitchFamily="18" charset="0"/>
                          </a:rPr>
                          <m:t>U</m:t>
                        </m:r>
                        <m:r>
                          <a:rPr lang="en-US" sz="2000">
                            <a:solidFill>
                              <a:prstClr val="black"/>
                            </a:solidFill>
                            <a:latin typeface="Cambria Math" panose="02040503050406030204" pitchFamily="18" charset="0"/>
                            <a:ea typeface="Cambria Math" panose="02040503050406030204" pitchFamily="18" charset="0"/>
                          </a:rPr>
                          <m:t>]</m:t>
                        </m:r>
                      </m:e>
                    </m:func>
                  </m:oMath>
                </a14:m>
                <a:r>
                  <a:rPr lang="en-US" sz="2000" dirty="0" smtClean="0">
                    <a:solidFill>
                      <a:prstClr val="black"/>
                    </a:solidFill>
                    <a:latin typeface="Cambria Math" panose="02040503050406030204" pitchFamily="18" charset="0"/>
                    <a:ea typeface="Cambria Math" panose="02040503050406030204" pitchFamily="18" charset="0"/>
                  </a:rPr>
                  <a:t>	</a:t>
                </a:r>
                <a:r>
                  <a:rPr lang="en-US" sz="1600" dirty="0" smtClean="0">
                    <a:solidFill>
                      <a:prstClr val="black"/>
                    </a:solidFill>
                    <a:latin typeface="Cambria Math" panose="02040503050406030204" pitchFamily="18" charset="0"/>
                    <a:ea typeface="Cambria Math" panose="02040503050406030204" pitchFamily="18" charset="0"/>
                  </a:rPr>
                  <a:t>		</a:t>
                </a:r>
                <a:r>
                  <a:rPr lang="en-US" sz="2000" dirty="0" smtClean="0">
                    <a:solidFill>
                      <a:prstClr val="black"/>
                    </a:solidFill>
                    <a:latin typeface="Cambria Math" panose="02040503050406030204" pitchFamily="18" charset="0"/>
                    <a:ea typeface="Cambria Math" panose="02040503050406030204" pitchFamily="18" charset="0"/>
                  </a:rPr>
                  <a:t>E[U] =  f (r, k) = </a:t>
                </a:r>
                <a14:m>
                  <m:oMath xmlns:m="http://schemas.openxmlformats.org/officeDocument/2006/math">
                    <m:nary>
                      <m:naryPr>
                        <m:chr m:val="∑"/>
                        <m:supHide m:val="on"/>
                        <m:ctrlPr>
                          <a:rPr lang="en-US" sz="2000" i="1">
                            <a:solidFill>
                              <a:prstClr val="black"/>
                            </a:solidFill>
                            <a:latin typeface="Cambria Math"/>
                            <a:ea typeface="Cambria Math" panose="02040503050406030204" pitchFamily="18" charset="0"/>
                          </a:rPr>
                        </m:ctrlPr>
                      </m:naryPr>
                      <m:sub>
                        <m:r>
                          <m:rPr>
                            <m:sty m:val="p"/>
                            <m:brk m:alnAt="7"/>
                          </m:rPr>
                          <a:rPr lang="en-US" sz="2000" i="0">
                            <a:solidFill>
                              <a:prstClr val="black"/>
                            </a:solidFill>
                            <a:latin typeface="Cambria Math" panose="02040503050406030204" pitchFamily="18" charset="0"/>
                            <a:ea typeface="Cambria Math" panose="02040503050406030204" pitchFamily="18" charset="0"/>
                          </a:rPr>
                          <m:t>i</m:t>
                        </m:r>
                        <m:r>
                          <a:rPr lang="en-US" sz="2000" i="0">
                            <a:solidFill>
                              <a:prstClr val="black"/>
                            </a:solidFill>
                            <a:latin typeface="Cambria Math" panose="02040503050406030204" pitchFamily="18" charset="0"/>
                            <a:ea typeface="Cambria Math" panose="02040503050406030204" pitchFamily="18" charset="0"/>
                          </a:rPr>
                          <m:t>∈</m:t>
                        </m:r>
                        <m:r>
                          <m:rPr>
                            <m:sty m:val="p"/>
                          </m:rPr>
                          <a:rPr lang="en-US" sz="2000" i="0">
                            <a:solidFill>
                              <a:prstClr val="black"/>
                            </a:solidFill>
                            <a:latin typeface="Cambria Math" panose="02040503050406030204" pitchFamily="18" charset="0"/>
                            <a:ea typeface="Cambria Math" panose="02040503050406030204" pitchFamily="18" charset="0"/>
                          </a:rPr>
                          <m:t>I</m:t>
                        </m:r>
                      </m:sub>
                      <m:sup/>
                      <m:e>
                        <m:sSub>
                          <m:sSubPr>
                            <m:ctrlPr>
                              <a:rPr lang="en-US" sz="2000" b="1" i="1">
                                <a:solidFill>
                                  <a:srgbClr val="FF0000"/>
                                </a:solidFill>
                                <a:latin typeface="Cambria Math"/>
                                <a:ea typeface="Cambria Math" panose="02040503050406030204" pitchFamily="18" charset="0"/>
                              </a:rPr>
                            </m:ctrlPr>
                          </m:sSubPr>
                          <m:e>
                            <m:r>
                              <a:rPr lang="en-US" sz="2000" b="1" i="0">
                                <a:solidFill>
                                  <a:srgbClr val="FF0000"/>
                                </a:solidFill>
                                <a:latin typeface="Cambria Math" panose="02040503050406030204" pitchFamily="18" charset="0"/>
                                <a:ea typeface="Cambria Math" panose="02040503050406030204" pitchFamily="18" charset="0"/>
                              </a:rPr>
                              <m:t>𝐔</m:t>
                            </m:r>
                          </m:e>
                          <m:sub>
                            <m:r>
                              <a:rPr lang="en-US" sz="2000" b="1" i="0">
                                <a:solidFill>
                                  <a:srgbClr val="FF0000"/>
                                </a:solidFill>
                                <a:latin typeface="Cambria Math" panose="02040503050406030204" pitchFamily="18" charset="0"/>
                                <a:ea typeface="Cambria Math" panose="02040503050406030204" pitchFamily="18" charset="0"/>
                              </a:rPr>
                              <m:t>𝐢</m:t>
                            </m:r>
                          </m:sub>
                        </m:sSub>
                        <m:d>
                          <m:dPr>
                            <m:ctrlPr>
                              <a:rPr lang="en-US" sz="2000" b="1" i="1">
                                <a:solidFill>
                                  <a:srgbClr val="FF0000"/>
                                </a:solidFill>
                                <a:latin typeface="Cambria Math"/>
                                <a:ea typeface="Cambria Math" panose="02040503050406030204" pitchFamily="18" charset="0"/>
                              </a:rPr>
                            </m:ctrlPr>
                          </m:dPr>
                          <m:e>
                            <m:sSubSup>
                              <m:sSubSupPr>
                                <m:ctrlPr>
                                  <a:rPr lang="en-US" sz="2000" b="1" i="1">
                                    <a:solidFill>
                                      <a:srgbClr val="FF0000"/>
                                    </a:solidFill>
                                    <a:latin typeface="Cambria Math"/>
                                    <a:ea typeface="Cambria Math" panose="02040503050406030204" pitchFamily="18" charset="0"/>
                                  </a:rPr>
                                </m:ctrlPr>
                              </m:sSubSupPr>
                              <m:e>
                                <m:r>
                                  <a:rPr lang="en-US" sz="2000" b="1" i="0">
                                    <a:solidFill>
                                      <a:srgbClr val="FF0000"/>
                                    </a:solidFill>
                                    <a:latin typeface="Cambria Math" panose="02040503050406030204" pitchFamily="18" charset="0"/>
                                    <a:ea typeface="Cambria Math" panose="02040503050406030204" pitchFamily="18" charset="0"/>
                                  </a:rPr>
                                  <m:t>𝐤</m:t>
                                </m:r>
                              </m:e>
                              <m:sub>
                                <m:r>
                                  <a:rPr lang="en-US" sz="2000" b="1" i="0">
                                    <a:solidFill>
                                      <a:srgbClr val="FF0000"/>
                                    </a:solidFill>
                                    <a:latin typeface="Cambria Math" panose="02040503050406030204" pitchFamily="18" charset="0"/>
                                    <a:ea typeface="Cambria Math" panose="02040503050406030204" pitchFamily="18" charset="0"/>
                                  </a:rPr>
                                  <m:t>𝐢</m:t>
                                </m:r>
                              </m:sub>
                              <m:sup>
                                <m:r>
                                  <a:rPr lang="en-US" sz="2000" b="1" i="0">
                                    <a:solidFill>
                                      <a:srgbClr val="FF0000"/>
                                    </a:solidFill>
                                    <a:latin typeface="Cambria Math" panose="02040503050406030204" pitchFamily="18" charset="0"/>
                                    <a:ea typeface="Cambria Math" panose="02040503050406030204" pitchFamily="18" charset="0"/>
                                  </a:rPr>
                                  <m:t>∗</m:t>
                                </m:r>
                              </m:sup>
                            </m:sSubSup>
                          </m:e>
                        </m:d>
                        <m:sSub>
                          <m:sSubPr>
                            <m:ctrlPr>
                              <a:rPr lang="en-US" sz="2000" i="1">
                                <a:solidFill>
                                  <a:prstClr val="black"/>
                                </a:solidFill>
                                <a:latin typeface="Cambria Math"/>
                                <a:ea typeface="Cambria Math" panose="02040503050406030204" pitchFamily="18" charset="0"/>
                              </a:rPr>
                            </m:ctrlPr>
                          </m:sSubPr>
                          <m:e>
                            <m:r>
                              <m:rPr>
                                <m:sty m:val="p"/>
                              </m:rPr>
                              <a:rPr lang="en-US" sz="2000" i="0">
                                <a:solidFill>
                                  <a:prstClr val="black"/>
                                </a:solidFill>
                                <a:latin typeface="Cambria Math" panose="02040503050406030204" pitchFamily="18" charset="0"/>
                                <a:ea typeface="Cambria Math" panose="02040503050406030204" pitchFamily="18" charset="0"/>
                              </a:rPr>
                              <m:t>r</m:t>
                            </m:r>
                          </m:e>
                          <m:sub>
                            <m:r>
                              <m:rPr>
                                <m:sty m:val="p"/>
                              </m:rPr>
                              <a:rPr lang="en-US" sz="2000" i="0">
                                <a:solidFill>
                                  <a:prstClr val="black"/>
                                </a:solidFill>
                                <a:latin typeface="Cambria Math" panose="02040503050406030204" pitchFamily="18" charset="0"/>
                                <a:ea typeface="Cambria Math" panose="02040503050406030204" pitchFamily="18" charset="0"/>
                              </a:rPr>
                              <m:t>i</m:t>
                            </m:r>
                          </m:sub>
                        </m:sSub>
                      </m:e>
                    </m:nary>
                  </m:oMath>
                </a14:m>
                <a:r>
                  <a:rPr lang="en-US" sz="2000" i="1" dirty="0" smtClean="0">
                    <a:solidFill>
                      <a:prstClr val="black"/>
                    </a:solidFill>
                    <a:latin typeface="+mn-lt"/>
                  </a:rPr>
                  <a:t>	</a:t>
                </a:r>
                <a:r>
                  <a:rPr lang="en-US" sz="1600" i="1" dirty="0" smtClean="0">
                    <a:solidFill>
                      <a:prstClr val="black"/>
                    </a:solidFill>
                    <a:latin typeface="+mn-lt"/>
                  </a:rPr>
                  <a:t>	</a:t>
                </a:r>
                <a:endParaRPr lang="en-US" sz="1600" i="1" dirty="0">
                  <a:solidFill>
                    <a:prstClr val="black"/>
                  </a:solidFill>
                  <a:latin typeface="+mn-lt"/>
                </a:endParaRPr>
              </a:p>
              <a:p>
                <a:pPr lvl="0">
                  <a:spcAft>
                    <a:spcPts val="600"/>
                  </a:spcAft>
                </a:pPr>
                <a:endParaRPr lang="en-US" sz="1600" dirty="0" smtClean="0">
                  <a:solidFill>
                    <a:prstClr val="black"/>
                  </a:solidFill>
                  <a:latin typeface="+mn-lt"/>
                </a:endParaRPr>
              </a:p>
              <a:p>
                <a:pPr lvl="0">
                  <a:spcAft>
                    <a:spcPts val="600"/>
                  </a:spcAft>
                </a:pPr>
                <a14:m>
                  <m:oMath xmlns:m="http://schemas.openxmlformats.org/officeDocument/2006/math">
                    <m:r>
                      <m:rPr>
                        <m:sty m:val="p"/>
                      </m:rPr>
                      <a:rPr lang="en-US" sz="1600" smtClean="0">
                        <a:solidFill>
                          <a:prstClr val="black"/>
                        </a:solidFill>
                        <a:latin typeface="Cambria Math"/>
                      </a:rPr>
                      <m:t>s</m:t>
                    </m:r>
                    <m:r>
                      <a:rPr lang="en-US" sz="1600" smtClean="0">
                        <a:solidFill>
                          <a:prstClr val="black"/>
                        </a:solidFill>
                        <a:latin typeface="Cambria Math"/>
                      </a:rPr>
                      <m:t>.</m:t>
                    </m:r>
                    <m:r>
                      <m:rPr>
                        <m:sty m:val="p"/>
                      </m:rPr>
                      <a:rPr lang="en-US" sz="1600" smtClean="0">
                        <a:solidFill>
                          <a:prstClr val="black"/>
                        </a:solidFill>
                        <a:latin typeface="Cambria Math"/>
                      </a:rPr>
                      <m:t>t</m:t>
                    </m:r>
                  </m:oMath>
                </a14:m>
                <a:r>
                  <a:rPr lang="en-US" sz="1600" dirty="0" smtClean="0">
                    <a:solidFill>
                      <a:prstClr val="black"/>
                    </a:solidFill>
                    <a:latin typeface="+mn-lt"/>
                  </a:rPr>
                  <a:t>.</a:t>
                </a:r>
                <a:endParaRPr lang="en-US" sz="1600" dirty="0">
                  <a:latin typeface="+mn-lt"/>
                  <a:ea typeface="+mn-ea"/>
                  <a:cs typeface="+mn-cs"/>
                </a:endParaRPr>
              </a:p>
              <a:p>
                <a:pPr>
                  <a:spcAft>
                    <a:spcPts val="600"/>
                  </a:spcAft>
                </a:pPr>
                <a14:m>
                  <m:oMath xmlns:m="http://schemas.openxmlformats.org/officeDocument/2006/math">
                    <m:r>
                      <a:rPr lang="en-US" sz="1600" b="1" i="1" smtClean="0">
                        <a:latin typeface="Cambria Math"/>
                      </a:rPr>
                      <m:t>𝒓</m:t>
                    </m:r>
                    <m:r>
                      <a:rPr lang="en-US" sz="1600" b="0" i="1" smtClean="0">
                        <a:latin typeface="Cambria Math"/>
                      </a:rPr>
                      <m:t>=</m:t>
                    </m:r>
                    <m:sSup>
                      <m:sSupPr>
                        <m:ctrlPr>
                          <a:rPr lang="en-US" sz="1600" b="0" i="1" smtClean="0">
                            <a:latin typeface="Cambria Math"/>
                          </a:rPr>
                        </m:ctrlPr>
                      </m:sSupPr>
                      <m:e>
                        <m:d>
                          <m:dPr>
                            <m:begChr m:val="{"/>
                            <m:endChr m:val="}"/>
                            <m:ctrlPr>
                              <a:rPr lang="en-US" sz="1600" b="0" i="1" smtClean="0">
                                <a:latin typeface="Cambria Math"/>
                              </a:rPr>
                            </m:ctrlPr>
                          </m:dPr>
                          <m:e>
                            <m:r>
                              <a:rPr lang="en-US" sz="1600" b="0" i="1" smtClean="0">
                                <a:latin typeface="Cambria Math"/>
                              </a:rPr>
                              <m:t>0 ,1</m:t>
                            </m:r>
                          </m:e>
                        </m:d>
                      </m:e>
                      <m:sup>
                        <m:r>
                          <a:rPr lang="en-US" sz="1600" b="0" i="1" smtClean="0">
                            <a:latin typeface="Cambria Math"/>
                          </a:rPr>
                          <m:t>11</m:t>
                        </m:r>
                      </m:sup>
                    </m:sSup>
                  </m:oMath>
                </a14:m>
                <a:r>
                  <a:rPr lang="en-US" sz="1600" i="1" dirty="0" smtClean="0">
                    <a:latin typeface="+mn-lt"/>
                  </a:rPr>
                  <a:t>	</a:t>
                </a:r>
                <a:r>
                  <a:rPr lang="en-US" sz="1600" dirty="0"/>
                  <a:t> </a:t>
                </a:r>
                <a14:m>
                  <m:oMath xmlns:m="http://schemas.openxmlformats.org/officeDocument/2006/math">
                    <m:sSub>
                      <m:sSubPr>
                        <m:ctrlPr>
                          <a:rPr lang="en-US" sz="1600" i="1">
                            <a:latin typeface="Cambria Math"/>
                          </a:rPr>
                        </m:ctrlPr>
                      </m:sSubPr>
                      <m:e>
                        <m:r>
                          <a:rPr lang="en-US" sz="1600">
                            <a:latin typeface="Cambria Math"/>
                          </a:rPr>
                          <m:t>𝑟</m:t>
                        </m:r>
                      </m:e>
                      <m:sub>
                        <m:r>
                          <a:rPr lang="en-US" sz="1600">
                            <a:latin typeface="Cambria Math"/>
                          </a:rPr>
                          <m:t>𝑖</m:t>
                        </m:r>
                      </m:sub>
                    </m:sSub>
                    <m:r>
                      <a:rPr lang="en-US" sz="1600">
                        <a:latin typeface="Cambria Math"/>
                      </a:rPr>
                      <m:t> :1</m:t>
                    </m:r>
                  </m:oMath>
                </a14:m>
                <a:r>
                  <a:rPr lang="en-US" sz="1600" dirty="0"/>
                  <a:t> if region </a:t>
                </a:r>
                <a14:m>
                  <m:oMath xmlns:m="http://schemas.openxmlformats.org/officeDocument/2006/math">
                    <m:r>
                      <a:rPr lang="en-US" sz="1600">
                        <a:latin typeface="Cambria Math"/>
                      </a:rPr>
                      <m:t>𝑖</m:t>
                    </m:r>
                  </m:oMath>
                </a14:m>
                <a:r>
                  <a:rPr lang="en-US" sz="1600" dirty="0"/>
                  <a:t> is selected, 0 otherwise</a:t>
                </a:r>
                <a:endParaRPr lang="en-US" sz="1600" i="1" dirty="0" smtClean="0">
                  <a:latin typeface="+mn-lt"/>
                </a:endParaRPr>
              </a:p>
              <a:p>
                <a:pPr>
                  <a:spcAft>
                    <a:spcPts val="600"/>
                  </a:spcAft>
                </a:pPr>
                <a14:m>
                  <m:oMath xmlns:m="http://schemas.openxmlformats.org/officeDocument/2006/math">
                    <m:nary>
                      <m:naryPr>
                        <m:chr m:val="∑"/>
                        <m:supHide m:val="on"/>
                        <m:ctrlPr>
                          <a:rPr lang="en-US" sz="1600" i="1">
                            <a:latin typeface="Cambria Math"/>
                          </a:rPr>
                        </m:ctrlPr>
                      </m:naryPr>
                      <m:sub>
                        <m:r>
                          <m:rPr>
                            <m:brk m:alnAt="7"/>
                          </m:rPr>
                          <a:rPr lang="en-US" sz="1600">
                            <a:latin typeface="Cambria Math"/>
                          </a:rPr>
                          <m:t>𝑖</m:t>
                        </m:r>
                        <m:r>
                          <a:rPr lang="en-US" sz="1600">
                            <a:latin typeface="Cambria Math"/>
                          </a:rPr>
                          <m:t>∈</m:t>
                        </m:r>
                        <m:r>
                          <a:rPr lang="en-US" sz="1600">
                            <a:latin typeface="Cambria Math"/>
                          </a:rPr>
                          <m:t>𝐼</m:t>
                        </m:r>
                      </m:sub>
                      <m:sup/>
                      <m:e>
                        <m:sSub>
                          <m:sSubPr>
                            <m:ctrlPr>
                              <a:rPr lang="en-US" sz="1600" i="1">
                                <a:latin typeface="Cambria Math"/>
                              </a:rPr>
                            </m:ctrlPr>
                          </m:sSubPr>
                          <m:e>
                            <m:r>
                              <a:rPr lang="en-US" sz="1600">
                                <a:latin typeface="Cambria Math"/>
                              </a:rPr>
                              <m:t>𝑟</m:t>
                            </m:r>
                          </m:e>
                          <m:sub>
                            <m:r>
                              <a:rPr lang="en-US" sz="1600">
                                <a:latin typeface="Cambria Math"/>
                              </a:rPr>
                              <m:t>𝑖</m:t>
                            </m:r>
                          </m:sub>
                        </m:sSub>
                        <m:r>
                          <a:rPr lang="en-US" sz="1600">
                            <a:latin typeface="Cambria Math"/>
                          </a:rPr>
                          <m:t>=1</m:t>
                        </m:r>
                      </m:e>
                    </m:nary>
                  </m:oMath>
                </a14:m>
                <a:r>
                  <a:rPr lang="en-US" sz="1600" dirty="0" smtClean="0">
                    <a:latin typeface="+mn-lt"/>
                  </a:rPr>
                  <a:t> 	 Single region constraint</a:t>
                </a:r>
                <a:endParaRPr lang="en-US" sz="1600" i="1" dirty="0" smtClean="0">
                  <a:latin typeface="+mn-lt"/>
                  <a:ea typeface="+mn-ea"/>
                  <a:cs typeface="+mn-cs"/>
                </a:endParaRPr>
              </a:p>
              <a:p>
                <a:pPr lvl="0">
                  <a:spcAft>
                    <a:spcPts val="600"/>
                  </a:spcAft>
                </a:pPr>
                <a14:m>
                  <m:oMath xmlns:m="http://schemas.openxmlformats.org/officeDocument/2006/math">
                    <m:nary>
                      <m:naryPr>
                        <m:chr m:val="∑"/>
                        <m:supHide m:val="on"/>
                        <m:ctrlPr>
                          <a:rPr lang="en-US" sz="1600" i="1">
                            <a:latin typeface="Cambria Math"/>
                            <a:ea typeface="+mn-ea"/>
                            <a:cs typeface="+mn-cs"/>
                          </a:rPr>
                        </m:ctrlPr>
                      </m:naryPr>
                      <m:sub>
                        <m:r>
                          <m:rPr>
                            <m:brk m:alnAt="7"/>
                          </m:rPr>
                          <a:rPr lang="en-US" sz="1600">
                            <a:latin typeface="Cambria Math"/>
                            <a:ea typeface="+mn-ea"/>
                            <a:cs typeface="+mn-cs"/>
                          </a:rPr>
                          <m:t>𝑖</m:t>
                        </m:r>
                        <m:r>
                          <a:rPr lang="en-US" sz="1600">
                            <a:latin typeface="Cambria Math"/>
                            <a:ea typeface="+mn-ea"/>
                            <a:cs typeface="+mn-cs"/>
                          </a:rPr>
                          <m:t>∈</m:t>
                        </m:r>
                        <m:r>
                          <a:rPr lang="en-US" sz="1600">
                            <a:latin typeface="Cambria Math"/>
                            <a:ea typeface="+mn-ea"/>
                            <a:cs typeface="+mn-cs"/>
                          </a:rPr>
                          <m:t>𝐼</m:t>
                        </m:r>
                      </m:sub>
                      <m:sup/>
                      <m:e>
                        <m:sSub>
                          <m:sSubPr>
                            <m:ctrlPr>
                              <a:rPr lang="en-US" sz="1600" i="1">
                                <a:latin typeface="Cambria Math"/>
                                <a:ea typeface="+mn-ea"/>
                                <a:cs typeface="+mn-cs"/>
                              </a:rPr>
                            </m:ctrlPr>
                          </m:sSubPr>
                          <m:e>
                            <m:r>
                              <a:rPr lang="en-US" sz="1600">
                                <a:latin typeface="Cambria Math"/>
                                <a:ea typeface="+mn-ea"/>
                                <a:cs typeface="+mn-cs"/>
                              </a:rPr>
                              <m:t>𝑐</m:t>
                            </m:r>
                          </m:e>
                          <m:sub>
                            <m:r>
                              <a:rPr lang="en-US" sz="1600">
                                <a:latin typeface="Cambria Math"/>
                                <a:ea typeface="+mn-ea"/>
                                <a:cs typeface="+mn-cs"/>
                              </a:rPr>
                              <m:t>𝑖</m:t>
                            </m:r>
                          </m:sub>
                        </m:sSub>
                        <m:sSub>
                          <m:sSubPr>
                            <m:ctrlPr>
                              <a:rPr lang="en-US" sz="1600" i="1">
                                <a:latin typeface="Cambria Math"/>
                                <a:ea typeface="+mn-ea"/>
                                <a:cs typeface="+mn-cs"/>
                              </a:rPr>
                            </m:ctrlPr>
                          </m:sSubPr>
                          <m:e>
                            <m:r>
                              <a:rPr lang="en-US" sz="1600">
                                <a:latin typeface="Cambria Math"/>
                                <a:ea typeface="+mn-ea"/>
                                <a:cs typeface="+mn-cs"/>
                              </a:rPr>
                              <m:t>𝑟</m:t>
                            </m:r>
                          </m:e>
                          <m:sub>
                            <m:r>
                              <a:rPr lang="en-US" sz="1600">
                                <a:latin typeface="Cambria Math"/>
                                <a:ea typeface="+mn-ea"/>
                                <a:cs typeface="+mn-cs"/>
                              </a:rPr>
                              <m:t>𝑖</m:t>
                            </m:r>
                          </m:sub>
                        </m:sSub>
                        <m:r>
                          <a:rPr lang="en-US" sz="1600">
                            <a:latin typeface="Cambria Math"/>
                            <a:ea typeface="+mn-ea"/>
                            <a:cs typeface="+mn-cs"/>
                          </a:rPr>
                          <m:t>≤</m:t>
                        </m:r>
                        <m:r>
                          <m:rPr>
                            <m:sty m:val="p"/>
                          </m:rPr>
                          <a:rPr lang="en-US" sz="1600" b="0" i="0" smtClean="0">
                            <a:latin typeface="Cambria Math"/>
                            <a:ea typeface="+mn-ea"/>
                            <a:cs typeface="+mn-cs"/>
                          </a:rPr>
                          <m:t>B</m:t>
                        </m:r>
                        <m:r>
                          <a:rPr lang="en-US" sz="1600">
                            <a:latin typeface="Cambria Math"/>
                            <a:ea typeface="+mn-ea"/>
                            <a:cs typeface="+mn-cs"/>
                          </a:rPr>
                          <m:t> </m:t>
                        </m:r>
                      </m:e>
                    </m:nary>
                    <m:r>
                      <a:rPr lang="en-US" sz="1600">
                        <a:latin typeface="Cambria Math"/>
                        <a:ea typeface="+mn-ea"/>
                        <a:cs typeface="+mn-cs"/>
                      </a:rPr>
                      <m:t>                  </m:t>
                    </m:r>
                  </m:oMath>
                </a14:m>
                <a:r>
                  <a:rPr lang="en-US" sz="1600" dirty="0" smtClean="0">
                    <a:latin typeface="+mn-lt"/>
                    <a:ea typeface="+mn-ea"/>
                    <a:cs typeface="+mn-cs"/>
                  </a:rPr>
                  <a:t>Pre transplant </a:t>
                </a:r>
                <a:r>
                  <a:rPr lang="en-US" sz="1600" dirty="0">
                    <a:latin typeface="+mn-lt"/>
                    <a:ea typeface="+mn-ea"/>
                    <a:cs typeface="+mn-cs"/>
                  </a:rPr>
                  <a:t>b</a:t>
                </a:r>
                <a:r>
                  <a:rPr lang="en-US" sz="1600" dirty="0" smtClean="0">
                    <a:latin typeface="+mn-lt"/>
                    <a:ea typeface="+mn-ea"/>
                    <a:cs typeface="+mn-cs"/>
                  </a:rPr>
                  <a:t>udget contr. (evaluation, travel + living cost)</a:t>
                </a:r>
              </a:p>
              <a:p>
                <a:pPr lvl="0">
                  <a:spcAft>
                    <a:spcPts val="600"/>
                  </a:spcAft>
                </a:pPr>
                <a14:m>
                  <m:oMath xmlns:m="http://schemas.openxmlformats.org/officeDocument/2006/math">
                    <m:nary>
                      <m:naryPr>
                        <m:chr m:val="∑"/>
                        <m:supHide m:val="on"/>
                        <m:ctrlPr>
                          <a:rPr lang="en-US" sz="1600" i="1">
                            <a:latin typeface="Cambria Math"/>
                            <a:ea typeface="+mn-ea"/>
                            <a:cs typeface="+mn-cs"/>
                          </a:rPr>
                        </m:ctrlPr>
                      </m:naryPr>
                      <m:sub>
                        <m:r>
                          <m:rPr>
                            <m:brk m:alnAt="7"/>
                          </m:rPr>
                          <a:rPr lang="en-US" sz="1600">
                            <a:latin typeface="Cambria Math"/>
                            <a:ea typeface="+mn-ea"/>
                            <a:cs typeface="+mn-cs"/>
                          </a:rPr>
                          <m:t>𝑖</m:t>
                        </m:r>
                        <m:r>
                          <a:rPr lang="en-US" sz="1600">
                            <a:latin typeface="Cambria Math"/>
                            <a:ea typeface="+mn-ea"/>
                            <a:cs typeface="+mn-cs"/>
                          </a:rPr>
                          <m:t>∈</m:t>
                        </m:r>
                        <m:r>
                          <a:rPr lang="en-US" sz="1600">
                            <a:latin typeface="Cambria Math"/>
                            <a:ea typeface="+mn-ea"/>
                            <a:cs typeface="+mn-cs"/>
                          </a:rPr>
                          <m:t>𝐼</m:t>
                        </m:r>
                      </m:sub>
                      <m:sup/>
                      <m:e>
                        <m:sSub>
                          <m:sSubPr>
                            <m:ctrlPr>
                              <a:rPr lang="en-US" sz="1600" i="1">
                                <a:latin typeface="Cambria Math"/>
                                <a:ea typeface="+mn-ea"/>
                                <a:cs typeface="+mn-cs"/>
                              </a:rPr>
                            </m:ctrlPr>
                          </m:sSubPr>
                          <m:e>
                            <m:r>
                              <a:rPr lang="en-US" sz="1600">
                                <a:latin typeface="Cambria Math"/>
                                <a:ea typeface="+mn-ea"/>
                                <a:cs typeface="+mn-cs"/>
                              </a:rPr>
                              <m:t>𝑑</m:t>
                            </m:r>
                          </m:e>
                          <m:sub>
                            <m:r>
                              <a:rPr lang="en-US" sz="1600">
                                <a:latin typeface="Cambria Math"/>
                                <a:ea typeface="+mn-ea"/>
                                <a:cs typeface="+mn-cs"/>
                              </a:rPr>
                              <m:t>𝑖</m:t>
                            </m:r>
                          </m:sub>
                        </m:sSub>
                        <m:sSub>
                          <m:sSubPr>
                            <m:ctrlPr>
                              <a:rPr lang="en-US" sz="1600" i="1">
                                <a:latin typeface="Cambria Math"/>
                                <a:ea typeface="+mn-ea"/>
                                <a:cs typeface="+mn-cs"/>
                              </a:rPr>
                            </m:ctrlPr>
                          </m:sSubPr>
                          <m:e>
                            <m:r>
                              <a:rPr lang="en-US" sz="1600">
                                <a:latin typeface="Cambria Math"/>
                                <a:ea typeface="+mn-ea"/>
                                <a:cs typeface="+mn-cs"/>
                              </a:rPr>
                              <m:t>𝑟</m:t>
                            </m:r>
                          </m:e>
                          <m:sub>
                            <m:r>
                              <a:rPr lang="en-US" sz="1600">
                                <a:latin typeface="Cambria Math"/>
                                <a:ea typeface="+mn-ea"/>
                                <a:cs typeface="+mn-cs"/>
                              </a:rPr>
                              <m:t>𝑖</m:t>
                            </m:r>
                          </m:sub>
                        </m:sSub>
                        <m:r>
                          <a:rPr lang="en-US" sz="1600">
                            <a:latin typeface="Cambria Math"/>
                            <a:ea typeface="+mn-ea"/>
                            <a:cs typeface="+mn-cs"/>
                          </a:rPr>
                          <m:t>≤</m:t>
                        </m:r>
                        <m:r>
                          <a:rPr lang="en-US" sz="1600">
                            <a:latin typeface="Cambria Math"/>
                            <a:ea typeface="+mn-ea"/>
                            <a:cs typeface="+mn-cs"/>
                          </a:rPr>
                          <m:t>𝐷</m:t>
                        </m:r>
                      </m:e>
                    </m:nary>
                    <m:r>
                      <a:rPr lang="en-US" sz="1600">
                        <a:latin typeface="Cambria Math"/>
                        <a:ea typeface="+mn-ea"/>
                        <a:cs typeface="+mn-cs"/>
                      </a:rPr>
                      <m:t> </m:t>
                    </m:r>
                  </m:oMath>
                </a14:m>
                <a:r>
                  <a:rPr lang="en-US" sz="1600" dirty="0">
                    <a:latin typeface="+mn-lt"/>
                    <a:ea typeface="+mn-ea"/>
                    <a:cs typeface="+mn-cs"/>
                  </a:rPr>
                  <a:t>            </a:t>
                </a:r>
                <a:r>
                  <a:rPr lang="en-US" sz="1600" dirty="0" smtClean="0">
                    <a:latin typeface="+mn-lt"/>
                    <a:ea typeface="+mn-ea"/>
                    <a:cs typeface="+mn-cs"/>
                  </a:rPr>
                  <a:t>Distance constraint </a:t>
                </a:r>
                <a:endParaRPr lang="en-US" sz="1600" dirty="0">
                  <a:latin typeface="+mn-lt"/>
                  <a:ea typeface="+mn-ea"/>
                  <a:cs typeface="+mn-cs"/>
                </a:endParaRPr>
              </a:p>
              <a:p>
                <a:pPr lvl="0">
                  <a:spcAft>
                    <a:spcPts val="600"/>
                  </a:spcAft>
                </a:pPr>
                <a14:m>
                  <m:oMath xmlns:m="http://schemas.openxmlformats.org/officeDocument/2006/math">
                    <m:nary>
                      <m:naryPr>
                        <m:chr m:val="∑"/>
                        <m:supHide m:val="on"/>
                        <m:ctrlPr>
                          <a:rPr lang="en-US" sz="1600" i="1">
                            <a:latin typeface="Cambria Math"/>
                            <a:ea typeface="+mn-ea"/>
                            <a:cs typeface="+mn-cs"/>
                          </a:rPr>
                        </m:ctrlPr>
                      </m:naryPr>
                      <m:sub>
                        <m:r>
                          <m:rPr>
                            <m:brk m:alnAt="7"/>
                          </m:rPr>
                          <a:rPr lang="en-US" sz="1600">
                            <a:latin typeface="Cambria Math"/>
                            <a:ea typeface="+mn-ea"/>
                            <a:cs typeface="+mn-cs"/>
                          </a:rPr>
                          <m:t>𝑖</m:t>
                        </m:r>
                        <m:r>
                          <a:rPr lang="en-US" sz="1600">
                            <a:latin typeface="Cambria Math"/>
                            <a:ea typeface="+mn-ea"/>
                            <a:cs typeface="+mn-cs"/>
                          </a:rPr>
                          <m:t>∈</m:t>
                        </m:r>
                        <m:r>
                          <a:rPr lang="en-US" sz="1600">
                            <a:latin typeface="Cambria Math"/>
                            <a:ea typeface="+mn-ea"/>
                            <a:cs typeface="+mn-cs"/>
                          </a:rPr>
                          <m:t>𝐼</m:t>
                        </m:r>
                      </m:sub>
                      <m:sup/>
                      <m:e>
                        <m:sSub>
                          <m:sSubPr>
                            <m:ctrlPr>
                              <a:rPr lang="en-US" sz="1600" i="1">
                                <a:latin typeface="Cambria Math"/>
                                <a:ea typeface="+mn-ea"/>
                                <a:cs typeface="+mn-cs"/>
                              </a:rPr>
                            </m:ctrlPr>
                          </m:sSubPr>
                          <m:e>
                            <m:r>
                              <a:rPr lang="en-US" sz="1600">
                                <a:latin typeface="Cambria Math"/>
                                <a:ea typeface="+mn-ea"/>
                                <a:cs typeface="+mn-cs"/>
                              </a:rPr>
                              <m:t>𝑝</m:t>
                            </m:r>
                          </m:e>
                          <m:sub>
                            <m:r>
                              <a:rPr lang="en-US" sz="1600">
                                <a:latin typeface="Cambria Math"/>
                                <a:ea typeface="+mn-ea"/>
                                <a:cs typeface="+mn-cs"/>
                              </a:rPr>
                              <m:t>𝑖</m:t>
                            </m:r>
                          </m:sub>
                        </m:sSub>
                        <m:sSub>
                          <m:sSubPr>
                            <m:ctrlPr>
                              <a:rPr lang="en-US" sz="1600" i="1">
                                <a:latin typeface="Cambria Math"/>
                                <a:ea typeface="+mn-ea"/>
                                <a:cs typeface="+mn-cs"/>
                              </a:rPr>
                            </m:ctrlPr>
                          </m:sSubPr>
                          <m:e>
                            <m:r>
                              <a:rPr lang="en-US" sz="1600">
                                <a:latin typeface="Cambria Math"/>
                                <a:ea typeface="+mn-ea"/>
                                <a:cs typeface="+mn-cs"/>
                              </a:rPr>
                              <m:t>𝑟</m:t>
                            </m:r>
                          </m:e>
                          <m:sub>
                            <m:r>
                              <a:rPr lang="en-US" sz="1600">
                                <a:latin typeface="Cambria Math"/>
                                <a:ea typeface="+mn-ea"/>
                                <a:cs typeface="+mn-cs"/>
                              </a:rPr>
                              <m:t>𝑖</m:t>
                            </m:r>
                          </m:sub>
                        </m:sSub>
                        <m:r>
                          <a:rPr lang="en-US" sz="1600">
                            <a:latin typeface="Cambria Math"/>
                            <a:ea typeface="+mn-ea"/>
                            <a:cs typeface="+mn-cs"/>
                          </a:rPr>
                          <m:t>≥</m:t>
                        </m:r>
                        <m:r>
                          <a:rPr lang="en-US" sz="1600">
                            <a:latin typeface="Cambria Math"/>
                            <a:ea typeface="+mn-ea"/>
                            <a:cs typeface="+mn-cs"/>
                          </a:rPr>
                          <m:t>𝑃</m:t>
                        </m:r>
                      </m:e>
                    </m:nary>
                  </m:oMath>
                </a14:m>
                <a:r>
                  <a:rPr lang="en-US" sz="1600" dirty="0">
                    <a:latin typeface="+mn-lt"/>
                    <a:ea typeface="+mn-ea"/>
                    <a:cs typeface="+mn-cs"/>
                  </a:rPr>
                  <a:t>             </a:t>
                </a:r>
                <a:r>
                  <a:rPr lang="en-US" sz="1600" dirty="0" smtClean="0">
                    <a:latin typeface="+mn-lt"/>
                    <a:ea typeface="+mn-ea"/>
                    <a:cs typeface="+mn-cs"/>
                  </a:rPr>
                  <a:t>Performance constr. (5-year  post-transplant graft survival)</a:t>
                </a:r>
                <a:endParaRPr lang="en-US" sz="1600" dirty="0">
                  <a:latin typeface="+mn-lt"/>
                  <a:ea typeface="+mn-ea"/>
                  <a:cs typeface="+mn-cs"/>
                </a:endParaRPr>
              </a:p>
              <a:p>
                <a:pPr>
                  <a:spcAft>
                    <a:spcPts val="600"/>
                  </a:spcAft>
                </a:pPr>
                <a:endParaRPr lang="en-US" sz="1600" dirty="0">
                  <a:latin typeface="+mn-lt"/>
                </a:endParaRPr>
              </a:p>
            </p:txBody>
          </p:sp>
        </mc:Choice>
        <mc:Fallback xmlns="">
          <p:sp>
            <p:nvSpPr>
              <p:cNvPr id="6" name="Rectangle 5"/>
              <p:cNvSpPr>
                <a:spLocks noRot="1" noChangeAspect="1" noMove="1" noResize="1" noEditPoints="1" noAdjustHandles="1" noChangeArrowheads="1" noChangeShapeType="1" noTextEdit="1"/>
              </p:cNvSpPr>
              <p:nvPr/>
            </p:nvSpPr>
            <p:spPr>
              <a:xfrm>
                <a:off x="618517" y="1202125"/>
                <a:ext cx="7711561" cy="3375155"/>
              </a:xfrm>
              <a:prstGeom prst="rect">
                <a:avLst/>
              </a:prstGeom>
              <a:blipFill rotWithShape="1">
                <a:blip r:embed="rId3"/>
                <a:stretch>
                  <a:fillRect l="-3557" t="-14440" b="-6137"/>
                </a:stretch>
              </a:blipFill>
            </p:spPr>
            <p:txBody>
              <a:bodyPr/>
              <a:lstStyle/>
              <a:p>
                <a:r>
                  <a:rPr lang="en-US">
                    <a:noFill/>
                  </a:rPr>
                  <a:t> </a:t>
                </a:r>
              </a:p>
            </p:txBody>
          </p:sp>
        </mc:Fallback>
      </mc:AlternateContent>
      <p:sp>
        <p:nvSpPr>
          <p:cNvPr id="8" name="Rectangle 7"/>
          <p:cNvSpPr/>
          <p:nvPr/>
        </p:nvSpPr>
        <p:spPr>
          <a:xfrm>
            <a:off x="240408" y="223304"/>
            <a:ext cx="8552052" cy="461665"/>
          </a:xfrm>
          <a:prstGeom prst="rect">
            <a:avLst/>
          </a:prstGeom>
        </p:spPr>
        <p:txBody>
          <a:bodyPr wrap="square">
            <a:spAutoFit/>
          </a:bodyPr>
          <a:lstStyle/>
          <a:p>
            <a:pPr algn="ctr"/>
            <a:r>
              <a:rPr lang="en-US" sz="2400" dirty="0" smtClean="0">
                <a:solidFill>
                  <a:schemeClr val="accent1">
                    <a:lumMod val="75000"/>
                  </a:schemeClr>
                </a:solidFill>
                <a:latin typeface="+mj-lt"/>
              </a:rPr>
              <a:t>Region Selection</a:t>
            </a:r>
            <a:endParaRPr lang="en-US" sz="2400" dirty="0">
              <a:latin typeface="+mj-lt"/>
            </a:endParaRPr>
          </a:p>
        </p:txBody>
      </p:sp>
      <p:sp>
        <p:nvSpPr>
          <p:cNvPr id="3" name="Rounded Rectangular Callout 2"/>
          <p:cNvSpPr/>
          <p:nvPr/>
        </p:nvSpPr>
        <p:spPr>
          <a:xfrm>
            <a:off x="6790543" y="849859"/>
            <a:ext cx="1124263" cy="322286"/>
          </a:xfrm>
          <a:prstGeom prst="wedgeRoundRectCallou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1400" dirty="0" smtClean="0"/>
              <a:t>Simulation</a:t>
            </a:r>
            <a:endParaRPr lang="en-US" sz="1400" dirty="0"/>
          </a:p>
        </p:txBody>
      </p:sp>
    </p:spTree>
    <p:extLst>
      <p:ext uri="{BB962C8B-B14F-4D97-AF65-F5344CB8AC3E}">
        <p14:creationId xmlns:p14="http://schemas.microsoft.com/office/powerpoint/2010/main" val="150684864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xmlns:p14="http://schemas.microsoft.com/office/powerpoint/2010/main">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0" y="4760913"/>
            <a:ext cx="2057400" cy="274637"/>
          </a:xfrm>
          <a:prstGeom prst="rect">
            <a:avLst/>
          </a:prstGeom>
        </p:spPr>
        <p:txBody>
          <a:bodyPr/>
          <a:lstStyle/>
          <a:p>
            <a:fld id="{69E57DC2-970A-4B3E-BB1C-7A09969E49DF}" type="slidenum">
              <a:rPr lang="en-US" smtClean="0"/>
              <a:pPr/>
              <a:t>16</a:t>
            </a:fld>
            <a:endParaRPr lang="en-US" dirty="0"/>
          </a:p>
        </p:txBody>
      </p:sp>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142674868"/>
                  </p:ext>
                </p:extLst>
              </p:nvPr>
            </p:nvGraphicFramePr>
            <p:xfrm>
              <a:off x="428625" y="1309337"/>
              <a:ext cx="8201021" cy="3063240"/>
            </p:xfrm>
            <a:graphic>
              <a:graphicData uri="http://schemas.openxmlformats.org/drawingml/2006/table">
                <a:tbl>
                  <a:tblPr firstRow="1" bandRow="1">
                    <a:tableStyleId>{E8B1032C-EA38-4F05-BA0D-38AFFFC7BED3}</a:tableStyleId>
                  </a:tblPr>
                  <a:tblGrid>
                    <a:gridCol w="614363"/>
                    <a:gridCol w="1155332"/>
                    <a:gridCol w="1210556"/>
                    <a:gridCol w="1169686"/>
                    <a:gridCol w="914983"/>
                    <a:gridCol w="932558"/>
                    <a:gridCol w="1267716"/>
                    <a:gridCol w="935827"/>
                  </a:tblGrid>
                  <a:tr h="236688">
                    <a:tc>
                      <a:txBody>
                        <a:bodyPr/>
                        <a:lstStyle/>
                        <a:p>
                          <a:pPr algn="ctr" fontAlgn="b"/>
                          <a:r>
                            <a:rPr lang="en-US" sz="1400" b="1" kern="1200" dirty="0" smtClean="0">
                              <a:solidFill>
                                <a:schemeClr val="tx1"/>
                              </a:solidFill>
                              <a:latin typeface="Book Antiqua" panose="02040602050305030304" pitchFamily="18" charset="0"/>
                              <a:ea typeface="+mn-ea"/>
                              <a:cs typeface="+mn-cs"/>
                            </a:rPr>
                            <a:t>Region</a:t>
                          </a:r>
                        </a:p>
                        <a:p>
                          <a:pPr algn="ctr" fontAlgn="b"/>
                          <a:endParaRPr lang="en-US" sz="1400" b="1" kern="1200" dirty="0" smtClean="0">
                            <a:solidFill>
                              <a:schemeClr val="tx1"/>
                            </a:solidFill>
                            <a:latin typeface="Book Antiqua" panose="02040602050305030304" pitchFamily="18" charset="0"/>
                            <a:ea typeface="+mn-ea"/>
                            <a:cs typeface="+mn-cs"/>
                          </a:endParaRPr>
                        </a:p>
                        <a:p>
                          <a:pPr algn="ctr" fontAlgn="b"/>
                          <a:r>
                            <a:rPr lang="en-US" sz="1400" b="1" kern="1200" dirty="0" smtClean="0">
                              <a:solidFill>
                                <a:schemeClr val="tx1"/>
                              </a:solidFill>
                              <a:latin typeface="Book Antiqua" panose="02040602050305030304" pitchFamily="18" charset="0"/>
                              <a:ea typeface="+mn-ea"/>
                              <a:cs typeface="+mn-cs"/>
                            </a:rPr>
                            <a:t> </a:t>
                          </a:r>
                          <a:endParaRPr lang="en-US" sz="1400" b="1"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algn="ctr" fontAlgn="b"/>
                          <a:r>
                            <a:rPr lang="en-US" sz="1400" b="1" kern="1200" dirty="0" smtClean="0">
                              <a:solidFill>
                                <a:schemeClr val="tx1"/>
                              </a:solidFill>
                              <a:latin typeface="Book Antiqua" panose="02040602050305030304" pitchFamily="18" charset="0"/>
                              <a:ea typeface="+mn-ea"/>
                              <a:cs typeface="+mn-cs"/>
                            </a:rPr>
                            <a:t>Monthly cost of living</a:t>
                          </a:r>
                        </a:p>
                        <a:p>
                          <a:pPr algn="ctr" fontAlgn="b"/>
                          <a:endParaRPr lang="en-US" sz="1400" b="1"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algn="ctr" fontAlgn="b"/>
                          <a:r>
                            <a:rPr lang="en-US" sz="1400" b="1" kern="1200" dirty="0" smtClean="0">
                              <a:solidFill>
                                <a:schemeClr val="tx1"/>
                              </a:solidFill>
                              <a:latin typeface="Book Antiqua" panose="02040602050305030304" pitchFamily="18" charset="0"/>
                              <a:ea typeface="+mn-ea"/>
                              <a:cs typeface="+mn-cs"/>
                            </a:rPr>
                            <a:t>Expected wait time (</a:t>
                          </a:r>
                          <a:r>
                            <a:rPr lang="en-US" sz="1400" b="1" kern="1200" dirty="0" err="1" smtClean="0">
                              <a:solidFill>
                                <a:schemeClr val="tx1"/>
                              </a:solidFill>
                              <a:latin typeface="Book Antiqua" panose="02040602050305030304" pitchFamily="18" charset="0"/>
                              <a:ea typeface="+mn-ea"/>
                              <a:cs typeface="+mn-cs"/>
                            </a:rPr>
                            <a:t>yrs</a:t>
                          </a:r>
                          <a:r>
                            <a:rPr lang="en-US" sz="1400" b="1" kern="1200" dirty="0" smtClean="0">
                              <a:solidFill>
                                <a:schemeClr val="tx1"/>
                              </a:solidFill>
                              <a:latin typeface="Book Antiqua" panose="02040602050305030304" pitchFamily="18" charset="0"/>
                              <a:ea typeface="+mn-ea"/>
                              <a:cs typeface="+mn-cs"/>
                            </a:rPr>
                            <a:t>)</a:t>
                          </a:r>
                        </a:p>
                        <a:p>
                          <a:pPr algn="ctr" fontAlgn="b"/>
                          <a:endParaRPr lang="en-US" sz="1400" b="1"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algn="ctr" fontAlgn="b"/>
                          <a:r>
                            <a:rPr lang="en-US" sz="1400" b="1" kern="1200" dirty="0" smtClean="0">
                              <a:solidFill>
                                <a:schemeClr val="tx1"/>
                              </a:solidFill>
                              <a:latin typeface="Book Antiqua" panose="02040602050305030304" pitchFamily="18" charset="0"/>
                              <a:ea typeface="+mn-ea"/>
                              <a:cs typeface="+mn-cs"/>
                            </a:rPr>
                            <a:t>Number of evaluation</a:t>
                          </a:r>
                        </a:p>
                        <a:p>
                          <a:pPr algn="ctr" fontAlgn="b"/>
                          <a:endParaRPr lang="en-US" sz="1400" b="1"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algn="ctr" fontAlgn="b"/>
                          <a:r>
                            <a:rPr lang="en-US" sz="1400" b="1" kern="1200" dirty="0">
                              <a:solidFill>
                                <a:schemeClr val="tx1"/>
                              </a:solidFill>
                              <a:latin typeface="Book Antiqua" panose="02040602050305030304" pitchFamily="18" charset="0"/>
                              <a:ea typeface="+mn-ea"/>
                              <a:cs typeface="+mn-cs"/>
                            </a:rPr>
                            <a:t>Evaluation </a:t>
                          </a:r>
                          <a:r>
                            <a:rPr lang="en-US" sz="1400" b="1" kern="1200" dirty="0" smtClean="0">
                              <a:solidFill>
                                <a:schemeClr val="tx1"/>
                              </a:solidFill>
                              <a:latin typeface="Book Antiqua" panose="02040602050305030304" pitchFamily="18" charset="0"/>
                              <a:ea typeface="+mn-ea"/>
                              <a:cs typeface="+mn-cs"/>
                            </a:rPr>
                            <a:t>cost</a:t>
                          </a:r>
                        </a:p>
                        <a:p>
                          <a:pPr algn="ctr" fontAlgn="b"/>
                          <a:endParaRPr lang="en-US" sz="1400" b="1"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algn="ctr" fontAlgn="b"/>
                          <a:r>
                            <a:rPr lang="en-US" sz="1400" b="1" kern="1200" dirty="0">
                              <a:solidFill>
                                <a:schemeClr val="tx1"/>
                              </a:solidFill>
                              <a:latin typeface="Book Antiqua" panose="02040602050305030304" pitchFamily="18" charset="0"/>
                              <a:ea typeface="+mn-ea"/>
                              <a:cs typeface="+mn-cs"/>
                            </a:rPr>
                            <a:t>5 year survival rate</a:t>
                          </a:r>
                        </a:p>
                      </a:txBody>
                      <a:tcPr marL="6350" marR="6350" marT="6350" marB="0" anchor="b"/>
                    </a:tc>
                    <a:tc>
                      <a:txBody>
                        <a:bodyPr/>
                        <a:lstStyle/>
                        <a:p>
                          <a:pPr algn="ctr" fontAlgn="b"/>
                          <a:r>
                            <a:rPr lang="en-US" sz="1400" b="1" kern="1200" dirty="0">
                              <a:solidFill>
                                <a:schemeClr val="tx1"/>
                              </a:solidFill>
                              <a:latin typeface="Book Antiqua" panose="02040602050305030304" pitchFamily="18" charset="0"/>
                              <a:ea typeface="+mn-ea"/>
                              <a:cs typeface="+mn-cs"/>
                            </a:rPr>
                            <a:t>Air </a:t>
                          </a:r>
                          <a:endParaRPr lang="en-US" sz="1400" b="1" kern="1200" dirty="0" smtClean="0">
                            <a:solidFill>
                              <a:schemeClr val="tx1"/>
                            </a:solidFill>
                            <a:latin typeface="Book Antiqua" panose="02040602050305030304" pitchFamily="18" charset="0"/>
                            <a:ea typeface="+mn-ea"/>
                            <a:cs typeface="+mn-cs"/>
                          </a:endParaRPr>
                        </a:p>
                        <a:p>
                          <a:pPr algn="ctr" fontAlgn="b"/>
                          <a:r>
                            <a:rPr lang="en-US" sz="1400" b="1" kern="1200" dirty="0" smtClean="0">
                              <a:solidFill>
                                <a:schemeClr val="tx1"/>
                              </a:solidFill>
                              <a:latin typeface="Book Antiqua" panose="02040602050305030304" pitchFamily="18" charset="0"/>
                              <a:ea typeface="+mn-ea"/>
                              <a:cs typeface="+mn-cs"/>
                            </a:rPr>
                            <a:t>distance(mile)</a:t>
                          </a:r>
                        </a:p>
                        <a:p>
                          <a:pPr algn="ctr" fontAlgn="b"/>
                          <a:endParaRPr lang="en-US" sz="1400" b="1"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14:m>
                            <m:oMathPara xmlns:m="http://schemas.openxmlformats.org/officeDocument/2006/math">
                              <m:oMathParaPr>
                                <m:jc m:val="centerGroup"/>
                              </m:oMathParaPr>
                              <m:oMath xmlns:m="http://schemas.openxmlformats.org/officeDocument/2006/math">
                                <m:sSub>
                                  <m:sSubPr>
                                    <m:ctrlPr>
                                      <a:rPr lang="en-US" sz="1400" b="1" i="1" kern="1200" smtClean="0">
                                        <a:solidFill>
                                          <a:schemeClr val="tx1"/>
                                        </a:solidFill>
                                        <a:latin typeface="Cambria Math"/>
                                        <a:ea typeface="+mn-ea"/>
                                        <a:cs typeface="+mn-cs"/>
                                      </a:rPr>
                                    </m:ctrlPr>
                                  </m:sSubPr>
                                  <m:e>
                                    <m:r>
                                      <a:rPr lang="en-US" sz="1400" b="1" kern="1200" smtClean="0">
                                        <a:solidFill>
                                          <a:schemeClr val="tx1"/>
                                        </a:solidFill>
                                        <a:latin typeface="Cambria Math" panose="02040503050406030204" pitchFamily="18" charset="0"/>
                                        <a:ea typeface="+mn-ea"/>
                                        <a:cs typeface="+mn-cs"/>
                                      </a:rPr>
                                      <m:t>𝑼</m:t>
                                    </m:r>
                                  </m:e>
                                  <m:sub>
                                    <m:r>
                                      <a:rPr lang="en-US" sz="1400" b="1" kern="1200" smtClean="0">
                                        <a:solidFill>
                                          <a:schemeClr val="tx1"/>
                                        </a:solidFill>
                                        <a:latin typeface="Cambria Math" panose="02040503050406030204" pitchFamily="18" charset="0"/>
                                        <a:ea typeface="+mn-ea"/>
                                        <a:cs typeface="+mn-cs"/>
                                      </a:rPr>
                                      <m:t>𝐢</m:t>
                                    </m:r>
                                  </m:sub>
                                </m:sSub>
                                <m:d>
                                  <m:dPr>
                                    <m:ctrlPr>
                                      <a:rPr lang="en-US" sz="1400" b="1" i="1" kern="1200" smtClean="0">
                                        <a:solidFill>
                                          <a:schemeClr val="tx1"/>
                                        </a:solidFill>
                                        <a:latin typeface="Cambria Math"/>
                                        <a:ea typeface="+mn-ea"/>
                                        <a:cs typeface="+mn-cs"/>
                                      </a:rPr>
                                    </m:ctrlPr>
                                  </m:dPr>
                                  <m:e>
                                    <m:sSubSup>
                                      <m:sSubSupPr>
                                        <m:ctrlPr>
                                          <a:rPr lang="en-US" sz="1400" b="1" i="1" kern="1200" smtClean="0">
                                            <a:solidFill>
                                              <a:schemeClr val="tx1"/>
                                            </a:solidFill>
                                            <a:latin typeface="Cambria Math"/>
                                            <a:ea typeface="+mn-ea"/>
                                            <a:cs typeface="+mn-cs"/>
                                          </a:rPr>
                                        </m:ctrlPr>
                                      </m:sSubSupPr>
                                      <m:e>
                                        <m:r>
                                          <a:rPr lang="en-US" sz="1400" b="1" kern="1200" smtClean="0">
                                            <a:solidFill>
                                              <a:schemeClr val="tx1"/>
                                            </a:solidFill>
                                            <a:latin typeface="Cambria Math" panose="02040503050406030204" pitchFamily="18" charset="0"/>
                                            <a:ea typeface="+mn-ea"/>
                                            <a:cs typeface="+mn-cs"/>
                                          </a:rPr>
                                          <m:t>𝒌</m:t>
                                        </m:r>
                                      </m:e>
                                      <m:sub>
                                        <m:r>
                                          <a:rPr lang="en-US" sz="1400" b="1" kern="1200" smtClean="0">
                                            <a:solidFill>
                                              <a:schemeClr val="tx1"/>
                                            </a:solidFill>
                                            <a:latin typeface="Cambria Math" panose="02040503050406030204" pitchFamily="18" charset="0"/>
                                            <a:ea typeface="+mn-ea"/>
                                            <a:cs typeface="+mn-cs"/>
                                          </a:rPr>
                                          <m:t>𝐢</m:t>
                                        </m:r>
                                      </m:sub>
                                      <m:sup>
                                        <m:r>
                                          <a:rPr lang="en-US" sz="1400" b="1" kern="1200" smtClean="0">
                                            <a:solidFill>
                                              <a:schemeClr val="tx1"/>
                                            </a:solidFill>
                                            <a:latin typeface="Cambria Math" panose="02040503050406030204" pitchFamily="18" charset="0"/>
                                            <a:ea typeface="+mn-ea"/>
                                            <a:cs typeface="+mn-cs"/>
                                          </a:rPr>
                                          <m:t>∗</m:t>
                                        </m:r>
                                      </m:sup>
                                    </m:sSubSup>
                                  </m:e>
                                </m:d>
                                <m:d>
                                  <m:dPr>
                                    <m:ctrlPr>
                                      <a:rPr lang="en-US" sz="1400" b="1" i="1" kern="1200" smtClean="0">
                                        <a:solidFill>
                                          <a:schemeClr val="tx1"/>
                                        </a:solidFill>
                                        <a:latin typeface="Cambria Math"/>
                                        <a:ea typeface="+mn-ea"/>
                                        <a:cs typeface="+mn-cs"/>
                                      </a:rPr>
                                    </m:ctrlPr>
                                  </m:dPr>
                                  <m:e>
                                    <m:r>
                                      <a:rPr lang="en-US" sz="1400" b="1" kern="1200" smtClean="0">
                                        <a:solidFill>
                                          <a:schemeClr val="tx1"/>
                                        </a:solidFill>
                                        <a:latin typeface="Cambria Math" panose="02040503050406030204" pitchFamily="18" charset="0"/>
                                        <a:ea typeface="+mn-ea"/>
                                        <a:cs typeface="+mn-cs"/>
                                      </a:rPr>
                                      <m:t>𝒚𝒓</m:t>
                                    </m:r>
                                  </m:e>
                                </m:d>
                              </m:oMath>
                            </m:oMathPara>
                          </a14:m>
                          <a:endParaRPr lang="en-US" sz="1400" b="1" kern="1200" dirty="0" smtClean="0">
                            <a:solidFill>
                              <a:schemeClr val="tx1"/>
                            </a:solidFill>
                            <a:latin typeface="Book Antiqua" panose="02040602050305030304" pitchFamily="18" charset="0"/>
                            <a:ea typeface="+mn-ea"/>
                            <a:cs typeface="+mn-cs"/>
                          </a:endParaRPr>
                        </a:p>
                        <a:p>
                          <a:pPr marL="0" algn="ctr" defTabSz="685800" rtl="0" eaLnBrk="1" fontAlgn="b" latinLnBrk="0" hangingPunct="1"/>
                          <a:endParaRPr lang="en-US" sz="1400" b="1" kern="1200" dirty="0" smtClean="0">
                            <a:solidFill>
                              <a:schemeClr val="tx1"/>
                            </a:solidFill>
                            <a:latin typeface="Book Antiqua" panose="02040602050305030304" pitchFamily="18" charset="0"/>
                            <a:ea typeface="+mn-ea"/>
                            <a:cs typeface="+mn-cs"/>
                          </a:endParaRPr>
                        </a:p>
                        <a:p>
                          <a:pPr marL="0" algn="ctr" defTabSz="685800" rtl="0" eaLnBrk="1" fontAlgn="b" latinLnBrk="0" hangingPunct="1"/>
                          <a:endParaRPr lang="en-US" sz="1400" b="1" kern="1200" dirty="0">
                            <a:solidFill>
                              <a:schemeClr val="tx1"/>
                            </a:solidFill>
                            <a:latin typeface="Book Antiqua" panose="02040602050305030304" pitchFamily="18" charset="0"/>
                            <a:ea typeface="+mn-ea"/>
                            <a:cs typeface="+mn-cs"/>
                          </a:endParaRPr>
                        </a:p>
                      </a:txBody>
                      <a:tcPr marL="6350" marR="6350" marT="6350" marB="0" anchor="b"/>
                    </a:tc>
                  </a:tr>
                  <a:tr h="199239">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1</a:t>
                          </a:r>
                        </a:p>
                      </a:txBody>
                      <a:tcPr marL="6350" marR="6350" marT="6350" marB="0" anchor="b"/>
                    </a:tc>
                    <a:tc>
                      <a:txBody>
                        <a:bodyPr/>
                        <a:lstStyle/>
                        <a:p>
                          <a:pPr marL="0" algn="ctr" defTabSz="685800" rtl="0" eaLnBrk="1" fontAlgn="b" latinLnBrk="0" hangingPunct="1"/>
                          <a:r>
                            <a:rPr lang="en-US" sz="1400" kern="1200">
                              <a:solidFill>
                                <a:schemeClr val="tx1"/>
                              </a:solidFill>
                              <a:latin typeface="Book Antiqua" panose="02040602050305030304" pitchFamily="18" charset="0"/>
                              <a:ea typeface="+mn-ea"/>
                              <a:cs typeface="+mn-cs"/>
                            </a:rPr>
                            <a:t>$2,454</a:t>
                          </a: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2.4</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4</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$6,381</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73%</a:t>
                          </a:r>
                        </a:p>
                      </a:txBody>
                      <a:tcPr marL="6350" marR="6350" marT="6350" marB="0" anchor="b"/>
                    </a:tc>
                    <a:tc>
                      <a:txBody>
                        <a:bodyPr/>
                        <a:lstStyle/>
                        <a:p>
                          <a:pPr marL="0" algn="ctr" defTabSz="685800" rtl="0" eaLnBrk="1" fontAlgn="b" latinLnBrk="0" hangingPunct="1"/>
                          <a:r>
                            <a:rPr lang="en-US" sz="1400" kern="1200">
                              <a:solidFill>
                                <a:schemeClr val="tx1"/>
                              </a:solidFill>
                              <a:latin typeface="Book Antiqua" panose="02040602050305030304" pitchFamily="18" charset="0"/>
                              <a:ea typeface="+mn-ea"/>
                              <a:cs typeface="+mn-cs"/>
                            </a:rPr>
                            <a:t>       2,200 </a:t>
                          </a: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9.1</a:t>
                          </a:r>
                        </a:p>
                      </a:txBody>
                      <a:tcPr marL="6350" marR="6350" marT="6350" marB="0" anchor="b"/>
                    </a:tc>
                  </a:tr>
                  <a:tr h="199239">
                    <a:tc>
                      <a:txBody>
                        <a:bodyPr/>
                        <a:lstStyle/>
                        <a:p>
                          <a:pPr marL="0" algn="ctr" defTabSz="685800" rtl="0" eaLnBrk="1" fontAlgn="b" latinLnBrk="0" hangingPunct="1"/>
                          <a:r>
                            <a:rPr lang="en-US" sz="1400" kern="1200">
                              <a:solidFill>
                                <a:schemeClr val="tx1"/>
                              </a:solidFill>
                              <a:latin typeface="Book Antiqua" panose="02040602050305030304" pitchFamily="18" charset="0"/>
                              <a:ea typeface="+mn-ea"/>
                              <a:cs typeface="+mn-cs"/>
                            </a:rPr>
                            <a:t>2</a:t>
                          </a: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$1,879</a:t>
                          </a: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1.8</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3</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$4,614</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a:solidFill>
                                <a:schemeClr val="tx1"/>
                              </a:solidFill>
                              <a:latin typeface="Book Antiqua" panose="02040602050305030304" pitchFamily="18" charset="0"/>
                              <a:ea typeface="+mn-ea"/>
                              <a:cs typeface="+mn-cs"/>
                            </a:rPr>
                            <a:t>70%</a:t>
                          </a:r>
                        </a:p>
                      </a:txBody>
                      <a:tcPr marL="6350" marR="6350" marT="6350" marB="0" anchor="b"/>
                    </a:tc>
                    <a:tc>
                      <a:txBody>
                        <a:bodyPr/>
                        <a:lstStyle/>
                        <a:p>
                          <a:pPr marL="0" algn="ctr" defTabSz="685800" rtl="0" eaLnBrk="1" fontAlgn="b" latinLnBrk="0" hangingPunct="1"/>
                          <a:r>
                            <a:rPr lang="en-US" sz="1400" kern="1200">
                              <a:solidFill>
                                <a:schemeClr val="tx1"/>
                              </a:solidFill>
                              <a:latin typeface="Book Antiqua" panose="02040602050305030304" pitchFamily="18" charset="0"/>
                              <a:ea typeface="+mn-ea"/>
                              <a:cs typeface="+mn-cs"/>
                            </a:rPr>
                            <a:t>       1,904 </a:t>
                          </a: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13.2</a:t>
                          </a:r>
                        </a:p>
                      </a:txBody>
                      <a:tcPr marL="6350" marR="6350" marT="6350" marB="0" anchor="b"/>
                    </a:tc>
                  </a:tr>
                  <a:tr h="199239">
                    <a:tc>
                      <a:txBody>
                        <a:bodyPr/>
                        <a:lstStyle/>
                        <a:p>
                          <a:pPr marL="0" algn="ctr" defTabSz="685800" rtl="0" eaLnBrk="1" fontAlgn="b" latinLnBrk="0" hangingPunct="1"/>
                          <a:r>
                            <a:rPr lang="en-US" sz="1400" kern="1200">
                              <a:solidFill>
                                <a:schemeClr val="tx1"/>
                              </a:solidFill>
                              <a:latin typeface="Book Antiqua" panose="02040602050305030304" pitchFamily="18" charset="0"/>
                              <a:ea typeface="+mn-ea"/>
                              <a:cs typeface="+mn-cs"/>
                            </a:rPr>
                            <a:t>3</a:t>
                          </a: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$1,637</a:t>
                          </a: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1.9</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3</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$4,541</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a:solidFill>
                                <a:schemeClr val="tx1"/>
                              </a:solidFill>
                              <a:latin typeface="Book Antiqua" panose="02040602050305030304" pitchFamily="18" charset="0"/>
                              <a:ea typeface="+mn-ea"/>
                              <a:cs typeface="+mn-cs"/>
                            </a:rPr>
                            <a:t>76%</a:t>
                          </a: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       1,706 </a:t>
                          </a: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13.6</a:t>
                          </a:r>
                        </a:p>
                      </a:txBody>
                      <a:tcPr marL="6350" marR="6350" marT="6350" marB="0" anchor="b"/>
                    </a:tc>
                  </a:tr>
                  <a:tr h="199239">
                    <a:tc>
                      <a:txBody>
                        <a:bodyPr/>
                        <a:lstStyle/>
                        <a:p>
                          <a:pPr marL="0" algn="ctr" defTabSz="685800" rtl="0" eaLnBrk="1" fontAlgn="b" latinLnBrk="0" hangingPunct="1"/>
                          <a:r>
                            <a:rPr lang="en-US" sz="1400" kern="1200">
                              <a:solidFill>
                                <a:schemeClr val="tx1"/>
                              </a:solidFill>
                              <a:latin typeface="Book Antiqua" panose="02040602050305030304" pitchFamily="18" charset="0"/>
                              <a:ea typeface="+mn-ea"/>
                              <a:cs typeface="+mn-cs"/>
                            </a:rPr>
                            <a:t>4</a:t>
                          </a: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$2,328</a:t>
                          </a: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1.4</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2</a:t>
                          </a: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$3,166</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75%</a:t>
                          </a: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       1,160 </a:t>
                          </a: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12.8</a:t>
                          </a:r>
                        </a:p>
                      </a:txBody>
                      <a:tcPr marL="6350" marR="6350" marT="6350" marB="0" anchor="b"/>
                    </a:tc>
                  </a:tr>
                  <a:tr h="199239">
                    <a:tc>
                      <a:txBody>
                        <a:bodyPr/>
                        <a:lstStyle/>
                        <a:p>
                          <a:pPr marL="0" algn="ctr" defTabSz="685800" rtl="0" eaLnBrk="1" fontAlgn="b" latinLnBrk="0" hangingPunct="1"/>
                          <a:r>
                            <a:rPr lang="en-US" sz="1400" kern="1200">
                              <a:solidFill>
                                <a:schemeClr val="tx1"/>
                              </a:solidFill>
                              <a:latin typeface="Book Antiqua" panose="02040602050305030304" pitchFamily="18" charset="0"/>
                              <a:ea typeface="+mn-ea"/>
                              <a:cs typeface="+mn-cs"/>
                            </a:rPr>
                            <a:t>5</a:t>
                          </a: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$2,130</a:t>
                          </a: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2.5</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5</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$7,815</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79%</a:t>
                          </a: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          374 </a:t>
                          </a: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13.5</a:t>
                          </a:r>
                        </a:p>
                      </a:txBody>
                      <a:tcPr marL="6350" marR="6350" marT="6350" marB="0" anchor="b"/>
                    </a:tc>
                  </a:tr>
                  <a:tr h="199239">
                    <a:tc>
                      <a:txBody>
                        <a:bodyPr/>
                        <a:lstStyle/>
                        <a:p>
                          <a:pPr marL="0" algn="ctr" defTabSz="685800" rtl="0" eaLnBrk="1" fontAlgn="b" latinLnBrk="0" hangingPunct="1"/>
                          <a:r>
                            <a:rPr lang="en-US" sz="1400" kern="1200">
                              <a:solidFill>
                                <a:schemeClr val="tx1"/>
                              </a:solidFill>
                              <a:latin typeface="Book Antiqua" panose="02040602050305030304" pitchFamily="18" charset="0"/>
                              <a:ea typeface="+mn-ea"/>
                              <a:cs typeface="+mn-cs"/>
                            </a:rPr>
                            <a:t>6</a:t>
                          </a: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$2,413</a:t>
                          </a: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1.6</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3</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0$</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a:solidFill>
                                <a:schemeClr val="tx1"/>
                              </a:solidFill>
                              <a:latin typeface="Book Antiqua" panose="02040602050305030304" pitchFamily="18" charset="0"/>
                              <a:ea typeface="+mn-ea"/>
                              <a:cs typeface="+mn-cs"/>
                            </a:rPr>
                            <a:t>83%</a:t>
                          </a: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0</a:t>
                          </a: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9.7</a:t>
                          </a:r>
                        </a:p>
                      </a:txBody>
                      <a:tcPr marL="6350" marR="6350" marT="6350" marB="0" anchor="b"/>
                    </a:tc>
                  </a:tr>
                  <a:tr h="199239">
                    <a:tc>
                      <a:txBody>
                        <a:bodyPr/>
                        <a:lstStyle/>
                        <a:p>
                          <a:pPr marL="0" algn="ctr" defTabSz="685800" rtl="0" eaLnBrk="1" fontAlgn="b" latinLnBrk="0" hangingPunct="1"/>
                          <a:r>
                            <a:rPr lang="en-US" sz="1400" kern="1200">
                              <a:solidFill>
                                <a:schemeClr val="tx1"/>
                              </a:solidFill>
                              <a:latin typeface="Book Antiqua" panose="02040602050305030304" pitchFamily="18" charset="0"/>
                              <a:ea typeface="+mn-ea"/>
                              <a:cs typeface="+mn-cs"/>
                            </a:rPr>
                            <a:t>7</a:t>
                          </a: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$2,686</a:t>
                          </a: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2.3</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4</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$6,474</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a:solidFill>
                                <a:schemeClr val="tx1"/>
                              </a:solidFill>
                              <a:latin typeface="Book Antiqua" panose="02040602050305030304" pitchFamily="18" charset="0"/>
                              <a:ea typeface="+mn-ea"/>
                              <a:cs typeface="+mn-cs"/>
                            </a:rPr>
                            <a:t>74%</a:t>
                          </a: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          670 </a:t>
                          </a: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12.0</a:t>
                          </a:r>
                        </a:p>
                      </a:txBody>
                      <a:tcPr marL="6350" marR="6350" marT="6350" marB="0" anchor="b"/>
                    </a:tc>
                  </a:tr>
                  <a:tr h="199239">
                    <a:tc>
                      <a:txBody>
                        <a:bodyPr/>
                        <a:lstStyle/>
                        <a:p>
                          <a:pPr marL="0" algn="ctr" defTabSz="685800" rtl="0" eaLnBrk="1" fontAlgn="b" latinLnBrk="0" hangingPunct="1"/>
                          <a:r>
                            <a:rPr lang="en-US" sz="1400" kern="1200">
                              <a:solidFill>
                                <a:schemeClr val="tx1"/>
                              </a:solidFill>
                              <a:latin typeface="Book Antiqua" panose="02040602050305030304" pitchFamily="18" charset="0"/>
                              <a:ea typeface="+mn-ea"/>
                              <a:cs typeface="+mn-cs"/>
                            </a:rPr>
                            <a:t>8</a:t>
                          </a: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$2,869</a:t>
                          </a: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1.4</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2</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$3,274</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a:solidFill>
                                <a:schemeClr val="tx1"/>
                              </a:solidFill>
                              <a:latin typeface="Book Antiqua" panose="02040602050305030304" pitchFamily="18" charset="0"/>
                              <a:ea typeface="+mn-ea"/>
                              <a:cs typeface="+mn-cs"/>
                            </a:rPr>
                            <a:t>76%</a:t>
                          </a: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          569 </a:t>
                          </a: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11.9</a:t>
                          </a:r>
                        </a:p>
                      </a:txBody>
                      <a:tcPr marL="6350" marR="6350" marT="6350" marB="0" anchor="b"/>
                    </a:tc>
                  </a:tr>
                  <a:tr h="199239">
                    <a:tc>
                      <a:txBody>
                        <a:bodyPr/>
                        <a:lstStyle/>
                        <a:p>
                          <a:pPr marL="0" algn="ctr" defTabSz="685800" rtl="0" eaLnBrk="1" fontAlgn="b" latinLnBrk="0" hangingPunct="1"/>
                          <a:r>
                            <a:rPr lang="en-US" sz="1400" kern="1200">
                              <a:solidFill>
                                <a:schemeClr val="tx1"/>
                              </a:solidFill>
                              <a:latin typeface="Book Antiqua" panose="02040602050305030304" pitchFamily="18" charset="0"/>
                              <a:ea typeface="+mn-ea"/>
                              <a:cs typeface="+mn-cs"/>
                            </a:rPr>
                            <a:t>9</a:t>
                          </a: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$2,705</a:t>
                          </a: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2.2</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4</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$6,482</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69%</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a:solidFill>
                                <a:schemeClr val="tx1"/>
                              </a:solidFill>
                              <a:latin typeface="Book Antiqua" panose="02040602050305030304" pitchFamily="18" charset="0"/>
                              <a:ea typeface="+mn-ea"/>
                              <a:cs typeface="+mn-cs"/>
                            </a:rPr>
                            <a:t>       1,195 </a:t>
                          </a: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8.9</a:t>
                          </a:r>
                        </a:p>
                      </a:txBody>
                      <a:tcPr marL="6350" marR="6350" marT="6350" marB="0" anchor="b"/>
                    </a:tc>
                  </a:tr>
                  <a:tr h="215556">
                    <a:tc>
                      <a:txBody>
                        <a:bodyPr/>
                        <a:lstStyle/>
                        <a:p>
                          <a:pPr marL="0" algn="ctr" defTabSz="685800" rtl="0" eaLnBrk="1" fontAlgn="b" latinLnBrk="0" hangingPunct="1"/>
                          <a:r>
                            <a:rPr lang="en-US" sz="1400" kern="1200">
                              <a:solidFill>
                                <a:schemeClr val="tx1"/>
                              </a:solidFill>
                              <a:latin typeface="Book Antiqua" panose="02040602050305030304" pitchFamily="18" charset="0"/>
                              <a:ea typeface="+mn-ea"/>
                              <a:cs typeface="+mn-cs"/>
                            </a:rPr>
                            <a:t>10</a:t>
                          </a: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$2,005</a:t>
                          </a: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1.8</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3</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$4,651</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72%</a:t>
                          </a:r>
                        </a:p>
                      </a:txBody>
                      <a:tcPr marL="6350" marR="6350" marT="6350" marB="0" anchor="b"/>
                    </a:tc>
                    <a:tc>
                      <a:txBody>
                        <a:bodyPr/>
                        <a:lstStyle/>
                        <a:p>
                          <a:pPr marL="0" algn="ctr" defTabSz="685800" rtl="0" eaLnBrk="1" fontAlgn="b" latinLnBrk="0" hangingPunct="1"/>
                          <a:r>
                            <a:rPr lang="en-US" sz="1400" kern="1200">
                              <a:solidFill>
                                <a:schemeClr val="tx1"/>
                              </a:solidFill>
                              <a:latin typeface="Book Antiqua" panose="02040602050305030304" pitchFamily="18" charset="0"/>
                              <a:ea typeface="+mn-ea"/>
                              <a:cs typeface="+mn-cs"/>
                            </a:rPr>
                            <a:t>          565 </a:t>
                          </a: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12.7</a:t>
                          </a:r>
                        </a:p>
                      </a:txBody>
                      <a:tcPr marL="6350" marR="6350" marT="6350" marB="0" anchor="b"/>
                    </a:tc>
                  </a:tr>
                  <a:tr h="189192">
                    <a:tc>
                      <a:txBody>
                        <a:bodyPr/>
                        <a:lstStyle/>
                        <a:p>
                          <a:pPr marL="0" algn="ctr" defTabSz="685800" rtl="0" eaLnBrk="1" fontAlgn="b" latinLnBrk="0" hangingPunct="1"/>
                          <a:r>
                            <a:rPr lang="en-US" sz="1400" kern="1200">
                              <a:solidFill>
                                <a:schemeClr val="tx1"/>
                              </a:solidFill>
                              <a:latin typeface="Book Antiqua" panose="02040602050305030304" pitchFamily="18" charset="0"/>
                              <a:ea typeface="+mn-ea"/>
                              <a:cs typeface="+mn-cs"/>
                            </a:rPr>
                            <a:t>11</a:t>
                          </a: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$2,706</a:t>
                          </a: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1.4</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2</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$3,241</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72%</a:t>
                          </a: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          941 </a:t>
                          </a: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12.8</a:t>
                          </a:r>
                        </a:p>
                      </a:txBody>
                      <a:tcPr marL="6350" marR="6350" marT="6350" marB="0" anchor="b"/>
                    </a:tc>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142674868"/>
                  </p:ext>
                </p:extLst>
              </p:nvPr>
            </p:nvGraphicFramePr>
            <p:xfrm>
              <a:off x="428625" y="1309337"/>
              <a:ext cx="8201021" cy="3063240"/>
            </p:xfrm>
            <a:graphic>
              <a:graphicData uri="http://schemas.openxmlformats.org/drawingml/2006/table">
                <a:tbl>
                  <a:tblPr firstRow="1" bandRow="1">
                    <a:tableStyleId>{E8B1032C-EA38-4F05-BA0D-38AFFFC7BED3}</a:tableStyleId>
                  </a:tblPr>
                  <a:tblGrid>
                    <a:gridCol w="614363"/>
                    <a:gridCol w="1155332"/>
                    <a:gridCol w="1210556"/>
                    <a:gridCol w="1169686"/>
                    <a:gridCol w="914983"/>
                    <a:gridCol w="932558"/>
                    <a:gridCol w="1267716"/>
                    <a:gridCol w="935827"/>
                  </a:tblGrid>
                  <a:tr h="646430">
                    <a:tc>
                      <a:txBody>
                        <a:bodyPr/>
                        <a:lstStyle/>
                        <a:p>
                          <a:pPr algn="ctr" fontAlgn="b"/>
                          <a:r>
                            <a:rPr lang="en-US" sz="1400" b="1" kern="1200" dirty="0" smtClean="0">
                              <a:solidFill>
                                <a:schemeClr val="tx1"/>
                              </a:solidFill>
                              <a:latin typeface="Book Antiqua" panose="02040602050305030304" pitchFamily="18" charset="0"/>
                              <a:ea typeface="+mn-ea"/>
                              <a:cs typeface="+mn-cs"/>
                            </a:rPr>
                            <a:t>Region</a:t>
                          </a:r>
                        </a:p>
                        <a:p>
                          <a:pPr algn="ctr" fontAlgn="b"/>
                          <a:endParaRPr lang="en-US" sz="1400" b="1" kern="1200" dirty="0" smtClean="0">
                            <a:solidFill>
                              <a:schemeClr val="tx1"/>
                            </a:solidFill>
                            <a:latin typeface="Book Antiqua" panose="02040602050305030304" pitchFamily="18" charset="0"/>
                            <a:ea typeface="+mn-ea"/>
                            <a:cs typeface="+mn-cs"/>
                          </a:endParaRPr>
                        </a:p>
                        <a:p>
                          <a:pPr algn="ctr" fontAlgn="b"/>
                          <a:r>
                            <a:rPr lang="en-US" sz="1400" b="1" kern="1200" dirty="0" smtClean="0">
                              <a:solidFill>
                                <a:schemeClr val="tx1"/>
                              </a:solidFill>
                              <a:latin typeface="Book Antiqua" panose="02040602050305030304" pitchFamily="18" charset="0"/>
                              <a:ea typeface="+mn-ea"/>
                              <a:cs typeface="+mn-cs"/>
                            </a:rPr>
                            <a:t> </a:t>
                          </a:r>
                          <a:endParaRPr lang="en-US" sz="1400" b="1"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algn="ctr" fontAlgn="b"/>
                          <a:r>
                            <a:rPr lang="en-US" sz="1400" b="1" kern="1200" dirty="0" smtClean="0">
                              <a:solidFill>
                                <a:schemeClr val="tx1"/>
                              </a:solidFill>
                              <a:latin typeface="Book Antiqua" panose="02040602050305030304" pitchFamily="18" charset="0"/>
                              <a:ea typeface="+mn-ea"/>
                              <a:cs typeface="+mn-cs"/>
                            </a:rPr>
                            <a:t>Monthly cost of living</a:t>
                          </a:r>
                        </a:p>
                        <a:p>
                          <a:pPr algn="ctr" fontAlgn="b"/>
                          <a:endParaRPr lang="en-US" sz="1400" b="1"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algn="ctr" fontAlgn="b"/>
                          <a:r>
                            <a:rPr lang="en-US" sz="1400" b="1" kern="1200" dirty="0" smtClean="0">
                              <a:solidFill>
                                <a:schemeClr val="tx1"/>
                              </a:solidFill>
                              <a:latin typeface="Book Antiqua" panose="02040602050305030304" pitchFamily="18" charset="0"/>
                              <a:ea typeface="+mn-ea"/>
                              <a:cs typeface="+mn-cs"/>
                            </a:rPr>
                            <a:t>Expected wait time (</a:t>
                          </a:r>
                          <a:r>
                            <a:rPr lang="en-US" sz="1400" b="1" kern="1200" dirty="0" err="1" smtClean="0">
                              <a:solidFill>
                                <a:schemeClr val="tx1"/>
                              </a:solidFill>
                              <a:latin typeface="Book Antiqua" panose="02040602050305030304" pitchFamily="18" charset="0"/>
                              <a:ea typeface="+mn-ea"/>
                              <a:cs typeface="+mn-cs"/>
                            </a:rPr>
                            <a:t>yrs</a:t>
                          </a:r>
                          <a:r>
                            <a:rPr lang="en-US" sz="1400" b="1" kern="1200" dirty="0" smtClean="0">
                              <a:solidFill>
                                <a:schemeClr val="tx1"/>
                              </a:solidFill>
                              <a:latin typeface="Book Antiqua" panose="02040602050305030304" pitchFamily="18" charset="0"/>
                              <a:ea typeface="+mn-ea"/>
                              <a:cs typeface="+mn-cs"/>
                            </a:rPr>
                            <a:t>)</a:t>
                          </a:r>
                        </a:p>
                        <a:p>
                          <a:pPr algn="ctr" fontAlgn="b"/>
                          <a:endParaRPr lang="en-US" sz="1400" b="1"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algn="ctr" fontAlgn="b"/>
                          <a:r>
                            <a:rPr lang="en-US" sz="1400" b="1" kern="1200" dirty="0" smtClean="0">
                              <a:solidFill>
                                <a:schemeClr val="tx1"/>
                              </a:solidFill>
                              <a:latin typeface="Book Antiqua" panose="02040602050305030304" pitchFamily="18" charset="0"/>
                              <a:ea typeface="+mn-ea"/>
                              <a:cs typeface="+mn-cs"/>
                            </a:rPr>
                            <a:t>Number of evaluation</a:t>
                          </a:r>
                        </a:p>
                        <a:p>
                          <a:pPr algn="ctr" fontAlgn="b"/>
                          <a:endParaRPr lang="en-US" sz="1400" b="1"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algn="ctr" fontAlgn="b"/>
                          <a:r>
                            <a:rPr lang="en-US" sz="1400" b="1" kern="1200" dirty="0">
                              <a:solidFill>
                                <a:schemeClr val="tx1"/>
                              </a:solidFill>
                              <a:latin typeface="Book Antiqua" panose="02040602050305030304" pitchFamily="18" charset="0"/>
                              <a:ea typeface="+mn-ea"/>
                              <a:cs typeface="+mn-cs"/>
                            </a:rPr>
                            <a:t>Evaluation </a:t>
                          </a:r>
                          <a:r>
                            <a:rPr lang="en-US" sz="1400" b="1" kern="1200" dirty="0" smtClean="0">
                              <a:solidFill>
                                <a:schemeClr val="tx1"/>
                              </a:solidFill>
                              <a:latin typeface="Book Antiqua" panose="02040602050305030304" pitchFamily="18" charset="0"/>
                              <a:ea typeface="+mn-ea"/>
                              <a:cs typeface="+mn-cs"/>
                            </a:rPr>
                            <a:t>cost</a:t>
                          </a:r>
                        </a:p>
                        <a:p>
                          <a:pPr algn="ctr" fontAlgn="b"/>
                          <a:endParaRPr lang="en-US" sz="1400" b="1"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algn="ctr" fontAlgn="b"/>
                          <a:r>
                            <a:rPr lang="en-US" sz="1400" b="1" kern="1200" dirty="0">
                              <a:solidFill>
                                <a:schemeClr val="tx1"/>
                              </a:solidFill>
                              <a:latin typeface="Book Antiqua" panose="02040602050305030304" pitchFamily="18" charset="0"/>
                              <a:ea typeface="+mn-ea"/>
                              <a:cs typeface="+mn-cs"/>
                            </a:rPr>
                            <a:t>5 year survival rate</a:t>
                          </a:r>
                        </a:p>
                      </a:txBody>
                      <a:tcPr marL="6350" marR="6350" marT="6350" marB="0" anchor="b"/>
                    </a:tc>
                    <a:tc>
                      <a:txBody>
                        <a:bodyPr/>
                        <a:lstStyle/>
                        <a:p>
                          <a:pPr algn="ctr" fontAlgn="b"/>
                          <a:r>
                            <a:rPr lang="en-US" sz="1400" b="1" kern="1200" dirty="0">
                              <a:solidFill>
                                <a:schemeClr val="tx1"/>
                              </a:solidFill>
                              <a:latin typeface="Book Antiqua" panose="02040602050305030304" pitchFamily="18" charset="0"/>
                              <a:ea typeface="+mn-ea"/>
                              <a:cs typeface="+mn-cs"/>
                            </a:rPr>
                            <a:t>Air </a:t>
                          </a:r>
                          <a:endParaRPr lang="en-US" sz="1400" b="1" kern="1200" dirty="0" smtClean="0">
                            <a:solidFill>
                              <a:schemeClr val="tx1"/>
                            </a:solidFill>
                            <a:latin typeface="Book Antiqua" panose="02040602050305030304" pitchFamily="18" charset="0"/>
                            <a:ea typeface="+mn-ea"/>
                            <a:cs typeface="+mn-cs"/>
                          </a:endParaRPr>
                        </a:p>
                        <a:p>
                          <a:pPr algn="ctr" fontAlgn="b"/>
                          <a:r>
                            <a:rPr lang="en-US" sz="1400" b="1" kern="1200" dirty="0" smtClean="0">
                              <a:solidFill>
                                <a:schemeClr val="tx1"/>
                              </a:solidFill>
                              <a:latin typeface="Book Antiqua" panose="02040602050305030304" pitchFamily="18" charset="0"/>
                              <a:ea typeface="+mn-ea"/>
                              <a:cs typeface="+mn-cs"/>
                            </a:rPr>
                            <a:t>distance(mile)</a:t>
                          </a:r>
                        </a:p>
                        <a:p>
                          <a:pPr algn="ctr" fontAlgn="b"/>
                          <a:endParaRPr lang="en-US" sz="1400" b="1" kern="1200" dirty="0">
                            <a:solidFill>
                              <a:schemeClr val="tx1"/>
                            </a:solidFill>
                            <a:latin typeface="Book Antiqua" panose="02040602050305030304" pitchFamily="18" charset="0"/>
                            <a:ea typeface="+mn-ea"/>
                            <a:cs typeface="+mn-cs"/>
                          </a:endParaRPr>
                        </a:p>
                      </a:txBody>
                      <a:tcPr marL="6350" marR="6350" marT="6350" marB="0" anchor="b"/>
                    </a:tc>
                    <a:tc>
                      <a:txBody>
                        <a:bodyPr/>
                        <a:lstStyle/>
                        <a:p>
                          <a:endParaRPr lang="en-US"/>
                        </a:p>
                      </a:txBody>
                      <a:tcPr marL="6350" marR="6350" marT="6350" marB="0" anchor="b">
                        <a:blipFill rotWithShape="1">
                          <a:blip r:embed="rId3"/>
                          <a:stretch>
                            <a:fillRect l="-774026" t="-7547" b="-390566"/>
                          </a:stretch>
                        </a:blipFill>
                      </a:tcPr>
                    </a:tc>
                  </a:tr>
                  <a:tr h="219710">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1</a:t>
                          </a:r>
                        </a:p>
                      </a:txBody>
                      <a:tcPr marL="6350" marR="6350" marT="6350" marB="0" anchor="b"/>
                    </a:tc>
                    <a:tc>
                      <a:txBody>
                        <a:bodyPr/>
                        <a:lstStyle/>
                        <a:p>
                          <a:pPr marL="0" algn="ctr" defTabSz="685800" rtl="0" eaLnBrk="1" fontAlgn="b" latinLnBrk="0" hangingPunct="1"/>
                          <a:r>
                            <a:rPr lang="en-US" sz="1400" kern="1200">
                              <a:solidFill>
                                <a:schemeClr val="tx1"/>
                              </a:solidFill>
                              <a:latin typeface="Book Antiqua" panose="02040602050305030304" pitchFamily="18" charset="0"/>
                              <a:ea typeface="+mn-ea"/>
                              <a:cs typeface="+mn-cs"/>
                            </a:rPr>
                            <a:t>$2,454</a:t>
                          </a: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2.4</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4</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$6,381</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73%</a:t>
                          </a:r>
                        </a:p>
                      </a:txBody>
                      <a:tcPr marL="6350" marR="6350" marT="6350" marB="0" anchor="b"/>
                    </a:tc>
                    <a:tc>
                      <a:txBody>
                        <a:bodyPr/>
                        <a:lstStyle/>
                        <a:p>
                          <a:pPr marL="0" algn="ctr" defTabSz="685800" rtl="0" eaLnBrk="1" fontAlgn="b" latinLnBrk="0" hangingPunct="1"/>
                          <a:r>
                            <a:rPr lang="en-US" sz="1400" kern="1200">
                              <a:solidFill>
                                <a:schemeClr val="tx1"/>
                              </a:solidFill>
                              <a:latin typeface="Book Antiqua" panose="02040602050305030304" pitchFamily="18" charset="0"/>
                              <a:ea typeface="+mn-ea"/>
                              <a:cs typeface="+mn-cs"/>
                            </a:rPr>
                            <a:t>       2,200 </a:t>
                          </a: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9.1</a:t>
                          </a:r>
                        </a:p>
                      </a:txBody>
                      <a:tcPr marL="6350" marR="6350" marT="6350" marB="0" anchor="b"/>
                    </a:tc>
                  </a:tr>
                  <a:tr h="219710">
                    <a:tc>
                      <a:txBody>
                        <a:bodyPr/>
                        <a:lstStyle/>
                        <a:p>
                          <a:pPr marL="0" algn="ctr" defTabSz="685800" rtl="0" eaLnBrk="1" fontAlgn="b" latinLnBrk="0" hangingPunct="1"/>
                          <a:r>
                            <a:rPr lang="en-US" sz="1400" kern="1200">
                              <a:solidFill>
                                <a:schemeClr val="tx1"/>
                              </a:solidFill>
                              <a:latin typeface="Book Antiqua" panose="02040602050305030304" pitchFamily="18" charset="0"/>
                              <a:ea typeface="+mn-ea"/>
                              <a:cs typeface="+mn-cs"/>
                            </a:rPr>
                            <a:t>2</a:t>
                          </a: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$1,879</a:t>
                          </a: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1.8</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3</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$4,614</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a:solidFill>
                                <a:schemeClr val="tx1"/>
                              </a:solidFill>
                              <a:latin typeface="Book Antiqua" panose="02040602050305030304" pitchFamily="18" charset="0"/>
                              <a:ea typeface="+mn-ea"/>
                              <a:cs typeface="+mn-cs"/>
                            </a:rPr>
                            <a:t>70%</a:t>
                          </a:r>
                        </a:p>
                      </a:txBody>
                      <a:tcPr marL="6350" marR="6350" marT="6350" marB="0" anchor="b"/>
                    </a:tc>
                    <a:tc>
                      <a:txBody>
                        <a:bodyPr/>
                        <a:lstStyle/>
                        <a:p>
                          <a:pPr marL="0" algn="ctr" defTabSz="685800" rtl="0" eaLnBrk="1" fontAlgn="b" latinLnBrk="0" hangingPunct="1"/>
                          <a:r>
                            <a:rPr lang="en-US" sz="1400" kern="1200">
                              <a:solidFill>
                                <a:schemeClr val="tx1"/>
                              </a:solidFill>
                              <a:latin typeface="Book Antiqua" panose="02040602050305030304" pitchFamily="18" charset="0"/>
                              <a:ea typeface="+mn-ea"/>
                              <a:cs typeface="+mn-cs"/>
                            </a:rPr>
                            <a:t>       1,904 </a:t>
                          </a: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13.2</a:t>
                          </a:r>
                        </a:p>
                      </a:txBody>
                      <a:tcPr marL="6350" marR="6350" marT="6350" marB="0" anchor="b"/>
                    </a:tc>
                  </a:tr>
                  <a:tr h="219710">
                    <a:tc>
                      <a:txBody>
                        <a:bodyPr/>
                        <a:lstStyle/>
                        <a:p>
                          <a:pPr marL="0" algn="ctr" defTabSz="685800" rtl="0" eaLnBrk="1" fontAlgn="b" latinLnBrk="0" hangingPunct="1"/>
                          <a:r>
                            <a:rPr lang="en-US" sz="1400" kern="1200">
                              <a:solidFill>
                                <a:schemeClr val="tx1"/>
                              </a:solidFill>
                              <a:latin typeface="Book Antiqua" panose="02040602050305030304" pitchFamily="18" charset="0"/>
                              <a:ea typeface="+mn-ea"/>
                              <a:cs typeface="+mn-cs"/>
                            </a:rPr>
                            <a:t>3</a:t>
                          </a: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$1,637</a:t>
                          </a: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1.9</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3</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$4,541</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a:solidFill>
                                <a:schemeClr val="tx1"/>
                              </a:solidFill>
                              <a:latin typeface="Book Antiqua" panose="02040602050305030304" pitchFamily="18" charset="0"/>
                              <a:ea typeface="+mn-ea"/>
                              <a:cs typeface="+mn-cs"/>
                            </a:rPr>
                            <a:t>76%</a:t>
                          </a: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       1,706 </a:t>
                          </a: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13.6</a:t>
                          </a:r>
                        </a:p>
                      </a:txBody>
                      <a:tcPr marL="6350" marR="6350" marT="6350" marB="0" anchor="b"/>
                    </a:tc>
                  </a:tr>
                  <a:tr h="219710">
                    <a:tc>
                      <a:txBody>
                        <a:bodyPr/>
                        <a:lstStyle/>
                        <a:p>
                          <a:pPr marL="0" algn="ctr" defTabSz="685800" rtl="0" eaLnBrk="1" fontAlgn="b" latinLnBrk="0" hangingPunct="1"/>
                          <a:r>
                            <a:rPr lang="en-US" sz="1400" kern="1200">
                              <a:solidFill>
                                <a:schemeClr val="tx1"/>
                              </a:solidFill>
                              <a:latin typeface="Book Antiqua" panose="02040602050305030304" pitchFamily="18" charset="0"/>
                              <a:ea typeface="+mn-ea"/>
                              <a:cs typeface="+mn-cs"/>
                            </a:rPr>
                            <a:t>4</a:t>
                          </a: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$2,328</a:t>
                          </a: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1.4</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2</a:t>
                          </a: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$3,166</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75%</a:t>
                          </a: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       1,160 </a:t>
                          </a: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12.8</a:t>
                          </a:r>
                        </a:p>
                      </a:txBody>
                      <a:tcPr marL="6350" marR="6350" marT="6350" marB="0" anchor="b"/>
                    </a:tc>
                  </a:tr>
                  <a:tr h="219710">
                    <a:tc>
                      <a:txBody>
                        <a:bodyPr/>
                        <a:lstStyle/>
                        <a:p>
                          <a:pPr marL="0" algn="ctr" defTabSz="685800" rtl="0" eaLnBrk="1" fontAlgn="b" latinLnBrk="0" hangingPunct="1"/>
                          <a:r>
                            <a:rPr lang="en-US" sz="1400" kern="1200">
                              <a:solidFill>
                                <a:schemeClr val="tx1"/>
                              </a:solidFill>
                              <a:latin typeface="Book Antiqua" panose="02040602050305030304" pitchFamily="18" charset="0"/>
                              <a:ea typeface="+mn-ea"/>
                              <a:cs typeface="+mn-cs"/>
                            </a:rPr>
                            <a:t>5</a:t>
                          </a: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$2,130</a:t>
                          </a: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2.5</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5</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$7,815</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79%</a:t>
                          </a: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          374 </a:t>
                          </a: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13.5</a:t>
                          </a:r>
                        </a:p>
                      </a:txBody>
                      <a:tcPr marL="6350" marR="6350" marT="6350" marB="0" anchor="b"/>
                    </a:tc>
                  </a:tr>
                  <a:tr h="219710">
                    <a:tc>
                      <a:txBody>
                        <a:bodyPr/>
                        <a:lstStyle/>
                        <a:p>
                          <a:pPr marL="0" algn="ctr" defTabSz="685800" rtl="0" eaLnBrk="1" fontAlgn="b" latinLnBrk="0" hangingPunct="1"/>
                          <a:r>
                            <a:rPr lang="en-US" sz="1400" kern="1200">
                              <a:solidFill>
                                <a:schemeClr val="tx1"/>
                              </a:solidFill>
                              <a:latin typeface="Book Antiqua" panose="02040602050305030304" pitchFamily="18" charset="0"/>
                              <a:ea typeface="+mn-ea"/>
                              <a:cs typeface="+mn-cs"/>
                            </a:rPr>
                            <a:t>6</a:t>
                          </a: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$2,413</a:t>
                          </a: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1.6</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3</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0$</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a:solidFill>
                                <a:schemeClr val="tx1"/>
                              </a:solidFill>
                              <a:latin typeface="Book Antiqua" panose="02040602050305030304" pitchFamily="18" charset="0"/>
                              <a:ea typeface="+mn-ea"/>
                              <a:cs typeface="+mn-cs"/>
                            </a:rPr>
                            <a:t>83%</a:t>
                          </a: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0</a:t>
                          </a: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9.7</a:t>
                          </a:r>
                        </a:p>
                      </a:txBody>
                      <a:tcPr marL="6350" marR="6350" marT="6350" marB="0" anchor="b"/>
                    </a:tc>
                  </a:tr>
                  <a:tr h="219710">
                    <a:tc>
                      <a:txBody>
                        <a:bodyPr/>
                        <a:lstStyle/>
                        <a:p>
                          <a:pPr marL="0" algn="ctr" defTabSz="685800" rtl="0" eaLnBrk="1" fontAlgn="b" latinLnBrk="0" hangingPunct="1"/>
                          <a:r>
                            <a:rPr lang="en-US" sz="1400" kern="1200">
                              <a:solidFill>
                                <a:schemeClr val="tx1"/>
                              </a:solidFill>
                              <a:latin typeface="Book Antiqua" panose="02040602050305030304" pitchFamily="18" charset="0"/>
                              <a:ea typeface="+mn-ea"/>
                              <a:cs typeface="+mn-cs"/>
                            </a:rPr>
                            <a:t>7</a:t>
                          </a: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$2,686</a:t>
                          </a: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2.3</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4</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$6,474</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a:solidFill>
                                <a:schemeClr val="tx1"/>
                              </a:solidFill>
                              <a:latin typeface="Book Antiqua" panose="02040602050305030304" pitchFamily="18" charset="0"/>
                              <a:ea typeface="+mn-ea"/>
                              <a:cs typeface="+mn-cs"/>
                            </a:rPr>
                            <a:t>74%</a:t>
                          </a: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          670 </a:t>
                          </a: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12.0</a:t>
                          </a:r>
                        </a:p>
                      </a:txBody>
                      <a:tcPr marL="6350" marR="6350" marT="6350" marB="0" anchor="b"/>
                    </a:tc>
                  </a:tr>
                  <a:tr h="219710">
                    <a:tc>
                      <a:txBody>
                        <a:bodyPr/>
                        <a:lstStyle/>
                        <a:p>
                          <a:pPr marL="0" algn="ctr" defTabSz="685800" rtl="0" eaLnBrk="1" fontAlgn="b" latinLnBrk="0" hangingPunct="1"/>
                          <a:r>
                            <a:rPr lang="en-US" sz="1400" kern="1200">
                              <a:solidFill>
                                <a:schemeClr val="tx1"/>
                              </a:solidFill>
                              <a:latin typeface="Book Antiqua" panose="02040602050305030304" pitchFamily="18" charset="0"/>
                              <a:ea typeface="+mn-ea"/>
                              <a:cs typeface="+mn-cs"/>
                            </a:rPr>
                            <a:t>8</a:t>
                          </a: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$2,869</a:t>
                          </a: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1.4</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2</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$3,274</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a:solidFill>
                                <a:schemeClr val="tx1"/>
                              </a:solidFill>
                              <a:latin typeface="Book Antiqua" panose="02040602050305030304" pitchFamily="18" charset="0"/>
                              <a:ea typeface="+mn-ea"/>
                              <a:cs typeface="+mn-cs"/>
                            </a:rPr>
                            <a:t>76%</a:t>
                          </a: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          569 </a:t>
                          </a: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11.9</a:t>
                          </a:r>
                        </a:p>
                      </a:txBody>
                      <a:tcPr marL="6350" marR="6350" marT="6350" marB="0" anchor="b"/>
                    </a:tc>
                  </a:tr>
                  <a:tr h="219710">
                    <a:tc>
                      <a:txBody>
                        <a:bodyPr/>
                        <a:lstStyle/>
                        <a:p>
                          <a:pPr marL="0" algn="ctr" defTabSz="685800" rtl="0" eaLnBrk="1" fontAlgn="b" latinLnBrk="0" hangingPunct="1"/>
                          <a:r>
                            <a:rPr lang="en-US" sz="1400" kern="1200">
                              <a:solidFill>
                                <a:schemeClr val="tx1"/>
                              </a:solidFill>
                              <a:latin typeface="Book Antiqua" panose="02040602050305030304" pitchFamily="18" charset="0"/>
                              <a:ea typeface="+mn-ea"/>
                              <a:cs typeface="+mn-cs"/>
                            </a:rPr>
                            <a:t>9</a:t>
                          </a: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$2,705</a:t>
                          </a: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2.2</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4</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$6,482</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69%</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a:solidFill>
                                <a:schemeClr val="tx1"/>
                              </a:solidFill>
                              <a:latin typeface="Book Antiqua" panose="02040602050305030304" pitchFamily="18" charset="0"/>
                              <a:ea typeface="+mn-ea"/>
                              <a:cs typeface="+mn-cs"/>
                            </a:rPr>
                            <a:t>       1,195 </a:t>
                          </a: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8.9</a:t>
                          </a:r>
                        </a:p>
                      </a:txBody>
                      <a:tcPr marL="6350" marR="6350" marT="6350" marB="0" anchor="b"/>
                    </a:tc>
                  </a:tr>
                  <a:tr h="219710">
                    <a:tc>
                      <a:txBody>
                        <a:bodyPr/>
                        <a:lstStyle/>
                        <a:p>
                          <a:pPr marL="0" algn="ctr" defTabSz="685800" rtl="0" eaLnBrk="1" fontAlgn="b" latinLnBrk="0" hangingPunct="1"/>
                          <a:r>
                            <a:rPr lang="en-US" sz="1400" kern="1200">
                              <a:solidFill>
                                <a:schemeClr val="tx1"/>
                              </a:solidFill>
                              <a:latin typeface="Book Antiqua" panose="02040602050305030304" pitchFamily="18" charset="0"/>
                              <a:ea typeface="+mn-ea"/>
                              <a:cs typeface="+mn-cs"/>
                            </a:rPr>
                            <a:t>10</a:t>
                          </a: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$2,005</a:t>
                          </a: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1.8</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3</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$4,651</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72%</a:t>
                          </a:r>
                        </a:p>
                      </a:txBody>
                      <a:tcPr marL="6350" marR="6350" marT="6350" marB="0" anchor="b"/>
                    </a:tc>
                    <a:tc>
                      <a:txBody>
                        <a:bodyPr/>
                        <a:lstStyle/>
                        <a:p>
                          <a:pPr marL="0" algn="ctr" defTabSz="685800" rtl="0" eaLnBrk="1" fontAlgn="b" latinLnBrk="0" hangingPunct="1"/>
                          <a:r>
                            <a:rPr lang="en-US" sz="1400" kern="1200">
                              <a:solidFill>
                                <a:schemeClr val="tx1"/>
                              </a:solidFill>
                              <a:latin typeface="Book Antiqua" panose="02040602050305030304" pitchFamily="18" charset="0"/>
                              <a:ea typeface="+mn-ea"/>
                              <a:cs typeface="+mn-cs"/>
                            </a:rPr>
                            <a:t>          565 </a:t>
                          </a: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12.7</a:t>
                          </a:r>
                        </a:p>
                      </a:txBody>
                      <a:tcPr marL="6350" marR="6350" marT="6350" marB="0" anchor="b"/>
                    </a:tc>
                  </a:tr>
                  <a:tr h="219710">
                    <a:tc>
                      <a:txBody>
                        <a:bodyPr/>
                        <a:lstStyle/>
                        <a:p>
                          <a:pPr marL="0" algn="ctr" defTabSz="685800" rtl="0" eaLnBrk="1" fontAlgn="b" latinLnBrk="0" hangingPunct="1"/>
                          <a:r>
                            <a:rPr lang="en-US" sz="1400" kern="1200">
                              <a:solidFill>
                                <a:schemeClr val="tx1"/>
                              </a:solidFill>
                              <a:latin typeface="Book Antiqua" panose="02040602050305030304" pitchFamily="18" charset="0"/>
                              <a:ea typeface="+mn-ea"/>
                              <a:cs typeface="+mn-cs"/>
                            </a:rPr>
                            <a:t>11</a:t>
                          </a: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$2,706</a:t>
                          </a: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1.4</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2</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dirty="0" smtClean="0">
                              <a:solidFill>
                                <a:schemeClr val="tx1"/>
                              </a:solidFill>
                              <a:latin typeface="Book Antiqua" panose="02040602050305030304" pitchFamily="18" charset="0"/>
                              <a:ea typeface="+mn-ea"/>
                              <a:cs typeface="+mn-cs"/>
                            </a:rPr>
                            <a:t>$3,241</a:t>
                          </a:r>
                          <a:endParaRPr lang="en-US" sz="1400" kern="1200" dirty="0">
                            <a:solidFill>
                              <a:schemeClr val="tx1"/>
                            </a:solidFill>
                            <a:latin typeface="Book Antiqua" panose="02040602050305030304" pitchFamily="18" charset="0"/>
                            <a:ea typeface="+mn-ea"/>
                            <a:cs typeface="+mn-cs"/>
                          </a:endParaRP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72%</a:t>
                          </a: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          941 </a:t>
                          </a:r>
                        </a:p>
                      </a:txBody>
                      <a:tcPr marL="6350" marR="6350" marT="6350" marB="0" anchor="b"/>
                    </a:tc>
                    <a:tc>
                      <a:txBody>
                        <a:bodyPr/>
                        <a:lstStyle/>
                        <a:p>
                          <a:pPr marL="0" algn="ctr" defTabSz="685800" rtl="0" eaLnBrk="1" fontAlgn="b" latinLnBrk="0" hangingPunct="1"/>
                          <a:r>
                            <a:rPr lang="en-US" sz="1400" kern="1200" dirty="0">
                              <a:solidFill>
                                <a:schemeClr val="tx1"/>
                              </a:solidFill>
                              <a:latin typeface="Book Antiqua" panose="02040602050305030304" pitchFamily="18" charset="0"/>
                              <a:ea typeface="+mn-ea"/>
                              <a:cs typeface="+mn-cs"/>
                            </a:rPr>
                            <a:t>12.8</a:t>
                          </a:r>
                        </a:p>
                      </a:txBody>
                      <a:tcPr marL="6350" marR="6350" marT="6350" marB="0" anchor="b"/>
                    </a:tc>
                  </a:tr>
                </a:tbl>
              </a:graphicData>
            </a:graphic>
          </p:graphicFrame>
        </mc:Fallback>
      </mc:AlternateContent>
      <p:sp>
        <p:nvSpPr>
          <p:cNvPr id="6" name="TextBox 5"/>
          <p:cNvSpPr txBox="1"/>
          <p:nvPr/>
        </p:nvSpPr>
        <p:spPr>
          <a:xfrm>
            <a:off x="-112425" y="4448520"/>
            <a:ext cx="6950869" cy="338554"/>
          </a:xfrm>
          <a:prstGeom prst="rect">
            <a:avLst/>
          </a:prstGeom>
          <a:noFill/>
        </p:spPr>
        <p:txBody>
          <a:bodyPr wrap="square" rtlCol="0">
            <a:spAutoFit/>
          </a:bodyPr>
          <a:lstStyle/>
          <a:p>
            <a:pPr marL="457188" lvl="1"/>
            <a:r>
              <a:rPr lang="en-US" sz="1600" dirty="0" smtClean="0">
                <a:latin typeface="+mj-lt"/>
              </a:rPr>
              <a:t>Set </a:t>
            </a:r>
            <a:r>
              <a:rPr lang="en-US" sz="1600" dirty="0">
                <a:latin typeface="+mj-lt"/>
              </a:rPr>
              <a:t>of </a:t>
            </a:r>
            <a:r>
              <a:rPr lang="en-US" sz="1600" dirty="0" smtClean="0">
                <a:latin typeface="+mj-lt"/>
              </a:rPr>
              <a:t>feasible regions : {</a:t>
            </a:r>
            <a:r>
              <a:rPr lang="en-US" sz="1600" b="1" dirty="0" smtClean="0">
                <a:latin typeface="+mj-lt"/>
              </a:rPr>
              <a:t>R6</a:t>
            </a:r>
            <a:r>
              <a:rPr lang="en-US" sz="1600" dirty="0" smtClean="0">
                <a:latin typeface="+mj-lt"/>
              </a:rPr>
              <a:t>, R5, R4, R8</a:t>
            </a:r>
            <a:r>
              <a:rPr lang="en-US" sz="1600" dirty="0">
                <a:latin typeface="+mj-lt"/>
              </a:rPr>
              <a:t>} </a:t>
            </a:r>
          </a:p>
        </p:txBody>
      </p:sp>
      <p:sp>
        <p:nvSpPr>
          <p:cNvPr id="7" name="TextBox 6"/>
          <p:cNvSpPr txBox="1"/>
          <p:nvPr/>
        </p:nvSpPr>
        <p:spPr>
          <a:xfrm>
            <a:off x="-139132" y="709178"/>
            <a:ext cx="8546117" cy="584775"/>
          </a:xfrm>
          <a:prstGeom prst="rect">
            <a:avLst/>
          </a:prstGeom>
          <a:noFill/>
        </p:spPr>
        <p:txBody>
          <a:bodyPr wrap="square" rtlCol="0">
            <a:spAutoFit/>
          </a:bodyPr>
          <a:lstStyle/>
          <a:p>
            <a:pPr marL="457188" lvl="1"/>
            <a:r>
              <a:rPr lang="en-US" sz="1600" dirty="0" smtClean="0">
                <a:latin typeface="+mj-lt"/>
              </a:rPr>
              <a:t>Patient with blood type A living in Region 6</a:t>
            </a:r>
          </a:p>
          <a:p>
            <a:pPr marL="457188" lvl="1"/>
            <a:r>
              <a:rPr lang="en-US" sz="1600" dirty="0" smtClean="0">
                <a:latin typeface="+mj-lt"/>
              </a:rPr>
              <a:t>Constraints: Budget &lt;$15,000; Performance&gt;75%, Distance </a:t>
            </a:r>
            <a:r>
              <a:rPr lang="en-US" sz="1600" dirty="0">
                <a:latin typeface="+mj-lt"/>
              </a:rPr>
              <a:t>&lt;</a:t>
            </a:r>
            <a:r>
              <a:rPr lang="en-US" sz="1600" dirty="0" smtClean="0">
                <a:latin typeface="+mj-lt"/>
              </a:rPr>
              <a:t>1,500 miles</a:t>
            </a:r>
          </a:p>
        </p:txBody>
      </p:sp>
      <p:sp>
        <p:nvSpPr>
          <p:cNvPr id="9" name="Rectangle 8"/>
          <p:cNvSpPr/>
          <p:nvPr/>
        </p:nvSpPr>
        <p:spPr>
          <a:xfrm>
            <a:off x="240408" y="223304"/>
            <a:ext cx="8552052" cy="461665"/>
          </a:xfrm>
          <a:prstGeom prst="rect">
            <a:avLst/>
          </a:prstGeom>
        </p:spPr>
        <p:txBody>
          <a:bodyPr wrap="square">
            <a:spAutoFit/>
          </a:bodyPr>
          <a:lstStyle/>
          <a:p>
            <a:pPr algn="ctr"/>
            <a:r>
              <a:rPr lang="en-US" sz="2400" dirty="0" smtClean="0">
                <a:solidFill>
                  <a:schemeClr val="accent1">
                    <a:lumMod val="75000"/>
                  </a:schemeClr>
                </a:solidFill>
                <a:latin typeface="+mj-lt"/>
              </a:rPr>
              <a:t>Region Selection</a:t>
            </a:r>
            <a:endParaRPr lang="en-US" sz="2400" dirty="0">
              <a:latin typeface="+mj-lt"/>
            </a:endParaRPr>
          </a:p>
        </p:txBody>
      </p:sp>
    </p:spTree>
    <p:extLst>
      <p:ext uri="{BB962C8B-B14F-4D97-AF65-F5344CB8AC3E}">
        <p14:creationId xmlns:p14="http://schemas.microsoft.com/office/powerpoint/2010/main" val="216133242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xmlns:p14="http://schemas.microsoft.com/office/powerpoint/2010/main">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0" y="4760913"/>
            <a:ext cx="2057400" cy="274637"/>
          </a:xfrm>
          <a:prstGeom prst="rect">
            <a:avLst/>
          </a:prstGeom>
        </p:spPr>
        <p:txBody>
          <a:bodyPr/>
          <a:lstStyle/>
          <a:p>
            <a:fld id="{69E57DC2-970A-4B3E-BB1C-7A09969E49DF}" type="slidenum">
              <a:rPr lang="en-US" smtClean="0"/>
              <a:pPr/>
              <a:t>17</a:t>
            </a:fld>
            <a:endParaRPr lang="en-US" dirty="0"/>
          </a:p>
        </p:txBody>
      </p:sp>
      <mc:AlternateContent xmlns:mc="http://schemas.openxmlformats.org/markup-compatibility/2006" xmlns:a14="http://schemas.microsoft.com/office/drawing/2010/main">
        <mc:Choice Requires="a14">
          <p:sp>
            <p:nvSpPr>
              <p:cNvPr id="6" name="Rectangle 5"/>
              <p:cNvSpPr/>
              <p:nvPr/>
            </p:nvSpPr>
            <p:spPr>
              <a:xfrm>
                <a:off x="618517" y="1007255"/>
                <a:ext cx="7711561" cy="3128933"/>
              </a:xfrm>
              <a:prstGeom prst="rect">
                <a:avLst/>
              </a:prstGeom>
            </p:spPr>
            <p:txBody>
              <a:bodyPr wrap="square">
                <a:spAutoFit/>
              </a:bodyPr>
              <a:lstStyle/>
              <a:p>
                <a:pPr>
                  <a:spcAft>
                    <a:spcPts val="600"/>
                  </a:spcAft>
                </a:pPr>
                <a14:m>
                  <m:oMath xmlns:m="http://schemas.openxmlformats.org/officeDocument/2006/math">
                    <m:func>
                      <m:funcPr>
                        <m:ctrlPr>
                          <a:rPr lang="en-US" sz="2000" i="1">
                            <a:solidFill>
                              <a:prstClr val="black"/>
                            </a:solidFill>
                            <a:latin typeface="Cambria Math"/>
                            <a:ea typeface="Cambria Math" panose="02040503050406030204" pitchFamily="18" charset="0"/>
                          </a:rPr>
                        </m:ctrlPr>
                      </m:funcPr>
                      <m:fName>
                        <m:limLow>
                          <m:limLowPr>
                            <m:ctrlPr>
                              <a:rPr lang="en-US" sz="2000" i="1">
                                <a:solidFill>
                                  <a:prstClr val="black"/>
                                </a:solidFill>
                                <a:latin typeface="Cambria Math"/>
                                <a:ea typeface="Cambria Math" panose="02040503050406030204" pitchFamily="18" charset="0"/>
                              </a:rPr>
                            </m:ctrlPr>
                          </m:limLowPr>
                          <m:e>
                            <m:r>
                              <m:rPr>
                                <m:sty m:val="p"/>
                              </m:rPr>
                              <a:rPr lang="en-US" sz="2000">
                                <a:solidFill>
                                  <a:prstClr val="black"/>
                                </a:solidFill>
                                <a:latin typeface="Cambria Math"/>
                                <a:ea typeface="Cambria Math" panose="02040503050406030204" pitchFamily="18" charset="0"/>
                              </a:rPr>
                              <m:t>max</m:t>
                            </m:r>
                          </m:e>
                          <m:lim>
                            <m:r>
                              <a:rPr lang="en-US" sz="2000" b="1" i="1">
                                <a:solidFill>
                                  <a:prstClr val="black"/>
                                </a:solidFill>
                                <a:latin typeface="Cambria Math"/>
                                <a:ea typeface="Cambria Math" panose="02040503050406030204" pitchFamily="18" charset="0"/>
                              </a:rPr>
                              <m:t>𝒓</m:t>
                            </m:r>
                            <m:r>
                              <a:rPr lang="en-US" sz="2000" b="1" i="1">
                                <a:solidFill>
                                  <a:prstClr val="black"/>
                                </a:solidFill>
                                <a:latin typeface="Cambria Math"/>
                                <a:ea typeface="Cambria Math" panose="02040503050406030204" pitchFamily="18" charset="0"/>
                              </a:rPr>
                              <m:t>,</m:t>
                            </m:r>
                            <m:r>
                              <a:rPr lang="en-US" sz="2000" b="1" i="1">
                                <a:solidFill>
                                  <a:prstClr val="black"/>
                                </a:solidFill>
                                <a:latin typeface="Cambria Math"/>
                                <a:ea typeface="Cambria Math" panose="02040503050406030204" pitchFamily="18" charset="0"/>
                              </a:rPr>
                              <m:t>𝒌</m:t>
                            </m:r>
                          </m:lim>
                        </m:limLow>
                      </m:fName>
                      <m:e>
                        <m:r>
                          <m:rPr>
                            <m:sty m:val="p"/>
                          </m:rPr>
                          <a:rPr lang="en-US" sz="2000">
                            <a:solidFill>
                              <a:prstClr val="black"/>
                            </a:solidFill>
                            <a:latin typeface="Cambria Math" panose="02040503050406030204" pitchFamily="18" charset="0"/>
                            <a:ea typeface="Cambria Math" panose="02040503050406030204" pitchFamily="18" charset="0"/>
                          </a:rPr>
                          <m:t>E</m:t>
                        </m:r>
                        <m:r>
                          <a:rPr lang="en-US" sz="2000">
                            <a:solidFill>
                              <a:prstClr val="black"/>
                            </a:solidFill>
                            <a:latin typeface="Cambria Math" panose="02040503050406030204" pitchFamily="18" charset="0"/>
                            <a:ea typeface="Cambria Math" panose="02040503050406030204" pitchFamily="18" charset="0"/>
                          </a:rPr>
                          <m:t>[</m:t>
                        </m:r>
                        <m:r>
                          <m:rPr>
                            <m:sty m:val="p"/>
                          </m:rPr>
                          <a:rPr lang="en-US" sz="2000">
                            <a:solidFill>
                              <a:prstClr val="black"/>
                            </a:solidFill>
                            <a:latin typeface="Cambria Math" panose="02040503050406030204" pitchFamily="18" charset="0"/>
                            <a:ea typeface="Cambria Math" panose="02040503050406030204" pitchFamily="18" charset="0"/>
                          </a:rPr>
                          <m:t>U</m:t>
                        </m:r>
                        <m:r>
                          <a:rPr lang="en-US" sz="2000">
                            <a:solidFill>
                              <a:prstClr val="black"/>
                            </a:solidFill>
                            <a:latin typeface="Cambria Math" panose="02040503050406030204" pitchFamily="18" charset="0"/>
                            <a:ea typeface="Cambria Math" panose="02040503050406030204" pitchFamily="18" charset="0"/>
                          </a:rPr>
                          <m:t>]</m:t>
                        </m:r>
                      </m:e>
                    </m:func>
                  </m:oMath>
                </a14:m>
                <a:r>
                  <a:rPr lang="en-US" sz="2000" dirty="0" smtClean="0">
                    <a:solidFill>
                      <a:prstClr val="black"/>
                    </a:solidFill>
                    <a:latin typeface="Cambria Math" panose="02040503050406030204" pitchFamily="18" charset="0"/>
                    <a:ea typeface="Cambria Math" panose="02040503050406030204" pitchFamily="18" charset="0"/>
                  </a:rPr>
                  <a:t>			E[U] =  f (</a:t>
                </a:r>
                <a:r>
                  <a:rPr lang="en-US" sz="2000" b="1" dirty="0" smtClean="0">
                    <a:solidFill>
                      <a:prstClr val="black"/>
                    </a:solidFill>
                    <a:latin typeface="Cambria Math" panose="02040503050406030204" pitchFamily="18" charset="0"/>
                    <a:ea typeface="Cambria Math" panose="02040503050406030204" pitchFamily="18" charset="0"/>
                  </a:rPr>
                  <a:t>r, k</a:t>
                </a:r>
                <a:r>
                  <a:rPr lang="en-US" sz="2000" dirty="0" smtClean="0">
                    <a:solidFill>
                      <a:prstClr val="black"/>
                    </a:solidFill>
                    <a:latin typeface="Cambria Math" panose="02040503050406030204" pitchFamily="18" charset="0"/>
                    <a:ea typeface="Cambria Math" panose="02040503050406030204" pitchFamily="18" charset="0"/>
                  </a:rPr>
                  <a:t>) =</a:t>
                </a:r>
                <a14:m>
                  <m:oMath xmlns:m="http://schemas.openxmlformats.org/officeDocument/2006/math">
                    <m:r>
                      <a:rPr lang="en-US" sz="2000" b="0" i="0" smtClean="0">
                        <a:solidFill>
                          <a:prstClr val="black"/>
                        </a:solidFill>
                        <a:latin typeface="Cambria Math"/>
                        <a:ea typeface="Cambria Math" panose="02040503050406030204" pitchFamily="18" charset="0"/>
                      </a:rPr>
                      <m:t>  </m:t>
                    </m:r>
                    <m:sSub>
                      <m:sSubPr>
                        <m:ctrlPr>
                          <a:rPr lang="en-US" sz="2000" b="0" i="1" smtClean="0">
                            <a:solidFill>
                              <a:srgbClr val="FF0000"/>
                            </a:solidFill>
                            <a:latin typeface="Cambria Math"/>
                            <a:ea typeface="Cambria Math" panose="02040503050406030204" pitchFamily="18" charset="0"/>
                          </a:rPr>
                        </m:ctrlPr>
                      </m:sSubPr>
                      <m:e>
                        <m:r>
                          <m:rPr>
                            <m:sty m:val="p"/>
                          </m:rPr>
                          <a:rPr lang="en-US" sz="2000" b="0" i="0" smtClean="0">
                            <a:solidFill>
                              <a:srgbClr val="FF0000"/>
                            </a:solidFill>
                            <a:latin typeface="Cambria Math"/>
                            <a:ea typeface="Cambria Math" panose="02040503050406030204" pitchFamily="18" charset="0"/>
                          </a:rPr>
                          <m:t>U</m:t>
                        </m:r>
                      </m:e>
                      <m:sub>
                        <m:r>
                          <a:rPr lang="en-US" sz="2000" b="1" i="0" smtClean="0">
                            <a:solidFill>
                              <a:srgbClr val="FF0000"/>
                            </a:solidFill>
                            <a:latin typeface="Cambria Math"/>
                            <a:ea typeface="Cambria Math" panose="02040503050406030204" pitchFamily="18" charset="0"/>
                          </a:rPr>
                          <m:t>𝐫</m:t>
                        </m:r>
                        <m:r>
                          <a:rPr lang="en-US" sz="2000" b="1" i="0" smtClean="0">
                            <a:solidFill>
                              <a:srgbClr val="FF0000"/>
                            </a:solidFill>
                            <a:latin typeface="Cambria Math"/>
                            <a:ea typeface="Cambria Math" panose="02040503050406030204" pitchFamily="18" charset="0"/>
                          </a:rPr>
                          <m:t>,</m:t>
                        </m:r>
                        <m:r>
                          <a:rPr lang="en-US" sz="2000" b="1" i="0" smtClean="0">
                            <a:solidFill>
                              <a:srgbClr val="FF0000"/>
                            </a:solidFill>
                            <a:latin typeface="Cambria Math"/>
                            <a:ea typeface="Cambria Math" panose="02040503050406030204" pitchFamily="18" charset="0"/>
                          </a:rPr>
                          <m:t>𝐤</m:t>
                        </m:r>
                      </m:sub>
                    </m:sSub>
                    <m:r>
                      <a:rPr lang="en-US" sz="2000" b="0" i="0" smtClean="0">
                        <a:solidFill>
                          <a:srgbClr val="FF0000"/>
                        </a:solidFill>
                        <a:latin typeface="Cambria Math"/>
                        <a:ea typeface="Cambria Math" panose="02040503050406030204" pitchFamily="18" charset="0"/>
                      </a:rPr>
                      <m:t> </m:t>
                    </m:r>
                  </m:oMath>
                </a14:m>
                <a:r>
                  <a:rPr lang="en-US" sz="2000" i="1" dirty="0" smtClean="0">
                    <a:solidFill>
                      <a:srgbClr val="FF0000"/>
                    </a:solidFill>
                    <a:latin typeface="+mn-lt"/>
                  </a:rPr>
                  <a:t>	</a:t>
                </a:r>
                <a:r>
                  <a:rPr lang="en-US" sz="2000" i="1" dirty="0" smtClean="0">
                    <a:solidFill>
                      <a:prstClr val="black"/>
                    </a:solidFill>
                    <a:latin typeface="+mn-lt"/>
                  </a:rPr>
                  <a:t>	</a:t>
                </a:r>
                <a:endParaRPr lang="en-US" sz="2000" i="1" dirty="0">
                  <a:solidFill>
                    <a:prstClr val="black"/>
                  </a:solidFill>
                  <a:latin typeface="+mn-lt"/>
                </a:endParaRPr>
              </a:p>
              <a:p>
                <a:pPr lvl="0">
                  <a:spcAft>
                    <a:spcPts val="600"/>
                  </a:spcAft>
                </a:pPr>
                <a:endParaRPr lang="en-US" sz="1600" dirty="0" smtClean="0">
                  <a:solidFill>
                    <a:prstClr val="black"/>
                  </a:solidFill>
                  <a:latin typeface="+mn-lt"/>
                </a:endParaRPr>
              </a:p>
              <a:p>
                <a:pPr lvl="0">
                  <a:spcAft>
                    <a:spcPts val="600"/>
                  </a:spcAft>
                </a:pPr>
                <a14:m>
                  <m:oMath xmlns:m="http://schemas.openxmlformats.org/officeDocument/2006/math">
                    <m:r>
                      <m:rPr>
                        <m:sty m:val="p"/>
                      </m:rPr>
                      <a:rPr lang="en-US" sz="1600" smtClean="0">
                        <a:solidFill>
                          <a:prstClr val="black"/>
                        </a:solidFill>
                        <a:latin typeface="Cambria Math"/>
                      </a:rPr>
                      <m:t>s</m:t>
                    </m:r>
                    <m:r>
                      <a:rPr lang="en-US" sz="1600" smtClean="0">
                        <a:solidFill>
                          <a:prstClr val="black"/>
                        </a:solidFill>
                        <a:latin typeface="Cambria Math"/>
                      </a:rPr>
                      <m:t>.</m:t>
                    </m:r>
                    <m:r>
                      <m:rPr>
                        <m:sty m:val="p"/>
                      </m:rPr>
                      <a:rPr lang="en-US" sz="1600" smtClean="0">
                        <a:solidFill>
                          <a:prstClr val="black"/>
                        </a:solidFill>
                        <a:latin typeface="Cambria Math"/>
                      </a:rPr>
                      <m:t>t</m:t>
                    </m:r>
                  </m:oMath>
                </a14:m>
                <a:r>
                  <a:rPr lang="en-US" sz="1600" dirty="0" smtClean="0">
                    <a:solidFill>
                      <a:prstClr val="black"/>
                    </a:solidFill>
                    <a:latin typeface="+mn-lt"/>
                  </a:rPr>
                  <a:t>.</a:t>
                </a:r>
                <a:endParaRPr lang="en-US" sz="1600" dirty="0">
                  <a:latin typeface="+mn-lt"/>
                  <a:ea typeface="+mn-ea"/>
                  <a:cs typeface="+mn-cs"/>
                </a:endParaRPr>
              </a:p>
              <a:p>
                <a:pPr>
                  <a:spcAft>
                    <a:spcPts val="600"/>
                  </a:spcAft>
                </a:pPr>
                <a14:m>
                  <m:oMath xmlns:m="http://schemas.openxmlformats.org/officeDocument/2006/math">
                    <m:r>
                      <a:rPr lang="en-US" sz="1600" b="1" i="1" smtClean="0">
                        <a:latin typeface="Cambria Math"/>
                      </a:rPr>
                      <m:t>𝒓</m:t>
                    </m:r>
                    <m:r>
                      <a:rPr lang="en-US" sz="1600" b="0" i="1" smtClean="0">
                        <a:latin typeface="Cambria Math"/>
                      </a:rPr>
                      <m:t>=</m:t>
                    </m:r>
                    <m:sSup>
                      <m:sSupPr>
                        <m:ctrlPr>
                          <a:rPr lang="en-US" sz="1600" b="0" i="1" smtClean="0">
                            <a:latin typeface="Cambria Math"/>
                          </a:rPr>
                        </m:ctrlPr>
                      </m:sSupPr>
                      <m:e>
                        <m:d>
                          <m:dPr>
                            <m:begChr m:val="{"/>
                            <m:endChr m:val="}"/>
                            <m:ctrlPr>
                              <a:rPr lang="en-US" sz="1600" b="0" i="1" smtClean="0">
                                <a:latin typeface="Cambria Math"/>
                              </a:rPr>
                            </m:ctrlPr>
                          </m:dPr>
                          <m:e>
                            <m:r>
                              <a:rPr lang="en-US" sz="1600" b="0" i="1" smtClean="0">
                                <a:latin typeface="Cambria Math"/>
                              </a:rPr>
                              <m:t>0 ,1</m:t>
                            </m:r>
                          </m:e>
                        </m:d>
                      </m:e>
                      <m:sup>
                        <m:r>
                          <a:rPr lang="en-US" sz="1600" b="0" i="1" smtClean="0">
                            <a:latin typeface="Cambria Math"/>
                          </a:rPr>
                          <m:t>11</m:t>
                        </m:r>
                      </m:sup>
                    </m:sSup>
                  </m:oMath>
                </a14:m>
                <a:r>
                  <a:rPr lang="en-US" sz="1600" i="1" dirty="0" smtClean="0">
                    <a:latin typeface="+mn-lt"/>
                  </a:rPr>
                  <a:t>	</a:t>
                </a:r>
                <a:r>
                  <a:rPr lang="en-US" sz="1600" dirty="0"/>
                  <a:t> </a:t>
                </a:r>
                <a14:m>
                  <m:oMath xmlns:m="http://schemas.openxmlformats.org/officeDocument/2006/math">
                    <m:sSub>
                      <m:sSubPr>
                        <m:ctrlPr>
                          <a:rPr lang="en-US" sz="1600" i="1">
                            <a:latin typeface="Cambria Math"/>
                          </a:rPr>
                        </m:ctrlPr>
                      </m:sSubPr>
                      <m:e>
                        <m:r>
                          <a:rPr lang="en-US" sz="1600">
                            <a:latin typeface="Cambria Math"/>
                          </a:rPr>
                          <m:t>𝑟</m:t>
                        </m:r>
                      </m:e>
                      <m:sub>
                        <m:r>
                          <a:rPr lang="en-US" sz="1600">
                            <a:latin typeface="Cambria Math"/>
                          </a:rPr>
                          <m:t>𝑖</m:t>
                        </m:r>
                      </m:sub>
                    </m:sSub>
                    <m:r>
                      <a:rPr lang="en-US" sz="1600">
                        <a:latin typeface="Cambria Math"/>
                      </a:rPr>
                      <m:t> :1</m:t>
                    </m:r>
                  </m:oMath>
                </a14:m>
                <a:r>
                  <a:rPr lang="en-US" sz="1600" dirty="0"/>
                  <a:t> if region </a:t>
                </a:r>
                <a14:m>
                  <m:oMath xmlns:m="http://schemas.openxmlformats.org/officeDocument/2006/math">
                    <m:r>
                      <a:rPr lang="en-US" sz="1600">
                        <a:latin typeface="Cambria Math"/>
                      </a:rPr>
                      <m:t>𝑖</m:t>
                    </m:r>
                  </m:oMath>
                </a14:m>
                <a:r>
                  <a:rPr lang="en-US" sz="1600" dirty="0"/>
                  <a:t> is selected, 0 otherwise</a:t>
                </a:r>
                <a:endParaRPr lang="en-US" sz="1600" i="1" dirty="0" smtClean="0">
                  <a:latin typeface="+mn-lt"/>
                </a:endParaRPr>
              </a:p>
              <a:p>
                <a:pPr>
                  <a:spcAft>
                    <a:spcPts val="600"/>
                  </a:spcAft>
                </a:pPr>
                <a14:m>
                  <m:oMath xmlns:m="http://schemas.openxmlformats.org/officeDocument/2006/math">
                    <m:nary>
                      <m:naryPr>
                        <m:chr m:val="∑"/>
                        <m:supHide m:val="on"/>
                        <m:ctrlPr>
                          <a:rPr lang="en-US" sz="1600" i="1">
                            <a:latin typeface="Cambria Math"/>
                          </a:rPr>
                        </m:ctrlPr>
                      </m:naryPr>
                      <m:sub>
                        <m:r>
                          <m:rPr>
                            <m:brk m:alnAt="7"/>
                          </m:rPr>
                          <a:rPr lang="en-US" sz="1600">
                            <a:latin typeface="Cambria Math"/>
                          </a:rPr>
                          <m:t>𝑖</m:t>
                        </m:r>
                        <m:r>
                          <a:rPr lang="en-US" sz="1600">
                            <a:latin typeface="Cambria Math"/>
                          </a:rPr>
                          <m:t>∈</m:t>
                        </m:r>
                        <m:r>
                          <a:rPr lang="en-US" sz="1600">
                            <a:latin typeface="Cambria Math"/>
                          </a:rPr>
                          <m:t>𝐼</m:t>
                        </m:r>
                      </m:sub>
                      <m:sup/>
                      <m:e>
                        <m:sSub>
                          <m:sSubPr>
                            <m:ctrlPr>
                              <a:rPr lang="en-US" sz="1600" i="1">
                                <a:latin typeface="Cambria Math"/>
                              </a:rPr>
                            </m:ctrlPr>
                          </m:sSubPr>
                          <m:e>
                            <m:r>
                              <a:rPr lang="en-US" sz="1600">
                                <a:latin typeface="Cambria Math"/>
                              </a:rPr>
                              <m:t>𝑟</m:t>
                            </m:r>
                          </m:e>
                          <m:sub>
                            <m:r>
                              <a:rPr lang="en-US" sz="1600">
                                <a:latin typeface="Cambria Math"/>
                              </a:rPr>
                              <m:t>𝑖</m:t>
                            </m:r>
                          </m:sub>
                        </m:sSub>
                        <m:r>
                          <a:rPr lang="en-US" sz="1600">
                            <a:latin typeface="Cambria Math"/>
                          </a:rPr>
                          <m:t>=1</m:t>
                        </m:r>
                      </m:e>
                    </m:nary>
                  </m:oMath>
                </a14:m>
                <a:r>
                  <a:rPr lang="en-US" sz="1600" dirty="0" smtClean="0">
                    <a:latin typeface="+mn-lt"/>
                  </a:rPr>
                  <a:t> 	 Single region constraint</a:t>
                </a:r>
                <a:endParaRPr lang="en-US" sz="1600" i="1" dirty="0" smtClean="0">
                  <a:latin typeface="+mn-lt"/>
                  <a:ea typeface="+mn-ea"/>
                  <a:cs typeface="+mn-cs"/>
                </a:endParaRPr>
              </a:p>
              <a:p>
                <a:pPr lvl="0">
                  <a:spcAft>
                    <a:spcPts val="600"/>
                  </a:spcAft>
                </a:pPr>
                <a14:m>
                  <m:oMath xmlns:m="http://schemas.openxmlformats.org/officeDocument/2006/math">
                    <m:nary>
                      <m:naryPr>
                        <m:chr m:val="∑"/>
                        <m:supHide m:val="on"/>
                        <m:ctrlPr>
                          <a:rPr lang="en-US" sz="1600" i="1">
                            <a:latin typeface="Cambria Math"/>
                            <a:ea typeface="+mn-ea"/>
                            <a:cs typeface="+mn-cs"/>
                          </a:rPr>
                        </m:ctrlPr>
                      </m:naryPr>
                      <m:sub>
                        <m:r>
                          <m:rPr>
                            <m:brk m:alnAt="7"/>
                          </m:rPr>
                          <a:rPr lang="en-US" sz="1600">
                            <a:latin typeface="Cambria Math"/>
                            <a:ea typeface="+mn-ea"/>
                            <a:cs typeface="+mn-cs"/>
                          </a:rPr>
                          <m:t>𝑖</m:t>
                        </m:r>
                        <m:r>
                          <a:rPr lang="en-US" sz="1600">
                            <a:latin typeface="Cambria Math"/>
                            <a:ea typeface="+mn-ea"/>
                            <a:cs typeface="+mn-cs"/>
                          </a:rPr>
                          <m:t>∈</m:t>
                        </m:r>
                        <m:r>
                          <a:rPr lang="en-US" sz="1600">
                            <a:latin typeface="Cambria Math"/>
                            <a:ea typeface="+mn-ea"/>
                            <a:cs typeface="+mn-cs"/>
                          </a:rPr>
                          <m:t>𝐼</m:t>
                        </m:r>
                      </m:sub>
                      <m:sup/>
                      <m:e>
                        <m:sSub>
                          <m:sSubPr>
                            <m:ctrlPr>
                              <a:rPr lang="en-US" sz="1600" i="1">
                                <a:latin typeface="Cambria Math"/>
                                <a:ea typeface="+mn-ea"/>
                                <a:cs typeface="+mn-cs"/>
                              </a:rPr>
                            </m:ctrlPr>
                          </m:sSubPr>
                          <m:e>
                            <m:r>
                              <a:rPr lang="en-US" sz="1600">
                                <a:latin typeface="Cambria Math"/>
                                <a:ea typeface="+mn-ea"/>
                                <a:cs typeface="+mn-cs"/>
                              </a:rPr>
                              <m:t>𝑐</m:t>
                            </m:r>
                          </m:e>
                          <m:sub>
                            <m:r>
                              <a:rPr lang="en-US" sz="1600">
                                <a:latin typeface="Cambria Math"/>
                                <a:ea typeface="+mn-ea"/>
                                <a:cs typeface="+mn-cs"/>
                              </a:rPr>
                              <m:t>𝑖</m:t>
                            </m:r>
                          </m:sub>
                        </m:sSub>
                        <m:sSub>
                          <m:sSubPr>
                            <m:ctrlPr>
                              <a:rPr lang="en-US" sz="1600" i="1">
                                <a:latin typeface="Cambria Math"/>
                                <a:ea typeface="+mn-ea"/>
                                <a:cs typeface="+mn-cs"/>
                              </a:rPr>
                            </m:ctrlPr>
                          </m:sSubPr>
                          <m:e>
                            <m:r>
                              <a:rPr lang="en-US" sz="1600">
                                <a:latin typeface="Cambria Math"/>
                                <a:ea typeface="+mn-ea"/>
                                <a:cs typeface="+mn-cs"/>
                              </a:rPr>
                              <m:t>𝑟</m:t>
                            </m:r>
                          </m:e>
                          <m:sub>
                            <m:r>
                              <a:rPr lang="en-US" sz="1600">
                                <a:latin typeface="Cambria Math"/>
                                <a:ea typeface="+mn-ea"/>
                                <a:cs typeface="+mn-cs"/>
                              </a:rPr>
                              <m:t>𝑖</m:t>
                            </m:r>
                          </m:sub>
                        </m:sSub>
                        <m:r>
                          <a:rPr lang="en-US" sz="1600">
                            <a:latin typeface="Cambria Math"/>
                            <a:ea typeface="+mn-ea"/>
                            <a:cs typeface="+mn-cs"/>
                          </a:rPr>
                          <m:t>≤</m:t>
                        </m:r>
                        <m:r>
                          <m:rPr>
                            <m:sty m:val="p"/>
                          </m:rPr>
                          <a:rPr lang="en-US" sz="1600" b="0" i="0" smtClean="0">
                            <a:latin typeface="Cambria Math"/>
                            <a:ea typeface="+mn-ea"/>
                            <a:cs typeface="+mn-cs"/>
                          </a:rPr>
                          <m:t>B</m:t>
                        </m:r>
                        <m:r>
                          <a:rPr lang="en-US" sz="1600">
                            <a:latin typeface="Cambria Math"/>
                            <a:ea typeface="+mn-ea"/>
                            <a:cs typeface="+mn-cs"/>
                          </a:rPr>
                          <m:t> </m:t>
                        </m:r>
                      </m:e>
                    </m:nary>
                    <m:r>
                      <a:rPr lang="en-US" sz="1600">
                        <a:latin typeface="Cambria Math"/>
                        <a:ea typeface="+mn-ea"/>
                        <a:cs typeface="+mn-cs"/>
                      </a:rPr>
                      <m:t>                  </m:t>
                    </m:r>
                  </m:oMath>
                </a14:m>
                <a:r>
                  <a:rPr lang="en-US" sz="1600" dirty="0" smtClean="0">
                    <a:latin typeface="+mn-lt"/>
                    <a:ea typeface="+mn-ea"/>
                    <a:cs typeface="+mn-cs"/>
                  </a:rPr>
                  <a:t>Pre transplant </a:t>
                </a:r>
                <a:r>
                  <a:rPr lang="en-US" sz="1600" dirty="0">
                    <a:latin typeface="+mn-lt"/>
                    <a:ea typeface="+mn-ea"/>
                    <a:cs typeface="+mn-cs"/>
                  </a:rPr>
                  <a:t>b</a:t>
                </a:r>
                <a:r>
                  <a:rPr lang="en-US" sz="1600" dirty="0" smtClean="0">
                    <a:latin typeface="+mn-lt"/>
                    <a:ea typeface="+mn-ea"/>
                    <a:cs typeface="+mn-cs"/>
                  </a:rPr>
                  <a:t>udget contr. (evaluation, travel + living cost)</a:t>
                </a:r>
              </a:p>
              <a:p>
                <a:pPr lvl="0">
                  <a:spcAft>
                    <a:spcPts val="600"/>
                  </a:spcAft>
                </a:pPr>
                <a14:m>
                  <m:oMath xmlns:m="http://schemas.openxmlformats.org/officeDocument/2006/math">
                    <m:nary>
                      <m:naryPr>
                        <m:chr m:val="∑"/>
                        <m:supHide m:val="on"/>
                        <m:ctrlPr>
                          <a:rPr lang="en-US" sz="1600" i="1">
                            <a:latin typeface="Cambria Math"/>
                            <a:ea typeface="+mn-ea"/>
                            <a:cs typeface="+mn-cs"/>
                          </a:rPr>
                        </m:ctrlPr>
                      </m:naryPr>
                      <m:sub>
                        <m:r>
                          <m:rPr>
                            <m:brk m:alnAt="7"/>
                          </m:rPr>
                          <a:rPr lang="en-US" sz="1600">
                            <a:latin typeface="Cambria Math"/>
                            <a:ea typeface="+mn-ea"/>
                            <a:cs typeface="+mn-cs"/>
                          </a:rPr>
                          <m:t>𝑖</m:t>
                        </m:r>
                        <m:r>
                          <a:rPr lang="en-US" sz="1600">
                            <a:latin typeface="Cambria Math"/>
                            <a:ea typeface="+mn-ea"/>
                            <a:cs typeface="+mn-cs"/>
                          </a:rPr>
                          <m:t>∈</m:t>
                        </m:r>
                        <m:r>
                          <a:rPr lang="en-US" sz="1600">
                            <a:latin typeface="Cambria Math"/>
                            <a:ea typeface="+mn-ea"/>
                            <a:cs typeface="+mn-cs"/>
                          </a:rPr>
                          <m:t>𝐼</m:t>
                        </m:r>
                      </m:sub>
                      <m:sup/>
                      <m:e>
                        <m:sSub>
                          <m:sSubPr>
                            <m:ctrlPr>
                              <a:rPr lang="en-US" sz="1600" i="1">
                                <a:latin typeface="Cambria Math"/>
                                <a:ea typeface="+mn-ea"/>
                                <a:cs typeface="+mn-cs"/>
                              </a:rPr>
                            </m:ctrlPr>
                          </m:sSubPr>
                          <m:e>
                            <m:r>
                              <a:rPr lang="en-US" sz="1600">
                                <a:latin typeface="Cambria Math"/>
                                <a:ea typeface="+mn-ea"/>
                                <a:cs typeface="+mn-cs"/>
                              </a:rPr>
                              <m:t>𝑑</m:t>
                            </m:r>
                          </m:e>
                          <m:sub>
                            <m:r>
                              <a:rPr lang="en-US" sz="1600">
                                <a:latin typeface="Cambria Math"/>
                                <a:ea typeface="+mn-ea"/>
                                <a:cs typeface="+mn-cs"/>
                              </a:rPr>
                              <m:t>𝑖</m:t>
                            </m:r>
                          </m:sub>
                        </m:sSub>
                        <m:sSub>
                          <m:sSubPr>
                            <m:ctrlPr>
                              <a:rPr lang="en-US" sz="1600" i="1">
                                <a:latin typeface="Cambria Math"/>
                                <a:ea typeface="+mn-ea"/>
                                <a:cs typeface="+mn-cs"/>
                              </a:rPr>
                            </m:ctrlPr>
                          </m:sSubPr>
                          <m:e>
                            <m:r>
                              <a:rPr lang="en-US" sz="1600">
                                <a:latin typeface="Cambria Math"/>
                                <a:ea typeface="+mn-ea"/>
                                <a:cs typeface="+mn-cs"/>
                              </a:rPr>
                              <m:t>𝑟</m:t>
                            </m:r>
                          </m:e>
                          <m:sub>
                            <m:r>
                              <a:rPr lang="en-US" sz="1600">
                                <a:latin typeface="Cambria Math"/>
                                <a:ea typeface="+mn-ea"/>
                                <a:cs typeface="+mn-cs"/>
                              </a:rPr>
                              <m:t>𝑖</m:t>
                            </m:r>
                          </m:sub>
                        </m:sSub>
                        <m:r>
                          <a:rPr lang="en-US" sz="1600">
                            <a:latin typeface="Cambria Math"/>
                            <a:ea typeface="+mn-ea"/>
                            <a:cs typeface="+mn-cs"/>
                          </a:rPr>
                          <m:t>≤</m:t>
                        </m:r>
                        <m:r>
                          <a:rPr lang="en-US" sz="1600">
                            <a:latin typeface="Cambria Math"/>
                            <a:ea typeface="+mn-ea"/>
                            <a:cs typeface="+mn-cs"/>
                          </a:rPr>
                          <m:t>𝐷</m:t>
                        </m:r>
                      </m:e>
                    </m:nary>
                    <m:r>
                      <a:rPr lang="en-US" sz="1600">
                        <a:latin typeface="Cambria Math"/>
                        <a:ea typeface="+mn-ea"/>
                        <a:cs typeface="+mn-cs"/>
                      </a:rPr>
                      <m:t> </m:t>
                    </m:r>
                  </m:oMath>
                </a14:m>
                <a:r>
                  <a:rPr lang="en-US" sz="1600" dirty="0">
                    <a:latin typeface="+mn-lt"/>
                    <a:ea typeface="+mn-ea"/>
                    <a:cs typeface="+mn-cs"/>
                  </a:rPr>
                  <a:t>            </a:t>
                </a:r>
                <a:r>
                  <a:rPr lang="en-US" sz="1600" dirty="0" smtClean="0">
                    <a:latin typeface="+mn-lt"/>
                    <a:ea typeface="+mn-ea"/>
                    <a:cs typeface="+mn-cs"/>
                  </a:rPr>
                  <a:t>Distance constraint </a:t>
                </a:r>
                <a:endParaRPr lang="en-US" sz="1600" dirty="0">
                  <a:latin typeface="+mn-lt"/>
                  <a:ea typeface="+mn-ea"/>
                  <a:cs typeface="+mn-cs"/>
                </a:endParaRPr>
              </a:p>
              <a:p>
                <a:pPr lvl="0">
                  <a:spcAft>
                    <a:spcPts val="600"/>
                  </a:spcAft>
                </a:pPr>
                <a14:m>
                  <m:oMath xmlns:m="http://schemas.openxmlformats.org/officeDocument/2006/math">
                    <m:nary>
                      <m:naryPr>
                        <m:chr m:val="∑"/>
                        <m:supHide m:val="on"/>
                        <m:ctrlPr>
                          <a:rPr lang="en-US" sz="1600" i="1">
                            <a:latin typeface="Cambria Math"/>
                            <a:ea typeface="+mn-ea"/>
                            <a:cs typeface="+mn-cs"/>
                          </a:rPr>
                        </m:ctrlPr>
                      </m:naryPr>
                      <m:sub>
                        <m:r>
                          <m:rPr>
                            <m:brk m:alnAt="7"/>
                          </m:rPr>
                          <a:rPr lang="en-US" sz="1600">
                            <a:latin typeface="Cambria Math"/>
                            <a:ea typeface="+mn-ea"/>
                            <a:cs typeface="+mn-cs"/>
                          </a:rPr>
                          <m:t>𝑖</m:t>
                        </m:r>
                        <m:r>
                          <a:rPr lang="en-US" sz="1600">
                            <a:latin typeface="Cambria Math"/>
                            <a:ea typeface="+mn-ea"/>
                            <a:cs typeface="+mn-cs"/>
                          </a:rPr>
                          <m:t>∈</m:t>
                        </m:r>
                        <m:r>
                          <a:rPr lang="en-US" sz="1600">
                            <a:latin typeface="Cambria Math"/>
                            <a:ea typeface="+mn-ea"/>
                            <a:cs typeface="+mn-cs"/>
                          </a:rPr>
                          <m:t>𝐼</m:t>
                        </m:r>
                      </m:sub>
                      <m:sup/>
                      <m:e>
                        <m:sSub>
                          <m:sSubPr>
                            <m:ctrlPr>
                              <a:rPr lang="en-US" sz="1600" i="1">
                                <a:latin typeface="Cambria Math"/>
                                <a:ea typeface="+mn-ea"/>
                                <a:cs typeface="+mn-cs"/>
                              </a:rPr>
                            </m:ctrlPr>
                          </m:sSubPr>
                          <m:e>
                            <m:r>
                              <a:rPr lang="en-US" sz="1600">
                                <a:latin typeface="Cambria Math"/>
                                <a:ea typeface="+mn-ea"/>
                                <a:cs typeface="+mn-cs"/>
                              </a:rPr>
                              <m:t>𝑝</m:t>
                            </m:r>
                          </m:e>
                          <m:sub>
                            <m:r>
                              <a:rPr lang="en-US" sz="1600">
                                <a:latin typeface="Cambria Math"/>
                                <a:ea typeface="+mn-ea"/>
                                <a:cs typeface="+mn-cs"/>
                              </a:rPr>
                              <m:t>𝑖</m:t>
                            </m:r>
                          </m:sub>
                        </m:sSub>
                        <m:sSub>
                          <m:sSubPr>
                            <m:ctrlPr>
                              <a:rPr lang="en-US" sz="1600" i="1">
                                <a:latin typeface="Cambria Math"/>
                                <a:ea typeface="+mn-ea"/>
                                <a:cs typeface="+mn-cs"/>
                              </a:rPr>
                            </m:ctrlPr>
                          </m:sSubPr>
                          <m:e>
                            <m:r>
                              <a:rPr lang="en-US" sz="1600">
                                <a:latin typeface="Cambria Math"/>
                                <a:ea typeface="+mn-ea"/>
                                <a:cs typeface="+mn-cs"/>
                              </a:rPr>
                              <m:t>𝑟</m:t>
                            </m:r>
                          </m:e>
                          <m:sub>
                            <m:r>
                              <a:rPr lang="en-US" sz="1600">
                                <a:latin typeface="Cambria Math"/>
                                <a:ea typeface="+mn-ea"/>
                                <a:cs typeface="+mn-cs"/>
                              </a:rPr>
                              <m:t>𝑖</m:t>
                            </m:r>
                          </m:sub>
                        </m:sSub>
                        <m:r>
                          <a:rPr lang="en-US" sz="1600">
                            <a:latin typeface="Cambria Math"/>
                            <a:ea typeface="+mn-ea"/>
                            <a:cs typeface="+mn-cs"/>
                          </a:rPr>
                          <m:t>≥</m:t>
                        </m:r>
                        <m:r>
                          <a:rPr lang="en-US" sz="1600">
                            <a:latin typeface="Cambria Math"/>
                            <a:ea typeface="+mn-ea"/>
                            <a:cs typeface="+mn-cs"/>
                          </a:rPr>
                          <m:t>𝑃</m:t>
                        </m:r>
                      </m:e>
                    </m:nary>
                  </m:oMath>
                </a14:m>
                <a:r>
                  <a:rPr lang="en-US" sz="1600" dirty="0">
                    <a:latin typeface="+mn-lt"/>
                    <a:ea typeface="+mn-ea"/>
                    <a:cs typeface="+mn-cs"/>
                  </a:rPr>
                  <a:t>             </a:t>
                </a:r>
                <a:r>
                  <a:rPr lang="en-US" sz="1600" dirty="0" smtClean="0">
                    <a:latin typeface="+mn-lt"/>
                    <a:ea typeface="+mn-ea"/>
                    <a:cs typeface="+mn-cs"/>
                  </a:rPr>
                  <a:t>Performance constr. (5-year  post-transplant graft survival)</a:t>
                </a:r>
                <a:endParaRPr lang="en-US" sz="1600" dirty="0">
                  <a:latin typeface="+mn-lt"/>
                  <a:ea typeface="+mn-ea"/>
                  <a:cs typeface="+mn-cs"/>
                </a:endParaRPr>
              </a:p>
              <a:p>
                <a:pPr>
                  <a:spcAft>
                    <a:spcPts val="600"/>
                  </a:spcAft>
                </a:pPr>
                <a:endParaRPr lang="en-US" sz="1600" dirty="0">
                  <a:latin typeface="+mn-lt"/>
                </a:endParaRPr>
              </a:p>
            </p:txBody>
          </p:sp>
        </mc:Choice>
        <mc:Fallback xmlns="">
          <p:sp>
            <p:nvSpPr>
              <p:cNvPr id="6" name="Rectangle 5"/>
              <p:cNvSpPr>
                <a:spLocks noRot="1" noChangeAspect="1" noMove="1" noResize="1" noEditPoints="1" noAdjustHandles="1" noChangeArrowheads="1" noChangeShapeType="1" noTextEdit="1"/>
              </p:cNvSpPr>
              <p:nvPr/>
            </p:nvSpPr>
            <p:spPr>
              <a:xfrm>
                <a:off x="618517" y="1007255"/>
                <a:ext cx="7711561" cy="3128933"/>
              </a:xfrm>
              <a:prstGeom prst="rect">
                <a:avLst/>
              </a:prstGeom>
              <a:blipFill rotWithShape="1">
                <a:blip r:embed="rId3"/>
                <a:stretch>
                  <a:fillRect l="-3557" t="-1167" b="-6615"/>
                </a:stretch>
              </a:blipFill>
            </p:spPr>
            <p:txBody>
              <a:bodyPr/>
              <a:lstStyle/>
              <a:p>
                <a:r>
                  <a:rPr lang="en-US">
                    <a:noFill/>
                  </a:rPr>
                  <a:t> </a:t>
                </a:r>
              </a:p>
            </p:txBody>
          </p:sp>
        </mc:Fallback>
      </mc:AlternateContent>
      <p:sp>
        <p:nvSpPr>
          <p:cNvPr id="8" name="Rectangle 7"/>
          <p:cNvSpPr/>
          <p:nvPr/>
        </p:nvSpPr>
        <p:spPr>
          <a:xfrm>
            <a:off x="240408" y="223304"/>
            <a:ext cx="8552052" cy="424732"/>
          </a:xfrm>
          <a:prstGeom prst="rect">
            <a:avLst/>
          </a:prstGeom>
        </p:spPr>
        <p:txBody>
          <a:bodyPr wrap="square">
            <a:spAutoFit/>
          </a:bodyPr>
          <a:lstStyle/>
          <a:p>
            <a:pPr algn="ctr" defTabSz="685800">
              <a:lnSpc>
                <a:spcPct val="90000"/>
              </a:lnSpc>
              <a:spcBef>
                <a:spcPts val="750"/>
              </a:spcBef>
            </a:pPr>
            <a:r>
              <a:rPr lang="en-US" sz="2400" dirty="0">
                <a:solidFill>
                  <a:schemeClr val="accent1">
                    <a:lumMod val="75000"/>
                  </a:schemeClr>
                </a:solidFill>
                <a:latin typeface="+mj-lt"/>
              </a:rPr>
              <a:t>Proposed Approach for Multi-Listing</a:t>
            </a:r>
            <a:endParaRPr lang="en-US" sz="2400" dirty="0">
              <a:latin typeface="+mj-lt"/>
            </a:endParaRPr>
          </a:p>
        </p:txBody>
      </p:sp>
      <p:cxnSp>
        <p:nvCxnSpPr>
          <p:cNvPr id="3" name="Straight Connector 2"/>
          <p:cNvCxnSpPr/>
          <p:nvPr/>
        </p:nvCxnSpPr>
        <p:spPr>
          <a:xfrm flipV="1">
            <a:off x="719528" y="2639129"/>
            <a:ext cx="4122295" cy="14991"/>
          </a:xfrm>
          <a:prstGeom prst="line">
            <a:avLst/>
          </a:prstGeom>
        </p:spPr>
        <p:style>
          <a:lnRef idx="3">
            <a:schemeClr val="accent2"/>
          </a:lnRef>
          <a:fillRef idx="0">
            <a:schemeClr val="accent2"/>
          </a:fillRef>
          <a:effectRef idx="2">
            <a:schemeClr val="accent2"/>
          </a:effectRef>
          <a:fontRef idx="minor">
            <a:schemeClr val="tx1"/>
          </a:fontRef>
        </p:style>
      </p:cxnSp>
      <p:sp>
        <p:nvSpPr>
          <p:cNvPr id="7" name="Rounded Rectangular Callout 6"/>
          <p:cNvSpPr/>
          <p:nvPr/>
        </p:nvSpPr>
        <p:spPr>
          <a:xfrm>
            <a:off x="6130975" y="684969"/>
            <a:ext cx="1124263" cy="322286"/>
          </a:xfrm>
          <a:prstGeom prst="wedgeRoundRectCallou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1400" dirty="0" smtClean="0"/>
              <a:t>Simulation</a:t>
            </a:r>
            <a:endParaRPr lang="en-US" sz="1400" dirty="0"/>
          </a:p>
        </p:txBody>
      </p:sp>
    </p:spTree>
    <p:extLst>
      <p:ext uri="{BB962C8B-B14F-4D97-AF65-F5344CB8AC3E}">
        <p14:creationId xmlns:p14="http://schemas.microsoft.com/office/powerpoint/2010/main" val="19896841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xmlns:p14="http://schemas.microsoft.com/office/powerpoint/2010/main">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218166" y="582670"/>
            <a:ext cx="2683119" cy="221079"/>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Cambria Math" panose="02040503050406030204" pitchFamily="18" charset="0"/>
              </a:rPr>
              <a:t>Patient enrollment and arrival</a:t>
            </a:r>
          </a:p>
        </p:txBody>
      </p:sp>
      <p:sp>
        <p:nvSpPr>
          <p:cNvPr id="5" name="Rounded Rectangle 4"/>
          <p:cNvSpPr/>
          <p:nvPr/>
        </p:nvSpPr>
        <p:spPr>
          <a:xfrm>
            <a:off x="3032022" y="586354"/>
            <a:ext cx="2240756" cy="226774"/>
          </a:xfrm>
          <a:prstGeom prst="roundRect">
            <a:avLst/>
          </a:prstGeom>
          <a:solidFill>
            <a:schemeClr val="bg1">
              <a:lumMod val="85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chemeClr val="tx1"/>
                </a:solidFill>
                <a:latin typeface="Cambria Math" panose="02040503050406030204" pitchFamily="18" charset="0"/>
              </a:rPr>
              <a:t>region </a:t>
            </a:r>
            <a:r>
              <a:rPr lang="en-US" sz="1400" b="1" dirty="0">
                <a:solidFill>
                  <a:schemeClr val="tx1"/>
                </a:solidFill>
                <a:latin typeface="Cambria Math" panose="02040503050406030204" pitchFamily="18" charset="0"/>
              </a:rPr>
              <a:t>waiting list</a:t>
            </a:r>
          </a:p>
        </p:txBody>
      </p:sp>
      <p:sp>
        <p:nvSpPr>
          <p:cNvPr id="6" name="Rounded Rectangle 5"/>
          <p:cNvSpPr/>
          <p:nvPr/>
        </p:nvSpPr>
        <p:spPr>
          <a:xfrm>
            <a:off x="5422015" y="572870"/>
            <a:ext cx="3264902" cy="261277"/>
          </a:xfrm>
          <a:prstGeom prst="roundRect">
            <a:avLst/>
          </a:prstGeom>
          <a:solidFill>
            <a:srgbClr val="FFCCCC"/>
          </a:solidFill>
          <a:ln>
            <a:solidFill>
              <a:srgbClr val="D602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Cambria Math" panose="02040503050406030204" pitchFamily="18" charset="0"/>
              </a:rPr>
              <a:t>Kidney allocation and acceptance</a:t>
            </a:r>
          </a:p>
        </p:txBody>
      </p:sp>
      <mc:AlternateContent xmlns:mc="http://schemas.openxmlformats.org/markup-compatibility/2006" xmlns:a14="http://schemas.microsoft.com/office/drawing/2010/main">
        <mc:Choice Requires="a14">
          <p:sp>
            <p:nvSpPr>
              <p:cNvPr id="7" name="Rectangle 6"/>
              <p:cNvSpPr/>
              <p:nvPr/>
            </p:nvSpPr>
            <p:spPr>
              <a:xfrm>
                <a:off x="218165" y="824996"/>
                <a:ext cx="2658077" cy="1427995"/>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smtClean="0">
                    <a:solidFill>
                      <a:schemeClr val="tx1"/>
                    </a:solidFill>
                    <a:latin typeface="Cambria Math" panose="02040503050406030204" pitchFamily="18" charset="0"/>
                  </a:rPr>
                  <a:t>Patient arrival rate: </a:t>
                </a:r>
                <a14:m>
                  <m:oMath xmlns:m="http://schemas.openxmlformats.org/officeDocument/2006/math">
                    <m:r>
                      <a:rPr lang="en-US" sz="1400" b="0" i="1" smtClean="0">
                        <a:solidFill>
                          <a:schemeClr val="tx1"/>
                        </a:solidFill>
                        <a:latin typeface="Cambria Math" panose="02040503050406030204" pitchFamily="18" charset="0"/>
                      </a:rPr>
                      <m:t>𝜆</m:t>
                    </m:r>
                  </m:oMath>
                </a14:m>
                <a:endParaRPr lang="en-US" sz="1400" dirty="0">
                  <a:solidFill>
                    <a:schemeClr val="tx1"/>
                  </a:solidFill>
                  <a:latin typeface="Cambria Math" panose="02040503050406030204" pitchFamily="18" charset="0"/>
                </a:endParaRPr>
              </a:p>
              <a:p>
                <a:pPr algn="ctr"/>
                <a:endParaRPr lang="en-US" sz="1400" b="0" i="1" dirty="0" smtClean="0">
                  <a:solidFill>
                    <a:schemeClr val="tx1"/>
                  </a:solidFill>
                  <a:latin typeface="Cambria Math"/>
                </a:endParaRPr>
              </a:p>
              <a:p>
                <a:pPr algn="ctr"/>
                <a:r>
                  <a:rPr lang="en-US" sz="1400" b="0" dirty="0" smtClean="0">
                    <a:solidFill>
                      <a:schemeClr val="tx1"/>
                    </a:solidFill>
                    <a:latin typeface="Cambria Math" panose="02040503050406030204" pitchFamily="18" charset="0"/>
                    <a:ea typeface="Cambria Math" panose="02040503050406030204" pitchFamily="18" charset="0"/>
                  </a:rPr>
                  <a:t>Health: </a:t>
                </a:r>
                <a14:m>
                  <m:oMath xmlns:m="http://schemas.openxmlformats.org/officeDocument/2006/math">
                    <m:sSub>
                      <m:sSubPr>
                        <m:ctrlPr>
                          <a:rPr lang="en-US" sz="1400" b="0" i="1" smtClean="0">
                            <a:solidFill>
                              <a:schemeClr val="tx1"/>
                            </a:solidFill>
                            <a:latin typeface="Cambria Math"/>
                            <a:ea typeface="Cambria Math" panose="02040503050406030204" pitchFamily="18" charset="0"/>
                          </a:rPr>
                        </m:ctrlPr>
                      </m:sSubPr>
                      <m:e>
                        <m:r>
                          <a:rPr lang="en-US" sz="1400" b="0" i="1" smtClean="0">
                            <a:solidFill>
                              <a:schemeClr val="tx1"/>
                            </a:solidFill>
                            <a:latin typeface="Cambria Math" panose="02040503050406030204" pitchFamily="18" charset="0"/>
                            <a:ea typeface="Cambria Math" panose="02040503050406030204" pitchFamily="18" charset="0"/>
                          </a:rPr>
                          <m:t>𝐻</m:t>
                        </m:r>
                      </m:e>
                      <m:sub>
                        <m:r>
                          <a:rPr lang="en-US" sz="1400" b="0" i="1" smtClean="0">
                            <a:solidFill>
                              <a:schemeClr val="tx1"/>
                            </a:solidFill>
                            <a:latin typeface="Cambria Math" panose="02040503050406030204" pitchFamily="18" charset="0"/>
                            <a:ea typeface="Cambria Math" panose="02040503050406030204" pitchFamily="18" charset="0"/>
                          </a:rPr>
                          <m:t>0</m:t>
                        </m:r>
                      </m:sub>
                    </m:sSub>
                    <m:r>
                      <a:rPr lang="en-US" sz="1400" b="0" i="1" smtClean="0">
                        <a:solidFill>
                          <a:schemeClr val="tx1"/>
                        </a:solidFill>
                        <a:latin typeface="Cambria Math" panose="02040503050406030204" pitchFamily="18" charset="0"/>
                        <a:ea typeface="Cambria Math" panose="02040503050406030204" pitchFamily="18" charset="0"/>
                      </a:rPr>
                      <m:t>~</m:t>
                    </m:r>
                    <m:r>
                      <a:rPr lang="en-US" sz="1400" i="1">
                        <a:solidFill>
                          <a:schemeClr val="tx1"/>
                        </a:solidFill>
                        <a:latin typeface="Cambria Math" panose="02040503050406030204" pitchFamily="18" charset="0"/>
                        <a:ea typeface="Cambria Math" panose="02040503050406030204" pitchFamily="18" charset="0"/>
                      </a:rPr>
                      <m:t>𝑤𝑒𝑖𝑏𝑢𝑙𝑙</m:t>
                    </m:r>
                    <m:d>
                      <m:dPr>
                        <m:ctrlPr>
                          <a:rPr lang="en-US" sz="1400" b="0" i="1" smtClean="0">
                            <a:solidFill>
                              <a:schemeClr val="tx1"/>
                            </a:solidFill>
                            <a:latin typeface="Cambria Math"/>
                            <a:ea typeface="Cambria Math" panose="02040503050406030204" pitchFamily="18" charset="0"/>
                          </a:rPr>
                        </m:ctrlPr>
                      </m:dPr>
                      <m:e>
                        <m:r>
                          <a:rPr lang="en-US" sz="1400" b="0" i="1" smtClean="0">
                            <a:solidFill>
                              <a:schemeClr val="tx1"/>
                            </a:solidFill>
                            <a:latin typeface="Cambria Math" panose="02040503050406030204" pitchFamily="18" charset="0"/>
                            <a:ea typeface="Cambria Math" panose="02040503050406030204" pitchFamily="18" charset="0"/>
                          </a:rPr>
                          <m:t>𝑎</m:t>
                        </m:r>
                        <m:r>
                          <a:rPr lang="en-US" sz="1400" b="0" i="1" smtClean="0">
                            <a:solidFill>
                              <a:schemeClr val="tx1"/>
                            </a:solidFill>
                            <a:latin typeface="Cambria Math" panose="02040503050406030204" pitchFamily="18" charset="0"/>
                            <a:ea typeface="Cambria Math" panose="02040503050406030204" pitchFamily="18" charset="0"/>
                          </a:rPr>
                          <m:t>,</m:t>
                        </m:r>
                        <m:r>
                          <a:rPr lang="en-US" sz="1400" b="0" i="1" smtClean="0">
                            <a:solidFill>
                              <a:schemeClr val="tx1"/>
                            </a:solidFill>
                            <a:latin typeface="Cambria Math" panose="02040503050406030204" pitchFamily="18" charset="0"/>
                            <a:ea typeface="Cambria Math" panose="02040503050406030204" pitchFamily="18" charset="0"/>
                          </a:rPr>
                          <m:t>𝑏</m:t>
                        </m:r>
                      </m:e>
                    </m:d>
                  </m:oMath>
                </a14:m>
                <a:endParaRPr lang="en-US" sz="1400" b="0" i="1" dirty="0" smtClean="0">
                  <a:solidFill>
                    <a:schemeClr val="tx1"/>
                  </a:solidFill>
                  <a:latin typeface="Cambria Math" panose="02040503050406030204" pitchFamily="18" charset="0"/>
                  <a:ea typeface="Cambria Math" panose="02040503050406030204" pitchFamily="18" charset="0"/>
                </a:endParaRPr>
              </a:p>
              <a:p>
                <a:pPr algn="ctr"/>
                <a:r>
                  <a:rPr lang="en-US" sz="1400" dirty="0">
                    <a:solidFill>
                      <a:schemeClr val="tx1"/>
                    </a:solidFill>
                    <a:latin typeface="Cambria Math" panose="02040503050406030204" pitchFamily="18" charset="0"/>
                    <a:ea typeface="Cambria Math" panose="02040503050406030204" pitchFamily="18" charset="0"/>
                  </a:rPr>
                  <a:t>A</a:t>
                </a:r>
                <a:r>
                  <a:rPr lang="en-US" sz="1400" dirty="0" smtClean="0">
                    <a:solidFill>
                      <a:schemeClr val="tx1"/>
                    </a:solidFill>
                    <a:latin typeface="Cambria Math" panose="02040503050406030204" pitchFamily="18" charset="0"/>
                    <a:ea typeface="Cambria Math" panose="02040503050406030204" pitchFamily="18" charset="0"/>
                  </a:rPr>
                  <a:t>cceptance: </a:t>
                </a:r>
                <a14:m>
                  <m:oMath xmlns:m="http://schemas.openxmlformats.org/officeDocument/2006/math">
                    <m:r>
                      <a:rPr lang="en-US" sz="1400" b="0" i="1" smtClean="0">
                        <a:solidFill>
                          <a:schemeClr val="tx1"/>
                        </a:solidFill>
                        <a:latin typeface="Cambria Math" panose="02040503050406030204" pitchFamily="18" charset="0"/>
                        <a:ea typeface="Cambria Math" panose="02040503050406030204" pitchFamily="18" charset="0"/>
                      </a:rPr>
                      <m:t>𝐾</m:t>
                    </m:r>
                    <m:r>
                      <a:rPr lang="en-US" sz="1400" b="0" i="1" smtClean="0">
                        <a:solidFill>
                          <a:schemeClr val="tx1"/>
                        </a:solidFill>
                        <a:latin typeface="Cambria Math" panose="02040503050406030204" pitchFamily="18" charset="0"/>
                        <a:ea typeface="Cambria Math" panose="02040503050406030204" pitchFamily="18" charset="0"/>
                      </a:rPr>
                      <m:t>~</m:t>
                    </m:r>
                    <m:r>
                      <a:rPr lang="en-US" sz="1400" b="0" i="1" smtClean="0">
                        <a:solidFill>
                          <a:schemeClr val="tx1"/>
                        </a:solidFill>
                        <a:latin typeface="Cambria Math" panose="02040503050406030204" pitchFamily="18" charset="0"/>
                        <a:ea typeface="Cambria Math" panose="02040503050406030204" pitchFamily="18" charset="0"/>
                      </a:rPr>
                      <m:t>𝑢𝑛𝑖𝑓</m:t>
                    </m:r>
                    <m:d>
                      <m:dPr>
                        <m:ctrlPr>
                          <a:rPr lang="en-US" sz="1400" b="0" i="1" smtClean="0">
                            <a:solidFill>
                              <a:schemeClr val="tx1"/>
                            </a:solidFill>
                            <a:latin typeface="Cambria Math"/>
                            <a:ea typeface="Cambria Math" panose="02040503050406030204" pitchFamily="18" charset="0"/>
                          </a:rPr>
                        </m:ctrlPr>
                      </m:dPr>
                      <m:e>
                        <m:r>
                          <a:rPr lang="en-US" sz="1400" b="0" i="1" smtClean="0">
                            <a:solidFill>
                              <a:schemeClr val="tx1"/>
                            </a:solidFill>
                            <a:latin typeface="Cambria Math" panose="02040503050406030204" pitchFamily="18" charset="0"/>
                            <a:ea typeface="Cambria Math" panose="02040503050406030204" pitchFamily="18" charset="0"/>
                          </a:rPr>
                          <m:t>0,1</m:t>
                        </m:r>
                      </m:e>
                    </m:d>
                  </m:oMath>
                </a14:m>
                <a:endParaRPr lang="en-US" sz="1400" b="0" dirty="0" smtClean="0">
                  <a:solidFill>
                    <a:schemeClr val="tx1"/>
                  </a:solidFill>
                  <a:latin typeface="Cambria Math" panose="02040503050406030204" pitchFamily="18" charset="0"/>
                  <a:ea typeface="Cambria Math" panose="02040503050406030204" pitchFamily="18" charset="0"/>
                </a:endParaRPr>
              </a:p>
              <a:p>
                <a:pPr algn="ctr"/>
                <a:endParaRPr lang="en-US" dirty="0" smtClean="0">
                  <a:solidFill>
                    <a:schemeClr val="tx1"/>
                  </a:solidFill>
                </a:endParaRPr>
              </a:p>
            </p:txBody>
          </p:sp>
        </mc:Choice>
        <mc:Fallback xmlns="">
          <p:sp>
            <p:nvSpPr>
              <p:cNvPr id="7" name="Rectangle 6"/>
              <p:cNvSpPr>
                <a:spLocks noRot="1" noChangeAspect="1" noMove="1" noResize="1" noEditPoints="1" noAdjustHandles="1" noChangeArrowheads="1" noChangeShapeType="1" noTextEdit="1"/>
              </p:cNvSpPr>
              <p:nvPr/>
            </p:nvSpPr>
            <p:spPr>
              <a:xfrm>
                <a:off x="218165" y="824996"/>
                <a:ext cx="2658077" cy="1427995"/>
              </a:xfrm>
              <a:prstGeom prst="rect">
                <a:avLst/>
              </a:prstGeom>
              <a:blipFill rotWithShape="1">
                <a:blip r:embed="rId3"/>
                <a:stretch>
                  <a:fillRect l="-4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5414267" y="855857"/>
                <a:ext cx="3272650" cy="1522191"/>
              </a:xfrm>
              <a:prstGeom prst="rect">
                <a:avLst/>
              </a:prstGeom>
              <a:solidFill>
                <a:srgbClr val="FFCCCC"/>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smtClean="0">
                    <a:solidFill>
                      <a:schemeClr val="tx1"/>
                    </a:solidFill>
                    <a:latin typeface="Cambria Math" panose="02040503050406030204" pitchFamily="18" charset="0"/>
                  </a:rPr>
                  <a:t>Kidney arrival rate: </a:t>
                </a:r>
                <a14:m>
                  <m:oMath xmlns:m="http://schemas.openxmlformats.org/officeDocument/2006/math">
                    <m:r>
                      <a:rPr lang="en-US" sz="1200">
                        <a:solidFill>
                          <a:schemeClr val="tx1"/>
                        </a:solidFill>
                        <a:latin typeface="Cambria Math" panose="02040503050406030204" pitchFamily="18" charset="0"/>
                      </a:rPr>
                      <m:t>𝜇</m:t>
                    </m:r>
                  </m:oMath>
                </a14:m>
                <a:r>
                  <a:rPr lang="en-US" sz="1200" dirty="0" smtClean="0">
                    <a:solidFill>
                      <a:schemeClr val="tx1"/>
                    </a:solidFill>
                    <a:latin typeface="Cambria Math" panose="02040503050406030204" pitchFamily="18" charset="0"/>
                  </a:rPr>
                  <a:t> with quality </a:t>
                </a:r>
                <a14:m>
                  <m:oMath xmlns:m="http://schemas.openxmlformats.org/officeDocument/2006/math">
                    <m:sSub>
                      <m:sSubPr>
                        <m:ctrlPr>
                          <a:rPr lang="en-US" sz="1200" i="1">
                            <a:solidFill>
                              <a:schemeClr val="tx1"/>
                            </a:solidFill>
                            <a:latin typeface="Cambria Math"/>
                          </a:rPr>
                        </m:ctrlPr>
                      </m:sSubPr>
                      <m:e>
                        <m:r>
                          <a:rPr lang="en-US" sz="1200" i="1">
                            <a:solidFill>
                              <a:schemeClr val="tx1"/>
                            </a:solidFill>
                            <a:latin typeface="Cambria Math"/>
                          </a:rPr>
                          <m:t>𝑞</m:t>
                        </m:r>
                      </m:e>
                      <m:sub>
                        <m:r>
                          <a:rPr lang="en-US" sz="1200" b="0" i="1" smtClean="0">
                            <a:solidFill>
                              <a:schemeClr val="tx1"/>
                            </a:solidFill>
                            <a:latin typeface="Cambria Math"/>
                          </a:rPr>
                          <m:t>𝑡</m:t>
                        </m:r>
                      </m:sub>
                    </m:sSub>
                    <m:r>
                      <a:rPr lang="en-US" sz="1200" b="0" i="1" smtClean="0">
                        <a:solidFill>
                          <a:schemeClr val="tx1"/>
                        </a:solidFill>
                        <a:latin typeface="Cambria Math"/>
                      </a:rPr>
                      <m:t>;</m:t>
                    </m:r>
                  </m:oMath>
                </a14:m>
                <a:r>
                  <a:rPr lang="en-US" sz="1200" dirty="0" smtClean="0">
                    <a:solidFill>
                      <a:schemeClr val="tx1"/>
                    </a:solidFill>
                    <a:latin typeface="Cambria Math" panose="02040503050406030204" pitchFamily="18" charset="0"/>
                  </a:rPr>
                  <a:t> </a:t>
                </a:r>
                <a14:m>
                  <m:oMath xmlns:m="http://schemas.openxmlformats.org/officeDocument/2006/math">
                    <m:r>
                      <a:rPr lang="en-US" sz="1200" b="0" i="1" smtClean="0">
                        <a:solidFill>
                          <a:schemeClr val="tx1"/>
                        </a:solidFill>
                        <a:latin typeface="Cambria Math"/>
                      </a:rPr>
                      <m:t>𝑡</m:t>
                    </m:r>
                    <m:r>
                      <a:rPr lang="en-US" sz="1200" b="0" i="1" smtClean="0">
                        <a:solidFill>
                          <a:schemeClr val="tx1"/>
                        </a:solidFill>
                        <a:latin typeface="Cambria Math"/>
                      </a:rPr>
                      <m:t>=0</m:t>
                    </m:r>
                  </m:oMath>
                </a14:m>
                <a:endParaRPr lang="en-US" sz="1200" dirty="0" smtClean="0">
                  <a:solidFill>
                    <a:schemeClr val="tx1"/>
                  </a:solidFill>
                  <a:latin typeface="Cambria Math" panose="02040503050406030204" pitchFamily="18" charset="0"/>
                </a:endParaRPr>
              </a:p>
              <a:p>
                <a:r>
                  <a:rPr lang="en-US" sz="1200" dirty="0" smtClean="0">
                    <a:solidFill>
                      <a:schemeClr val="tx1"/>
                    </a:solidFill>
                    <a:latin typeface="Cambria Math" panose="02040503050406030204" pitchFamily="18" charset="0"/>
                  </a:rPr>
                  <a:t>Offering </a:t>
                </a:r>
                <a:r>
                  <a:rPr lang="en-US" sz="1200" dirty="0">
                    <a:solidFill>
                      <a:schemeClr val="tx1"/>
                    </a:solidFill>
                    <a:latin typeface="Cambria Math" panose="02040503050406030204" pitchFamily="18" charset="0"/>
                  </a:rPr>
                  <a:t>group size: </a:t>
                </a:r>
                <a:r>
                  <a:rPr lang="en-US" sz="1200" dirty="0" smtClean="0">
                    <a:solidFill>
                      <a:schemeClr val="tx1"/>
                    </a:solidFill>
                    <a:latin typeface="Cambria Math" panose="02040503050406030204" pitchFamily="18" charset="0"/>
                  </a:rPr>
                  <a:t>g / decision </a:t>
                </a:r>
                <a:r>
                  <a:rPr lang="en-US" sz="1200" dirty="0">
                    <a:solidFill>
                      <a:schemeClr val="tx1"/>
                    </a:solidFill>
                    <a:latin typeface="Cambria Math" panose="02040503050406030204" pitchFamily="18" charset="0"/>
                  </a:rPr>
                  <a:t>time: </a:t>
                </a:r>
                <a:r>
                  <a:rPr lang="en-US" sz="1200" dirty="0" smtClean="0">
                    <a:solidFill>
                      <a:schemeClr val="tx1"/>
                    </a:solidFill>
                    <a:latin typeface="Cambria Math" panose="02040503050406030204" pitchFamily="18" charset="0"/>
                  </a:rPr>
                  <a:t>1 hour</a:t>
                </a:r>
                <a:endParaRPr lang="en-US" sz="1200" dirty="0">
                  <a:solidFill>
                    <a:schemeClr val="tx1"/>
                  </a:solidFill>
                  <a:latin typeface="Cambria Math" panose="02040503050406030204" pitchFamily="18" charset="0"/>
                </a:endParaRPr>
              </a:p>
              <a:p>
                <a:endParaRPr lang="en-US" sz="1200" dirty="0" smtClean="0">
                  <a:solidFill>
                    <a:schemeClr val="tx1"/>
                  </a:solidFill>
                  <a:latin typeface="Cambria Math" panose="02040503050406030204" pitchFamily="18" charset="0"/>
                </a:endParaRPr>
              </a:p>
              <a:p>
                <a:r>
                  <a:rPr lang="en-US" sz="1200" dirty="0" smtClean="0">
                    <a:solidFill>
                      <a:schemeClr val="tx1"/>
                    </a:solidFill>
                    <a:latin typeface="Cambria Math" panose="02040503050406030204" pitchFamily="18" charset="0"/>
                  </a:rPr>
                  <a:t>if </a:t>
                </a:r>
                <a:r>
                  <a:rPr lang="en-US" sz="1200" i="1" dirty="0" smtClean="0">
                    <a:solidFill>
                      <a:schemeClr val="tx1"/>
                    </a:solidFill>
                    <a:latin typeface="Cambria Math" panose="02040503050406030204" pitchFamily="18" charset="0"/>
                  </a:rPr>
                  <a:t> </a:t>
                </a:r>
                <a14:m>
                  <m:oMath xmlns:m="http://schemas.openxmlformats.org/officeDocument/2006/math">
                    <m:sSub>
                      <m:sSubPr>
                        <m:ctrlPr>
                          <a:rPr lang="en-US" sz="1200" b="1" i="1" smtClean="0">
                            <a:solidFill>
                              <a:schemeClr val="tx1"/>
                            </a:solidFill>
                            <a:latin typeface="Cambria Math"/>
                          </a:rPr>
                        </m:ctrlPr>
                      </m:sSubPr>
                      <m:e>
                        <m:r>
                          <a:rPr lang="en-US" sz="1200" b="1" i="1" smtClean="0">
                            <a:solidFill>
                              <a:schemeClr val="tx1"/>
                            </a:solidFill>
                            <a:latin typeface="Cambria Math"/>
                          </a:rPr>
                          <m:t>𝒒</m:t>
                        </m:r>
                      </m:e>
                      <m:sub>
                        <m:r>
                          <a:rPr lang="en-US" sz="1200" b="1" i="1" smtClean="0">
                            <a:solidFill>
                              <a:schemeClr val="tx1"/>
                            </a:solidFill>
                            <a:latin typeface="Cambria Math"/>
                          </a:rPr>
                          <m:t>𝒕</m:t>
                        </m:r>
                      </m:sub>
                    </m:sSub>
                    <m:r>
                      <a:rPr lang="en-US" sz="1200" b="1">
                        <a:solidFill>
                          <a:schemeClr val="tx1"/>
                        </a:solidFill>
                        <a:latin typeface="Cambria Math" panose="02040503050406030204" pitchFamily="18" charset="0"/>
                      </a:rPr>
                      <m:t>&gt;</m:t>
                    </m:r>
                    <m:r>
                      <a:rPr lang="en-US" sz="1200" b="1" i="1">
                        <a:solidFill>
                          <a:schemeClr val="tx1"/>
                        </a:solidFill>
                        <a:latin typeface="Cambria Math" panose="02040503050406030204" pitchFamily="18" charset="0"/>
                      </a:rPr>
                      <m:t>𝐤</m:t>
                    </m:r>
                  </m:oMath>
                </a14:m>
                <a:r>
                  <a:rPr lang="en-US" sz="1200" b="1" dirty="0">
                    <a:solidFill>
                      <a:schemeClr val="tx1"/>
                    </a:solidFill>
                    <a:latin typeface="Cambria Math" panose="02040503050406030204" pitchFamily="18" charset="0"/>
                  </a:rPr>
                  <a:t>, </a:t>
                </a:r>
                <a:r>
                  <a:rPr lang="en-US" sz="1200" dirty="0">
                    <a:solidFill>
                      <a:schemeClr val="tx1"/>
                    </a:solidFill>
                    <a:latin typeface="Cambria Math" panose="02040503050406030204" pitchFamily="18" charset="0"/>
                  </a:rPr>
                  <a:t>accept </a:t>
                </a:r>
                <a:r>
                  <a:rPr lang="en-US" sz="1200" dirty="0" smtClean="0">
                    <a:solidFill>
                      <a:schemeClr val="tx1"/>
                    </a:solidFill>
                    <a:latin typeface="Cambria Math" panose="02040503050406030204" pitchFamily="18" charset="0"/>
                  </a:rPr>
                  <a:t>and transplant with </a:t>
                </a:r>
                <a:r>
                  <a:rPr lang="en-US" sz="1200" dirty="0">
                    <a:solidFill>
                      <a:schemeClr val="tx1"/>
                    </a:solidFill>
                    <a:latin typeface="Cambria Math" panose="02040503050406030204" pitchFamily="18" charset="0"/>
                  </a:rPr>
                  <a:t>probability </a:t>
                </a:r>
                <a14:m>
                  <m:oMath xmlns:m="http://schemas.openxmlformats.org/officeDocument/2006/math">
                    <m:r>
                      <a:rPr lang="en-US" sz="1200" i="1" dirty="0">
                        <a:solidFill>
                          <a:schemeClr val="tx1"/>
                        </a:solidFill>
                        <a:latin typeface="Cambria Math" panose="02040503050406030204" pitchFamily="18" charset="0"/>
                      </a:rPr>
                      <m:t>𝑝</m:t>
                    </m:r>
                    <m:d>
                      <m:dPr>
                        <m:ctrlPr>
                          <a:rPr lang="en-US" sz="1200" i="1" dirty="0">
                            <a:solidFill>
                              <a:schemeClr val="tx1"/>
                            </a:solidFill>
                            <a:latin typeface="Cambria Math"/>
                          </a:rPr>
                        </m:ctrlPr>
                      </m:dPr>
                      <m:e>
                        <m:r>
                          <a:rPr lang="en-US" sz="1200" b="0" i="1" dirty="0" smtClean="0">
                            <a:solidFill>
                              <a:schemeClr val="tx1"/>
                            </a:solidFill>
                            <a:latin typeface="Cambria Math"/>
                          </a:rPr>
                          <m:t>𝑡𝑟𝑎𝑛𝑠</m:t>
                        </m:r>
                      </m:e>
                    </m:d>
                    <m:r>
                      <a:rPr lang="en-US" sz="1200" i="1" dirty="0" smtClean="0">
                        <a:solidFill>
                          <a:schemeClr val="tx1"/>
                        </a:solidFill>
                        <a:latin typeface="Cambria Math" panose="02040503050406030204" pitchFamily="18" charset="0"/>
                      </a:rPr>
                      <m:t>=</m:t>
                    </m:r>
                    <m:r>
                      <a:rPr lang="en-US" sz="1200" i="1" dirty="0" smtClean="0">
                        <a:solidFill>
                          <a:schemeClr val="tx1"/>
                        </a:solidFill>
                        <a:latin typeface="Cambria Math" panose="02040503050406030204" pitchFamily="18" charset="0"/>
                      </a:rPr>
                      <m:t>𝑝</m:t>
                    </m:r>
                    <m:r>
                      <a:rPr lang="en-US" sz="1200" i="1" dirty="0" smtClean="0">
                        <a:solidFill>
                          <a:schemeClr val="tx1"/>
                        </a:solidFill>
                        <a:latin typeface="Cambria Math" panose="02040503050406030204" pitchFamily="18" charset="0"/>
                      </a:rPr>
                      <m:t>(</m:t>
                    </m:r>
                    <m:r>
                      <a:rPr lang="en-US" sz="1200" i="1" dirty="0" smtClean="0">
                        <a:solidFill>
                          <a:schemeClr val="tx1"/>
                        </a:solidFill>
                        <a:latin typeface="Cambria Math" panose="02040503050406030204" pitchFamily="18" charset="0"/>
                      </a:rPr>
                      <m:t>𝑝𝑎𝑡𝑖𝑒𝑛𝑡</m:t>
                    </m:r>
                    <m:r>
                      <a:rPr lang="en-US" sz="1200" i="1" dirty="0" smtClean="0">
                        <a:solidFill>
                          <a:schemeClr val="tx1"/>
                        </a:solidFill>
                        <a:latin typeface="Cambria Math" panose="02040503050406030204" pitchFamily="18" charset="0"/>
                      </a:rPr>
                      <m:t>)</m:t>
                    </m:r>
                    <m:r>
                      <a:rPr lang="en-US" sz="1200" i="1" dirty="0" smtClean="0">
                        <a:solidFill>
                          <a:schemeClr val="tx1"/>
                        </a:solidFill>
                        <a:latin typeface="Cambria Math" panose="02040503050406030204" pitchFamily="18" charset="0"/>
                      </a:rPr>
                      <m:t>𝑝</m:t>
                    </m:r>
                    <m:r>
                      <a:rPr lang="en-US" sz="1200" i="1" dirty="0" smtClean="0">
                        <a:solidFill>
                          <a:schemeClr val="tx1"/>
                        </a:solidFill>
                        <a:latin typeface="Cambria Math" panose="02040503050406030204" pitchFamily="18" charset="0"/>
                      </a:rPr>
                      <m:t>(</m:t>
                    </m:r>
                    <m:r>
                      <a:rPr lang="en-US" sz="1200" i="1" dirty="0" smtClean="0">
                        <a:solidFill>
                          <a:schemeClr val="tx1"/>
                        </a:solidFill>
                        <a:latin typeface="Cambria Math" panose="02040503050406030204" pitchFamily="18" charset="0"/>
                      </a:rPr>
                      <m:t>𝑐𝑒𝑛𝑡𝑒𝑟</m:t>
                    </m:r>
                    <m:r>
                      <a:rPr lang="en-US" sz="1200" i="1" dirty="0" smtClean="0">
                        <a:solidFill>
                          <a:schemeClr val="tx1"/>
                        </a:solidFill>
                        <a:latin typeface="Cambria Math" panose="02040503050406030204" pitchFamily="18" charset="0"/>
                      </a:rPr>
                      <m:t>)</m:t>
                    </m:r>
                  </m:oMath>
                </a14:m>
                <a:endParaRPr lang="en-US" sz="1200" dirty="0">
                  <a:solidFill>
                    <a:schemeClr val="tx1"/>
                  </a:solidFill>
                  <a:latin typeface="Cambria Math" panose="02040503050406030204" pitchFamily="18" charset="0"/>
                </a:endParaRPr>
              </a:p>
              <a:p>
                <a:r>
                  <a:rPr lang="en-US" sz="1200" dirty="0">
                    <a:solidFill>
                      <a:schemeClr val="tx1"/>
                    </a:solidFill>
                    <a:latin typeface="Cambria Math" panose="02040503050406030204" pitchFamily="18" charset="0"/>
                  </a:rPr>
                  <a:t>else set </a:t>
                </a:r>
                <a14:m>
                  <m:oMath xmlns:m="http://schemas.openxmlformats.org/officeDocument/2006/math">
                    <m:sSub>
                      <m:sSubPr>
                        <m:ctrlPr>
                          <a:rPr lang="en-US" sz="1200" i="1">
                            <a:solidFill>
                              <a:schemeClr val="tx1"/>
                            </a:solidFill>
                            <a:latin typeface="Cambria Math"/>
                          </a:rPr>
                        </m:ctrlPr>
                      </m:sSubPr>
                      <m:e>
                        <m:r>
                          <a:rPr lang="en-US" sz="1200">
                            <a:solidFill>
                              <a:schemeClr val="tx1"/>
                            </a:solidFill>
                            <a:latin typeface="Cambria Math" panose="02040503050406030204" pitchFamily="18" charset="0"/>
                          </a:rPr>
                          <m:t>𝑞</m:t>
                        </m:r>
                      </m:e>
                      <m:sub>
                        <m:r>
                          <a:rPr lang="en-US" sz="1200">
                            <a:solidFill>
                              <a:schemeClr val="tx1"/>
                            </a:solidFill>
                            <a:latin typeface="Cambria Math" panose="02040503050406030204" pitchFamily="18" charset="0"/>
                          </a:rPr>
                          <m:t>𝑡</m:t>
                        </m:r>
                      </m:sub>
                    </m:sSub>
                    <m:r>
                      <a:rPr lang="en-US" sz="1200">
                        <a:solidFill>
                          <a:schemeClr val="tx1"/>
                        </a:solidFill>
                        <a:latin typeface="Cambria Math" panose="02040503050406030204" pitchFamily="18" charset="0"/>
                      </a:rPr>
                      <m:t>=</m:t>
                    </m:r>
                    <m:sSub>
                      <m:sSubPr>
                        <m:ctrlPr>
                          <a:rPr lang="en-US" sz="1200" i="1">
                            <a:solidFill>
                              <a:schemeClr val="tx1"/>
                            </a:solidFill>
                            <a:latin typeface="Cambria Math"/>
                          </a:rPr>
                        </m:ctrlPr>
                      </m:sSubPr>
                      <m:e>
                        <m:r>
                          <a:rPr lang="en-US" sz="1200">
                            <a:solidFill>
                              <a:schemeClr val="tx1"/>
                            </a:solidFill>
                            <a:latin typeface="Cambria Math" panose="02040503050406030204" pitchFamily="18" charset="0"/>
                          </a:rPr>
                          <m:t>𝑞</m:t>
                        </m:r>
                      </m:e>
                      <m:sub>
                        <m:r>
                          <a:rPr lang="en-US" sz="1200">
                            <a:solidFill>
                              <a:schemeClr val="tx1"/>
                            </a:solidFill>
                            <a:latin typeface="Cambria Math" panose="02040503050406030204" pitchFamily="18" charset="0"/>
                          </a:rPr>
                          <m:t>0</m:t>
                        </m:r>
                      </m:sub>
                    </m:sSub>
                    <m:r>
                      <a:rPr lang="en-US" sz="1200">
                        <a:solidFill>
                          <a:schemeClr val="tx1"/>
                        </a:solidFill>
                        <a:latin typeface="Cambria Math" panose="02040503050406030204" pitchFamily="18" charset="0"/>
                      </a:rPr>
                      <m:t> </m:t>
                    </m:r>
                    <m:sSup>
                      <m:sSupPr>
                        <m:ctrlPr>
                          <a:rPr lang="en-US" sz="1200" i="1">
                            <a:solidFill>
                              <a:schemeClr val="tx1"/>
                            </a:solidFill>
                            <a:latin typeface="Cambria Math"/>
                          </a:rPr>
                        </m:ctrlPr>
                      </m:sSupPr>
                      <m:e>
                        <m:d>
                          <m:dPr>
                            <m:ctrlPr>
                              <a:rPr lang="en-US" sz="1200" i="1">
                                <a:solidFill>
                                  <a:schemeClr val="tx1"/>
                                </a:solidFill>
                                <a:latin typeface="Cambria Math"/>
                              </a:rPr>
                            </m:ctrlPr>
                          </m:dPr>
                          <m:e>
                            <m:r>
                              <a:rPr lang="en-US" sz="1200">
                                <a:solidFill>
                                  <a:schemeClr val="tx1"/>
                                </a:solidFill>
                                <a:latin typeface="Cambria Math" panose="02040503050406030204" pitchFamily="18" charset="0"/>
                              </a:rPr>
                              <m:t>1−</m:t>
                            </m:r>
                            <m:r>
                              <a:rPr lang="en-US" sz="1200">
                                <a:solidFill>
                                  <a:schemeClr val="tx1"/>
                                </a:solidFill>
                                <a:latin typeface="Cambria Math" panose="02040503050406030204" pitchFamily="18" charset="0"/>
                              </a:rPr>
                              <m:t>𝛿</m:t>
                            </m:r>
                          </m:e>
                        </m:d>
                      </m:e>
                      <m:sup>
                        <m:r>
                          <a:rPr lang="en-US" sz="1200">
                            <a:solidFill>
                              <a:schemeClr val="tx1"/>
                            </a:solidFill>
                            <a:latin typeface="Cambria Math" panose="02040503050406030204" pitchFamily="18" charset="0"/>
                          </a:rPr>
                          <m:t>𝑡</m:t>
                        </m:r>
                      </m:sup>
                    </m:sSup>
                    <m:r>
                      <a:rPr lang="en-US" sz="1200">
                        <a:solidFill>
                          <a:schemeClr val="tx1"/>
                        </a:solidFill>
                        <a:latin typeface="Cambria Math" panose="02040503050406030204" pitchFamily="18" charset="0"/>
                      </a:rPr>
                      <m:t> </m:t>
                    </m:r>
                  </m:oMath>
                </a14:m>
                <a:r>
                  <a:rPr lang="en-US" sz="1200" dirty="0">
                    <a:solidFill>
                      <a:schemeClr val="tx1"/>
                    </a:solidFill>
                    <a:latin typeface="Cambria Math" panose="02040503050406030204" pitchFamily="18" charset="0"/>
                  </a:rPr>
                  <a:t>and reoffer</a:t>
                </a:r>
              </a:p>
              <a:p>
                <a:r>
                  <a:rPr lang="en-US" sz="1200" dirty="0">
                    <a:solidFill>
                      <a:schemeClr val="tx1"/>
                    </a:solidFill>
                    <a:latin typeface="Cambria Math" panose="02040503050406030204" pitchFamily="18" charset="0"/>
                  </a:rPr>
                  <a:t>if </a:t>
                </a:r>
                <a14:m>
                  <m:oMath xmlns:m="http://schemas.openxmlformats.org/officeDocument/2006/math">
                    <m:sSub>
                      <m:sSubPr>
                        <m:ctrlPr>
                          <a:rPr lang="en-US" sz="1200" b="1" i="1">
                            <a:solidFill>
                              <a:schemeClr val="tx1"/>
                            </a:solidFill>
                            <a:latin typeface="Cambria Math"/>
                          </a:rPr>
                        </m:ctrlPr>
                      </m:sSubPr>
                      <m:e>
                        <m:r>
                          <a:rPr lang="en-US" sz="1200" b="1" i="1">
                            <a:solidFill>
                              <a:schemeClr val="tx1"/>
                            </a:solidFill>
                            <a:latin typeface="Cambria Math" panose="02040503050406030204" pitchFamily="18" charset="0"/>
                          </a:rPr>
                          <m:t>𝐪</m:t>
                        </m:r>
                      </m:e>
                      <m:sub>
                        <m:r>
                          <a:rPr lang="en-US" sz="1200" b="1" i="1">
                            <a:solidFill>
                              <a:schemeClr val="tx1"/>
                            </a:solidFill>
                            <a:latin typeface="Cambria Math" panose="02040503050406030204" pitchFamily="18" charset="0"/>
                          </a:rPr>
                          <m:t>𝐭</m:t>
                        </m:r>
                      </m:sub>
                    </m:sSub>
                    <m:r>
                      <a:rPr lang="en-US" sz="1200" b="1" i="0" smtClean="0">
                        <a:solidFill>
                          <a:schemeClr val="tx1"/>
                        </a:solidFill>
                        <a:latin typeface="Cambria Math" panose="02040503050406030204" pitchFamily="18" charset="0"/>
                      </a:rPr>
                      <m:t>&lt;</m:t>
                    </m:r>
                    <m:r>
                      <a:rPr lang="en-US" sz="1200" b="1" i="1">
                        <a:solidFill>
                          <a:schemeClr val="tx1"/>
                        </a:solidFill>
                        <a:latin typeface="Cambria Math" panose="02040503050406030204" pitchFamily="18" charset="0"/>
                      </a:rPr>
                      <m:t>𝟎</m:t>
                    </m:r>
                  </m:oMath>
                </a14:m>
                <a:r>
                  <a:rPr lang="en-US" sz="1200" b="1" dirty="0">
                    <a:solidFill>
                      <a:schemeClr val="tx1"/>
                    </a:solidFill>
                    <a:latin typeface="Cambria Math" panose="02040503050406030204" pitchFamily="18" charset="0"/>
                  </a:rPr>
                  <a:t> </a:t>
                </a:r>
                <a:r>
                  <a:rPr lang="en-US" sz="1200" dirty="0">
                    <a:solidFill>
                      <a:schemeClr val="tx1"/>
                    </a:solidFill>
                    <a:latin typeface="Cambria Math" panose="02040503050406030204" pitchFamily="18" charset="0"/>
                  </a:rPr>
                  <a:t>discard the kidney</a:t>
                </a:r>
              </a:p>
            </p:txBody>
          </p:sp>
        </mc:Choice>
        <mc:Fallback xmlns="">
          <p:sp>
            <p:nvSpPr>
              <p:cNvPr id="9" name="Rectangle 8"/>
              <p:cNvSpPr>
                <a:spLocks noRot="1" noChangeAspect="1" noMove="1" noResize="1" noEditPoints="1" noAdjustHandles="1" noChangeArrowheads="1" noChangeShapeType="1" noTextEdit="1"/>
              </p:cNvSpPr>
              <p:nvPr/>
            </p:nvSpPr>
            <p:spPr>
              <a:xfrm>
                <a:off x="5414267" y="855857"/>
                <a:ext cx="3272650" cy="1522191"/>
              </a:xfrm>
              <a:prstGeom prst="rect">
                <a:avLst/>
              </a:prstGeom>
              <a:blipFill rotWithShape="1">
                <a:blip r:embed="rId4"/>
                <a:stretch>
                  <a:fillRect/>
                </a:stretch>
              </a:blipFill>
              <a:ln>
                <a:solidFill>
                  <a:srgbClr val="FF00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5414267" y="3075421"/>
                <a:ext cx="3272650" cy="1563851"/>
              </a:xfrm>
              <a:prstGeom prst="rect">
                <a:avLst/>
              </a:prstGeom>
              <a:no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sz="1200" dirty="0" smtClean="0">
                    <a:solidFill>
                      <a:schemeClr val="tx1"/>
                    </a:solidFill>
                    <a:latin typeface="Cambria Math" panose="02040503050406030204" pitchFamily="18" charset="0"/>
                  </a:rPr>
                  <a:t>Post-transplant  utility </a:t>
                </a:r>
              </a:p>
              <a:p>
                <a:pPr>
                  <a:lnSpc>
                    <a:spcPct val="150000"/>
                  </a:lnSpc>
                </a:pPr>
                <a14:m>
                  <m:oMath xmlns:m="http://schemas.openxmlformats.org/officeDocument/2006/math">
                    <m:sSup>
                      <m:sSupPr>
                        <m:ctrlPr>
                          <a:rPr lang="en-US" sz="1200" i="1">
                            <a:solidFill>
                              <a:schemeClr val="tx1"/>
                            </a:solidFill>
                            <a:latin typeface="Cambria Math"/>
                          </a:rPr>
                        </m:ctrlPr>
                      </m:sSupPr>
                      <m:e>
                        <m:r>
                          <a:rPr lang="en-US" sz="1200" b="0" i="0" smtClean="0">
                            <a:solidFill>
                              <a:schemeClr val="tx1"/>
                            </a:solidFill>
                            <a:latin typeface="Cambria Math" panose="02040503050406030204" pitchFamily="18" charset="0"/>
                          </a:rPr>
                          <m:t>  </m:t>
                        </m:r>
                        <m:r>
                          <a:rPr lang="en-US" sz="1200">
                            <a:solidFill>
                              <a:schemeClr val="tx1"/>
                            </a:solidFill>
                            <a:latin typeface="Cambria Math" panose="02040503050406030204" pitchFamily="18" charset="0"/>
                          </a:rPr>
                          <m:t>𝑈</m:t>
                        </m:r>
                      </m:e>
                      <m:sup>
                        <m:r>
                          <a:rPr lang="en-US" sz="1200">
                            <a:solidFill>
                              <a:schemeClr val="tx1"/>
                            </a:solidFill>
                            <a:latin typeface="Cambria Math" panose="02040503050406030204" pitchFamily="18" charset="0"/>
                          </a:rPr>
                          <m:t>𝑐</m:t>
                        </m:r>
                      </m:sup>
                    </m:sSup>
                    <m:d>
                      <m:dPr>
                        <m:ctrlPr>
                          <a:rPr lang="en-US" sz="1200" i="1">
                            <a:solidFill>
                              <a:schemeClr val="tx1"/>
                            </a:solidFill>
                            <a:latin typeface="Cambria Math"/>
                          </a:rPr>
                        </m:ctrlPr>
                      </m:dPr>
                      <m:e>
                        <m:r>
                          <a:rPr lang="en-US" sz="1200">
                            <a:solidFill>
                              <a:schemeClr val="tx1"/>
                            </a:solidFill>
                            <a:latin typeface="Cambria Math" panose="02040503050406030204" pitchFamily="18" charset="0"/>
                          </a:rPr>
                          <m:t>𝑞</m:t>
                        </m:r>
                        <m:r>
                          <a:rPr lang="en-US" sz="1200">
                            <a:solidFill>
                              <a:schemeClr val="tx1"/>
                            </a:solidFill>
                            <a:latin typeface="Cambria Math" panose="02040503050406030204" pitchFamily="18" charset="0"/>
                          </a:rPr>
                          <m:t>,</m:t>
                        </m:r>
                        <m:sSub>
                          <m:sSubPr>
                            <m:ctrlPr>
                              <a:rPr lang="en-US" sz="1200" i="1">
                                <a:solidFill>
                                  <a:schemeClr val="tx1"/>
                                </a:solidFill>
                                <a:latin typeface="Cambria Math"/>
                              </a:rPr>
                            </m:ctrlPr>
                          </m:sSubPr>
                          <m:e>
                            <m:r>
                              <a:rPr lang="en-US" sz="1200">
                                <a:solidFill>
                                  <a:schemeClr val="tx1"/>
                                </a:solidFill>
                                <a:latin typeface="Cambria Math" panose="02040503050406030204" pitchFamily="18" charset="0"/>
                              </a:rPr>
                              <m:t>h</m:t>
                            </m:r>
                          </m:e>
                          <m:sub>
                            <m:r>
                              <a:rPr lang="en-US" sz="1200">
                                <a:solidFill>
                                  <a:schemeClr val="tx1"/>
                                </a:solidFill>
                                <a:latin typeface="Cambria Math" panose="02040503050406030204" pitchFamily="18" charset="0"/>
                              </a:rPr>
                              <m:t>0</m:t>
                            </m:r>
                          </m:sub>
                        </m:sSub>
                        <m:r>
                          <a:rPr lang="en-US" sz="1200">
                            <a:solidFill>
                              <a:schemeClr val="tx1"/>
                            </a:solidFill>
                            <a:latin typeface="Cambria Math" panose="02040503050406030204" pitchFamily="18" charset="0"/>
                          </a:rPr>
                          <m:t>,</m:t>
                        </m:r>
                        <m:r>
                          <a:rPr lang="en-US" sz="1200">
                            <a:solidFill>
                              <a:schemeClr val="tx1"/>
                            </a:solidFill>
                            <a:latin typeface="Cambria Math" panose="02040503050406030204" pitchFamily="18" charset="0"/>
                          </a:rPr>
                          <m:t>𝑤</m:t>
                        </m:r>
                        <m:r>
                          <a:rPr lang="en-US" sz="1200">
                            <a:solidFill>
                              <a:schemeClr val="tx1"/>
                            </a:solidFill>
                            <a:latin typeface="Cambria Math" panose="02040503050406030204" pitchFamily="18" charset="0"/>
                          </a:rPr>
                          <m:t> </m:t>
                        </m:r>
                      </m:e>
                    </m:d>
                  </m:oMath>
                </a14:m>
                <a:r>
                  <a:rPr lang="en-US" sz="1200" dirty="0">
                    <a:solidFill>
                      <a:schemeClr val="tx1"/>
                    </a:solidFill>
                    <a:latin typeface="Cambria Math" panose="02040503050406030204" pitchFamily="18" charset="0"/>
                  </a:rPr>
                  <a:t> </a:t>
                </a:r>
                <a14:m>
                  <m:oMath xmlns:m="http://schemas.openxmlformats.org/officeDocument/2006/math">
                    <m:r>
                      <a:rPr lang="en-US" sz="1200" dirty="0">
                        <a:solidFill>
                          <a:schemeClr val="tx1"/>
                        </a:solidFill>
                        <a:latin typeface="Cambria Math" panose="02040503050406030204" pitchFamily="18" charset="0"/>
                      </a:rPr>
                      <m:t>=</m:t>
                    </m:r>
                  </m:oMath>
                </a14:m>
                <a:r>
                  <a:rPr lang="en-US" sz="1200" dirty="0">
                    <a:solidFill>
                      <a:schemeClr val="tx1"/>
                    </a:solidFill>
                    <a:latin typeface="Cambria Math" panose="02040503050406030204" pitchFamily="18" charset="0"/>
                  </a:rPr>
                  <a:t> </a:t>
                </a:r>
                <a14:m>
                  <m:oMath xmlns:m="http://schemas.openxmlformats.org/officeDocument/2006/math">
                    <m:r>
                      <a:rPr lang="en-US" sz="1200">
                        <a:solidFill>
                          <a:schemeClr val="tx1"/>
                        </a:solidFill>
                        <a:latin typeface="Cambria Math" panose="02040503050406030204" pitchFamily="18" charset="0"/>
                      </a:rPr>
                      <m:t>𝐵</m:t>
                    </m:r>
                    <m:d>
                      <m:dPr>
                        <m:ctrlPr>
                          <a:rPr lang="en-US" sz="1200" i="1">
                            <a:solidFill>
                              <a:schemeClr val="tx1"/>
                            </a:solidFill>
                            <a:latin typeface="Cambria Math"/>
                          </a:rPr>
                        </m:ctrlPr>
                      </m:dPr>
                      <m:e>
                        <m:sSub>
                          <m:sSubPr>
                            <m:ctrlPr>
                              <a:rPr lang="en-US" sz="1200" i="1">
                                <a:solidFill>
                                  <a:schemeClr val="tx1"/>
                                </a:solidFill>
                                <a:latin typeface="Cambria Math"/>
                              </a:rPr>
                            </m:ctrlPr>
                          </m:sSubPr>
                          <m:e>
                            <m:r>
                              <a:rPr lang="en-US" sz="1200">
                                <a:solidFill>
                                  <a:schemeClr val="tx1"/>
                                </a:solidFill>
                                <a:latin typeface="Cambria Math" panose="02040503050406030204" pitchFamily="18" charset="0"/>
                              </a:rPr>
                              <m:t>h</m:t>
                            </m:r>
                          </m:e>
                          <m:sub>
                            <m:r>
                              <a:rPr lang="en-US" sz="1200">
                                <a:solidFill>
                                  <a:schemeClr val="tx1"/>
                                </a:solidFill>
                                <a:latin typeface="Cambria Math" panose="02040503050406030204" pitchFamily="18" charset="0"/>
                              </a:rPr>
                              <m:t>0</m:t>
                            </m:r>
                          </m:sub>
                        </m:sSub>
                        <m:r>
                          <a:rPr lang="en-US" sz="1200">
                            <a:solidFill>
                              <a:schemeClr val="tx1"/>
                            </a:solidFill>
                            <a:latin typeface="Cambria Math" panose="02040503050406030204" pitchFamily="18" charset="0"/>
                          </a:rPr>
                          <m:t>,</m:t>
                        </m:r>
                        <m:sSub>
                          <m:sSubPr>
                            <m:ctrlPr>
                              <a:rPr lang="en-US" sz="1200" i="1">
                                <a:solidFill>
                                  <a:schemeClr val="tx1"/>
                                </a:solidFill>
                                <a:latin typeface="Cambria Math"/>
                              </a:rPr>
                            </m:ctrlPr>
                          </m:sSubPr>
                          <m:e>
                            <m:r>
                              <a:rPr lang="en-US" sz="1200">
                                <a:solidFill>
                                  <a:schemeClr val="tx1"/>
                                </a:solidFill>
                                <a:latin typeface="Cambria Math" panose="02040503050406030204" pitchFamily="18" charset="0"/>
                              </a:rPr>
                              <m:t>𝑞</m:t>
                            </m:r>
                          </m:e>
                          <m:sub>
                            <m:r>
                              <a:rPr lang="en-US" sz="1200">
                                <a:solidFill>
                                  <a:schemeClr val="tx1"/>
                                </a:solidFill>
                                <a:latin typeface="Cambria Math" panose="02040503050406030204" pitchFamily="18" charset="0"/>
                              </a:rPr>
                              <m:t>𝑡</m:t>
                            </m:r>
                          </m:sub>
                        </m:sSub>
                      </m:e>
                    </m:d>
                  </m:oMath>
                </a14:m>
                <a:r>
                  <a:rPr lang="en-US" sz="1200" dirty="0">
                    <a:solidFill>
                      <a:schemeClr val="tx1"/>
                    </a:solidFill>
                    <a:latin typeface="Cambria Math" panose="02040503050406030204" pitchFamily="18" charset="0"/>
                  </a:rPr>
                  <a:t> </a:t>
                </a:r>
                <a14:m>
                  <m:oMath xmlns:m="http://schemas.openxmlformats.org/officeDocument/2006/math">
                    <m:r>
                      <a:rPr lang="en-US" sz="1200" dirty="0">
                        <a:solidFill>
                          <a:schemeClr val="tx1"/>
                        </a:solidFill>
                        <a:latin typeface="Cambria Math" panose="02040503050406030204" pitchFamily="18" charset="0"/>
                      </a:rPr>
                      <m:t>  ∗</m:t>
                    </m:r>
                  </m:oMath>
                </a14:m>
                <a:r>
                  <a:rPr lang="en-US" sz="1200" dirty="0">
                    <a:solidFill>
                      <a:schemeClr val="tx1"/>
                    </a:solidFill>
                    <a:latin typeface="Cambria Math" panose="02040503050406030204" pitchFamily="18" charset="0"/>
                  </a:rPr>
                  <a:t>  </a:t>
                </a:r>
                <a14:m>
                  <m:oMath xmlns:m="http://schemas.openxmlformats.org/officeDocument/2006/math">
                    <m:d>
                      <m:dPr>
                        <m:begChr m:val="["/>
                        <m:endChr m:val="]"/>
                        <m:ctrlPr>
                          <a:rPr lang="en-US" sz="1200" i="1" dirty="0">
                            <a:solidFill>
                              <a:schemeClr val="tx1"/>
                            </a:solidFill>
                            <a:latin typeface="Cambria Math"/>
                          </a:rPr>
                        </m:ctrlPr>
                      </m:dPr>
                      <m:e>
                        <m:r>
                          <a:rPr lang="en-US" sz="1200" dirty="0">
                            <a:solidFill>
                              <a:schemeClr val="tx1"/>
                            </a:solidFill>
                            <a:latin typeface="Cambria Math" panose="02040503050406030204" pitchFamily="18" charset="0"/>
                          </a:rPr>
                          <m:t>1−</m:t>
                        </m:r>
                        <m:r>
                          <a:rPr lang="en-US" sz="1200" b="0" i="1" dirty="0" smtClean="0">
                            <a:solidFill>
                              <a:schemeClr val="tx1"/>
                            </a:solidFill>
                            <a:latin typeface="Cambria Math" panose="02040503050406030204" pitchFamily="18" charset="0"/>
                          </a:rPr>
                          <m:t>𝐶</m:t>
                        </m:r>
                        <m:d>
                          <m:dPr>
                            <m:ctrlPr>
                              <a:rPr lang="en-US" sz="1200" i="1" dirty="0">
                                <a:solidFill>
                                  <a:schemeClr val="tx1"/>
                                </a:solidFill>
                                <a:latin typeface="Cambria Math"/>
                              </a:rPr>
                            </m:ctrlPr>
                          </m:dPr>
                          <m:e>
                            <m:sSub>
                              <m:sSubPr>
                                <m:ctrlPr>
                                  <a:rPr lang="en-US" sz="1200" i="1" dirty="0">
                                    <a:solidFill>
                                      <a:schemeClr val="tx1"/>
                                    </a:solidFill>
                                    <a:latin typeface="Cambria Math"/>
                                  </a:rPr>
                                </m:ctrlPr>
                              </m:sSubPr>
                              <m:e>
                                <m:r>
                                  <a:rPr lang="en-US" sz="1200" dirty="0">
                                    <a:solidFill>
                                      <a:schemeClr val="tx1"/>
                                    </a:solidFill>
                                    <a:latin typeface="Cambria Math" panose="02040503050406030204" pitchFamily="18" charset="0"/>
                                  </a:rPr>
                                  <m:t>h</m:t>
                                </m:r>
                              </m:e>
                              <m:sub>
                                <m:r>
                                  <a:rPr lang="en-US" sz="1200" dirty="0">
                                    <a:solidFill>
                                      <a:schemeClr val="tx1"/>
                                    </a:solidFill>
                                    <a:latin typeface="Cambria Math" panose="02040503050406030204" pitchFamily="18" charset="0"/>
                                  </a:rPr>
                                  <m:t>0</m:t>
                                </m:r>
                              </m:sub>
                            </m:sSub>
                            <m:r>
                              <a:rPr lang="en-US" sz="1200" dirty="0">
                                <a:solidFill>
                                  <a:schemeClr val="tx1"/>
                                </a:solidFill>
                                <a:latin typeface="Cambria Math" panose="02040503050406030204" pitchFamily="18" charset="0"/>
                              </a:rPr>
                              <m:t>,</m:t>
                            </m:r>
                            <m:r>
                              <a:rPr lang="en-US" sz="1200" dirty="0">
                                <a:solidFill>
                                  <a:schemeClr val="tx1"/>
                                </a:solidFill>
                                <a:latin typeface="Cambria Math" panose="02040503050406030204" pitchFamily="18" charset="0"/>
                              </a:rPr>
                              <m:t>𝑤</m:t>
                            </m:r>
                            <m:r>
                              <a:rPr lang="en-US" sz="1200" dirty="0">
                                <a:solidFill>
                                  <a:schemeClr val="tx1"/>
                                </a:solidFill>
                                <a:latin typeface="Cambria Math" panose="02040503050406030204" pitchFamily="18" charset="0"/>
                              </a:rPr>
                              <m:t> </m:t>
                            </m:r>
                          </m:e>
                        </m:d>
                      </m:e>
                    </m:d>
                  </m:oMath>
                </a14:m>
                <a:endParaRPr lang="en-US" sz="1200" dirty="0">
                  <a:solidFill>
                    <a:schemeClr val="tx1"/>
                  </a:solidFill>
                  <a:latin typeface="Cambria Math" panose="02040503050406030204" pitchFamily="18" charset="0"/>
                </a:endParaRPr>
              </a:p>
              <a:p>
                <a:pPr>
                  <a:lnSpc>
                    <a:spcPct val="150000"/>
                  </a:lnSpc>
                </a:pPr>
                <a:r>
                  <a:rPr lang="en-US" sz="1200" dirty="0">
                    <a:solidFill>
                      <a:schemeClr val="tx1"/>
                    </a:solidFill>
                    <a:latin typeface="Cambria Math" panose="02040503050406030204" pitchFamily="18" charset="0"/>
                  </a:rPr>
                  <a:t> Benefit  function:</a:t>
                </a:r>
                <a:r>
                  <a:rPr lang="en-US" sz="1200" dirty="0" smtClean="0">
                    <a:solidFill>
                      <a:schemeClr val="tx1"/>
                    </a:solidFill>
                    <a:latin typeface="Cambria Math" panose="02040503050406030204" pitchFamily="18" charset="0"/>
                  </a:rPr>
                  <a:t>  </a:t>
                </a:r>
                <a14:m>
                  <m:oMath xmlns:m="http://schemas.openxmlformats.org/officeDocument/2006/math">
                    <m:r>
                      <a:rPr lang="en-US" sz="1200">
                        <a:solidFill>
                          <a:schemeClr val="tx1"/>
                        </a:solidFill>
                        <a:latin typeface="Cambria Math" panose="02040503050406030204" pitchFamily="18" charset="0"/>
                      </a:rPr>
                      <m:t>𝐵</m:t>
                    </m:r>
                    <m:d>
                      <m:dPr>
                        <m:ctrlPr>
                          <a:rPr lang="en-US" sz="1200" i="1">
                            <a:solidFill>
                              <a:schemeClr val="tx1"/>
                            </a:solidFill>
                            <a:latin typeface="Cambria Math"/>
                          </a:rPr>
                        </m:ctrlPr>
                      </m:dPr>
                      <m:e>
                        <m:sSub>
                          <m:sSubPr>
                            <m:ctrlPr>
                              <a:rPr lang="en-US" sz="1200" i="1">
                                <a:solidFill>
                                  <a:schemeClr val="tx1"/>
                                </a:solidFill>
                                <a:latin typeface="Cambria Math"/>
                              </a:rPr>
                            </m:ctrlPr>
                          </m:sSubPr>
                          <m:e>
                            <m:r>
                              <a:rPr lang="en-US" sz="1200">
                                <a:solidFill>
                                  <a:schemeClr val="tx1"/>
                                </a:solidFill>
                                <a:latin typeface="Cambria Math" panose="02040503050406030204" pitchFamily="18" charset="0"/>
                              </a:rPr>
                              <m:t>h</m:t>
                            </m:r>
                          </m:e>
                          <m:sub>
                            <m:r>
                              <a:rPr lang="en-US" sz="1200">
                                <a:solidFill>
                                  <a:schemeClr val="tx1"/>
                                </a:solidFill>
                                <a:latin typeface="Cambria Math" panose="02040503050406030204" pitchFamily="18" charset="0"/>
                              </a:rPr>
                              <m:t>0</m:t>
                            </m:r>
                          </m:sub>
                        </m:sSub>
                        <m:r>
                          <a:rPr lang="en-US" sz="1200">
                            <a:solidFill>
                              <a:schemeClr val="tx1"/>
                            </a:solidFill>
                            <a:latin typeface="Cambria Math" panose="02040503050406030204" pitchFamily="18" charset="0"/>
                          </a:rPr>
                          <m:t>,</m:t>
                        </m:r>
                        <m:r>
                          <a:rPr lang="en-US" sz="1200">
                            <a:solidFill>
                              <a:schemeClr val="tx1"/>
                            </a:solidFill>
                            <a:latin typeface="Cambria Math" panose="02040503050406030204" pitchFamily="18" charset="0"/>
                          </a:rPr>
                          <m:t>𝑞</m:t>
                        </m:r>
                      </m:e>
                    </m:d>
                    <m:r>
                      <a:rPr lang="en-US" sz="1200">
                        <a:solidFill>
                          <a:schemeClr val="tx1"/>
                        </a:solidFill>
                        <a:latin typeface="Cambria Math" panose="02040503050406030204" pitchFamily="18" charset="0"/>
                      </a:rPr>
                      <m:t>=</m:t>
                    </m:r>
                    <m:f>
                      <m:fPr>
                        <m:ctrlPr>
                          <a:rPr lang="en-US" sz="1200" i="1">
                            <a:solidFill>
                              <a:schemeClr val="tx1"/>
                            </a:solidFill>
                            <a:latin typeface="Cambria Math"/>
                          </a:rPr>
                        </m:ctrlPr>
                      </m:fPr>
                      <m:num>
                        <m:r>
                          <a:rPr lang="en-US" sz="1200">
                            <a:solidFill>
                              <a:schemeClr val="tx1"/>
                            </a:solidFill>
                            <a:latin typeface="Cambria Math" panose="02040503050406030204" pitchFamily="18" charset="0"/>
                          </a:rPr>
                          <m:t>𝑚</m:t>
                        </m:r>
                        <m:r>
                          <a:rPr lang="en-US" sz="1200">
                            <a:solidFill>
                              <a:schemeClr val="tx1"/>
                            </a:solidFill>
                            <a:latin typeface="Cambria Math" panose="02040503050406030204" pitchFamily="18" charset="0"/>
                          </a:rPr>
                          <m:t>(</m:t>
                        </m:r>
                        <m:sSub>
                          <m:sSubPr>
                            <m:ctrlPr>
                              <a:rPr lang="en-US" sz="1200" i="1">
                                <a:solidFill>
                                  <a:schemeClr val="tx1"/>
                                </a:solidFill>
                                <a:latin typeface="Cambria Math"/>
                              </a:rPr>
                            </m:ctrlPr>
                          </m:sSubPr>
                          <m:e>
                            <m:r>
                              <a:rPr lang="en-US" sz="1200">
                                <a:solidFill>
                                  <a:schemeClr val="tx1"/>
                                </a:solidFill>
                                <a:latin typeface="Cambria Math" panose="02040503050406030204" pitchFamily="18" charset="0"/>
                              </a:rPr>
                              <m:t>h</m:t>
                            </m:r>
                          </m:e>
                          <m:sub>
                            <m:r>
                              <a:rPr lang="en-US" sz="1200">
                                <a:solidFill>
                                  <a:schemeClr val="tx1"/>
                                </a:solidFill>
                                <a:latin typeface="Cambria Math" panose="02040503050406030204" pitchFamily="18" charset="0"/>
                              </a:rPr>
                              <m:t>0</m:t>
                            </m:r>
                          </m:sub>
                        </m:sSub>
                        <m:r>
                          <a:rPr lang="en-US" sz="1200">
                            <a:solidFill>
                              <a:schemeClr val="tx1"/>
                            </a:solidFill>
                            <a:latin typeface="Cambria Math" panose="02040503050406030204" pitchFamily="18" charset="0"/>
                          </a:rPr>
                          <m:t>)</m:t>
                        </m:r>
                      </m:num>
                      <m:den>
                        <m:r>
                          <a:rPr lang="en-US" sz="1200">
                            <a:solidFill>
                              <a:schemeClr val="tx1"/>
                            </a:solidFill>
                            <a:latin typeface="Cambria Math" panose="02040503050406030204" pitchFamily="18" charset="0"/>
                          </a:rPr>
                          <m:t>1+</m:t>
                        </m:r>
                        <m:r>
                          <m:rPr>
                            <m:sty m:val="p"/>
                          </m:rPr>
                          <a:rPr lang="en-US" sz="1200">
                            <a:solidFill>
                              <a:schemeClr val="tx1"/>
                            </a:solidFill>
                            <a:latin typeface="Cambria Math" panose="02040503050406030204" pitchFamily="18" charset="0"/>
                          </a:rPr>
                          <m:t>exp</m:t>
                        </m:r>
                        <m:r>
                          <a:rPr lang="en-US" sz="1200">
                            <a:solidFill>
                              <a:schemeClr val="tx1"/>
                            </a:solidFill>
                            <a:latin typeface="Cambria Math" panose="02040503050406030204" pitchFamily="18" charset="0"/>
                          </a:rPr>
                          <m:t>⁡(−</m:t>
                        </m:r>
                        <m:r>
                          <a:rPr lang="en-US" sz="1200">
                            <a:solidFill>
                              <a:schemeClr val="tx1"/>
                            </a:solidFill>
                            <a:latin typeface="Cambria Math" panose="02040503050406030204" pitchFamily="18" charset="0"/>
                          </a:rPr>
                          <m:t>𝛽</m:t>
                        </m:r>
                        <m:d>
                          <m:dPr>
                            <m:ctrlPr>
                              <a:rPr lang="en-US" sz="1200" i="1">
                                <a:solidFill>
                                  <a:schemeClr val="tx1"/>
                                </a:solidFill>
                                <a:latin typeface="Cambria Math"/>
                              </a:rPr>
                            </m:ctrlPr>
                          </m:dPr>
                          <m:e>
                            <m:sSub>
                              <m:sSubPr>
                                <m:ctrlPr>
                                  <a:rPr lang="en-US" sz="1200" i="1">
                                    <a:solidFill>
                                      <a:schemeClr val="tx1"/>
                                    </a:solidFill>
                                    <a:latin typeface="Cambria Math"/>
                                  </a:rPr>
                                </m:ctrlPr>
                              </m:sSubPr>
                              <m:e>
                                <m:r>
                                  <a:rPr lang="en-US" sz="1200">
                                    <a:solidFill>
                                      <a:schemeClr val="tx1"/>
                                    </a:solidFill>
                                    <a:latin typeface="Cambria Math" panose="02040503050406030204" pitchFamily="18" charset="0"/>
                                  </a:rPr>
                                  <m:t>𝑞</m:t>
                                </m:r>
                              </m:e>
                              <m:sub>
                                <m:r>
                                  <a:rPr lang="en-US" sz="1200">
                                    <a:solidFill>
                                      <a:schemeClr val="tx1"/>
                                    </a:solidFill>
                                    <a:latin typeface="Cambria Math" panose="02040503050406030204" pitchFamily="18" charset="0"/>
                                  </a:rPr>
                                  <m:t>𝑡</m:t>
                                </m:r>
                              </m:sub>
                            </m:sSub>
                            <m:r>
                              <a:rPr lang="en-US" sz="1200">
                                <a:solidFill>
                                  <a:schemeClr val="tx1"/>
                                </a:solidFill>
                                <a:latin typeface="Cambria Math" panose="02040503050406030204" pitchFamily="18" charset="0"/>
                              </a:rPr>
                              <m:t>−</m:t>
                            </m:r>
                            <m:r>
                              <a:rPr lang="en-US" sz="1200">
                                <a:solidFill>
                                  <a:schemeClr val="tx1"/>
                                </a:solidFill>
                                <a:latin typeface="Cambria Math" panose="02040503050406030204" pitchFamily="18" charset="0"/>
                              </a:rPr>
                              <m:t>𝛼</m:t>
                            </m:r>
                          </m:e>
                        </m:d>
                        <m:r>
                          <a:rPr lang="en-US" sz="1200">
                            <a:solidFill>
                              <a:schemeClr val="tx1"/>
                            </a:solidFill>
                            <a:latin typeface="Cambria Math" panose="02040503050406030204" pitchFamily="18" charset="0"/>
                          </a:rPr>
                          <m:t>)</m:t>
                        </m:r>
                      </m:den>
                    </m:f>
                  </m:oMath>
                </a14:m>
                <a:endParaRPr lang="en-US" sz="1200" dirty="0">
                  <a:solidFill>
                    <a:schemeClr val="tx1"/>
                  </a:solidFill>
                  <a:latin typeface="Cambria Math" panose="02040503050406030204" pitchFamily="18" charset="0"/>
                </a:endParaRPr>
              </a:p>
              <a:p>
                <a:pPr>
                  <a:lnSpc>
                    <a:spcPct val="150000"/>
                  </a:lnSpc>
                </a:pPr>
                <a:r>
                  <a:rPr lang="en-US" sz="1200" dirty="0" smtClean="0">
                    <a:solidFill>
                      <a:schemeClr val="tx1"/>
                    </a:solidFill>
                    <a:latin typeface="Cambria Math" panose="02040503050406030204" pitchFamily="18" charset="0"/>
                  </a:rPr>
                  <a:t>Deterioration </a:t>
                </a:r>
                <a:r>
                  <a:rPr lang="en-US" sz="1200" dirty="0">
                    <a:solidFill>
                      <a:schemeClr val="tx1"/>
                    </a:solidFill>
                    <a:latin typeface="Cambria Math" panose="02040503050406030204" pitchFamily="18" charset="0"/>
                  </a:rPr>
                  <a:t>factor</a:t>
                </a:r>
                <a:r>
                  <a:rPr lang="en-US" sz="1200" dirty="0" smtClean="0">
                    <a:solidFill>
                      <a:schemeClr val="tx1"/>
                    </a:solidFill>
                    <a:latin typeface="Cambria Math" panose="02040503050406030204" pitchFamily="18" charset="0"/>
                  </a:rPr>
                  <a:t>:  </a:t>
                </a:r>
                <a14:m>
                  <m:oMath xmlns:m="http://schemas.openxmlformats.org/officeDocument/2006/math">
                    <m:r>
                      <m:rPr>
                        <m:sty m:val="p"/>
                      </m:rPr>
                      <a:rPr lang="en-US" sz="1200" b="0" i="0" dirty="0" smtClean="0">
                        <a:solidFill>
                          <a:schemeClr val="tx1"/>
                        </a:solidFill>
                        <a:latin typeface="Cambria Math" panose="02040503050406030204" pitchFamily="18" charset="0"/>
                      </a:rPr>
                      <m:t>C</m:t>
                    </m:r>
                    <m:r>
                      <a:rPr lang="en-US" sz="1200" dirty="0">
                        <a:solidFill>
                          <a:schemeClr val="tx1"/>
                        </a:solidFill>
                        <a:latin typeface="Cambria Math" panose="02040503050406030204" pitchFamily="18" charset="0"/>
                      </a:rPr>
                      <m:t>(</m:t>
                    </m:r>
                    <m:sSub>
                      <m:sSubPr>
                        <m:ctrlPr>
                          <a:rPr lang="en-US" sz="1200" i="1" dirty="0">
                            <a:solidFill>
                              <a:schemeClr val="tx1"/>
                            </a:solidFill>
                            <a:latin typeface="Cambria Math"/>
                          </a:rPr>
                        </m:ctrlPr>
                      </m:sSubPr>
                      <m:e>
                        <m:r>
                          <a:rPr lang="en-US" sz="1200" dirty="0">
                            <a:solidFill>
                              <a:schemeClr val="tx1"/>
                            </a:solidFill>
                            <a:latin typeface="Cambria Math" panose="02040503050406030204" pitchFamily="18" charset="0"/>
                          </a:rPr>
                          <m:t>h</m:t>
                        </m:r>
                      </m:e>
                      <m:sub>
                        <m:r>
                          <a:rPr lang="en-US" sz="1200" dirty="0">
                            <a:solidFill>
                              <a:schemeClr val="tx1"/>
                            </a:solidFill>
                            <a:latin typeface="Cambria Math" panose="02040503050406030204" pitchFamily="18" charset="0"/>
                          </a:rPr>
                          <m:t>𝑜</m:t>
                        </m:r>
                      </m:sub>
                    </m:sSub>
                    <m:r>
                      <a:rPr lang="en-US" sz="1200" dirty="0">
                        <a:solidFill>
                          <a:schemeClr val="tx1"/>
                        </a:solidFill>
                        <a:latin typeface="Cambria Math" panose="02040503050406030204" pitchFamily="18" charset="0"/>
                      </a:rPr>
                      <m:t>,</m:t>
                    </m:r>
                    <m:r>
                      <a:rPr lang="en-US" sz="1200" dirty="0">
                        <a:solidFill>
                          <a:schemeClr val="tx1"/>
                        </a:solidFill>
                        <a:latin typeface="Cambria Math" panose="02040503050406030204" pitchFamily="18" charset="0"/>
                      </a:rPr>
                      <m:t>𝑤</m:t>
                    </m:r>
                    <m:r>
                      <a:rPr lang="en-US" sz="1200" dirty="0">
                        <a:solidFill>
                          <a:schemeClr val="tx1"/>
                        </a:solidFill>
                        <a:latin typeface="Cambria Math" panose="02040503050406030204" pitchFamily="18" charset="0"/>
                      </a:rPr>
                      <m:t>)=</m:t>
                    </m:r>
                    <m:sSup>
                      <m:sSupPr>
                        <m:ctrlPr>
                          <a:rPr lang="en-US" sz="1200" i="1" dirty="0">
                            <a:solidFill>
                              <a:schemeClr val="tx1"/>
                            </a:solidFill>
                            <a:latin typeface="Cambria Math"/>
                          </a:rPr>
                        </m:ctrlPr>
                      </m:sSupPr>
                      <m:e>
                        <m:d>
                          <m:dPr>
                            <m:ctrlPr>
                              <a:rPr lang="en-US" sz="1200" i="1" dirty="0">
                                <a:solidFill>
                                  <a:schemeClr val="tx1"/>
                                </a:solidFill>
                                <a:latin typeface="Cambria Math"/>
                              </a:rPr>
                            </m:ctrlPr>
                          </m:dPr>
                          <m:e>
                            <m:r>
                              <a:rPr lang="en-US" sz="1200" dirty="0">
                                <a:solidFill>
                                  <a:schemeClr val="tx1"/>
                                </a:solidFill>
                                <a:latin typeface="Cambria Math" panose="02040503050406030204" pitchFamily="18" charset="0"/>
                              </a:rPr>
                              <m:t>1−</m:t>
                            </m:r>
                            <m:f>
                              <m:fPr>
                                <m:ctrlPr>
                                  <a:rPr lang="en-US" sz="1200" i="1" dirty="0">
                                    <a:solidFill>
                                      <a:schemeClr val="tx1"/>
                                    </a:solidFill>
                                    <a:latin typeface="Cambria Math"/>
                                  </a:rPr>
                                </m:ctrlPr>
                              </m:fPr>
                              <m:num>
                                <m:r>
                                  <a:rPr lang="en-US" sz="1200" dirty="0">
                                    <a:solidFill>
                                      <a:schemeClr val="tx1"/>
                                    </a:solidFill>
                                    <a:latin typeface="Cambria Math" panose="02040503050406030204" pitchFamily="18" charset="0"/>
                                  </a:rPr>
                                  <m:t>𝑤</m:t>
                                </m:r>
                              </m:num>
                              <m:den>
                                <m:sSub>
                                  <m:sSubPr>
                                    <m:ctrlPr>
                                      <a:rPr lang="en-US" sz="1200" i="1" dirty="0">
                                        <a:solidFill>
                                          <a:schemeClr val="tx1"/>
                                        </a:solidFill>
                                        <a:latin typeface="Cambria Math"/>
                                      </a:rPr>
                                    </m:ctrlPr>
                                  </m:sSubPr>
                                  <m:e>
                                    <m:r>
                                      <a:rPr lang="en-US" sz="1200" dirty="0">
                                        <a:solidFill>
                                          <a:schemeClr val="tx1"/>
                                        </a:solidFill>
                                        <a:latin typeface="Cambria Math" panose="02040503050406030204" pitchFamily="18" charset="0"/>
                                      </a:rPr>
                                      <m:t>h</m:t>
                                    </m:r>
                                  </m:e>
                                  <m:sub>
                                    <m:r>
                                      <a:rPr lang="en-US" sz="1200" dirty="0">
                                        <a:solidFill>
                                          <a:schemeClr val="tx1"/>
                                        </a:solidFill>
                                        <a:latin typeface="Cambria Math" panose="02040503050406030204" pitchFamily="18" charset="0"/>
                                      </a:rPr>
                                      <m:t>𝑜</m:t>
                                    </m:r>
                                  </m:sub>
                                </m:sSub>
                              </m:den>
                            </m:f>
                          </m:e>
                        </m:d>
                      </m:e>
                      <m:sup>
                        <m:r>
                          <a:rPr lang="en-US" sz="1200" dirty="0">
                            <a:solidFill>
                              <a:schemeClr val="tx1"/>
                            </a:solidFill>
                            <a:latin typeface="Cambria Math" panose="02040503050406030204" pitchFamily="18" charset="0"/>
                          </a:rPr>
                          <m:t>𝛾</m:t>
                        </m:r>
                      </m:sup>
                    </m:sSup>
                  </m:oMath>
                </a14:m>
                <a:endParaRPr lang="en-US" sz="1200" dirty="0">
                  <a:solidFill>
                    <a:schemeClr val="tx1"/>
                  </a:solidFill>
                </a:endParaRPr>
              </a:p>
            </p:txBody>
          </p:sp>
        </mc:Choice>
        <mc:Fallback xmlns="">
          <p:sp>
            <p:nvSpPr>
              <p:cNvPr id="11" name="Rectangle 10"/>
              <p:cNvSpPr>
                <a:spLocks noRot="1" noChangeAspect="1" noMove="1" noResize="1" noEditPoints="1" noAdjustHandles="1" noChangeArrowheads="1" noChangeShapeType="1" noTextEdit="1"/>
              </p:cNvSpPr>
              <p:nvPr/>
            </p:nvSpPr>
            <p:spPr>
              <a:xfrm>
                <a:off x="5414267" y="3075421"/>
                <a:ext cx="3272650" cy="1563851"/>
              </a:xfrm>
              <a:prstGeom prst="rect">
                <a:avLst/>
              </a:prstGeom>
              <a:blipFill rotWithShape="1">
                <a:blip r:embed="rId5"/>
                <a:stretch>
                  <a:fillRect/>
                </a:stretch>
              </a:blipFill>
              <a:ln>
                <a:solidFill>
                  <a:schemeClr val="accent6">
                    <a:lumMod val="50000"/>
                  </a:schemeClr>
                </a:solidFill>
              </a:ln>
            </p:spPr>
            <p:txBody>
              <a:bodyPr/>
              <a:lstStyle/>
              <a:p>
                <a:r>
                  <a:rPr lang="en-US">
                    <a:noFill/>
                  </a:rPr>
                  <a:t> </a:t>
                </a:r>
              </a:p>
            </p:txBody>
          </p:sp>
        </mc:Fallback>
      </mc:AlternateContent>
      <p:sp>
        <p:nvSpPr>
          <p:cNvPr id="12" name="Rounded Rectangle 11"/>
          <p:cNvSpPr/>
          <p:nvPr/>
        </p:nvSpPr>
        <p:spPr>
          <a:xfrm>
            <a:off x="5414267" y="2765510"/>
            <a:ext cx="3272650" cy="304061"/>
          </a:xfrm>
          <a:prstGeom prst="roundRect">
            <a:avLst/>
          </a:prstGeom>
          <a:solidFill>
            <a:schemeClr val="accent6">
              <a:lumMod val="60000"/>
              <a:lumOff val="4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Cambria Math" panose="02040503050406030204" pitchFamily="18" charset="0"/>
              </a:rPr>
              <a:t>Kidney transplant </a:t>
            </a:r>
          </a:p>
        </p:txBody>
      </p:sp>
      <p:sp>
        <p:nvSpPr>
          <p:cNvPr id="13" name="Rounded Rectangle 12"/>
          <p:cNvSpPr/>
          <p:nvPr/>
        </p:nvSpPr>
        <p:spPr>
          <a:xfrm>
            <a:off x="3402432" y="2275628"/>
            <a:ext cx="1557338" cy="285750"/>
          </a:xfrm>
          <a:prstGeom prst="roundRect">
            <a:avLst/>
          </a:prstGeom>
          <a:solidFill>
            <a:schemeClr val="accent4">
              <a:lumMod val="60000"/>
              <a:lumOff val="4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Cambria Math" panose="02040503050406030204" pitchFamily="18" charset="0"/>
              </a:rPr>
              <a:t>Patient removal</a:t>
            </a:r>
          </a:p>
        </p:txBody>
      </p:sp>
      <p:graphicFrame>
        <p:nvGraphicFramePr>
          <p:cNvPr id="14" name="Table 13"/>
          <p:cNvGraphicFramePr>
            <a:graphicFrameLocks noGrp="1"/>
          </p:cNvGraphicFramePr>
          <p:nvPr>
            <p:extLst>
              <p:ext uri="{D42A27DB-BD31-4B8C-83A1-F6EECF244321}">
                <p14:modId xmlns:p14="http://schemas.microsoft.com/office/powerpoint/2010/main" val="3864745499"/>
              </p:ext>
            </p:extLst>
          </p:nvPr>
        </p:nvGraphicFramePr>
        <p:xfrm>
          <a:off x="3032022" y="892654"/>
          <a:ext cx="2240756" cy="831412"/>
        </p:xfrm>
        <a:graphic>
          <a:graphicData uri="http://schemas.openxmlformats.org/drawingml/2006/table">
            <a:tbl>
              <a:tblPr firstRow="1" bandRow="1">
                <a:tableStyleId>{5C22544A-7EE6-4342-B048-85BDC9FD1C3A}</a:tableStyleId>
              </a:tblPr>
              <a:tblGrid>
                <a:gridCol w="560189">
                  <a:extLst>
                    <a:ext uri="{9D8B030D-6E8A-4147-A177-3AD203B41FA5}">
                      <a16:colId xmlns:a16="http://schemas.microsoft.com/office/drawing/2014/main" xmlns="" val="20000"/>
                    </a:ext>
                  </a:extLst>
                </a:gridCol>
                <a:gridCol w="560189">
                  <a:extLst>
                    <a:ext uri="{9D8B030D-6E8A-4147-A177-3AD203B41FA5}">
                      <a16:colId xmlns:a16="http://schemas.microsoft.com/office/drawing/2014/main" xmlns="" val="20001"/>
                    </a:ext>
                  </a:extLst>
                </a:gridCol>
                <a:gridCol w="560189">
                  <a:extLst>
                    <a:ext uri="{9D8B030D-6E8A-4147-A177-3AD203B41FA5}">
                      <a16:colId xmlns:a16="http://schemas.microsoft.com/office/drawing/2014/main" xmlns="" val="20002"/>
                    </a:ext>
                  </a:extLst>
                </a:gridCol>
                <a:gridCol w="560189">
                  <a:extLst>
                    <a:ext uri="{9D8B030D-6E8A-4147-A177-3AD203B41FA5}">
                      <a16:colId xmlns:a16="http://schemas.microsoft.com/office/drawing/2014/main" xmlns="" val="20003"/>
                    </a:ext>
                  </a:extLst>
                </a:gridCol>
              </a:tblGrid>
              <a:tr h="831412">
                <a:tc>
                  <a:txBody>
                    <a:bodyPr/>
                    <a:lstStyle/>
                    <a:p>
                      <a:endParaRPr lang="en-US"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0000"/>
                  </a:ext>
                </a:extLst>
              </a:tr>
            </a:tbl>
          </a:graphicData>
        </a:graphic>
      </p:graphicFrame>
      <p:cxnSp>
        <p:nvCxnSpPr>
          <p:cNvPr id="27" name="Straight Arrow Connector 26"/>
          <p:cNvCxnSpPr/>
          <p:nvPr/>
        </p:nvCxnSpPr>
        <p:spPr>
          <a:xfrm>
            <a:off x="4155774" y="1755051"/>
            <a:ext cx="0" cy="497941"/>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29" name="Straight Arrow Connector 28"/>
          <p:cNvCxnSpPr/>
          <p:nvPr/>
        </p:nvCxnSpPr>
        <p:spPr>
          <a:xfrm>
            <a:off x="7048964" y="2380928"/>
            <a:ext cx="0" cy="36576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23" name="Rectangle 22"/>
          <p:cNvSpPr/>
          <p:nvPr/>
        </p:nvSpPr>
        <p:spPr>
          <a:xfrm>
            <a:off x="1258093" y="-16725"/>
            <a:ext cx="6458713" cy="461665"/>
          </a:xfrm>
          <a:prstGeom prst="rect">
            <a:avLst/>
          </a:prstGeom>
        </p:spPr>
        <p:txBody>
          <a:bodyPr wrap="square">
            <a:spAutoFit/>
          </a:bodyPr>
          <a:lstStyle/>
          <a:p>
            <a:pPr algn="ctr"/>
            <a:r>
              <a:rPr lang="en-US" sz="2400" dirty="0" smtClean="0">
                <a:solidFill>
                  <a:schemeClr val="accent1">
                    <a:lumMod val="75000"/>
                  </a:schemeClr>
                </a:solidFill>
                <a:latin typeface="+mj-lt"/>
              </a:rPr>
              <a:t>Simulation Model for Multi-Listing</a:t>
            </a:r>
            <a:endParaRPr lang="en-US" sz="2400" dirty="0">
              <a:solidFill>
                <a:schemeClr val="accent1">
                  <a:lumMod val="75000"/>
                </a:schemeClr>
              </a:solidFill>
              <a:latin typeface="+mj-lt"/>
            </a:endParaRPr>
          </a:p>
        </p:txBody>
      </p:sp>
      <p:sp>
        <p:nvSpPr>
          <p:cNvPr id="3" name="Slide Number Placeholder 2"/>
          <p:cNvSpPr>
            <a:spLocks noGrp="1"/>
          </p:cNvSpPr>
          <p:nvPr>
            <p:ph type="sldNum" sz="quarter" idx="4294967295"/>
          </p:nvPr>
        </p:nvSpPr>
        <p:spPr>
          <a:xfrm>
            <a:off x="0" y="4651038"/>
            <a:ext cx="2057400" cy="274637"/>
          </a:xfrm>
          <a:prstGeom prst="rect">
            <a:avLst/>
          </a:prstGeom>
        </p:spPr>
        <p:txBody>
          <a:bodyPr/>
          <a:lstStyle/>
          <a:p>
            <a:fld id="{69E57DC2-970A-4B3E-BB1C-7A09969E49DF}" type="slidenum">
              <a:rPr lang="en-US" smtClean="0"/>
              <a:t>18</a:t>
            </a:fld>
            <a:endParaRPr lang="en-US" dirty="0"/>
          </a:p>
        </p:txBody>
      </p:sp>
      <p:sp>
        <p:nvSpPr>
          <p:cNvPr id="2" name="Notched Right Arrow 1"/>
          <p:cNvSpPr/>
          <p:nvPr/>
        </p:nvSpPr>
        <p:spPr>
          <a:xfrm>
            <a:off x="2700308" y="1171717"/>
            <a:ext cx="401955" cy="273285"/>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p:cNvPicPr>
            <a:picLocks noChangeAspect="1"/>
          </p:cNvPicPr>
          <p:nvPr/>
        </p:nvPicPr>
        <p:blipFill>
          <a:blip r:embed="rId6"/>
          <a:stretch>
            <a:fillRect/>
          </a:stretch>
        </p:blipFill>
        <p:spPr>
          <a:xfrm>
            <a:off x="5094607" y="1171717"/>
            <a:ext cx="356342" cy="273285"/>
          </a:xfrm>
          <a:prstGeom prst="rect">
            <a:avLst/>
          </a:prstGeom>
        </p:spPr>
      </p:pic>
      <p:sp>
        <p:nvSpPr>
          <p:cNvPr id="17" name="Right Brace 16"/>
          <p:cNvSpPr/>
          <p:nvPr/>
        </p:nvSpPr>
        <p:spPr>
          <a:xfrm rot="5400000">
            <a:off x="4918640" y="1543323"/>
            <a:ext cx="142408" cy="565867"/>
          </a:xfrm>
          <a:prstGeom prst="rightBrace">
            <a:avLst>
              <a:gd name="adj1" fmla="val 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Rectangle 17"/>
          <p:cNvSpPr/>
          <p:nvPr/>
        </p:nvSpPr>
        <p:spPr>
          <a:xfrm>
            <a:off x="4833109" y="1766570"/>
            <a:ext cx="298480" cy="369332"/>
          </a:xfrm>
          <a:prstGeom prst="rect">
            <a:avLst/>
          </a:prstGeom>
        </p:spPr>
        <p:txBody>
          <a:bodyPr wrap="none">
            <a:spAutoFit/>
          </a:bodyPr>
          <a:lstStyle/>
          <a:p>
            <a:r>
              <a:rPr lang="en-US" dirty="0">
                <a:latin typeface="Cambria Math" panose="02040503050406030204" pitchFamily="18" charset="0"/>
              </a:rPr>
              <a:t>g</a:t>
            </a:r>
            <a:endParaRPr lang="en-US" dirty="0"/>
          </a:p>
        </p:txBody>
      </p:sp>
      <p:sp>
        <p:nvSpPr>
          <p:cNvPr id="15" name="TextBox 14"/>
          <p:cNvSpPr txBox="1"/>
          <p:nvPr/>
        </p:nvSpPr>
        <p:spPr>
          <a:xfrm>
            <a:off x="1615451" y="2054882"/>
            <a:ext cx="1416571" cy="646331"/>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r>
              <a:rPr lang="en-US" dirty="0" smtClean="0"/>
              <a:t>Add </a:t>
            </a:r>
            <a:r>
              <a:rPr lang="en-US" dirty="0"/>
              <a:t>r</a:t>
            </a:r>
            <a:r>
              <a:rPr lang="en-US" dirty="0" smtClean="0"/>
              <a:t>egion labels</a:t>
            </a:r>
            <a:endParaRPr lang="en-US" dirty="0"/>
          </a:p>
        </p:txBody>
      </p:sp>
      <p:sp>
        <p:nvSpPr>
          <p:cNvPr id="21" name="TextBox 20"/>
          <p:cNvSpPr txBox="1"/>
          <p:nvPr/>
        </p:nvSpPr>
        <p:spPr>
          <a:xfrm>
            <a:off x="7531568" y="80585"/>
            <a:ext cx="1416571" cy="646331"/>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lang="en-US" dirty="0" smtClean="0"/>
              <a:t>11 regional servers</a:t>
            </a:r>
            <a:endParaRPr lang="en-US" dirty="0"/>
          </a:p>
        </p:txBody>
      </p:sp>
      <p:sp>
        <p:nvSpPr>
          <p:cNvPr id="22" name="TextBox 21"/>
          <p:cNvSpPr txBox="1"/>
          <p:nvPr/>
        </p:nvSpPr>
        <p:spPr>
          <a:xfrm>
            <a:off x="3294204" y="526750"/>
            <a:ext cx="1818763" cy="276999"/>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lang="en-US" sz="1200" dirty="0"/>
              <a:t>n</a:t>
            </a:r>
            <a:r>
              <a:rPr lang="en-US" sz="1200" dirty="0" smtClean="0"/>
              <a:t>ational </a:t>
            </a:r>
            <a:r>
              <a:rPr lang="en-US" sz="1200" dirty="0" err="1" smtClean="0"/>
              <a:t>waitinglist</a:t>
            </a:r>
            <a:endParaRPr lang="en-US" sz="1200" dirty="0"/>
          </a:p>
        </p:txBody>
      </p:sp>
      <p:sp>
        <p:nvSpPr>
          <p:cNvPr id="24" name="TextBox 23"/>
          <p:cNvSpPr txBox="1"/>
          <p:nvPr/>
        </p:nvSpPr>
        <p:spPr>
          <a:xfrm>
            <a:off x="1401774" y="3785535"/>
            <a:ext cx="2999021" cy="92333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r>
              <a:rPr lang="en-US" dirty="0"/>
              <a:t>Repeat simulation for all combinations of the feasible regions.</a:t>
            </a:r>
          </a:p>
        </p:txBody>
      </p:sp>
      <mc:AlternateContent xmlns:mc="http://schemas.openxmlformats.org/markup-compatibility/2006" xmlns:a14="http://schemas.microsoft.com/office/drawing/2010/main">
        <mc:Choice Requires="a14">
          <p:sp>
            <p:nvSpPr>
              <p:cNvPr id="25" name="Rectangle 24"/>
              <p:cNvSpPr/>
              <p:nvPr/>
            </p:nvSpPr>
            <p:spPr>
              <a:xfrm>
                <a:off x="3424917" y="2572467"/>
                <a:ext cx="1557338" cy="605447"/>
              </a:xfrm>
              <a:prstGeom prst="rect">
                <a:avLst/>
              </a:prstGeom>
              <a:no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1400" b="0" i="1" smtClean="0">
                              <a:solidFill>
                                <a:schemeClr val="tx1"/>
                              </a:solidFill>
                              <a:latin typeface="Cambria Math"/>
                            </a:rPr>
                          </m:ctrlPr>
                        </m:sSubPr>
                        <m:e>
                          <m:r>
                            <a:rPr lang="en-US" sz="1400" b="0" i="1" smtClean="0">
                              <a:solidFill>
                                <a:schemeClr val="tx1"/>
                              </a:solidFill>
                              <a:latin typeface="Cambria Math" panose="02040503050406030204" pitchFamily="18" charset="0"/>
                            </a:rPr>
                            <m:t>h</m:t>
                          </m:r>
                        </m:e>
                        <m:sub>
                          <m:r>
                            <a:rPr lang="en-US" sz="1400" b="0" i="1" smtClean="0">
                              <a:solidFill>
                                <a:schemeClr val="tx1"/>
                              </a:solidFill>
                              <a:latin typeface="Cambria Math" panose="02040503050406030204" pitchFamily="18" charset="0"/>
                            </a:rPr>
                            <m:t>𝑤</m:t>
                          </m:r>
                        </m:sub>
                      </m:sSub>
                      <m:r>
                        <a:rPr lang="en-US" sz="1400" b="0" i="1" smtClean="0">
                          <a:solidFill>
                            <a:schemeClr val="tx1"/>
                          </a:solidFill>
                          <a:latin typeface="Cambria Math" panose="02040503050406030204" pitchFamily="18" charset="0"/>
                        </a:rPr>
                        <m:t>≤2 </m:t>
                      </m:r>
                      <m:r>
                        <a:rPr lang="en-US" sz="1400" b="0" i="1" smtClean="0">
                          <a:solidFill>
                            <a:schemeClr val="tx1"/>
                          </a:solidFill>
                          <a:latin typeface="Cambria Math" panose="02040503050406030204" pitchFamily="18" charset="0"/>
                        </a:rPr>
                        <m:t>𝑚𝑜𝑛𝑡h</m:t>
                      </m:r>
                      <m:r>
                        <a:rPr lang="en-US" sz="1400" b="0" i="1" smtClean="0">
                          <a:solidFill>
                            <a:schemeClr val="tx1"/>
                          </a:solidFill>
                          <a:latin typeface="Cambria Math"/>
                        </a:rPr>
                        <m:t>+</m:t>
                      </m:r>
                    </m:oMath>
                  </m:oMathPara>
                </a14:m>
                <a:endParaRPr lang="en-US" sz="1400" dirty="0" smtClean="0">
                  <a:solidFill>
                    <a:schemeClr val="tx1"/>
                  </a:solidFill>
                </a:endParaRPr>
              </a:p>
              <a:p>
                <a:pPr algn="ctr"/>
                <a:r>
                  <a:rPr lang="en-US" sz="1400" dirty="0" smtClean="0">
                    <a:solidFill>
                      <a:schemeClr val="tx1"/>
                    </a:solidFill>
                    <a:latin typeface="Cambria Math" panose="02040503050406030204" pitchFamily="18" charset="0"/>
                    <a:ea typeface="Cambria Math" panose="02040503050406030204" pitchFamily="18" charset="0"/>
                  </a:rPr>
                  <a:t>departure rate: </a:t>
                </a:r>
                <a14:m>
                  <m:oMath xmlns:m="http://schemas.openxmlformats.org/officeDocument/2006/math">
                    <m:r>
                      <a:rPr lang="en-US" sz="1400" i="1" smtClean="0">
                        <a:solidFill>
                          <a:schemeClr val="tx1"/>
                        </a:solidFill>
                        <a:latin typeface="Cambria Math"/>
                        <a:ea typeface="Cambria Math"/>
                      </a:rPr>
                      <m:t>𝛿</m:t>
                    </m:r>
                  </m:oMath>
                </a14:m>
                <a:endParaRPr lang="en-US" sz="1400" dirty="0">
                  <a:solidFill>
                    <a:schemeClr val="tx1"/>
                  </a:solidFill>
                </a:endParaRPr>
              </a:p>
            </p:txBody>
          </p:sp>
        </mc:Choice>
        <mc:Fallback xmlns="">
          <p:sp>
            <p:nvSpPr>
              <p:cNvPr id="25" name="Rectangle 24"/>
              <p:cNvSpPr>
                <a:spLocks noRot="1" noChangeAspect="1" noMove="1" noResize="1" noEditPoints="1" noAdjustHandles="1" noChangeArrowheads="1" noChangeShapeType="1" noTextEdit="1"/>
              </p:cNvSpPr>
              <p:nvPr/>
            </p:nvSpPr>
            <p:spPr>
              <a:xfrm>
                <a:off x="3424917" y="2572467"/>
                <a:ext cx="1557338" cy="605447"/>
              </a:xfrm>
              <a:prstGeom prst="rect">
                <a:avLst/>
              </a:prstGeom>
              <a:blipFill rotWithShape="1">
                <a:blip r:embed="rId7"/>
                <a:stretch>
                  <a:fillRect b="-990"/>
                </a:stretch>
              </a:blipFill>
              <a:ln>
                <a:solidFill>
                  <a:schemeClr val="accent4">
                    <a:lumMod val="50000"/>
                  </a:schemeClr>
                </a:solidFill>
              </a:ln>
            </p:spPr>
            <p:txBody>
              <a:bodyPr/>
              <a:lstStyle/>
              <a:p>
                <a:r>
                  <a:rPr lang="en-US">
                    <a:noFill/>
                  </a:rPr>
                  <a:t> </a:t>
                </a:r>
              </a:p>
            </p:txBody>
          </p:sp>
        </mc:Fallback>
      </mc:AlternateContent>
    </p:spTree>
    <p:extLst>
      <p:ext uri="{BB962C8B-B14F-4D97-AF65-F5344CB8AC3E}">
        <p14:creationId xmlns:p14="http://schemas.microsoft.com/office/powerpoint/2010/main" val="323675635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xmlns:p14="http://schemas.microsoft.com/office/powerpoint/2010/mai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1" grpId="0" animBg="1"/>
      <p:bldP spid="22" grpId="0" animBg="1"/>
      <p:bldP spid="2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2400" dirty="0" smtClean="0">
                <a:solidFill>
                  <a:schemeClr val="accent1">
                    <a:lumMod val="75000"/>
                  </a:schemeClr>
                </a:solidFill>
                <a:latin typeface="+mj-lt"/>
              </a:rPr>
              <a:t>Method and Questions</a:t>
            </a:r>
            <a:endParaRPr lang="en-US" sz="2400" dirty="0">
              <a:solidFill>
                <a:schemeClr val="accent1">
                  <a:lumMod val="75000"/>
                </a:schemeClr>
              </a:solidFill>
              <a:latin typeface="+mj-lt"/>
            </a:endParaRPr>
          </a:p>
        </p:txBody>
      </p:sp>
      <p:sp>
        <p:nvSpPr>
          <p:cNvPr id="3" name="Text Placeholder 2"/>
          <p:cNvSpPr>
            <a:spLocks noGrp="1"/>
          </p:cNvSpPr>
          <p:nvPr>
            <p:ph idx="1"/>
          </p:nvPr>
        </p:nvSpPr>
        <p:spPr/>
        <p:txBody>
          <a:bodyPr>
            <a:normAutofit/>
          </a:bodyPr>
          <a:lstStyle/>
          <a:p>
            <a:pPr marL="117475" lvl="1" fontAlgn="base">
              <a:spcBef>
                <a:spcPct val="0"/>
              </a:spcBef>
              <a:spcAft>
                <a:spcPts val="600"/>
              </a:spcAft>
            </a:pPr>
            <a:r>
              <a:rPr lang="en-US" sz="1800" b="1" dirty="0" smtClean="0">
                <a:solidFill>
                  <a:schemeClr val="tx1"/>
                </a:solidFill>
                <a:latin typeface="+mn-lt"/>
              </a:rPr>
              <a:t>Simulation optimization model </a:t>
            </a:r>
            <a:r>
              <a:rPr lang="en-US" sz="1800" dirty="0" smtClean="0">
                <a:solidFill>
                  <a:schemeClr val="tx1"/>
                </a:solidFill>
                <a:latin typeface="+mn-lt"/>
              </a:rPr>
              <a:t>to evaluate the impact of information sharing on organ transplantation.</a:t>
            </a:r>
          </a:p>
          <a:p>
            <a:pPr marL="117475" lvl="1" fontAlgn="base">
              <a:spcBef>
                <a:spcPct val="0"/>
              </a:spcBef>
              <a:spcAft>
                <a:spcPts val="600"/>
              </a:spcAft>
            </a:pPr>
            <a:endParaRPr lang="en-US" sz="1750" dirty="0">
              <a:solidFill>
                <a:schemeClr val="tx1"/>
              </a:solidFill>
              <a:latin typeface="+mn-lt"/>
              <a:ea typeface="ＭＳ Ｐゴシック" charset="0"/>
              <a:cs typeface="ＭＳ Ｐゴシック" charset="0"/>
            </a:endParaRPr>
          </a:p>
          <a:p>
            <a:pPr marL="460375" lvl="1" indent="-342900" fontAlgn="base">
              <a:spcBef>
                <a:spcPct val="0"/>
              </a:spcBef>
              <a:spcAft>
                <a:spcPts val="600"/>
              </a:spcAft>
              <a:buFont typeface="+mj-lt"/>
              <a:buAutoNum type="arabicPeriod"/>
            </a:pPr>
            <a:r>
              <a:rPr lang="en-US" sz="1750" dirty="0" smtClean="0">
                <a:solidFill>
                  <a:schemeClr val="tx1"/>
                </a:solidFill>
                <a:latin typeface="+mn-lt"/>
                <a:ea typeface="ＭＳ Ｐゴシック" charset="0"/>
                <a:cs typeface="ＭＳ Ｐゴシック" charset="0"/>
              </a:rPr>
              <a:t>Information sharing from OPTN to patient and surgeon.</a:t>
            </a:r>
          </a:p>
          <a:p>
            <a:pPr marL="803275" lvl="2" indent="-342900" fontAlgn="base">
              <a:spcBef>
                <a:spcPct val="0"/>
              </a:spcBef>
              <a:spcAft>
                <a:spcPts val="600"/>
              </a:spcAft>
              <a:buFont typeface="Arial" panose="020B0604020202020204" pitchFamily="34" charset="0"/>
              <a:buChar char="•"/>
            </a:pPr>
            <a:r>
              <a:rPr lang="en-US" sz="1450" dirty="0" smtClean="0">
                <a:solidFill>
                  <a:schemeClr val="tx1"/>
                </a:solidFill>
                <a:latin typeface="+mn-lt"/>
                <a:ea typeface="ＭＳ Ｐゴシック" charset="0"/>
                <a:cs typeface="ＭＳ Ｐゴシック" charset="0"/>
              </a:rPr>
              <a:t>What </a:t>
            </a:r>
            <a:r>
              <a:rPr lang="en-US" sz="1450" dirty="0">
                <a:solidFill>
                  <a:schemeClr val="tx1"/>
                </a:solidFill>
                <a:latin typeface="+mn-lt"/>
                <a:ea typeface="ＭＳ Ｐゴシック" charset="0"/>
                <a:cs typeface="ＭＳ Ｐゴシック" charset="0"/>
              </a:rPr>
              <a:t>is the optimal </a:t>
            </a:r>
            <a:r>
              <a:rPr lang="en-US" sz="1450" b="1" dirty="0">
                <a:solidFill>
                  <a:srgbClr val="FF0000"/>
                </a:solidFill>
                <a:latin typeface="+mn-lt"/>
                <a:ea typeface="ＭＳ Ｐゴシック" charset="0"/>
                <a:cs typeface="ＭＳ Ｐゴシック" charset="0"/>
              </a:rPr>
              <a:t>kidney acceptance policy </a:t>
            </a:r>
            <a:r>
              <a:rPr lang="en-US" sz="1450" dirty="0">
                <a:solidFill>
                  <a:schemeClr val="tx1"/>
                </a:solidFill>
                <a:latin typeface="+mn-lt"/>
                <a:ea typeface="ＭＳ Ｐゴシック" charset="0"/>
                <a:cs typeface="ＭＳ Ｐゴシック" charset="0"/>
              </a:rPr>
              <a:t>depending on region</a:t>
            </a:r>
            <a:r>
              <a:rPr lang="en-US" sz="1450" dirty="0" smtClean="0">
                <a:solidFill>
                  <a:schemeClr val="tx1"/>
                </a:solidFill>
                <a:latin typeface="+mn-lt"/>
                <a:ea typeface="ＭＳ Ｐゴシック" charset="0"/>
                <a:cs typeface="ＭＳ Ｐゴシック" charset="0"/>
              </a:rPr>
              <a:t>?</a:t>
            </a:r>
            <a:endParaRPr lang="en-US" sz="1600" dirty="0" smtClean="0">
              <a:solidFill>
                <a:schemeClr val="tx1"/>
              </a:solidFill>
              <a:latin typeface="+mn-lt"/>
              <a:ea typeface="ＭＳ Ｐゴシック" charset="0"/>
              <a:cs typeface="ＭＳ Ｐゴシック" charset="0"/>
            </a:endParaRPr>
          </a:p>
          <a:p>
            <a:pPr marL="803275" lvl="2" indent="-342900" fontAlgn="base">
              <a:spcBef>
                <a:spcPct val="0"/>
              </a:spcBef>
              <a:spcAft>
                <a:spcPts val="600"/>
              </a:spcAft>
              <a:buFont typeface="Arial" panose="020B0604020202020204" pitchFamily="34" charset="0"/>
              <a:buChar char="•"/>
            </a:pPr>
            <a:r>
              <a:rPr lang="en-US" sz="1600" dirty="0" smtClean="0">
                <a:solidFill>
                  <a:schemeClr val="tx1"/>
                </a:solidFill>
                <a:latin typeface="+mn-lt"/>
                <a:ea typeface="ＭＳ Ｐゴシック" charset="0"/>
                <a:cs typeface="ＭＳ Ｐゴシック" charset="0"/>
              </a:rPr>
              <a:t>How to find the optimal </a:t>
            </a:r>
            <a:r>
              <a:rPr lang="en-US" sz="1600" b="1" dirty="0" smtClean="0">
                <a:solidFill>
                  <a:srgbClr val="FF0000"/>
                </a:solidFill>
                <a:latin typeface="+mn-lt"/>
                <a:ea typeface="ＭＳ Ｐゴシック" charset="0"/>
                <a:cs typeface="ＭＳ Ｐゴシック" charset="0"/>
              </a:rPr>
              <a:t>region selection policy </a:t>
            </a:r>
            <a:r>
              <a:rPr lang="en-US" sz="1600" dirty="0" smtClean="0">
                <a:solidFill>
                  <a:schemeClr val="tx1"/>
                </a:solidFill>
                <a:latin typeface="+mn-lt"/>
                <a:ea typeface="ＭＳ Ｐゴシック" charset="0"/>
                <a:cs typeface="ＭＳ Ｐゴシック" charset="0"/>
              </a:rPr>
              <a:t>under a set of budget, distance and performance constraints? </a:t>
            </a:r>
            <a:endParaRPr lang="en-US" sz="1650" dirty="0" smtClean="0">
              <a:solidFill>
                <a:schemeClr val="tx1"/>
              </a:solidFill>
              <a:latin typeface="+mn-lt"/>
              <a:ea typeface="ＭＳ Ｐゴシック" charset="0"/>
              <a:cs typeface="ＭＳ Ｐゴシック" charset="0"/>
            </a:endParaRPr>
          </a:p>
          <a:p>
            <a:pPr marL="460375" lvl="1" indent="-342900" fontAlgn="base">
              <a:spcBef>
                <a:spcPct val="0"/>
              </a:spcBef>
              <a:spcAft>
                <a:spcPts val="600"/>
              </a:spcAft>
              <a:buFont typeface="+mj-lt"/>
              <a:buAutoNum type="arabicPeriod"/>
            </a:pPr>
            <a:endParaRPr lang="en-US" sz="1800" dirty="0" smtClean="0">
              <a:solidFill>
                <a:schemeClr val="tx1"/>
              </a:solidFill>
              <a:latin typeface="+mn-lt"/>
              <a:ea typeface="ＭＳ Ｐゴシック" charset="0"/>
              <a:cs typeface="ＭＳ Ｐゴシック" charset="0"/>
            </a:endParaRPr>
          </a:p>
          <a:p>
            <a:pPr marL="460375" lvl="1" indent="-342900" fontAlgn="base">
              <a:spcBef>
                <a:spcPct val="0"/>
              </a:spcBef>
              <a:spcAft>
                <a:spcPts val="600"/>
              </a:spcAft>
              <a:buFont typeface="+mj-lt"/>
              <a:buAutoNum type="arabicPeriod"/>
            </a:pPr>
            <a:r>
              <a:rPr lang="en-US" sz="1800" dirty="0" smtClean="0">
                <a:solidFill>
                  <a:schemeClr val="tx1"/>
                </a:solidFill>
                <a:latin typeface="+mn-lt"/>
                <a:ea typeface="ＭＳ Ｐゴシック" charset="0"/>
                <a:cs typeface="ＭＳ Ｐゴシック" charset="0"/>
              </a:rPr>
              <a:t>Information sharing from patient/surgeon with OPTN</a:t>
            </a:r>
          </a:p>
          <a:p>
            <a:pPr marL="803275" lvl="2" indent="-342900" fontAlgn="base">
              <a:spcBef>
                <a:spcPct val="0"/>
              </a:spcBef>
              <a:spcAft>
                <a:spcPts val="600"/>
              </a:spcAft>
              <a:buFont typeface="Arial" panose="020B0604020202020204" pitchFamily="34" charset="0"/>
              <a:buChar char="•"/>
            </a:pPr>
            <a:r>
              <a:rPr lang="en-US" sz="1650" dirty="0" smtClean="0">
                <a:solidFill>
                  <a:schemeClr val="tx1"/>
                </a:solidFill>
                <a:latin typeface="+mn-lt"/>
                <a:ea typeface="ＭＳ Ｐゴシック" charset="0"/>
                <a:cs typeface="ＭＳ Ｐゴシック" charset="0"/>
              </a:rPr>
              <a:t>How  does </a:t>
            </a:r>
            <a:r>
              <a:rPr lang="en-US" sz="1650" b="1" dirty="0" smtClean="0">
                <a:solidFill>
                  <a:srgbClr val="FF0000"/>
                </a:solidFill>
                <a:latin typeface="+mn-lt"/>
                <a:ea typeface="ＭＳ Ｐゴシック" charset="0"/>
                <a:cs typeface="ＭＳ Ｐゴシック" charset="0"/>
              </a:rPr>
              <a:t>information sharing  </a:t>
            </a:r>
            <a:r>
              <a:rPr lang="en-US" sz="1650" dirty="0" smtClean="0">
                <a:solidFill>
                  <a:schemeClr val="tx1"/>
                </a:solidFill>
                <a:latin typeface="+mn-lt"/>
                <a:ea typeface="ＭＳ Ｐゴシック" charset="0"/>
                <a:cs typeface="ＭＳ Ｐゴシック" charset="0"/>
              </a:rPr>
              <a:t>improve the efficiency of the kidney allocation system and enhance social welfare utility?</a:t>
            </a:r>
          </a:p>
        </p:txBody>
      </p:sp>
      <p:sp>
        <p:nvSpPr>
          <p:cNvPr id="4" name="Slide Number Placeholder 3"/>
          <p:cNvSpPr>
            <a:spLocks noGrp="1"/>
          </p:cNvSpPr>
          <p:nvPr>
            <p:ph type="sldNum" sz="quarter" idx="4294967295"/>
          </p:nvPr>
        </p:nvSpPr>
        <p:spPr>
          <a:xfrm>
            <a:off x="0" y="4760913"/>
            <a:ext cx="2057400" cy="274637"/>
          </a:xfrm>
          <a:prstGeom prst="rect">
            <a:avLst/>
          </a:prstGeom>
        </p:spPr>
        <p:txBody>
          <a:bodyPr/>
          <a:lstStyle/>
          <a:p>
            <a:fld id="{69E57DC2-970A-4B3E-BB1C-7A09969E49DF}" type="slidenum">
              <a:rPr lang="en-US" smtClean="0"/>
              <a:pPr/>
              <a:t>19</a:t>
            </a:fld>
            <a:endParaRPr lang="en-US" dirty="0"/>
          </a:p>
        </p:txBody>
      </p:sp>
      <p:sp>
        <p:nvSpPr>
          <p:cNvPr id="5" name="Rounded Rectangle 4"/>
          <p:cNvSpPr/>
          <p:nvPr/>
        </p:nvSpPr>
        <p:spPr>
          <a:xfrm>
            <a:off x="667061" y="3731022"/>
            <a:ext cx="8282067" cy="586145"/>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2196007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xmlns:p14="http://schemas.microsoft.com/office/powerpoint/2010/main">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0" y="4760913"/>
            <a:ext cx="2057400" cy="274637"/>
          </a:xfrm>
          <a:prstGeom prst="rect">
            <a:avLst/>
          </a:prstGeom>
        </p:spPr>
        <p:txBody>
          <a:bodyPr/>
          <a:lstStyle/>
          <a:p>
            <a:fld id="{69E57DC2-970A-4B3E-BB1C-7A09969E49DF}" type="slidenum">
              <a:rPr lang="en-US" smtClean="0"/>
              <a:pPr/>
              <a:t>20</a:t>
            </a:fld>
            <a:endParaRPr lang="en-US" dirty="0"/>
          </a:p>
        </p:txBody>
      </p:sp>
      <p:sp>
        <p:nvSpPr>
          <p:cNvPr id="7" name="Rectangle 6"/>
          <p:cNvSpPr/>
          <p:nvPr/>
        </p:nvSpPr>
        <p:spPr>
          <a:xfrm>
            <a:off x="128587" y="297867"/>
            <a:ext cx="8486775" cy="757130"/>
          </a:xfrm>
          <a:prstGeom prst="rect">
            <a:avLst/>
          </a:prstGeom>
        </p:spPr>
        <p:txBody>
          <a:bodyPr wrap="square">
            <a:spAutoFit/>
          </a:bodyPr>
          <a:lstStyle/>
          <a:p>
            <a:pPr algn="ctr" defTabSz="685800">
              <a:lnSpc>
                <a:spcPct val="90000"/>
              </a:lnSpc>
              <a:spcBef>
                <a:spcPts val="750"/>
              </a:spcBef>
            </a:pPr>
            <a:r>
              <a:rPr lang="en-US" sz="2400" dirty="0" smtClean="0">
                <a:solidFill>
                  <a:schemeClr val="accent1">
                    <a:lumMod val="75000"/>
                  </a:schemeClr>
                </a:solidFill>
                <a:latin typeface="+mj-lt"/>
                <a:ea typeface="+mj-ea"/>
                <a:cs typeface="+mj-cs"/>
              </a:rPr>
              <a:t>The Effect of Information Sharing on Patient Transplant Outcomes</a:t>
            </a:r>
            <a:endParaRPr lang="en-US" sz="2400" dirty="0">
              <a:latin typeface="+mj-lt"/>
            </a:endParaRPr>
          </a:p>
        </p:txBody>
      </p:sp>
      <mc:AlternateContent xmlns:mc="http://schemas.openxmlformats.org/markup-compatibility/2006" xmlns:a14="http://schemas.microsoft.com/office/drawing/2010/main">
        <mc:Choice Requires="a14">
          <p:sp>
            <p:nvSpPr>
              <p:cNvPr id="3" name="TextBox 2"/>
              <p:cNvSpPr txBox="1"/>
              <p:nvPr/>
            </p:nvSpPr>
            <p:spPr>
              <a:xfrm>
                <a:off x="464695" y="949501"/>
                <a:ext cx="8526124" cy="4031873"/>
              </a:xfrm>
              <a:prstGeom prst="rect">
                <a:avLst/>
              </a:prstGeom>
              <a:noFill/>
            </p:spPr>
            <p:txBody>
              <a:bodyPr wrap="square" rtlCol="0">
                <a:spAutoFit/>
              </a:bodyPr>
              <a:lstStyle/>
              <a:p>
                <a:r>
                  <a:rPr lang="en-US" sz="1600" b="1" dirty="0" smtClean="0">
                    <a:latin typeface="+mn-lt"/>
                  </a:rPr>
                  <a:t>Current situation</a:t>
                </a:r>
              </a:p>
              <a:p>
                <a:pPr marL="742950" lvl="1" indent="-285750">
                  <a:buFont typeface="Arial" panose="020B0604020202020204" pitchFamily="34" charset="0"/>
                  <a:buChar char="•"/>
                </a:pPr>
                <a:r>
                  <a:rPr lang="en-US" sz="1600" dirty="0" smtClean="0">
                    <a:latin typeface="+mn-lt"/>
                  </a:rPr>
                  <a:t>Kidney is offered to a set of </a:t>
                </a:r>
                <a14:m>
                  <m:oMath xmlns:m="http://schemas.openxmlformats.org/officeDocument/2006/math">
                    <m:r>
                      <a:rPr lang="en-US" sz="1600" b="0" i="1" smtClean="0">
                        <a:latin typeface="Cambria Math"/>
                      </a:rPr>
                      <m:t>𝑔</m:t>
                    </m:r>
                    <m:r>
                      <a:rPr lang="en-US" sz="1600" b="0" i="1" smtClean="0">
                        <a:latin typeface="Cambria Math"/>
                      </a:rPr>
                      <m:t>=5</m:t>
                    </m:r>
                  </m:oMath>
                </a14:m>
                <a:r>
                  <a:rPr lang="en-US" sz="1600" dirty="0" smtClean="0">
                    <a:latin typeface="+mn-lt"/>
                  </a:rPr>
                  <a:t> patients which have 1 hour to decide. </a:t>
                </a:r>
              </a:p>
              <a:p>
                <a:pPr marL="742950" lvl="1" indent="-285750">
                  <a:buFont typeface="Arial" panose="020B0604020202020204" pitchFamily="34" charset="0"/>
                  <a:buChar char="•"/>
                </a:pPr>
                <a:r>
                  <a:rPr lang="en-US" sz="1600" dirty="0" smtClean="0">
                    <a:latin typeface="+mn-lt"/>
                  </a:rPr>
                  <a:t>Kidney is transplanted for each of the </a:t>
                </a:r>
                <a14:m>
                  <m:oMath xmlns:m="http://schemas.openxmlformats.org/officeDocument/2006/math">
                    <m:r>
                      <a:rPr lang="en-US" sz="1600" i="1">
                        <a:latin typeface="Cambria Math"/>
                      </a:rPr>
                      <m:t>𝑔</m:t>
                    </m:r>
                  </m:oMath>
                </a14:m>
                <a:r>
                  <a:rPr lang="en-US" sz="1600" dirty="0" smtClean="0">
                    <a:latin typeface="+mn-lt"/>
                  </a:rPr>
                  <a:t> patient with </a:t>
                </a:r>
                <a14:m>
                  <m:oMath xmlns:m="http://schemas.openxmlformats.org/officeDocument/2006/math">
                    <m:r>
                      <a:rPr lang="en-US" sz="1600" i="1" dirty="0">
                        <a:latin typeface="Cambria Math"/>
                      </a:rPr>
                      <m:t>𝑝</m:t>
                    </m:r>
                    <m:r>
                      <a:rPr lang="en-US" sz="1600" i="1" dirty="0">
                        <a:latin typeface="Cambria Math"/>
                      </a:rPr>
                      <m:t>(</m:t>
                    </m:r>
                    <m:r>
                      <a:rPr lang="en-US" sz="1600" b="0" i="1" dirty="0" smtClean="0">
                        <a:latin typeface="Cambria Math"/>
                      </a:rPr>
                      <m:t>𝑡𝑟𝑎𝑛𝑠</m:t>
                    </m:r>
                    <m:r>
                      <a:rPr lang="en-US" sz="1600" i="1" dirty="0">
                        <a:latin typeface="Cambria Math"/>
                      </a:rPr>
                      <m:t>)=</m:t>
                    </m:r>
                    <m:r>
                      <a:rPr lang="en-US" sz="1600" i="1" dirty="0">
                        <a:latin typeface="Cambria Math"/>
                      </a:rPr>
                      <m:t>𝑝</m:t>
                    </m:r>
                    <m:r>
                      <a:rPr lang="en-US" sz="1600" i="1" dirty="0">
                        <a:latin typeface="Cambria Math"/>
                      </a:rPr>
                      <m:t>(</m:t>
                    </m:r>
                    <m:r>
                      <a:rPr lang="en-US" sz="1600" i="1" dirty="0">
                        <a:latin typeface="Cambria Math"/>
                      </a:rPr>
                      <m:t>𝑝𝑎𝑡𝑖𝑒𝑛𝑡</m:t>
                    </m:r>
                    <m:r>
                      <a:rPr lang="en-US" sz="1600" i="1" dirty="0">
                        <a:latin typeface="Cambria Math"/>
                      </a:rPr>
                      <m:t>)</m:t>
                    </m:r>
                    <m:r>
                      <a:rPr lang="en-US" sz="1600" i="1" dirty="0">
                        <a:latin typeface="Cambria Math"/>
                      </a:rPr>
                      <m:t>𝑝</m:t>
                    </m:r>
                    <m:r>
                      <a:rPr lang="en-US" sz="1600" i="1" dirty="0">
                        <a:latin typeface="Cambria Math"/>
                      </a:rPr>
                      <m:t>(</m:t>
                    </m:r>
                    <m:r>
                      <a:rPr lang="en-US" sz="1600" i="1" dirty="0">
                        <a:latin typeface="Cambria Math"/>
                      </a:rPr>
                      <m:t>𝑐𝑒𝑛𝑡𝑒𝑟</m:t>
                    </m:r>
                    <m:r>
                      <a:rPr lang="en-US" sz="1600" i="1" dirty="0">
                        <a:latin typeface="Cambria Math"/>
                      </a:rPr>
                      <m:t>)</m:t>
                    </m:r>
                  </m:oMath>
                </a14:m>
                <a:endParaRPr lang="en-US" sz="1600" dirty="0">
                  <a:latin typeface="+mn-lt"/>
                </a:endParaRPr>
              </a:p>
              <a:p>
                <a:pPr marL="742950" lvl="1" indent="-285750">
                  <a:buFont typeface="Arial" panose="020B0604020202020204" pitchFamily="34" charset="0"/>
                  <a:buChar char="•"/>
                </a:pPr>
                <a:r>
                  <a:rPr lang="en-US" sz="1600" dirty="0" smtClean="0">
                    <a:latin typeface="+mn-lt"/>
                  </a:rPr>
                  <a:t>If the kidney is not accepted it is re-offered to the next group. </a:t>
                </a:r>
              </a:p>
              <a:p>
                <a:endParaRPr lang="en-US" sz="1600" dirty="0">
                  <a:latin typeface="+mn-lt"/>
                </a:endParaRPr>
              </a:p>
              <a:p>
                <a:r>
                  <a:rPr lang="en-US" sz="1600" b="1" dirty="0" smtClean="0">
                    <a:latin typeface="+mn-lt"/>
                  </a:rPr>
                  <a:t>Under </a:t>
                </a:r>
                <a:r>
                  <a:rPr lang="en-US" sz="1600" b="1" dirty="0">
                    <a:latin typeface="+mn-lt"/>
                  </a:rPr>
                  <a:t>perfect </a:t>
                </a:r>
                <a:r>
                  <a:rPr lang="en-US" sz="1600" b="1" dirty="0" smtClean="0">
                    <a:latin typeface="+mn-lt"/>
                  </a:rPr>
                  <a:t>information OPTN can use for allocation</a:t>
                </a:r>
                <a:endParaRPr lang="en-US" sz="1600" b="1" dirty="0">
                  <a:latin typeface="+mn-lt"/>
                </a:endParaRPr>
              </a:p>
              <a:p>
                <a:pPr marL="742950" lvl="1" indent="-285750">
                  <a:buFont typeface="Arial" panose="020B0604020202020204" pitchFamily="34" charset="0"/>
                  <a:buChar char="•"/>
                </a:pPr>
                <a:r>
                  <a:rPr lang="en-US" sz="1600" dirty="0" smtClean="0">
                    <a:latin typeface="+mn-lt"/>
                  </a:rPr>
                  <a:t>All patient’s kidney quality thresholds. </a:t>
                </a:r>
              </a:p>
              <a:p>
                <a:pPr marL="742950" lvl="1" indent="-285750">
                  <a:buFont typeface="Arial" panose="020B0604020202020204" pitchFamily="34" charset="0"/>
                  <a:buChar char="•"/>
                </a:pPr>
                <a:r>
                  <a:rPr lang="en-US" sz="1600" dirty="0" smtClean="0">
                    <a:latin typeface="+mn-lt"/>
                  </a:rPr>
                  <a:t>Patient’s availability.</a:t>
                </a:r>
              </a:p>
              <a:p>
                <a:pPr marL="742950" lvl="1" indent="-285750">
                  <a:buFont typeface="Arial" panose="020B0604020202020204" pitchFamily="34" charset="0"/>
                  <a:buChar char="•"/>
                </a:pPr>
                <a:r>
                  <a:rPr lang="en-US" sz="1600" dirty="0" smtClean="0">
                    <a:latin typeface="+mn-lt"/>
                  </a:rPr>
                  <a:t>Surgeon and center availability.</a:t>
                </a:r>
              </a:p>
              <a:p>
                <a:pPr lvl="1"/>
                <a:endParaRPr lang="en-US" sz="1600" dirty="0" smtClean="0">
                  <a:latin typeface="+mn-lt"/>
                </a:endParaRPr>
              </a:p>
              <a:p>
                <a:pPr lvl="1"/>
                <a:r>
                  <a:rPr lang="en-US" sz="1600" dirty="0" smtClean="0">
                    <a:latin typeface="+mn-lt"/>
                  </a:rPr>
                  <a:t>OPTN can identify the perfect candidate directly and CIT is minimized.</a:t>
                </a:r>
              </a:p>
              <a:p>
                <a:pPr lvl="1"/>
                <a:r>
                  <a:rPr lang="en-US" sz="1600" dirty="0" smtClean="0">
                    <a:latin typeface="+mn-lt"/>
                  </a:rPr>
                  <a:t>This can be expressed as a group size of  </a:t>
                </a:r>
                <a14:m>
                  <m:oMath xmlns:m="http://schemas.openxmlformats.org/officeDocument/2006/math">
                    <m:r>
                      <a:rPr lang="en-US" sz="1600" b="0" i="1" smtClean="0">
                        <a:latin typeface="Cambria Math"/>
                      </a:rPr>
                      <m:t>𝑔</m:t>
                    </m:r>
                    <m:r>
                      <a:rPr lang="en-US" sz="1600" b="0" i="1" smtClean="0">
                        <a:latin typeface="Cambria Math"/>
                      </a:rPr>
                      <m:t>=∞</m:t>
                    </m:r>
                    <m:r>
                      <a:rPr lang="en-US" sz="1600" b="0" i="0" smtClean="0">
                        <a:latin typeface="Cambria Math"/>
                      </a:rPr>
                      <m:t>.</m:t>
                    </m:r>
                  </m:oMath>
                </a14:m>
                <a:endParaRPr lang="en-US" sz="1600" dirty="0">
                  <a:latin typeface="+mn-lt"/>
                </a:endParaRPr>
              </a:p>
              <a:p>
                <a:pPr lvl="1"/>
                <a:endParaRPr lang="en-US" sz="1600" dirty="0" smtClean="0">
                  <a:latin typeface="+mn-lt"/>
                </a:endParaRPr>
              </a:p>
              <a:p>
                <a:r>
                  <a:rPr lang="en-US" sz="1600" b="1" dirty="0" smtClean="0">
                    <a:latin typeface="+mn-lt"/>
                  </a:rPr>
                  <a:t>Effect of information sharing </a:t>
                </a:r>
                <a:r>
                  <a:rPr lang="en-US" sz="1600" dirty="0" smtClean="0">
                    <a:latin typeface="+mn-lt"/>
                  </a:rPr>
                  <a:t>can be modeled as an increase of </a:t>
                </a:r>
                <a14:m>
                  <m:oMath xmlns:m="http://schemas.openxmlformats.org/officeDocument/2006/math">
                    <m:r>
                      <a:rPr lang="en-US" sz="1600" i="1">
                        <a:latin typeface="Cambria Math"/>
                      </a:rPr>
                      <m:t>𝑔</m:t>
                    </m:r>
                  </m:oMath>
                </a14:m>
                <a:r>
                  <a:rPr lang="en-US" sz="1600" dirty="0" smtClean="0">
                    <a:latin typeface="+mn-lt"/>
                  </a:rPr>
                  <a:t>, a decrease of decision time and an increase of </a:t>
                </a:r>
                <a14:m>
                  <m:oMath xmlns:m="http://schemas.openxmlformats.org/officeDocument/2006/math">
                    <m:r>
                      <a:rPr lang="en-US" sz="1600" i="1" dirty="0">
                        <a:latin typeface="Cambria Math"/>
                      </a:rPr>
                      <m:t>𝑝</m:t>
                    </m:r>
                    <m:r>
                      <a:rPr lang="en-US" sz="1600" i="1" dirty="0">
                        <a:latin typeface="Cambria Math"/>
                      </a:rPr>
                      <m:t>(</m:t>
                    </m:r>
                    <m:r>
                      <a:rPr lang="en-US" sz="1600" i="1" dirty="0">
                        <a:latin typeface="Cambria Math"/>
                      </a:rPr>
                      <m:t>𝑡𝑟𝑎𝑛𝑠</m:t>
                    </m:r>
                    <m:r>
                      <a:rPr lang="en-US" sz="1600" i="1" dirty="0">
                        <a:latin typeface="Cambria Math"/>
                      </a:rPr>
                      <m:t>)</m:t>
                    </m:r>
                  </m:oMath>
                </a14:m>
                <a:r>
                  <a:rPr lang="en-US" sz="1600" dirty="0" smtClean="0">
                    <a:latin typeface="+mn-lt"/>
                  </a:rPr>
                  <a:t>.</a:t>
                </a:r>
              </a:p>
            </p:txBody>
          </p:sp>
        </mc:Choice>
        <mc:Fallback xmlns="">
          <p:sp>
            <p:nvSpPr>
              <p:cNvPr id="3" name="TextBox 2"/>
              <p:cNvSpPr txBox="1">
                <a:spLocks noRot="1" noChangeAspect="1" noMove="1" noResize="1" noEditPoints="1" noAdjustHandles="1" noChangeArrowheads="1" noChangeShapeType="1" noTextEdit="1"/>
              </p:cNvSpPr>
              <p:nvPr/>
            </p:nvSpPr>
            <p:spPr>
              <a:xfrm>
                <a:off x="464695" y="949501"/>
                <a:ext cx="8526124" cy="4031873"/>
              </a:xfrm>
              <a:prstGeom prst="rect">
                <a:avLst/>
              </a:prstGeom>
              <a:blipFill rotWithShape="1">
                <a:blip r:embed="rId3"/>
                <a:stretch>
                  <a:fillRect l="-357" t="-605" b="-908"/>
                </a:stretch>
              </a:blipFill>
            </p:spPr>
            <p:txBody>
              <a:bodyPr/>
              <a:lstStyle/>
              <a:p>
                <a:r>
                  <a:rPr lang="en-US">
                    <a:noFill/>
                  </a:rPr>
                  <a:t> </a:t>
                </a:r>
              </a:p>
            </p:txBody>
          </p:sp>
        </mc:Fallback>
      </mc:AlternateContent>
    </p:spTree>
    <p:extLst>
      <p:ext uri="{BB962C8B-B14F-4D97-AF65-F5344CB8AC3E}">
        <p14:creationId xmlns:p14="http://schemas.microsoft.com/office/powerpoint/2010/main" val="393337871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xmlns:p14="http://schemas.microsoft.com/office/powerpoint/2010/main">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218166" y="582670"/>
            <a:ext cx="2683119" cy="221079"/>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Cambria Math" panose="02040503050406030204" pitchFamily="18" charset="0"/>
              </a:rPr>
              <a:t>Patient enrollment and arrival</a:t>
            </a:r>
          </a:p>
        </p:txBody>
      </p:sp>
      <p:sp>
        <p:nvSpPr>
          <p:cNvPr id="5" name="Rounded Rectangle 4"/>
          <p:cNvSpPr/>
          <p:nvPr/>
        </p:nvSpPr>
        <p:spPr>
          <a:xfrm>
            <a:off x="3032022" y="586354"/>
            <a:ext cx="2240756" cy="226774"/>
          </a:xfrm>
          <a:prstGeom prst="roundRect">
            <a:avLst/>
          </a:prstGeom>
          <a:solidFill>
            <a:schemeClr val="bg1">
              <a:lumMod val="85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chemeClr val="tx1"/>
                </a:solidFill>
                <a:latin typeface="Cambria Math" panose="02040503050406030204" pitchFamily="18" charset="0"/>
              </a:rPr>
              <a:t>region </a:t>
            </a:r>
            <a:r>
              <a:rPr lang="en-US" sz="1400" b="1" dirty="0">
                <a:solidFill>
                  <a:schemeClr val="tx1"/>
                </a:solidFill>
                <a:latin typeface="Cambria Math" panose="02040503050406030204" pitchFamily="18" charset="0"/>
              </a:rPr>
              <a:t>waiting list</a:t>
            </a:r>
          </a:p>
        </p:txBody>
      </p:sp>
      <p:sp>
        <p:nvSpPr>
          <p:cNvPr id="6" name="Rounded Rectangle 5"/>
          <p:cNvSpPr/>
          <p:nvPr/>
        </p:nvSpPr>
        <p:spPr>
          <a:xfrm>
            <a:off x="5422015" y="572870"/>
            <a:ext cx="3264902" cy="261277"/>
          </a:xfrm>
          <a:prstGeom prst="roundRect">
            <a:avLst/>
          </a:prstGeom>
          <a:solidFill>
            <a:srgbClr val="FFCCCC"/>
          </a:solidFill>
          <a:ln>
            <a:solidFill>
              <a:srgbClr val="D602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Cambria Math" panose="02040503050406030204" pitchFamily="18" charset="0"/>
              </a:rPr>
              <a:t>Kidney allocation and acceptance</a:t>
            </a:r>
          </a:p>
        </p:txBody>
      </p:sp>
      <mc:AlternateContent xmlns:mc="http://schemas.openxmlformats.org/markup-compatibility/2006" xmlns:a14="http://schemas.microsoft.com/office/drawing/2010/main">
        <mc:Choice Requires="a14">
          <p:sp>
            <p:nvSpPr>
              <p:cNvPr id="7" name="Rectangle 6"/>
              <p:cNvSpPr/>
              <p:nvPr/>
            </p:nvSpPr>
            <p:spPr>
              <a:xfrm>
                <a:off x="218165" y="824996"/>
                <a:ext cx="2658077" cy="1427995"/>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smtClean="0">
                    <a:solidFill>
                      <a:schemeClr val="tx1"/>
                    </a:solidFill>
                    <a:latin typeface="Cambria Math" panose="02040503050406030204" pitchFamily="18" charset="0"/>
                  </a:rPr>
                  <a:t>Patient arrival rate: </a:t>
                </a:r>
                <a14:m>
                  <m:oMath xmlns:m="http://schemas.openxmlformats.org/officeDocument/2006/math">
                    <m:r>
                      <a:rPr lang="en-US" sz="1400" b="0" i="1" smtClean="0">
                        <a:solidFill>
                          <a:schemeClr val="tx1"/>
                        </a:solidFill>
                        <a:latin typeface="Cambria Math" panose="02040503050406030204" pitchFamily="18" charset="0"/>
                      </a:rPr>
                      <m:t>𝜆</m:t>
                    </m:r>
                  </m:oMath>
                </a14:m>
                <a:endParaRPr lang="en-US" sz="1400" dirty="0">
                  <a:solidFill>
                    <a:schemeClr val="tx1"/>
                  </a:solidFill>
                  <a:latin typeface="Cambria Math" panose="02040503050406030204" pitchFamily="18" charset="0"/>
                </a:endParaRPr>
              </a:p>
              <a:p>
                <a:pPr algn="ctr"/>
                <a:endParaRPr lang="en-US" sz="1400" b="0" i="1" dirty="0" smtClean="0">
                  <a:solidFill>
                    <a:schemeClr val="tx1"/>
                  </a:solidFill>
                  <a:latin typeface="Cambria Math"/>
                </a:endParaRPr>
              </a:p>
              <a:p>
                <a:pPr algn="ctr"/>
                <a:r>
                  <a:rPr lang="en-US" sz="1400" b="0" dirty="0" smtClean="0">
                    <a:solidFill>
                      <a:schemeClr val="tx1"/>
                    </a:solidFill>
                    <a:latin typeface="Cambria Math" panose="02040503050406030204" pitchFamily="18" charset="0"/>
                    <a:ea typeface="Cambria Math" panose="02040503050406030204" pitchFamily="18" charset="0"/>
                  </a:rPr>
                  <a:t>Health: </a:t>
                </a:r>
                <a14:m>
                  <m:oMath xmlns:m="http://schemas.openxmlformats.org/officeDocument/2006/math">
                    <m:sSub>
                      <m:sSubPr>
                        <m:ctrlPr>
                          <a:rPr lang="en-US" sz="1400" b="0" i="1" smtClean="0">
                            <a:solidFill>
                              <a:schemeClr val="tx1"/>
                            </a:solidFill>
                            <a:latin typeface="Cambria Math"/>
                            <a:ea typeface="Cambria Math" panose="02040503050406030204" pitchFamily="18" charset="0"/>
                          </a:rPr>
                        </m:ctrlPr>
                      </m:sSubPr>
                      <m:e>
                        <m:r>
                          <a:rPr lang="en-US" sz="1400" b="0" i="1" smtClean="0">
                            <a:solidFill>
                              <a:schemeClr val="tx1"/>
                            </a:solidFill>
                            <a:latin typeface="Cambria Math" panose="02040503050406030204" pitchFamily="18" charset="0"/>
                            <a:ea typeface="Cambria Math" panose="02040503050406030204" pitchFamily="18" charset="0"/>
                          </a:rPr>
                          <m:t>𝐻</m:t>
                        </m:r>
                      </m:e>
                      <m:sub>
                        <m:r>
                          <a:rPr lang="en-US" sz="1400" b="0" i="1" smtClean="0">
                            <a:solidFill>
                              <a:schemeClr val="tx1"/>
                            </a:solidFill>
                            <a:latin typeface="Cambria Math" panose="02040503050406030204" pitchFamily="18" charset="0"/>
                            <a:ea typeface="Cambria Math" panose="02040503050406030204" pitchFamily="18" charset="0"/>
                          </a:rPr>
                          <m:t>0</m:t>
                        </m:r>
                      </m:sub>
                    </m:sSub>
                    <m:r>
                      <a:rPr lang="en-US" sz="1400" b="0" i="1" smtClean="0">
                        <a:solidFill>
                          <a:schemeClr val="tx1"/>
                        </a:solidFill>
                        <a:latin typeface="Cambria Math" panose="02040503050406030204" pitchFamily="18" charset="0"/>
                        <a:ea typeface="Cambria Math" panose="02040503050406030204" pitchFamily="18" charset="0"/>
                      </a:rPr>
                      <m:t>~</m:t>
                    </m:r>
                    <m:r>
                      <a:rPr lang="en-US" sz="1400" i="1">
                        <a:solidFill>
                          <a:schemeClr val="tx1"/>
                        </a:solidFill>
                        <a:latin typeface="Cambria Math" panose="02040503050406030204" pitchFamily="18" charset="0"/>
                        <a:ea typeface="Cambria Math" panose="02040503050406030204" pitchFamily="18" charset="0"/>
                      </a:rPr>
                      <m:t>𝑤𝑒𝑖𝑏𝑢𝑙𝑙</m:t>
                    </m:r>
                    <m:d>
                      <m:dPr>
                        <m:ctrlPr>
                          <a:rPr lang="en-US" sz="1400" b="0" i="1" smtClean="0">
                            <a:solidFill>
                              <a:schemeClr val="tx1"/>
                            </a:solidFill>
                            <a:latin typeface="Cambria Math"/>
                            <a:ea typeface="Cambria Math" panose="02040503050406030204" pitchFamily="18" charset="0"/>
                          </a:rPr>
                        </m:ctrlPr>
                      </m:dPr>
                      <m:e>
                        <m:r>
                          <a:rPr lang="en-US" sz="1400" b="0" i="1" smtClean="0">
                            <a:solidFill>
                              <a:schemeClr val="tx1"/>
                            </a:solidFill>
                            <a:latin typeface="Cambria Math" panose="02040503050406030204" pitchFamily="18" charset="0"/>
                            <a:ea typeface="Cambria Math" panose="02040503050406030204" pitchFamily="18" charset="0"/>
                          </a:rPr>
                          <m:t>𝑎</m:t>
                        </m:r>
                        <m:r>
                          <a:rPr lang="en-US" sz="1400" b="0" i="1" smtClean="0">
                            <a:solidFill>
                              <a:schemeClr val="tx1"/>
                            </a:solidFill>
                            <a:latin typeface="Cambria Math" panose="02040503050406030204" pitchFamily="18" charset="0"/>
                            <a:ea typeface="Cambria Math" panose="02040503050406030204" pitchFamily="18" charset="0"/>
                          </a:rPr>
                          <m:t>,</m:t>
                        </m:r>
                        <m:r>
                          <a:rPr lang="en-US" sz="1400" b="0" i="1" smtClean="0">
                            <a:solidFill>
                              <a:schemeClr val="tx1"/>
                            </a:solidFill>
                            <a:latin typeface="Cambria Math" panose="02040503050406030204" pitchFamily="18" charset="0"/>
                            <a:ea typeface="Cambria Math" panose="02040503050406030204" pitchFamily="18" charset="0"/>
                          </a:rPr>
                          <m:t>𝑏</m:t>
                        </m:r>
                      </m:e>
                    </m:d>
                  </m:oMath>
                </a14:m>
                <a:endParaRPr lang="en-US" sz="1400" b="0" i="1" dirty="0" smtClean="0">
                  <a:solidFill>
                    <a:schemeClr val="tx1"/>
                  </a:solidFill>
                  <a:latin typeface="Cambria Math" panose="02040503050406030204" pitchFamily="18" charset="0"/>
                  <a:ea typeface="Cambria Math" panose="02040503050406030204" pitchFamily="18" charset="0"/>
                </a:endParaRPr>
              </a:p>
              <a:p>
                <a:pPr algn="ctr"/>
                <a:r>
                  <a:rPr lang="en-US" sz="1400" dirty="0">
                    <a:solidFill>
                      <a:schemeClr val="tx1"/>
                    </a:solidFill>
                    <a:latin typeface="Cambria Math" panose="02040503050406030204" pitchFamily="18" charset="0"/>
                    <a:ea typeface="Cambria Math" panose="02040503050406030204" pitchFamily="18" charset="0"/>
                  </a:rPr>
                  <a:t>A</a:t>
                </a:r>
                <a:r>
                  <a:rPr lang="en-US" sz="1400" dirty="0" smtClean="0">
                    <a:solidFill>
                      <a:schemeClr val="tx1"/>
                    </a:solidFill>
                    <a:latin typeface="Cambria Math" panose="02040503050406030204" pitchFamily="18" charset="0"/>
                    <a:ea typeface="Cambria Math" panose="02040503050406030204" pitchFamily="18" charset="0"/>
                  </a:rPr>
                  <a:t>cceptance: </a:t>
                </a:r>
                <a14:m>
                  <m:oMath xmlns:m="http://schemas.openxmlformats.org/officeDocument/2006/math">
                    <m:r>
                      <a:rPr lang="en-US" sz="1400" b="0" i="1" smtClean="0">
                        <a:solidFill>
                          <a:schemeClr val="tx1"/>
                        </a:solidFill>
                        <a:latin typeface="Cambria Math" panose="02040503050406030204" pitchFamily="18" charset="0"/>
                        <a:ea typeface="Cambria Math" panose="02040503050406030204" pitchFamily="18" charset="0"/>
                      </a:rPr>
                      <m:t>𝐾</m:t>
                    </m:r>
                    <m:r>
                      <a:rPr lang="en-US" sz="1400" b="0" i="1" smtClean="0">
                        <a:solidFill>
                          <a:schemeClr val="tx1"/>
                        </a:solidFill>
                        <a:latin typeface="Cambria Math" panose="02040503050406030204" pitchFamily="18" charset="0"/>
                        <a:ea typeface="Cambria Math" panose="02040503050406030204" pitchFamily="18" charset="0"/>
                      </a:rPr>
                      <m:t>~</m:t>
                    </m:r>
                    <m:r>
                      <a:rPr lang="en-US" sz="1400" b="0" i="1" smtClean="0">
                        <a:solidFill>
                          <a:schemeClr val="tx1"/>
                        </a:solidFill>
                        <a:latin typeface="Cambria Math" panose="02040503050406030204" pitchFamily="18" charset="0"/>
                        <a:ea typeface="Cambria Math" panose="02040503050406030204" pitchFamily="18" charset="0"/>
                      </a:rPr>
                      <m:t>𝑢𝑛𝑖𝑓</m:t>
                    </m:r>
                    <m:d>
                      <m:dPr>
                        <m:ctrlPr>
                          <a:rPr lang="en-US" sz="1400" b="0" i="1" smtClean="0">
                            <a:solidFill>
                              <a:schemeClr val="tx1"/>
                            </a:solidFill>
                            <a:latin typeface="Cambria Math"/>
                            <a:ea typeface="Cambria Math" panose="02040503050406030204" pitchFamily="18" charset="0"/>
                          </a:rPr>
                        </m:ctrlPr>
                      </m:dPr>
                      <m:e>
                        <m:r>
                          <a:rPr lang="en-US" sz="1400" b="0" i="1" smtClean="0">
                            <a:solidFill>
                              <a:schemeClr val="tx1"/>
                            </a:solidFill>
                            <a:latin typeface="Cambria Math" panose="02040503050406030204" pitchFamily="18" charset="0"/>
                            <a:ea typeface="Cambria Math" panose="02040503050406030204" pitchFamily="18" charset="0"/>
                          </a:rPr>
                          <m:t>0,1</m:t>
                        </m:r>
                      </m:e>
                    </m:d>
                  </m:oMath>
                </a14:m>
                <a:endParaRPr lang="en-US" sz="1400" b="0" dirty="0" smtClean="0">
                  <a:solidFill>
                    <a:schemeClr val="tx1"/>
                  </a:solidFill>
                  <a:latin typeface="Cambria Math" panose="02040503050406030204" pitchFamily="18" charset="0"/>
                  <a:ea typeface="Cambria Math" panose="02040503050406030204" pitchFamily="18" charset="0"/>
                </a:endParaRPr>
              </a:p>
              <a:p>
                <a:pPr algn="ctr"/>
                <a:endParaRPr lang="en-US" dirty="0" smtClean="0">
                  <a:solidFill>
                    <a:schemeClr val="tx1"/>
                  </a:solidFill>
                </a:endParaRPr>
              </a:p>
            </p:txBody>
          </p:sp>
        </mc:Choice>
        <mc:Fallback xmlns="">
          <p:sp>
            <p:nvSpPr>
              <p:cNvPr id="7" name="Rectangle 6"/>
              <p:cNvSpPr>
                <a:spLocks noRot="1" noChangeAspect="1" noMove="1" noResize="1" noEditPoints="1" noAdjustHandles="1" noChangeArrowheads="1" noChangeShapeType="1" noTextEdit="1"/>
              </p:cNvSpPr>
              <p:nvPr/>
            </p:nvSpPr>
            <p:spPr>
              <a:xfrm>
                <a:off x="218165" y="824996"/>
                <a:ext cx="2658077" cy="1427995"/>
              </a:xfrm>
              <a:prstGeom prst="rect">
                <a:avLst/>
              </a:prstGeom>
              <a:blipFill rotWithShape="1">
                <a:blip r:embed="rId3"/>
                <a:stretch>
                  <a:fillRect l="-4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5414267" y="855857"/>
                <a:ext cx="3272650" cy="1522191"/>
              </a:xfrm>
              <a:prstGeom prst="rect">
                <a:avLst/>
              </a:prstGeom>
              <a:solidFill>
                <a:srgbClr val="FFCCCC"/>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smtClean="0">
                    <a:solidFill>
                      <a:schemeClr val="tx1"/>
                    </a:solidFill>
                    <a:latin typeface="Cambria Math" panose="02040503050406030204" pitchFamily="18" charset="0"/>
                  </a:rPr>
                  <a:t>Kidney arrival rate: </a:t>
                </a:r>
                <a14:m>
                  <m:oMath xmlns:m="http://schemas.openxmlformats.org/officeDocument/2006/math">
                    <m:r>
                      <a:rPr lang="en-US" sz="1200">
                        <a:solidFill>
                          <a:schemeClr val="tx1"/>
                        </a:solidFill>
                        <a:latin typeface="Cambria Math" panose="02040503050406030204" pitchFamily="18" charset="0"/>
                      </a:rPr>
                      <m:t>𝜇</m:t>
                    </m:r>
                  </m:oMath>
                </a14:m>
                <a:r>
                  <a:rPr lang="en-US" sz="1200" dirty="0" smtClean="0">
                    <a:solidFill>
                      <a:schemeClr val="tx1"/>
                    </a:solidFill>
                    <a:latin typeface="Cambria Math" panose="02040503050406030204" pitchFamily="18" charset="0"/>
                  </a:rPr>
                  <a:t> with quality </a:t>
                </a:r>
                <a14:m>
                  <m:oMath xmlns:m="http://schemas.openxmlformats.org/officeDocument/2006/math">
                    <m:sSub>
                      <m:sSubPr>
                        <m:ctrlPr>
                          <a:rPr lang="en-US" sz="1200" i="1">
                            <a:solidFill>
                              <a:schemeClr val="tx1"/>
                            </a:solidFill>
                            <a:latin typeface="Cambria Math"/>
                          </a:rPr>
                        </m:ctrlPr>
                      </m:sSubPr>
                      <m:e>
                        <m:r>
                          <a:rPr lang="en-US" sz="1200" i="1">
                            <a:solidFill>
                              <a:schemeClr val="tx1"/>
                            </a:solidFill>
                            <a:latin typeface="Cambria Math"/>
                          </a:rPr>
                          <m:t>𝑞</m:t>
                        </m:r>
                      </m:e>
                      <m:sub>
                        <m:r>
                          <a:rPr lang="en-US" sz="1200" b="0" i="1" smtClean="0">
                            <a:solidFill>
                              <a:schemeClr val="tx1"/>
                            </a:solidFill>
                            <a:latin typeface="Cambria Math"/>
                          </a:rPr>
                          <m:t>𝑡</m:t>
                        </m:r>
                      </m:sub>
                    </m:sSub>
                    <m:r>
                      <a:rPr lang="en-US" sz="1200" b="0" i="1" smtClean="0">
                        <a:solidFill>
                          <a:schemeClr val="tx1"/>
                        </a:solidFill>
                        <a:latin typeface="Cambria Math"/>
                      </a:rPr>
                      <m:t>;</m:t>
                    </m:r>
                  </m:oMath>
                </a14:m>
                <a:r>
                  <a:rPr lang="en-US" sz="1200" dirty="0" smtClean="0">
                    <a:solidFill>
                      <a:schemeClr val="tx1"/>
                    </a:solidFill>
                    <a:latin typeface="Cambria Math" panose="02040503050406030204" pitchFamily="18" charset="0"/>
                  </a:rPr>
                  <a:t> </a:t>
                </a:r>
                <a14:m>
                  <m:oMath xmlns:m="http://schemas.openxmlformats.org/officeDocument/2006/math">
                    <m:r>
                      <a:rPr lang="en-US" sz="1200" b="0" i="1" smtClean="0">
                        <a:solidFill>
                          <a:schemeClr val="tx1"/>
                        </a:solidFill>
                        <a:latin typeface="Cambria Math"/>
                      </a:rPr>
                      <m:t>𝑡</m:t>
                    </m:r>
                    <m:r>
                      <a:rPr lang="en-US" sz="1200" b="0" i="1" smtClean="0">
                        <a:solidFill>
                          <a:schemeClr val="tx1"/>
                        </a:solidFill>
                        <a:latin typeface="Cambria Math"/>
                      </a:rPr>
                      <m:t>=0</m:t>
                    </m:r>
                  </m:oMath>
                </a14:m>
                <a:endParaRPr lang="en-US" sz="1200" dirty="0" smtClean="0">
                  <a:solidFill>
                    <a:schemeClr val="tx1"/>
                  </a:solidFill>
                  <a:latin typeface="Cambria Math" panose="02040503050406030204" pitchFamily="18" charset="0"/>
                </a:endParaRPr>
              </a:p>
              <a:p>
                <a:r>
                  <a:rPr lang="en-US" sz="1200" dirty="0" smtClean="0">
                    <a:solidFill>
                      <a:schemeClr val="tx1"/>
                    </a:solidFill>
                    <a:latin typeface="Cambria Math" panose="02040503050406030204" pitchFamily="18" charset="0"/>
                  </a:rPr>
                  <a:t>Offering </a:t>
                </a:r>
                <a:r>
                  <a:rPr lang="en-US" sz="1200" dirty="0">
                    <a:solidFill>
                      <a:schemeClr val="tx1"/>
                    </a:solidFill>
                    <a:latin typeface="Cambria Math" panose="02040503050406030204" pitchFamily="18" charset="0"/>
                  </a:rPr>
                  <a:t>group size: </a:t>
                </a:r>
                <a:r>
                  <a:rPr lang="en-US" sz="1200" dirty="0" smtClean="0">
                    <a:solidFill>
                      <a:schemeClr val="tx1"/>
                    </a:solidFill>
                    <a:latin typeface="Cambria Math" panose="02040503050406030204" pitchFamily="18" charset="0"/>
                  </a:rPr>
                  <a:t>g / decision </a:t>
                </a:r>
                <a:r>
                  <a:rPr lang="en-US" sz="1200" dirty="0">
                    <a:solidFill>
                      <a:schemeClr val="tx1"/>
                    </a:solidFill>
                    <a:latin typeface="Cambria Math" panose="02040503050406030204" pitchFamily="18" charset="0"/>
                  </a:rPr>
                  <a:t>time: </a:t>
                </a:r>
                <a:r>
                  <a:rPr lang="en-US" sz="1200" dirty="0" smtClean="0">
                    <a:solidFill>
                      <a:schemeClr val="tx1"/>
                    </a:solidFill>
                    <a:latin typeface="Cambria Math" panose="02040503050406030204" pitchFamily="18" charset="0"/>
                  </a:rPr>
                  <a:t>1 hour</a:t>
                </a:r>
                <a:endParaRPr lang="en-US" sz="1200" dirty="0">
                  <a:solidFill>
                    <a:schemeClr val="tx1"/>
                  </a:solidFill>
                  <a:latin typeface="Cambria Math" panose="02040503050406030204" pitchFamily="18" charset="0"/>
                </a:endParaRPr>
              </a:p>
              <a:p>
                <a:endParaRPr lang="en-US" sz="1200" dirty="0" smtClean="0">
                  <a:solidFill>
                    <a:schemeClr val="tx1"/>
                  </a:solidFill>
                  <a:latin typeface="Cambria Math" panose="02040503050406030204" pitchFamily="18" charset="0"/>
                </a:endParaRPr>
              </a:p>
              <a:p>
                <a:r>
                  <a:rPr lang="en-US" sz="1200" dirty="0" smtClean="0">
                    <a:solidFill>
                      <a:schemeClr val="tx1"/>
                    </a:solidFill>
                    <a:latin typeface="Cambria Math" panose="02040503050406030204" pitchFamily="18" charset="0"/>
                  </a:rPr>
                  <a:t>if </a:t>
                </a:r>
                <a:r>
                  <a:rPr lang="en-US" sz="1200" i="1" dirty="0" smtClean="0">
                    <a:solidFill>
                      <a:schemeClr val="tx1"/>
                    </a:solidFill>
                    <a:latin typeface="Cambria Math" panose="02040503050406030204" pitchFamily="18" charset="0"/>
                  </a:rPr>
                  <a:t> </a:t>
                </a:r>
                <a14:m>
                  <m:oMath xmlns:m="http://schemas.openxmlformats.org/officeDocument/2006/math">
                    <m:sSub>
                      <m:sSubPr>
                        <m:ctrlPr>
                          <a:rPr lang="en-US" sz="1200" b="1" i="1" smtClean="0">
                            <a:solidFill>
                              <a:schemeClr val="tx1"/>
                            </a:solidFill>
                            <a:latin typeface="Cambria Math"/>
                          </a:rPr>
                        </m:ctrlPr>
                      </m:sSubPr>
                      <m:e>
                        <m:r>
                          <a:rPr lang="en-US" sz="1200" b="1" i="1" smtClean="0">
                            <a:solidFill>
                              <a:schemeClr val="tx1"/>
                            </a:solidFill>
                            <a:latin typeface="Cambria Math"/>
                          </a:rPr>
                          <m:t>𝒒</m:t>
                        </m:r>
                      </m:e>
                      <m:sub>
                        <m:r>
                          <a:rPr lang="en-US" sz="1200" b="1" i="1" smtClean="0">
                            <a:solidFill>
                              <a:schemeClr val="tx1"/>
                            </a:solidFill>
                            <a:latin typeface="Cambria Math"/>
                          </a:rPr>
                          <m:t>𝒕</m:t>
                        </m:r>
                      </m:sub>
                    </m:sSub>
                    <m:r>
                      <a:rPr lang="en-US" sz="1200" b="1">
                        <a:solidFill>
                          <a:schemeClr val="tx1"/>
                        </a:solidFill>
                        <a:latin typeface="Cambria Math" panose="02040503050406030204" pitchFamily="18" charset="0"/>
                      </a:rPr>
                      <m:t>&gt;</m:t>
                    </m:r>
                    <m:r>
                      <a:rPr lang="en-US" sz="1200" b="1" i="1">
                        <a:solidFill>
                          <a:schemeClr val="tx1"/>
                        </a:solidFill>
                        <a:latin typeface="Cambria Math" panose="02040503050406030204" pitchFamily="18" charset="0"/>
                      </a:rPr>
                      <m:t>𝐤</m:t>
                    </m:r>
                  </m:oMath>
                </a14:m>
                <a:r>
                  <a:rPr lang="en-US" sz="1200" b="1" dirty="0">
                    <a:solidFill>
                      <a:schemeClr val="tx1"/>
                    </a:solidFill>
                    <a:latin typeface="Cambria Math" panose="02040503050406030204" pitchFamily="18" charset="0"/>
                  </a:rPr>
                  <a:t>, </a:t>
                </a:r>
                <a:r>
                  <a:rPr lang="en-US" sz="1200" dirty="0">
                    <a:solidFill>
                      <a:schemeClr val="tx1"/>
                    </a:solidFill>
                    <a:latin typeface="Cambria Math" panose="02040503050406030204" pitchFamily="18" charset="0"/>
                  </a:rPr>
                  <a:t>accept </a:t>
                </a:r>
                <a:r>
                  <a:rPr lang="en-US" sz="1200" dirty="0" smtClean="0">
                    <a:solidFill>
                      <a:schemeClr val="tx1"/>
                    </a:solidFill>
                    <a:latin typeface="Cambria Math" panose="02040503050406030204" pitchFamily="18" charset="0"/>
                  </a:rPr>
                  <a:t>and transplant with </a:t>
                </a:r>
                <a:r>
                  <a:rPr lang="en-US" sz="1200" dirty="0">
                    <a:solidFill>
                      <a:schemeClr val="tx1"/>
                    </a:solidFill>
                    <a:latin typeface="Cambria Math" panose="02040503050406030204" pitchFamily="18" charset="0"/>
                  </a:rPr>
                  <a:t>probability </a:t>
                </a:r>
                <a14:m>
                  <m:oMath xmlns:m="http://schemas.openxmlformats.org/officeDocument/2006/math">
                    <m:r>
                      <a:rPr lang="en-US" sz="1200" i="1" dirty="0">
                        <a:solidFill>
                          <a:schemeClr val="tx1"/>
                        </a:solidFill>
                        <a:latin typeface="Cambria Math" panose="02040503050406030204" pitchFamily="18" charset="0"/>
                      </a:rPr>
                      <m:t>𝑝</m:t>
                    </m:r>
                    <m:d>
                      <m:dPr>
                        <m:ctrlPr>
                          <a:rPr lang="en-US" sz="1200" i="1" dirty="0">
                            <a:solidFill>
                              <a:schemeClr val="tx1"/>
                            </a:solidFill>
                            <a:latin typeface="Cambria Math"/>
                          </a:rPr>
                        </m:ctrlPr>
                      </m:dPr>
                      <m:e>
                        <m:r>
                          <a:rPr lang="en-US" sz="1200" b="0" i="1" dirty="0" smtClean="0">
                            <a:solidFill>
                              <a:schemeClr val="tx1"/>
                            </a:solidFill>
                            <a:latin typeface="Cambria Math"/>
                          </a:rPr>
                          <m:t>𝑡𝑟𝑎𝑛𝑠</m:t>
                        </m:r>
                      </m:e>
                    </m:d>
                    <m:r>
                      <a:rPr lang="en-US" sz="1200" i="1" dirty="0" smtClean="0">
                        <a:solidFill>
                          <a:schemeClr val="tx1"/>
                        </a:solidFill>
                        <a:latin typeface="Cambria Math" panose="02040503050406030204" pitchFamily="18" charset="0"/>
                      </a:rPr>
                      <m:t>=</m:t>
                    </m:r>
                    <m:r>
                      <a:rPr lang="en-US" sz="1200" i="1" dirty="0" smtClean="0">
                        <a:solidFill>
                          <a:schemeClr val="tx1"/>
                        </a:solidFill>
                        <a:latin typeface="Cambria Math" panose="02040503050406030204" pitchFamily="18" charset="0"/>
                      </a:rPr>
                      <m:t>𝑝</m:t>
                    </m:r>
                    <m:r>
                      <a:rPr lang="en-US" sz="1200" i="1" dirty="0" smtClean="0">
                        <a:solidFill>
                          <a:schemeClr val="tx1"/>
                        </a:solidFill>
                        <a:latin typeface="Cambria Math" panose="02040503050406030204" pitchFamily="18" charset="0"/>
                      </a:rPr>
                      <m:t>(</m:t>
                    </m:r>
                    <m:r>
                      <a:rPr lang="en-US" sz="1200" i="1" dirty="0" smtClean="0">
                        <a:solidFill>
                          <a:schemeClr val="tx1"/>
                        </a:solidFill>
                        <a:latin typeface="Cambria Math" panose="02040503050406030204" pitchFamily="18" charset="0"/>
                      </a:rPr>
                      <m:t>𝑝𝑎𝑡𝑖𝑒𝑛𝑡</m:t>
                    </m:r>
                    <m:r>
                      <a:rPr lang="en-US" sz="1200" i="1" dirty="0" smtClean="0">
                        <a:solidFill>
                          <a:schemeClr val="tx1"/>
                        </a:solidFill>
                        <a:latin typeface="Cambria Math" panose="02040503050406030204" pitchFamily="18" charset="0"/>
                      </a:rPr>
                      <m:t>)</m:t>
                    </m:r>
                    <m:r>
                      <a:rPr lang="en-US" sz="1200" i="1" dirty="0" smtClean="0">
                        <a:solidFill>
                          <a:schemeClr val="tx1"/>
                        </a:solidFill>
                        <a:latin typeface="Cambria Math" panose="02040503050406030204" pitchFamily="18" charset="0"/>
                      </a:rPr>
                      <m:t>𝑝</m:t>
                    </m:r>
                    <m:r>
                      <a:rPr lang="en-US" sz="1200" i="1" dirty="0" smtClean="0">
                        <a:solidFill>
                          <a:schemeClr val="tx1"/>
                        </a:solidFill>
                        <a:latin typeface="Cambria Math" panose="02040503050406030204" pitchFamily="18" charset="0"/>
                      </a:rPr>
                      <m:t>(</m:t>
                    </m:r>
                    <m:r>
                      <a:rPr lang="en-US" sz="1200" i="1" dirty="0" smtClean="0">
                        <a:solidFill>
                          <a:schemeClr val="tx1"/>
                        </a:solidFill>
                        <a:latin typeface="Cambria Math" panose="02040503050406030204" pitchFamily="18" charset="0"/>
                      </a:rPr>
                      <m:t>𝑐𝑒𝑛𝑡𝑒𝑟</m:t>
                    </m:r>
                    <m:r>
                      <a:rPr lang="en-US" sz="1200" i="1" dirty="0" smtClean="0">
                        <a:solidFill>
                          <a:schemeClr val="tx1"/>
                        </a:solidFill>
                        <a:latin typeface="Cambria Math" panose="02040503050406030204" pitchFamily="18" charset="0"/>
                      </a:rPr>
                      <m:t>)</m:t>
                    </m:r>
                  </m:oMath>
                </a14:m>
                <a:endParaRPr lang="en-US" sz="1200" dirty="0">
                  <a:solidFill>
                    <a:schemeClr val="tx1"/>
                  </a:solidFill>
                  <a:latin typeface="Cambria Math" panose="02040503050406030204" pitchFamily="18" charset="0"/>
                </a:endParaRPr>
              </a:p>
              <a:p>
                <a:r>
                  <a:rPr lang="en-US" sz="1200" dirty="0">
                    <a:solidFill>
                      <a:schemeClr val="tx1"/>
                    </a:solidFill>
                    <a:latin typeface="Cambria Math" panose="02040503050406030204" pitchFamily="18" charset="0"/>
                  </a:rPr>
                  <a:t>else set </a:t>
                </a:r>
                <a14:m>
                  <m:oMath xmlns:m="http://schemas.openxmlformats.org/officeDocument/2006/math">
                    <m:sSub>
                      <m:sSubPr>
                        <m:ctrlPr>
                          <a:rPr lang="en-US" sz="1200" i="1">
                            <a:solidFill>
                              <a:schemeClr val="tx1"/>
                            </a:solidFill>
                            <a:latin typeface="Cambria Math"/>
                          </a:rPr>
                        </m:ctrlPr>
                      </m:sSubPr>
                      <m:e>
                        <m:r>
                          <a:rPr lang="en-US" sz="1200">
                            <a:solidFill>
                              <a:schemeClr val="tx1"/>
                            </a:solidFill>
                            <a:latin typeface="Cambria Math" panose="02040503050406030204" pitchFamily="18" charset="0"/>
                          </a:rPr>
                          <m:t>𝑞</m:t>
                        </m:r>
                      </m:e>
                      <m:sub>
                        <m:r>
                          <a:rPr lang="en-US" sz="1200">
                            <a:solidFill>
                              <a:schemeClr val="tx1"/>
                            </a:solidFill>
                            <a:latin typeface="Cambria Math" panose="02040503050406030204" pitchFamily="18" charset="0"/>
                          </a:rPr>
                          <m:t>𝑡</m:t>
                        </m:r>
                      </m:sub>
                    </m:sSub>
                    <m:r>
                      <a:rPr lang="en-US" sz="1200">
                        <a:solidFill>
                          <a:schemeClr val="tx1"/>
                        </a:solidFill>
                        <a:latin typeface="Cambria Math" panose="02040503050406030204" pitchFamily="18" charset="0"/>
                      </a:rPr>
                      <m:t>=</m:t>
                    </m:r>
                    <m:sSub>
                      <m:sSubPr>
                        <m:ctrlPr>
                          <a:rPr lang="en-US" sz="1200" i="1">
                            <a:solidFill>
                              <a:schemeClr val="tx1"/>
                            </a:solidFill>
                            <a:latin typeface="Cambria Math"/>
                          </a:rPr>
                        </m:ctrlPr>
                      </m:sSubPr>
                      <m:e>
                        <m:r>
                          <a:rPr lang="en-US" sz="1200">
                            <a:solidFill>
                              <a:schemeClr val="tx1"/>
                            </a:solidFill>
                            <a:latin typeface="Cambria Math" panose="02040503050406030204" pitchFamily="18" charset="0"/>
                          </a:rPr>
                          <m:t>𝑞</m:t>
                        </m:r>
                      </m:e>
                      <m:sub>
                        <m:r>
                          <a:rPr lang="en-US" sz="1200">
                            <a:solidFill>
                              <a:schemeClr val="tx1"/>
                            </a:solidFill>
                            <a:latin typeface="Cambria Math" panose="02040503050406030204" pitchFamily="18" charset="0"/>
                          </a:rPr>
                          <m:t>0</m:t>
                        </m:r>
                      </m:sub>
                    </m:sSub>
                    <m:r>
                      <a:rPr lang="en-US" sz="1200">
                        <a:solidFill>
                          <a:schemeClr val="tx1"/>
                        </a:solidFill>
                        <a:latin typeface="Cambria Math" panose="02040503050406030204" pitchFamily="18" charset="0"/>
                      </a:rPr>
                      <m:t> </m:t>
                    </m:r>
                    <m:sSup>
                      <m:sSupPr>
                        <m:ctrlPr>
                          <a:rPr lang="en-US" sz="1200" i="1">
                            <a:solidFill>
                              <a:schemeClr val="tx1"/>
                            </a:solidFill>
                            <a:latin typeface="Cambria Math"/>
                          </a:rPr>
                        </m:ctrlPr>
                      </m:sSupPr>
                      <m:e>
                        <m:d>
                          <m:dPr>
                            <m:ctrlPr>
                              <a:rPr lang="en-US" sz="1200" i="1">
                                <a:solidFill>
                                  <a:schemeClr val="tx1"/>
                                </a:solidFill>
                                <a:latin typeface="Cambria Math"/>
                              </a:rPr>
                            </m:ctrlPr>
                          </m:dPr>
                          <m:e>
                            <m:r>
                              <a:rPr lang="en-US" sz="1200">
                                <a:solidFill>
                                  <a:schemeClr val="tx1"/>
                                </a:solidFill>
                                <a:latin typeface="Cambria Math" panose="02040503050406030204" pitchFamily="18" charset="0"/>
                              </a:rPr>
                              <m:t>1−</m:t>
                            </m:r>
                            <m:r>
                              <a:rPr lang="en-US" sz="1200">
                                <a:solidFill>
                                  <a:schemeClr val="tx1"/>
                                </a:solidFill>
                                <a:latin typeface="Cambria Math" panose="02040503050406030204" pitchFamily="18" charset="0"/>
                              </a:rPr>
                              <m:t>𝛿</m:t>
                            </m:r>
                          </m:e>
                        </m:d>
                      </m:e>
                      <m:sup>
                        <m:r>
                          <a:rPr lang="en-US" sz="1200">
                            <a:solidFill>
                              <a:schemeClr val="tx1"/>
                            </a:solidFill>
                            <a:latin typeface="Cambria Math" panose="02040503050406030204" pitchFamily="18" charset="0"/>
                          </a:rPr>
                          <m:t>𝑡</m:t>
                        </m:r>
                      </m:sup>
                    </m:sSup>
                    <m:r>
                      <a:rPr lang="en-US" sz="1200">
                        <a:solidFill>
                          <a:schemeClr val="tx1"/>
                        </a:solidFill>
                        <a:latin typeface="Cambria Math" panose="02040503050406030204" pitchFamily="18" charset="0"/>
                      </a:rPr>
                      <m:t> </m:t>
                    </m:r>
                  </m:oMath>
                </a14:m>
                <a:r>
                  <a:rPr lang="en-US" sz="1200" dirty="0">
                    <a:solidFill>
                      <a:schemeClr val="tx1"/>
                    </a:solidFill>
                    <a:latin typeface="Cambria Math" panose="02040503050406030204" pitchFamily="18" charset="0"/>
                  </a:rPr>
                  <a:t>and reoffer</a:t>
                </a:r>
              </a:p>
              <a:p>
                <a:r>
                  <a:rPr lang="en-US" sz="1200" dirty="0">
                    <a:solidFill>
                      <a:schemeClr val="tx1"/>
                    </a:solidFill>
                    <a:latin typeface="Cambria Math" panose="02040503050406030204" pitchFamily="18" charset="0"/>
                  </a:rPr>
                  <a:t>if </a:t>
                </a:r>
                <a14:m>
                  <m:oMath xmlns:m="http://schemas.openxmlformats.org/officeDocument/2006/math">
                    <m:sSub>
                      <m:sSubPr>
                        <m:ctrlPr>
                          <a:rPr lang="en-US" sz="1200" b="1" i="1">
                            <a:solidFill>
                              <a:schemeClr val="tx1"/>
                            </a:solidFill>
                            <a:latin typeface="Cambria Math"/>
                          </a:rPr>
                        </m:ctrlPr>
                      </m:sSubPr>
                      <m:e>
                        <m:r>
                          <a:rPr lang="en-US" sz="1200" b="1" i="1">
                            <a:solidFill>
                              <a:schemeClr val="tx1"/>
                            </a:solidFill>
                            <a:latin typeface="Cambria Math" panose="02040503050406030204" pitchFamily="18" charset="0"/>
                          </a:rPr>
                          <m:t>𝐪</m:t>
                        </m:r>
                      </m:e>
                      <m:sub>
                        <m:r>
                          <a:rPr lang="en-US" sz="1200" b="1" i="1">
                            <a:solidFill>
                              <a:schemeClr val="tx1"/>
                            </a:solidFill>
                            <a:latin typeface="Cambria Math" panose="02040503050406030204" pitchFamily="18" charset="0"/>
                          </a:rPr>
                          <m:t>𝐭</m:t>
                        </m:r>
                      </m:sub>
                    </m:sSub>
                    <m:r>
                      <a:rPr lang="en-US" sz="1200" b="1" i="0" smtClean="0">
                        <a:solidFill>
                          <a:schemeClr val="tx1"/>
                        </a:solidFill>
                        <a:latin typeface="Cambria Math" panose="02040503050406030204" pitchFamily="18" charset="0"/>
                      </a:rPr>
                      <m:t>&lt;</m:t>
                    </m:r>
                    <m:r>
                      <a:rPr lang="en-US" sz="1200" b="1" i="1">
                        <a:solidFill>
                          <a:schemeClr val="tx1"/>
                        </a:solidFill>
                        <a:latin typeface="Cambria Math" panose="02040503050406030204" pitchFamily="18" charset="0"/>
                      </a:rPr>
                      <m:t>𝟎</m:t>
                    </m:r>
                  </m:oMath>
                </a14:m>
                <a:r>
                  <a:rPr lang="en-US" sz="1200" b="1" dirty="0">
                    <a:solidFill>
                      <a:schemeClr val="tx1"/>
                    </a:solidFill>
                    <a:latin typeface="Cambria Math" panose="02040503050406030204" pitchFamily="18" charset="0"/>
                  </a:rPr>
                  <a:t> </a:t>
                </a:r>
                <a:r>
                  <a:rPr lang="en-US" sz="1200" dirty="0">
                    <a:solidFill>
                      <a:schemeClr val="tx1"/>
                    </a:solidFill>
                    <a:latin typeface="Cambria Math" panose="02040503050406030204" pitchFamily="18" charset="0"/>
                  </a:rPr>
                  <a:t>discard the kidney</a:t>
                </a:r>
              </a:p>
            </p:txBody>
          </p:sp>
        </mc:Choice>
        <mc:Fallback xmlns="">
          <p:sp>
            <p:nvSpPr>
              <p:cNvPr id="9" name="Rectangle 8"/>
              <p:cNvSpPr>
                <a:spLocks noRot="1" noChangeAspect="1" noMove="1" noResize="1" noEditPoints="1" noAdjustHandles="1" noChangeArrowheads="1" noChangeShapeType="1" noTextEdit="1"/>
              </p:cNvSpPr>
              <p:nvPr/>
            </p:nvSpPr>
            <p:spPr>
              <a:xfrm>
                <a:off x="5414267" y="855857"/>
                <a:ext cx="3272650" cy="1522191"/>
              </a:xfrm>
              <a:prstGeom prst="rect">
                <a:avLst/>
              </a:prstGeom>
              <a:blipFill rotWithShape="1">
                <a:blip r:embed="rId4"/>
                <a:stretch>
                  <a:fillRect/>
                </a:stretch>
              </a:blipFill>
              <a:ln>
                <a:solidFill>
                  <a:srgbClr val="FF00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5414267" y="3075421"/>
                <a:ext cx="3272650" cy="1563851"/>
              </a:xfrm>
              <a:prstGeom prst="rect">
                <a:avLst/>
              </a:prstGeom>
              <a:no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sz="1200" dirty="0" smtClean="0">
                    <a:solidFill>
                      <a:schemeClr val="tx1"/>
                    </a:solidFill>
                    <a:latin typeface="Cambria Math" panose="02040503050406030204" pitchFamily="18" charset="0"/>
                  </a:rPr>
                  <a:t>Post-transplant  utility </a:t>
                </a:r>
              </a:p>
              <a:p>
                <a:pPr>
                  <a:lnSpc>
                    <a:spcPct val="150000"/>
                  </a:lnSpc>
                </a:pPr>
                <a14:m>
                  <m:oMath xmlns:m="http://schemas.openxmlformats.org/officeDocument/2006/math">
                    <m:sSup>
                      <m:sSupPr>
                        <m:ctrlPr>
                          <a:rPr lang="en-US" sz="1200" i="1">
                            <a:solidFill>
                              <a:schemeClr val="tx1"/>
                            </a:solidFill>
                            <a:latin typeface="Cambria Math"/>
                          </a:rPr>
                        </m:ctrlPr>
                      </m:sSupPr>
                      <m:e>
                        <m:r>
                          <a:rPr lang="en-US" sz="1200" b="0" i="0" smtClean="0">
                            <a:solidFill>
                              <a:schemeClr val="tx1"/>
                            </a:solidFill>
                            <a:latin typeface="Cambria Math" panose="02040503050406030204" pitchFamily="18" charset="0"/>
                          </a:rPr>
                          <m:t>  </m:t>
                        </m:r>
                        <m:r>
                          <a:rPr lang="en-US" sz="1200">
                            <a:solidFill>
                              <a:schemeClr val="tx1"/>
                            </a:solidFill>
                            <a:latin typeface="Cambria Math" panose="02040503050406030204" pitchFamily="18" charset="0"/>
                          </a:rPr>
                          <m:t>𝑈</m:t>
                        </m:r>
                      </m:e>
                      <m:sup>
                        <m:r>
                          <a:rPr lang="en-US" sz="1200">
                            <a:solidFill>
                              <a:schemeClr val="tx1"/>
                            </a:solidFill>
                            <a:latin typeface="Cambria Math" panose="02040503050406030204" pitchFamily="18" charset="0"/>
                          </a:rPr>
                          <m:t>𝑐</m:t>
                        </m:r>
                      </m:sup>
                    </m:sSup>
                    <m:d>
                      <m:dPr>
                        <m:ctrlPr>
                          <a:rPr lang="en-US" sz="1200" i="1">
                            <a:solidFill>
                              <a:schemeClr val="tx1"/>
                            </a:solidFill>
                            <a:latin typeface="Cambria Math"/>
                          </a:rPr>
                        </m:ctrlPr>
                      </m:dPr>
                      <m:e>
                        <m:r>
                          <a:rPr lang="en-US" sz="1200">
                            <a:solidFill>
                              <a:schemeClr val="tx1"/>
                            </a:solidFill>
                            <a:latin typeface="Cambria Math" panose="02040503050406030204" pitchFamily="18" charset="0"/>
                          </a:rPr>
                          <m:t>𝑞</m:t>
                        </m:r>
                        <m:r>
                          <a:rPr lang="en-US" sz="1200">
                            <a:solidFill>
                              <a:schemeClr val="tx1"/>
                            </a:solidFill>
                            <a:latin typeface="Cambria Math" panose="02040503050406030204" pitchFamily="18" charset="0"/>
                          </a:rPr>
                          <m:t>,</m:t>
                        </m:r>
                        <m:sSub>
                          <m:sSubPr>
                            <m:ctrlPr>
                              <a:rPr lang="en-US" sz="1200" i="1">
                                <a:solidFill>
                                  <a:schemeClr val="tx1"/>
                                </a:solidFill>
                                <a:latin typeface="Cambria Math"/>
                              </a:rPr>
                            </m:ctrlPr>
                          </m:sSubPr>
                          <m:e>
                            <m:r>
                              <a:rPr lang="en-US" sz="1200">
                                <a:solidFill>
                                  <a:schemeClr val="tx1"/>
                                </a:solidFill>
                                <a:latin typeface="Cambria Math" panose="02040503050406030204" pitchFamily="18" charset="0"/>
                              </a:rPr>
                              <m:t>h</m:t>
                            </m:r>
                          </m:e>
                          <m:sub>
                            <m:r>
                              <a:rPr lang="en-US" sz="1200">
                                <a:solidFill>
                                  <a:schemeClr val="tx1"/>
                                </a:solidFill>
                                <a:latin typeface="Cambria Math" panose="02040503050406030204" pitchFamily="18" charset="0"/>
                              </a:rPr>
                              <m:t>0</m:t>
                            </m:r>
                          </m:sub>
                        </m:sSub>
                        <m:r>
                          <a:rPr lang="en-US" sz="1200">
                            <a:solidFill>
                              <a:schemeClr val="tx1"/>
                            </a:solidFill>
                            <a:latin typeface="Cambria Math" panose="02040503050406030204" pitchFamily="18" charset="0"/>
                          </a:rPr>
                          <m:t>,</m:t>
                        </m:r>
                        <m:r>
                          <a:rPr lang="en-US" sz="1200">
                            <a:solidFill>
                              <a:schemeClr val="tx1"/>
                            </a:solidFill>
                            <a:latin typeface="Cambria Math" panose="02040503050406030204" pitchFamily="18" charset="0"/>
                          </a:rPr>
                          <m:t>𝑤</m:t>
                        </m:r>
                        <m:r>
                          <a:rPr lang="en-US" sz="1200">
                            <a:solidFill>
                              <a:schemeClr val="tx1"/>
                            </a:solidFill>
                            <a:latin typeface="Cambria Math" panose="02040503050406030204" pitchFamily="18" charset="0"/>
                          </a:rPr>
                          <m:t> </m:t>
                        </m:r>
                      </m:e>
                    </m:d>
                  </m:oMath>
                </a14:m>
                <a:r>
                  <a:rPr lang="en-US" sz="1200" dirty="0">
                    <a:solidFill>
                      <a:schemeClr val="tx1"/>
                    </a:solidFill>
                    <a:latin typeface="Cambria Math" panose="02040503050406030204" pitchFamily="18" charset="0"/>
                  </a:rPr>
                  <a:t> </a:t>
                </a:r>
                <a14:m>
                  <m:oMath xmlns:m="http://schemas.openxmlformats.org/officeDocument/2006/math">
                    <m:r>
                      <a:rPr lang="en-US" sz="1200" dirty="0">
                        <a:solidFill>
                          <a:schemeClr val="tx1"/>
                        </a:solidFill>
                        <a:latin typeface="Cambria Math" panose="02040503050406030204" pitchFamily="18" charset="0"/>
                      </a:rPr>
                      <m:t>=</m:t>
                    </m:r>
                  </m:oMath>
                </a14:m>
                <a:r>
                  <a:rPr lang="en-US" sz="1200" dirty="0">
                    <a:solidFill>
                      <a:schemeClr val="tx1"/>
                    </a:solidFill>
                    <a:latin typeface="Cambria Math" panose="02040503050406030204" pitchFamily="18" charset="0"/>
                  </a:rPr>
                  <a:t> </a:t>
                </a:r>
                <a14:m>
                  <m:oMath xmlns:m="http://schemas.openxmlformats.org/officeDocument/2006/math">
                    <m:r>
                      <a:rPr lang="en-US" sz="1200">
                        <a:solidFill>
                          <a:schemeClr val="tx1"/>
                        </a:solidFill>
                        <a:latin typeface="Cambria Math" panose="02040503050406030204" pitchFamily="18" charset="0"/>
                      </a:rPr>
                      <m:t>𝐵</m:t>
                    </m:r>
                    <m:d>
                      <m:dPr>
                        <m:ctrlPr>
                          <a:rPr lang="en-US" sz="1200" i="1">
                            <a:solidFill>
                              <a:schemeClr val="tx1"/>
                            </a:solidFill>
                            <a:latin typeface="Cambria Math"/>
                          </a:rPr>
                        </m:ctrlPr>
                      </m:dPr>
                      <m:e>
                        <m:sSub>
                          <m:sSubPr>
                            <m:ctrlPr>
                              <a:rPr lang="en-US" sz="1200" i="1">
                                <a:solidFill>
                                  <a:schemeClr val="tx1"/>
                                </a:solidFill>
                                <a:latin typeface="Cambria Math"/>
                              </a:rPr>
                            </m:ctrlPr>
                          </m:sSubPr>
                          <m:e>
                            <m:r>
                              <a:rPr lang="en-US" sz="1200">
                                <a:solidFill>
                                  <a:schemeClr val="tx1"/>
                                </a:solidFill>
                                <a:latin typeface="Cambria Math" panose="02040503050406030204" pitchFamily="18" charset="0"/>
                              </a:rPr>
                              <m:t>h</m:t>
                            </m:r>
                          </m:e>
                          <m:sub>
                            <m:r>
                              <a:rPr lang="en-US" sz="1200">
                                <a:solidFill>
                                  <a:schemeClr val="tx1"/>
                                </a:solidFill>
                                <a:latin typeface="Cambria Math" panose="02040503050406030204" pitchFamily="18" charset="0"/>
                              </a:rPr>
                              <m:t>0</m:t>
                            </m:r>
                          </m:sub>
                        </m:sSub>
                        <m:r>
                          <a:rPr lang="en-US" sz="1200">
                            <a:solidFill>
                              <a:schemeClr val="tx1"/>
                            </a:solidFill>
                            <a:latin typeface="Cambria Math" panose="02040503050406030204" pitchFamily="18" charset="0"/>
                          </a:rPr>
                          <m:t>,</m:t>
                        </m:r>
                        <m:sSub>
                          <m:sSubPr>
                            <m:ctrlPr>
                              <a:rPr lang="en-US" sz="1200" i="1">
                                <a:solidFill>
                                  <a:schemeClr val="tx1"/>
                                </a:solidFill>
                                <a:latin typeface="Cambria Math"/>
                              </a:rPr>
                            </m:ctrlPr>
                          </m:sSubPr>
                          <m:e>
                            <m:r>
                              <a:rPr lang="en-US" sz="1200">
                                <a:solidFill>
                                  <a:schemeClr val="tx1"/>
                                </a:solidFill>
                                <a:latin typeface="Cambria Math" panose="02040503050406030204" pitchFamily="18" charset="0"/>
                              </a:rPr>
                              <m:t>𝑞</m:t>
                            </m:r>
                          </m:e>
                          <m:sub>
                            <m:r>
                              <a:rPr lang="en-US" sz="1200">
                                <a:solidFill>
                                  <a:schemeClr val="tx1"/>
                                </a:solidFill>
                                <a:latin typeface="Cambria Math" panose="02040503050406030204" pitchFamily="18" charset="0"/>
                              </a:rPr>
                              <m:t>𝑡</m:t>
                            </m:r>
                          </m:sub>
                        </m:sSub>
                      </m:e>
                    </m:d>
                  </m:oMath>
                </a14:m>
                <a:r>
                  <a:rPr lang="en-US" sz="1200" dirty="0">
                    <a:solidFill>
                      <a:schemeClr val="tx1"/>
                    </a:solidFill>
                    <a:latin typeface="Cambria Math" panose="02040503050406030204" pitchFamily="18" charset="0"/>
                  </a:rPr>
                  <a:t> </a:t>
                </a:r>
                <a14:m>
                  <m:oMath xmlns:m="http://schemas.openxmlformats.org/officeDocument/2006/math">
                    <m:r>
                      <a:rPr lang="en-US" sz="1200" dirty="0">
                        <a:solidFill>
                          <a:schemeClr val="tx1"/>
                        </a:solidFill>
                        <a:latin typeface="Cambria Math" panose="02040503050406030204" pitchFamily="18" charset="0"/>
                      </a:rPr>
                      <m:t>  ∗</m:t>
                    </m:r>
                  </m:oMath>
                </a14:m>
                <a:r>
                  <a:rPr lang="en-US" sz="1200" dirty="0">
                    <a:solidFill>
                      <a:schemeClr val="tx1"/>
                    </a:solidFill>
                    <a:latin typeface="Cambria Math" panose="02040503050406030204" pitchFamily="18" charset="0"/>
                  </a:rPr>
                  <a:t>  </a:t>
                </a:r>
                <a14:m>
                  <m:oMath xmlns:m="http://schemas.openxmlformats.org/officeDocument/2006/math">
                    <m:d>
                      <m:dPr>
                        <m:begChr m:val="["/>
                        <m:endChr m:val="]"/>
                        <m:ctrlPr>
                          <a:rPr lang="en-US" sz="1200" i="1" dirty="0">
                            <a:solidFill>
                              <a:schemeClr val="tx1"/>
                            </a:solidFill>
                            <a:latin typeface="Cambria Math"/>
                          </a:rPr>
                        </m:ctrlPr>
                      </m:dPr>
                      <m:e>
                        <m:r>
                          <a:rPr lang="en-US" sz="1200" dirty="0">
                            <a:solidFill>
                              <a:schemeClr val="tx1"/>
                            </a:solidFill>
                            <a:latin typeface="Cambria Math" panose="02040503050406030204" pitchFamily="18" charset="0"/>
                          </a:rPr>
                          <m:t>1−</m:t>
                        </m:r>
                        <m:r>
                          <a:rPr lang="en-US" sz="1200" b="0" i="1" dirty="0" smtClean="0">
                            <a:solidFill>
                              <a:schemeClr val="tx1"/>
                            </a:solidFill>
                            <a:latin typeface="Cambria Math" panose="02040503050406030204" pitchFamily="18" charset="0"/>
                          </a:rPr>
                          <m:t>𝐶</m:t>
                        </m:r>
                        <m:d>
                          <m:dPr>
                            <m:ctrlPr>
                              <a:rPr lang="en-US" sz="1200" i="1" dirty="0">
                                <a:solidFill>
                                  <a:schemeClr val="tx1"/>
                                </a:solidFill>
                                <a:latin typeface="Cambria Math"/>
                              </a:rPr>
                            </m:ctrlPr>
                          </m:dPr>
                          <m:e>
                            <m:sSub>
                              <m:sSubPr>
                                <m:ctrlPr>
                                  <a:rPr lang="en-US" sz="1200" i="1" dirty="0">
                                    <a:solidFill>
                                      <a:schemeClr val="tx1"/>
                                    </a:solidFill>
                                    <a:latin typeface="Cambria Math"/>
                                  </a:rPr>
                                </m:ctrlPr>
                              </m:sSubPr>
                              <m:e>
                                <m:r>
                                  <a:rPr lang="en-US" sz="1200" dirty="0">
                                    <a:solidFill>
                                      <a:schemeClr val="tx1"/>
                                    </a:solidFill>
                                    <a:latin typeface="Cambria Math" panose="02040503050406030204" pitchFamily="18" charset="0"/>
                                  </a:rPr>
                                  <m:t>h</m:t>
                                </m:r>
                              </m:e>
                              <m:sub>
                                <m:r>
                                  <a:rPr lang="en-US" sz="1200" dirty="0">
                                    <a:solidFill>
                                      <a:schemeClr val="tx1"/>
                                    </a:solidFill>
                                    <a:latin typeface="Cambria Math" panose="02040503050406030204" pitchFamily="18" charset="0"/>
                                  </a:rPr>
                                  <m:t>0</m:t>
                                </m:r>
                              </m:sub>
                            </m:sSub>
                            <m:r>
                              <a:rPr lang="en-US" sz="1200" dirty="0">
                                <a:solidFill>
                                  <a:schemeClr val="tx1"/>
                                </a:solidFill>
                                <a:latin typeface="Cambria Math" panose="02040503050406030204" pitchFamily="18" charset="0"/>
                              </a:rPr>
                              <m:t>,</m:t>
                            </m:r>
                            <m:r>
                              <a:rPr lang="en-US" sz="1200" dirty="0">
                                <a:solidFill>
                                  <a:schemeClr val="tx1"/>
                                </a:solidFill>
                                <a:latin typeface="Cambria Math" panose="02040503050406030204" pitchFamily="18" charset="0"/>
                              </a:rPr>
                              <m:t>𝑤</m:t>
                            </m:r>
                            <m:r>
                              <a:rPr lang="en-US" sz="1200" dirty="0">
                                <a:solidFill>
                                  <a:schemeClr val="tx1"/>
                                </a:solidFill>
                                <a:latin typeface="Cambria Math" panose="02040503050406030204" pitchFamily="18" charset="0"/>
                              </a:rPr>
                              <m:t> </m:t>
                            </m:r>
                          </m:e>
                        </m:d>
                      </m:e>
                    </m:d>
                  </m:oMath>
                </a14:m>
                <a:endParaRPr lang="en-US" sz="1200" dirty="0">
                  <a:solidFill>
                    <a:schemeClr val="tx1"/>
                  </a:solidFill>
                  <a:latin typeface="Cambria Math" panose="02040503050406030204" pitchFamily="18" charset="0"/>
                </a:endParaRPr>
              </a:p>
              <a:p>
                <a:pPr>
                  <a:lnSpc>
                    <a:spcPct val="150000"/>
                  </a:lnSpc>
                </a:pPr>
                <a:r>
                  <a:rPr lang="en-US" sz="1200" dirty="0">
                    <a:solidFill>
                      <a:schemeClr val="tx1"/>
                    </a:solidFill>
                    <a:latin typeface="Cambria Math" panose="02040503050406030204" pitchFamily="18" charset="0"/>
                  </a:rPr>
                  <a:t> Benefit  function:</a:t>
                </a:r>
                <a:r>
                  <a:rPr lang="en-US" sz="1200" dirty="0" smtClean="0">
                    <a:solidFill>
                      <a:schemeClr val="tx1"/>
                    </a:solidFill>
                    <a:latin typeface="Cambria Math" panose="02040503050406030204" pitchFamily="18" charset="0"/>
                  </a:rPr>
                  <a:t>  </a:t>
                </a:r>
                <a14:m>
                  <m:oMath xmlns:m="http://schemas.openxmlformats.org/officeDocument/2006/math">
                    <m:r>
                      <a:rPr lang="en-US" sz="1200">
                        <a:solidFill>
                          <a:schemeClr val="tx1"/>
                        </a:solidFill>
                        <a:latin typeface="Cambria Math" panose="02040503050406030204" pitchFamily="18" charset="0"/>
                      </a:rPr>
                      <m:t>𝐵</m:t>
                    </m:r>
                    <m:d>
                      <m:dPr>
                        <m:ctrlPr>
                          <a:rPr lang="en-US" sz="1200" i="1">
                            <a:solidFill>
                              <a:schemeClr val="tx1"/>
                            </a:solidFill>
                            <a:latin typeface="Cambria Math"/>
                          </a:rPr>
                        </m:ctrlPr>
                      </m:dPr>
                      <m:e>
                        <m:sSub>
                          <m:sSubPr>
                            <m:ctrlPr>
                              <a:rPr lang="en-US" sz="1200" i="1">
                                <a:solidFill>
                                  <a:schemeClr val="tx1"/>
                                </a:solidFill>
                                <a:latin typeface="Cambria Math"/>
                              </a:rPr>
                            </m:ctrlPr>
                          </m:sSubPr>
                          <m:e>
                            <m:r>
                              <a:rPr lang="en-US" sz="1200">
                                <a:solidFill>
                                  <a:schemeClr val="tx1"/>
                                </a:solidFill>
                                <a:latin typeface="Cambria Math" panose="02040503050406030204" pitchFamily="18" charset="0"/>
                              </a:rPr>
                              <m:t>h</m:t>
                            </m:r>
                          </m:e>
                          <m:sub>
                            <m:r>
                              <a:rPr lang="en-US" sz="1200">
                                <a:solidFill>
                                  <a:schemeClr val="tx1"/>
                                </a:solidFill>
                                <a:latin typeface="Cambria Math" panose="02040503050406030204" pitchFamily="18" charset="0"/>
                              </a:rPr>
                              <m:t>0</m:t>
                            </m:r>
                          </m:sub>
                        </m:sSub>
                        <m:r>
                          <a:rPr lang="en-US" sz="1200">
                            <a:solidFill>
                              <a:schemeClr val="tx1"/>
                            </a:solidFill>
                            <a:latin typeface="Cambria Math" panose="02040503050406030204" pitchFamily="18" charset="0"/>
                          </a:rPr>
                          <m:t>,</m:t>
                        </m:r>
                        <m:r>
                          <a:rPr lang="en-US" sz="1200">
                            <a:solidFill>
                              <a:schemeClr val="tx1"/>
                            </a:solidFill>
                            <a:latin typeface="Cambria Math" panose="02040503050406030204" pitchFamily="18" charset="0"/>
                          </a:rPr>
                          <m:t>𝑞</m:t>
                        </m:r>
                      </m:e>
                    </m:d>
                    <m:r>
                      <a:rPr lang="en-US" sz="1200">
                        <a:solidFill>
                          <a:schemeClr val="tx1"/>
                        </a:solidFill>
                        <a:latin typeface="Cambria Math" panose="02040503050406030204" pitchFamily="18" charset="0"/>
                      </a:rPr>
                      <m:t>=</m:t>
                    </m:r>
                    <m:f>
                      <m:fPr>
                        <m:ctrlPr>
                          <a:rPr lang="en-US" sz="1200" i="1">
                            <a:solidFill>
                              <a:schemeClr val="tx1"/>
                            </a:solidFill>
                            <a:latin typeface="Cambria Math"/>
                          </a:rPr>
                        </m:ctrlPr>
                      </m:fPr>
                      <m:num>
                        <m:r>
                          <a:rPr lang="en-US" sz="1200">
                            <a:solidFill>
                              <a:schemeClr val="tx1"/>
                            </a:solidFill>
                            <a:latin typeface="Cambria Math" panose="02040503050406030204" pitchFamily="18" charset="0"/>
                          </a:rPr>
                          <m:t>𝑚</m:t>
                        </m:r>
                        <m:r>
                          <a:rPr lang="en-US" sz="1200">
                            <a:solidFill>
                              <a:schemeClr val="tx1"/>
                            </a:solidFill>
                            <a:latin typeface="Cambria Math" panose="02040503050406030204" pitchFamily="18" charset="0"/>
                          </a:rPr>
                          <m:t>(</m:t>
                        </m:r>
                        <m:sSub>
                          <m:sSubPr>
                            <m:ctrlPr>
                              <a:rPr lang="en-US" sz="1200" i="1">
                                <a:solidFill>
                                  <a:schemeClr val="tx1"/>
                                </a:solidFill>
                                <a:latin typeface="Cambria Math"/>
                              </a:rPr>
                            </m:ctrlPr>
                          </m:sSubPr>
                          <m:e>
                            <m:r>
                              <a:rPr lang="en-US" sz="1200">
                                <a:solidFill>
                                  <a:schemeClr val="tx1"/>
                                </a:solidFill>
                                <a:latin typeface="Cambria Math" panose="02040503050406030204" pitchFamily="18" charset="0"/>
                              </a:rPr>
                              <m:t>h</m:t>
                            </m:r>
                          </m:e>
                          <m:sub>
                            <m:r>
                              <a:rPr lang="en-US" sz="1200">
                                <a:solidFill>
                                  <a:schemeClr val="tx1"/>
                                </a:solidFill>
                                <a:latin typeface="Cambria Math" panose="02040503050406030204" pitchFamily="18" charset="0"/>
                              </a:rPr>
                              <m:t>0</m:t>
                            </m:r>
                          </m:sub>
                        </m:sSub>
                        <m:r>
                          <a:rPr lang="en-US" sz="1200">
                            <a:solidFill>
                              <a:schemeClr val="tx1"/>
                            </a:solidFill>
                            <a:latin typeface="Cambria Math" panose="02040503050406030204" pitchFamily="18" charset="0"/>
                          </a:rPr>
                          <m:t>)</m:t>
                        </m:r>
                      </m:num>
                      <m:den>
                        <m:r>
                          <a:rPr lang="en-US" sz="1200">
                            <a:solidFill>
                              <a:schemeClr val="tx1"/>
                            </a:solidFill>
                            <a:latin typeface="Cambria Math" panose="02040503050406030204" pitchFamily="18" charset="0"/>
                          </a:rPr>
                          <m:t>1+</m:t>
                        </m:r>
                        <m:r>
                          <m:rPr>
                            <m:sty m:val="p"/>
                          </m:rPr>
                          <a:rPr lang="en-US" sz="1200">
                            <a:solidFill>
                              <a:schemeClr val="tx1"/>
                            </a:solidFill>
                            <a:latin typeface="Cambria Math" panose="02040503050406030204" pitchFamily="18" charset="0"/>
                          </a:rPr>
                          <m:t>exp</m:t>
                        </m:r>
                        <m:r>
                          <a:rPr lang="en-US" sz="1200">
                            <a:solidFill>
                              <a:schemeClr val="tx1"/>
                            </a:solidFill>
                            <a:latin typeface="Cambria Math" panose="02040503050406030204" pitchFamily="18" charset="0"/>
                          </a:rPr>
                          <m:t>⁡(−</m:t>
                        </m:r>
                        <m:r>
                          <a:rPr lang="en-US" sz="1200">
                            <a:solidFill>
                              <a:schemeClr val="tx1"/>
                            </a:solidFill>
                            <a:latin typeface="Cambria Math" panose="02040503050406030204" pitchFamily="18" charset="0"/>
                          </a:rPr>
                          <m:t>𝛽</m:t>
                        </m:r>
                        <m:d>
                          <m:dPr>
                            <m:ctrlPr>
                              <a:rPr lang="en-US" sz="1200" i="1">
                                <a:solidFill>
                                  <a:schemeClr val="tx1"/>
                                </a:solidFill>
                                <a:latin typeface="Cambria Math"/>
                              </a:rPr>
                            </m:ctrlPr>
                          </m:dPr>
                          <m:e>
                            <m:sSub>
                              <m:sSubPr>
                                <m:ctrlPr>
                                  <a:rPr lang="en-US" sz="1200" i="1">
                                    <a:solidFill>
                                      <a:schemeClr val="tx1"/>
                                    </a:solidFill>
                                    <a:latin typeface="Cambria Math"/>
                                  </a:rPr>
                                </m:ctrlPr>
                              </m:sSubPr>
                              <m:e>
                                <m:r>
                                  <a:rPr lang="en-US" sz="1200">
                                    <a:solidFill>
                                      <a:schemeClr val="tx1"/>
                                    </a:solidFill>
                                    <a:latin typeface="Cambria Math" panose="02040503050406030204" pitchFamily="18" charset="0"/>
                                  </a:rPr>
                                  <m:t>𝑞</m:t>
                                </m:r>
                              </m:e>
                              <m:sub>
                                <m:r>
                                  <a:rPr lang="en-US" sz="1200">
                                    <a:solidFill>
                                      <a:schemeClr val="tx1"/>
                                    </a:solidFill>
                                    <a:latin typeface="Cambria Math" panose="02040503050406030204" pitchFamily="18" charset="0"/>
                                  </a:rPr>
                                  <m:t>𝑡</m:t>
                                </m:r>
                              </m:sub>
                            </m:sSub>
                            <m:r>
                              <a:rPr lang="en-US" sz="1200">
                                <a:solidFill>
                                  <a:schemeClr val="tx1"/>
                                </a:solidFill>
                                <a:latin typeface="Cambria Math" panose="02040503050406030204" pitchFamily="18" charset="0"/>
                              </a:rPr>
                              <m:t>−</m:t>
                            </m:r>
                            <m:r>
                              <a:rPr lang="en-US" sz="1200">
                                <a:solidFill>
                                  <a:schemeClr val="tx1"/>
                                </a:solidFill>
                                <a:latin typeface="Cambria Math" panose="02040503050406030204" pitchFamily="18" charset="0"/>
                              </a:rPr>
                              <m:t>𝛼</m:t>
                            </m:r>
                          </m:e>
                        </m:d>
                        <m:r>
                          <a:rPr lang="en-US" sz="1200">
                            <a:solidFill>
                              <a:schemeClr val="tx1"/>
                            </a:solidFill>
                            <a:latin typeface="Cambria Math" panose="02040503050406030204" pitchFamily="18" charset="0"/>
                          </a:rPr>
                          <m:t>)</m:t>
                        </m:r>
                      </m:den>
                    </m:f>
                  </m:oMath>
                </a14:m>
                <a:endParaRPr lang="en-US" sz="1200" dirty="0">
                  <a:solidFill>
                    <a:schemeClr val="tx1"/>
                  </a:solidFill>
                  <a:latin typeface="Cambria Math" panose="02040503050406030204" pitchFamily="18" charset="0"/>
                </a:endParaRPr>
              </a:p>
              <a:p>
                <a:pPr>
                  <a:lnSpc>
                    <a:spcPct val="150000"/>
                  </a:lnSpc>
                </a:pPr>
                <a:r>
                  <a:rPr lang="en-US" sz="1200" dirty="0" smtClean="0">
                    <a:solidFill>
                      <a:schemeClr val="tx1"/>
                    </a:solidFill>
                    <a:latin typeface="Cambria Math" panose="02040503050406030204" pitchFamily="18" charset="0"/>
                  </a:rPr>
                  <a:t>Deterioration </a:t>
                </a:r>
                <a:r>
                  <a:rPr lang="en-US" sz="1200" dirty="0">
                    <a:solidFill>
                      <a:schemeClr val="tx1"/>
                    </a:solidFill>
                    <a:latin typeface="Cambria Math" panose="02040503050406030204" pitchFamily="18" charset="0"/>
                  </a:rPr>
                  <a:t>factor</a:t>
                </a:r>
                <a:r>
                  <a:rPr lang="en-US" sz="1200" dirty="0" smtClean="0">
                    <a:solidFill>
                      <a:schemeClr val="tx1"/>
                    </a:solidFill>
                    <a:latin typeface="Cambria Math" panose="02040503050406030204" pitchFamily="18" charset="0"/>
                  </a:rPr>
                  <a:t>:  </a:t>
                </a:r>
                <a14:m>
                  <m:oMath xmlns:m="http://schemas.openxmlformats.org/officeDocument/2006/math">
                    <m:r>
                      <m:rPr>
                        <m:sty m:val="p"/>
                      </m:rPr>
                      <a:rPr lang="en-US" sz="1200" b="0" i="0" dirty="0" smtClean="0">
                        <a:solidFill>
                          <a:schemeClr val="tx1"/>
                        </a:solidFill>
                        <a:latin typeface="Cambria Math" panose="02040503050406030204" pitchFamily="18" charset="0"/>
                      </a:rPr>
                      <m:t>C</m:t>
                    </m:r>
                    <m:r>
                      <a:rPr lang="en-US" sz="1200" dirty="0">
                        <a:solidFill>
                          <a:schemeClr val="tx1"/>
                        </a:solidFill>
                        <a:latin typeface="Cambria Math" panose="02040503050406030204" pitchFamily="18" charset="0"/>
                      </a:rPr>
                      <m:t>(</m:t>
                    </m:r>
                    <m:sSub>
                      <m:sSubPr>
                        <m:ctrlPr>
                          <a:rPr lang="en-US" sz="1200" i="1" dirty="0">
                            <a:solidFill>
                              <a:schemeClr val="tx1"/>
                            </a:solidFill>
                            <a:latin typeface="Cambria Math"/>
                          </a:rPr>
                        </m:ctrlPr>
                      </m:sSubPr>
                      <m:e>
                        <m:r>
                          <a:rPr lang="en-US" sz="1200" dirty="0">
                            <a:solidFill>
                              <a:schemeClr val="tx1"/>
                            </a:solidFill>
                            <a:latin typeface="Cambria Math" panose="02040503050406030204" pitchFamily="18" charset="0"/>
                          </a:rPr>
                          <m:t>h</m:t>
                        </m:r>
                      </m:e>
                      <m:sub>
                        <m:r>
                          <a:rPr lang="en-US" sz="1200" dirty="0">
                            <a:solidFill>
                              <a:schemeClr val="tx1"/>
                            </a:solidFill>
                            <a:latin typeface="Cambria Math" panose="02040503050406030204" pitchFamily="18" charset="0"/>
                          </a:rPr>
                          <m:t>𝑜</m:t>
                        </m:r>
                      </m:sub>
                    </m:sSub>
                    <m:r>
                      <a:rPr lang="en-US" sz="1200" dirty="0">
                        <a:solidFill>
                          <a:schemeClr val="tx1"/>
                        </a:solidFill>
                        <a:latin typeface="Cambria Math" panose="02040503050406030204" pitchFamily="18" charset="0"/>
                      </a:rPr>
                      <m:t>,</m:t>
                    </m:r>
                    <m:r>
                      <a:rPr lang="en-US" sz="1200" dirty="0">
                        <a:solidFill>
                          <a:schemeClr val="tx1"/>
                        </a:solidFill>
                        <a:latin typeface="Cambria Math" panose="02040503050406030204" pitchFamily="18" charset="0"/>
                      </a:rPr>
                      <m:t>𝑤</m:t>
                    </m:r>
                    <m:r>
                      <a:rPr lang="en-US" sz="1200" dirty="0">
                        <a:solidFill>
                          <a:schemeClr val="tx1"/>
                        </a:solidFill>
                        <a:latin typeface="Cambria Math" panose="02040503050406030204" pitchFamily="18" charset="0"/>
                      </a:rPr>
                      <m:t>)=</m:t>
                    </m:r>
                    <m:sSup>
                      <m:sSupPr>
                        <m:ctrlPr>
                          <a:rPr lang="en-US" sz="1200" i="1" dirty="0">
                            <a:solidFill>
                              <a:schemeClr val="tx1"/>
                            </a:solidFill>
                            <a:latin typeface="Cambria Math"/>
                          </a:rPr>
                        </m:ctrlPr>
                      </m:sSupPr>
                      <m:e>
                        <m:d>
                          <m:dPr>
                            <m:ctrlPr>
                              <a:rPr lang="en-US" sz="1200" i="1" dirty="0">
                                <a:solidFill>
                                  <a:schemeClr val="tx1"/>
                                </a:solidFill>
                                <a:latin typeface="Cambria Math"/>
                              </a:rPr>
                            </m:ctrlPr>
                          </m:dPr>
                          <m:e>
                            <m:r>
                              <a:rPr lang="en-US" sz="1200" dirty="0">
                                <a:solidFill>
                                  <a:schemeClr val="tx1"/>
                                </a:solidFill>
                                <a:latin typeface="Cambria Math" panose="02040503050406030204" pitchFamily="18" charset="0"/>
                              </a:rPr>
                              <m:t>1−</m:t>
                            </m:r>
                            <m:f>
                              <m:fPr>
                                <m:ctrlPr>
                                  <a:rPr lang="en-US" sz="1200" i="1" dirty="0">
                                    <a:solidFill>
                                      <a:schemeClr val="tx1"/>
                                    </a:solidFill>
                                    <a:latin typeface="Cambria Math"/>
                                  </a:rPr>
                                </m:ctrlPr>
                              </m:fPr>
                              <m:num>
                                <m:r>
                                  <a:rPr lang="en-US" sz="1200" dirty="0">
                                    <a:solidFill>
                                      <a:schemeClr val="tx1"/>
                                    </a:solidFill>
                                    <a:latin typeface="Cambria Math" panose="02040503050406030204" pitchFamily="18" charset="0"/>
                                  </a:rPr>
                                  <m:t>𝑤</m:t>
                                </m:r>
                              </m:num>
                              <m:den>
                                <m:sSub>
                                  <m:sSubPr>
                                    <m:ctrlPr>
                                      <a:rPr lang="en-US" sz="1200" i="1" dirty="0">
                                        <a:solidFill>
                                          <a:schemeClr val="tx1"/>
                                        </a:solidFill>
                                        <a:latin typeface="Cambria Math"/>
                                      </a:rPr>
                                    </m:ctrlPr>
                                  </m:sSubPr>
                                  <m:e>
                                    <m:r>
                                      <a:rPr lang="en-US" sz="1200" dirty="0">
                                        <a:solidFill>
                                          <a:schemeClr val="tx1"/>
                                        </a:solidFill>
                                        <a:latin typeface="Cambria Math" panose="02040503050406030204" pitchFamily="18" charset="0"/>
                                      </a:rPr>
                                      <m:t>h</m:t>
                                    </m:r>
                                  </m:e>
                                  <m:sub>
                                    <m:r>
                                      <a:rPr lang="en-US" sz="1200" dirty="0">
                                        <a:solidFill>
                                          <a:schemeClr val="tx1"/>
                                        </a:solidFill>
                                        <a:latin typeface="Cambria Math" panose="02040503050406030204" pitchFamily="18" charset="0"/>
                                      </a:rPr>
                                      <m:t>𝑜</m:t>
                                    </m:r>
                                  </m:sub>
                                </m:sSub>
                              </m:den>
                            </m:f>
                          </m:e>
                        </m:d>
                      </m:e>
                      <m:sup>
                        <m:r>
                          <a:rPr lang="en-US" sz="1200" dirty="0">
                            <a:solidFill>
                              <a:schemeClr val="tx1"/>
                            </a:solidFill>
                            <a:latin typeface="Cambria Math" panose="02040503050406030204" pitchFamily="18" charset="0"/>
                          </a:rPr>
                          <m:t>𝛾</m:t>
                        </m:r>
                      </m:sup>
                    </m:sSup>
                  </m:oMath>
                </a14:m>
                <a:endParaRPr lang="en-US" sz="1200" dirty="0">
                  <a:solidFill>
                    <a:schemeClr val="tx1"/>
                  </a:solidFill>
                </a:endParaRPr>
              </a:p>
            </p:txBody>
          </p:sp>
        </mc:Choice>
        <mc:Fallback xmlns="">
          <p:sp>
            <p:nvSpPr>
              <p:cNvPr id="11" name="Rectangle 10"/>
              <p:cNvSpPr>
                <a:spLocks noRot="1" noChangeAspect="1" noMove="1" noResize="1" noEditPoints="1" noAdjustHandles="1" noChangeArrowheads="1" noChangeShapeType="1" noTextEdit="1"/>
              </p:cNvSpPr>
              <p:nvPr/>
            </p:nvSpPr>
            <p:spPr>
              <a:xfrm>
                <a:off x="5414267" y="3075421"/>
                <a:ext cx="3272650" cy="1563851"/>
              </a:xfrm>
              <a:prstGeom prst="rect">
                <a:avLst/>
              </a:prstGeom>
              <a:blipFill rotWithShape="1">
                <a:blip r:embed="rId5"/>
                <a:stretch>
                  <a:fillRect/>
                </a:stretch>
              </a:blipFill>
              <a:ln>
                <a:solidFill>
                  <a:schemeClr val="accent6">
                    <a:lumMod val="50000"/>
                  </a:schemeClr>
                </a:solidFill>
              </a:ln>
            </p:spPr>
            <p:txBody>
              <a:bodyPr/>
              <a:lstStyle/>
              <a:p>
                <a:r>
                  <a:rPr lang="en-US">
                    <a:noFill/>
                  </a:rPr>
                  <a:t> </a:t>
                </a:r>
              </a:p>
            </p:txBody>
          </p:sp>
        </mc:Fallback>
      </mc:AlternateContent>
      <p:sp>
        <p:nvSpPr>
          <p:cNvPr id="12" name="Rounded Rectangle 11"/>
          <p:cNvSpPr/>
          <p:nvPr/>
        </p:nvSpPr>
        <p:spPr>
          <a:xfrm>
            <a:off x="5414267" y="2765510"/>
            <a:ext cx="3272650" cy="304061"/>
          </a:xfrm>
          <a:prstGeom prst="roundRect">
            <a:avLst/>
          </a:prstGeom>
          <a:solidFill>
            <a:schemeClr val="accent6">
              <a:lumMod val="60000"/>
              <a:lumOff val="4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Cambria Math" panose="02040503050406030204" pitchFamily="18" charset="0"/>
              </a:rPr>
              <a:t>Kidney transplant </a:t>
            </a:r>
          </a:p>
        </p:txBody>
      </p:sp>
      <p:sp>
        <p:nvSpPr>
          <p:cNvPr id="13" name="Rounded Rectangle 12"/>
          <p:cNvSpPr/>
          <p:nvPr/>
        </p:nvSpPr>
        <p:spPr>
          <a:xfrm>
            <a:off x="3402432" y="2275628"/>
            <a:ext cx="1557338" cy="285750"/>
          </a:xfrm>
          <a:prstGeom prst="roundRect">
            <a:avLst/>
          </a:prstGeom>
          <a:solidFill>
            <a:schemeClr val="accent4">
              <a:lumMod val="60000"/>
              <a:lumOff val="4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Cambria Math" panose="02040503050406030204" pitchFamily="18" charset="0"/>
              </a:rPr>
              <a:t>Patient removal</a:t>
            </a:r>
          </a:p>
        </p:txBody>
      </p:sp>
      <p:graphicFrame>
        <p:nvGraphicFramePr>
          <p:cNvPr id="14" name="Table 13"/>
          <p:cNvGraphicFramePr>
            <a:graphicFrameLocks noGrp="1"/>
          </p:cNvGraphicFramePr>
          <p:nvPr>
            <p:extLst>
              <p:ext uri="{D42A27DB-BD31-4B8C-83A1-F6EECF244321}">
                <p14:modId xmlns:p14="http://schemas.microsoft.com/office/powerpoint/2010/main" val="2191154818"/>
              </p:ext>
            </p:extLst>
          </p:nvPr>
        </p:nvGraphicFramePr>
        <p:xfrm>
          <a:off x="3032022" y="892654"/>
          <a:ext cx="2240756" cy="831412"/>
        </p:xfrm>
        <a:graphic>
          <a:graphicData uri="http://schemas.openxmlformats.org/drawingml/2006/table">
            <a:tbl>
              <a:tblPr firstRow="1" bandRow="1">
                <a:tableStyleId>{5C22544A-7EE6-4342-B048-85BDC9FD1C3A}</a:tableStyleId>
              </a:tblPr>
              <a:tblGrid>
                <a:gridCol w="560189">
                  <a:extLst>
                    <a:ext uri="{9D8B030D-6E8A-4147-A177-3AD203B41FA5}">
                      <a16:colId xmlns:a16="http://schemas.microsoft.com/office/drawing/2014/main" xmlns="" val="20000"/>
                    </a:ext>
                  </a:extLst>
                </a:gridCol>
                <a:gridCol w="560189">
                  <a:extLst>
                    <a:ext uri="{9D8B030D-6E8A-4147-A177-3AD203B41FA5}">
                      <a16:colId xmlns:a16="http://schemas.microsoft.com/office/drawing/2014/main" xmlns="" val="20001"/>
                    </a:ext>
                  </a:extLst>
                </a:gridCol>
                <a:gridCol w="560189">
                  <a:extLst>
                    <a:ext uri="{9D8B030D-6E8A-4147-A177-3AD203B41FA5}">
                      <a16:colId xmlns:a16="http://schemas.microsoft.com/office/drawing/2014/main" xmlns="" val="20002"/>
                    </a:ext>
                  </a:extLst>
                </a:gridCol>
                <a:gridCol w="560189">
                  <a:extLst>
                    <a:ext uri="{9D8B030D-6E8A-4147-A177-3AD203B41FA5}">
                      <a16:colId xmlns:a16="http://schemas.microsoft.com/office/drawing/2014/main" xmlns="" val="20003"/>
                    </a:ext>
                  </a:extLst>
                </a:gridCol>
              </a:tblGrid>
              <a:tr h="831412">
                <a:tc>
                  <a:txBody>
                    <a:bodyPr/>
                    <a:lstStyle/>
                    <a:p>
                      <a:endParaRPr lang="en-US"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0000"/>
                  </a:ext>
                </a:extLst>
              </a:tr>
            </a:tbl>
          </a:graphicData>
        </a:graphic>
      </p:graphicFrame>
      <p:cxnSp>
        <p:nvCxnSpPr>
          <p:cNvPr id="27" name="Straight Arrow Connector 26"/>
          <p:cNvCxnSpPr/>
          <p:nvPr/>
        </p:nvCxnSpPr>
        <p:spPr>
          <a:xfrm>
            <a:off x="4155774" y="1755051"/>
            <a:ext cx="0" cy="497941"/>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29" name="Straight Arrow Connector 28"/>
          <p:cNvCxnSpPr/>
          <p:nvPr/>
        </p:nvCxnSpPr>
        <p:spPr>
          <a:xfrm>
            <a:off x="7048964" y="2380928"/>
            <a:ext cx="0" cy="36576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23" name="Rectangle 22"/>
          <p:cNvSpPr/>
          <p:nvPr/>
        </p:nvSpPr>
        <p:spPr>
          <a:xfrm>
            <a:off x="1258093" y="-16725"/>
            <a:ext cx="6458713" cy="461665"/>
          </a:xfrm>
          <a:prstGeom prst="rect">
            <a:avLst/>
          </a:prstGeom>
        </p:spPr>
        <p:txBody>
          <a:bodyPr wrap="square">
            <a:spAutoFit/>
          </a:bodyPr>
          <a:lstStyle/>
          <a:p>
            <a:pPr algn="ctr"/>
            <a:r>
              <a:rPr lang="en-US" sz="2400" dirty="0" smtClean="0">
                <a:solidFill>
                  <a:schemeClr val="accent1">
                    <a:lumMod val="75000"/>
                  </a:schemeClr>
                </a:solidFill>
                <a:latin typeface="+mj-lt"/>
              </a:rPr>
              <a:t>Simulation Model for Information Sharing</a:t>
            </a:r>
            <a:endParaRPr lang="en-US" sz="2400" dirty="0">
              <a:solidFill>
                <a:schemeClr val="accent1">
                  <a:lumMod val="75000"/>
                </a:schemeClr>
              </a:solidFill>
              <a:latin typeface="+mj-lt"/>
            </a:endParaRPr>
          </a:p>
        </p:txBody>
      </p:sp>
      <p:sp>
        <p:nvSpPr>
          <p:cNvPr id="3" name="Slide Number Placeholder 2"/>
          <p:cNvSpPr>
            <a:spLocks noGrp="1"/>
          </p:cNvSpPr>
          <p:nvPr>
            <p:ph type="sldNum" sz="quarter" idx="4294967295"/>
          </p:nvPr>
        </p:nvSpPr>
        <p:spPr>
          <a:xfrm>
            <a:off x="0" y="4651038"/>
            <a:ext cx="2057400" cy="274637"/>
          </a:xfrm>
          <a:prstGeom prst="rect">
            <a:avLst/>
          </a:prstGeom>
        </p:spPr>
        <p:txBody>
          <a:bodyPr/>
          <a:lstStyle/>
          <a:p>
            <a:fld id="{69E57DC2-970A-4B3E-BB1C-7A09969E49DF}" type="slidenum">
              <a:rPr lang="en-US" smtClean="0"/>
              <a:t>21</a:t>
            </a:fld>
            <a:endParaRPr lang="en-US" dirty="0"/>
          </a:p>
        </p:txBody>
      </p:sp>
      <p:sp>
        <p:nvSpPr>
          <p:cNvPr id="2" name="Notched Right Arrow 1"/>
          <p:cNvSpPr/>
          <p:nvPr/>
        </p:nvSpPr>
        <p:spPr>
          <a:xfrm>
            <a:off x="2700308" y="1171717"/>
            <a:ext cx="401955" cy="273285"/>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p:cNvPicPr>
            <a:picLocks noChangeAspect="1"/>
          </p:cNvPicPr>
          <p:nvPr/>
        </p:nvPicPr>
        <p:blipFill>
          <a:blip r:embed="rId6"/>
          <a:stretch>
            <a:fillRect/>
          </a:stretch>
        </p:blipFill>
        <p:spPr>
          <a:xfrm>
            <a:off x="5094607" y="1171717"/>
            <a:ext cx="356342" cy="273285"/>
          </a:xfrm>
          <a:prstGeom prst="rect">
            <a:avLst/>
          </a:prstGeom>
        </p:spPr>
      </p:pic>
      <p:sp>
        <p:nvSpPr>
          <p:cNvPr id="17" name="Right Brace 16"/>
          <p:cNvSpPr/>
          <p:nvPr/>
        </p:nvSpPr>
        <p:spPr>
          <a:xfrm rot="5400000">
            <a:off x="4918640" y="1543323"/>
            <a:ext cx="142408" cy="565867"/>
          </a:xfrm>
          <a:prstGeom prst="rightBrace">
            <a:avLst>
              <a:gd name="adj1" fmla="val 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Rectangle 17"/>
          <p:cNvSpPr/>
          <p:nvPr/>
        </p:nvSpPr>
        <p:spPr>
          <a:xfrm>
            <a:off x="4833109" y="1766570"/>
            <a:ext cx="298480" cy="369332"/>
          </a:xfrm>
          <a:prstGeom prst="rect">
            <a:avLst/>
          </a:prstGeom>
        </p:spPr>
        <p:txBody>
          <a:bodyPr wrap="none">
            <a:spAutoFit/>
          </a:bodyPr>
          <a:lstStyle/>
          <a:p>
            <a:r>
              <a:rPr lang="en-US" dirty="0">
                <a:latin typeface="Cambria Math" panose="02040503050406030204" pitchFamily="18" charset="0"/>
              </a:rPr>
              <a:t>g</a:t>
            </a:r>
            <a:endParaRPr lang="en-US" dirty="0"/>
          </a:p>
        </p:txBody>
      </p:sp>
      <p:sp>
        <p:nvSpPr>
          <p:cNvPr id="24" name="TextBox 23"/>
          <p:cNvSpPr txBox="1"/>
          <p:nvPr/>
        </p:nvSpPr>
        <p:spPr>
          <a:xfrm>
            <a:off x="5479669" y="1161428"/>
            <a:ext cx="3117189" cy="307777"/>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lang="en-US" sz="1400" dirty="0" smtClean="0"/>
              <a:t>Modify group size g or decision time</a:t>
            </a:r>
            <a:endParaRPr lang="en-US" sz="1400" dirty="0"/>
          </a:p>
        </p:txBody>
      </p:sp>
      <mc:AlternateContent xmlns:mc="http://schemas.openxmlformats.org/markup-compatibility/2006" xmlns:a14="http://schemas.microsoft.com/office/drawing/2010/main">
        <mc:Choice Requires="a14">
          <p:sp>
            <p:nvSpPr>
              <p:cNvPr id="25" name="Rectangle 24"/>
              <p:cNvSpPr/>
              <p:nvPr/>
            </p:nvSpPr>
            <p:spPr>
              <a:xfrm>
                <a:off x="3424917" y="2572467"/>
                <a:ext cx="1557338" cy="605447"/>
              </a:xfrm>
              <a:prstGeom prst="rect">
                <a:avLst/>
              </a:prstGeom>
              <a:no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1400" b="0" i="1" smtClean="0">
                              <a:solidFill>
                                <a:schemeClr val="tx1"/>
                              </a:solidFill>
                              <a:latin typeface="Cambria Math"/>
                            </a:rPr>
                          </m:ctrlPr>
                        </m:sSubPr>
                        <m:e>
                          <m:r>
                            <a:rPr lang="en-US" sz="1400" b="0" i="1" smtClean="0">
                              <a:solidFill>
                                <a:schemeClr val="tx1"/>
                              </a:solidFill>
                              <a:latin typeface="Cambria Math" panose="02040503050406030204" pitchFamily="18" charset="0"/>
                            </a:rPr>
                            <m:t>h</m:t>
                          </m:r>
                        </m:e>
                        <m:sub>
                          <m:r>
                            <a:rPr lang="en-US" sz="1400" b="0" i="1" smtClean="0">
                              <a:solidFill>
                                <a:schemeClr val="tx1"/>
                              </a:solidFill>
                              <a:latin typeface="Cambria Math" panose="02040503050406030204" pitchFamily="18" charset="0"/>
                            </a:rPr>
                            <m:t>𝑤</m:t>
                          </m:r>
                        </m:sub>
                      </m:sSub>
                      <m:r>
                        <a:rPr lang="en-US" sz="1400" b="0" i="1" smtClean="0">
                          <a:solidFill>
                            <a:schemeClr val="tx1"/>
                          </a:solidFill>
                          <a:latin typeface="Cambria Math" panose="02040503050406030204" pitchFamily="18" charset="0"/>
                        </a:rPr>
                        <m:t>≤2 </m:t>
                      </m:r>
                      <m:r>
                        <a:rPr lang="en-US" sz="1400" b="0" i="1" smtClean="0">
                          <a:solidFill>
                            <a:schemeClr val="tx1"/>
                          </a:solidFill>
                          <a:latin typeface="Cambria Math" panose="02040503050406030204" pitchFamily="18" charset="0"/>
                        </a:rPr>
                        <m:t>𝑚𝑜𝑛𝑡h</m:t>
                      </m:r>
                      <m:r>
                        <a:rPr lang="en-US" sz="1400" b="0" i="1" smtClean="0">
                          <a:solidFill>
                            <a:schemeClr val="tx1"/>
                          </a:solidFill>
                          <a:latin typeface="Cambria Math"/>
                        </a:rPr>
                        <m:t>+</m:t>
                      </m:r>
                    </m:oMath>
                  </m:oMathPara>
                </a14:m>
                <a:endParaRPr lang="en-US" sz="1400" dirty="0" smtClean="0">
                  <a:solidFill>
                    <a:schemeClr val="tx1"/>
                  </a:solidFill>
                </a:endParaRPr>
              </a:p>
              <a:p>
                <a:pPr algn="ctr"/>
                <a:r>
                  <a:rPr lang="en-US" sz="1400" dirty="0" smtClean="0">
                    <a:solidFill>
                      <a:schemeClr val="tx1"/>
                    </a:solidFill>
                    <a:latin typeface="Cambria Math" panose="02040503050406030204" pitchFamily="18" charset="0"/>
                    <a:ea typeface="Cambria Math" panose="02040503050406030204" pitchFamily="18" charset="0"/>
                  </a:rPr>
                  <a:t>departure rate: </a:t>
                </a:r>
                <a14:m>
                  <m:oMath xmlns:m="http://schemas.openxmlformats.org/officeDocument/2006/math">
                    <m:r>
                      <a:rPr lang="en-US" sz="1400" i="1" smtClean="0">
                        <a:solidFill>
                          <a:schemeClr val="tx1"/>
                        </a:solidFill>
                        <a:latin typeface="Cambria Math"/>
                        <a:ea typeface="Cambria Math"/>
                      </a:rPr>
                      <m:t>𝛿</m:t>
                    </m:r>
                  </m:oMath>
                </a14:m>
                <a:endParaRPr lang="en-US" sz="1400" dirty="0">
                  <a:solidFill>
                    <a:schemeClr val="tx1"/>
                  </a:solidFill>
                </a:endParaRPr>
              </a:p>
            </p:txBody>
          </p:sp>
        </mc:Choice>
        <mc:Fallback xmlns="">
          <p:sp>
            <p:nvSpPr>
              <p:cNvPr id="25" name="Rectangle 24"/>
              <p:cNvSpPr>
                <a:spLocks noRot="1" noChangeAspect="1" noMove="1" noResize="1" noEditPoints="1" noAdjustHandles="1" noChangeArrowheads="1" noChangeShapeType="1" noTextEdit="1"/>
              </p:cNvSpPr>
              <p:nvPr/>
            </p:nvSpPr>
            <p:spPr>
              <a:xfrm>
                <a:off x="3424917" y="2572467"/>
                <a:ext cx="1557338" cy="605447"/>
              </a:xfrm>
              <a:prstGeom prst="rect">
                <a:avLst/>
              </a:prstGeom>
              <a:blipFill rotWithShape="1">
                <a:blip r:embed="rId7"/>
                <a:stretch>
                  <a:fillRect b="-990"/>
                </a:stretch>
              </a:blipFill>
              <a:ln>
                <a:solidFill>
                  <a:schemeClr val="accent4">
                    <a:lumMod val="50000"/>
                  </a:schemeClr>
                </a:solidFill>
              </a:ln>
            </p:spPr>
            <p:txBody>
              <a:bodyPr/>
              <a:lstStyle/>
              <a:p>
                <a:r>
                  <a:rPr lang="en-US">
                    <a:noFill/>
                  </a:rPr>
                  <a:t> </a:t>
                </a:r>
              </a:p>
            </p:txBody>
          </p:sp>
        </mc:Fallback>
      </mc:AlternateContent>
      <p:sp>
        <p:nvSpPr>
          <p:cNvPr id="10" name="Right Arrow 9"/>
          <p:cNvSpPr/>
          <p:nvPr/>
        </p:nvSpPr>
        <p:spPr>
          <a:xfrm flipH="1">
            <a:off x="4444583" y="1251679"/>
            <a:ext cx="232348" cy="134911"/>
          </a:xfrm>
          <a:prstGeom prst="rightArrow">
            <a:avLst/>
          </a:prstGeom>
          <a:solidFill>
            <a:schemeClr val="accent2">
              <a:lumMod val="60000"/>
              <a:lumOff val="4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cxnSp>
        <p:nvCxnSpPr>
          <p:cNvPr id="19" name="Straight Connector 18"/>
          <p:cNvCxnSpPr/>
          <p:nvPr/>
        </p:nvCxnSpPr>
        <p:spPr>
          <a:xfrm flipH="1">
            <a:off x="4354643" y="855857"/>
            <a:ext cx="1" cy="899194"/>
          </a:xfrm>
          <a:prstGeom prst="line">
            <a:avLst/>
          </a:prstGeom>
          <a:ln>
            <a:solidFill>
              <a:srgbClr val="FF0000"/>
            </a:solidFill>
          </a:ln>
        </p:spPr>
        <p:style>
          <a:lnRef idx="3">
            <a:schemeClr val="accent2"/>
          </a:lnRef>
          <a:fillRef idx="0">
            <a:schemeClr val="accent2"/>
          </a:fillRef>
          <a:effectRef idx="2">
            <a:schemeClr val="accent2"/>
          </a:effectRef>
          <a:fontRef idx="minor">
            <a:schemeClr val="tx1"/>
          </a:fontRef>
        </p:style>
      </p:cxnSp>
      <p:sp>
        <p:nvSpPr>
          <p:cNvPr id="28" name="Right Brace 27"/>
          <p:cNvSpPr/>
          <p:nvPr/>
        </p:nvSpPr>
        <p:spPr>
          <a:xfrm rot="5400000">
            <a:off x="4743665" y="1368532"/>
            <a:ext cx="127601" cy="905644"/>
          </a:xfrm>
          <a:prstGeom prst="rightBrace">
            <a:avLst>
              <a:gd name="adj1" fmla="val 0"/>
              <a:gd name="adj2" fmla="val 50000"/>
            </a:avLst>
          </a:prstGeom>
          <a:ln>
            <a:solidFill>
              <a:srgbClr val="FF0000"/>
            </a:solidFill>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solidFill>
                <a:srgbClr val="FF0000"/>
              </a:solidFill>
            </a:endParaRPr>
          </a:p>
        </p:txBody>
      </p:sp>
      <p:sp>
        <p:nvSpPr>
          <p:cNvPr id="30" name="TextBox 29"/>
          <p:cNvSpPr txBox="1"/>
          <p:nvPr/>
        </p:nvSpPr>
        <p:spPr>
          <a:xfrm>
            <a:off x="7048964" y="1672367"/>
            <a:ext cx="1457954" cy="307777"/>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lang="en-US" sz="1400" dirty="0" smtClean="0"/>
              <a:t>increases</a:t>
            </a:r>
            <a:endParaRPr lang="en-US" sz="1400" dirty="0"/>
          </a:p>
        </p:txBody>
      </p:sp>
    </p:spTree>
    <p:extLst>
      <p:ext uri="{BB962C8B-B14F-4D97-AF65-F5344CB8AC3E}">
        <p14:creationId xmlns:p14="http://schemas.microsoft.com/office/powerpoint/2010/main" val="193431054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xmlns:p14="http://schemas.microsoft.com/office/powerpoint/2010/mai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fade">
                                      <p:cBhvr>
                                        <p:cTn id="16" dur="500"/>
                                        <p:tgtEl>
                                          <p:spTgt spid="2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fade">
                                      <p:cBhvr>
                                        <p:cTn id="21"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10" grpId="0" animBg="1"/>
      <p:bldP spid="28" grpId="0" animBg="1"/>
      <p:bldP spid="3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0" y="4760913"/>
            <a:ext cx="2057400" cy="274637"/>
          </a:xfrm>
          <a:prstGeom prst="rect">
            <a:avLst/>
          </a:prstGeom>
        </p:spPr>
        <p:txBody>
          <a:bodyPr/>
          <a:lstStyle/>
          <a:p>
            <a:fld id="{69E57DC2-970A-4B3E-BB1C-7A09969E49DF}" type="slidenum">
              <a:rPr lang="en-US" smtClean="0"/>
              <a:pPr/>
              <a:t>22</a:t>
            </a:fld>
            <a:endParaRPr lang="en-US" dirty="0"/>
          </a:p>
        </p:txBody>
      </p:sp>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116046376"/>
                  </p:ext>
                </p:extLst>
              </p:nvPr>
            </p:nvGraphicFramePr>
            <p:xfrm>
              <a:off x="935051" y="1481695"/>
              <a:ext cx="7298530" cy="2375932"/>
            </p:xfrm>
            <a:graphic>
              <a:graphicData uri="http://schemas.openxmlformats.org/drawingml/2006/table">
                <a:tbl>
                  <a:tblPr firstRow="1" bandRow="1">
                    <a:tableStyleId>{68D230F3-CF80-4859-8CE7-A43EE81993B5}</a:tableStyleId>
                  </a:tblPr>
                  <a:tblGrid>
                    <a:gridCol w="772371">
                      <a:extLst>
                        <a:ext uri="{9D8B030D-6E8A-4147-A177-3AD203B41FA5}">
                          <a16:colId xmlns="" xmlns:a16="http://schemas.microsoft.com/office/drawing/2014/main" val="20000"/>
                        </a:ext>
                      </a:extLst>
                    </a:gridCol>
                    <a:gridCol w="1514675">
                      <a:extLst>
                        <a:ext uri="{9D8B030D-6E8A-4147-A177-3AD203B41FA5}">
                          <a16:colId xmlns="" xmlns:a16="http://schemas.microsoft.com/office/drawing/2014/main" val="20001"/>
                        </a:ext>
                      </a:extLst>
                    </a:gridCol>
                    <a:gridCol w="1514675">
                      <a:extLst>
                        <a:ext uri="{9D8B030D-6E8A-4147-A177-3AD203B41FA5}">
                          <a16:colId xmlns="" xmlns:a16="http://schemas.microsoft.com/office/drawing/2014/main" val="20002"/>
                        </a:ext>
                      </a:extLst>
                    </a:gridCol>
                    <a:gridCol w="1029009">
                      <a:extLst>
                        <a:ext uri="{9D8B030D-6E8A-4147-A177-3AD203B41FA5}">
                          <a16:colId xmlns="" xmlns:a16="http://schemas.microsoft.com/office/drawing/2014/main" val="20003"/>
                        </a:ext>
                      </a:extLst>
                    </a:gridCol>
                    <a:gridCol w="1319578">
                      <a:extLst>
                        <a:ext uri="{9D8B030D-6E8A-4147-A177-3AD203B41FA5}">
                          <a16:colId xmlns="" xmlns:a16="http://schemas.microsoft.com/office/drawing/2014/main" val="20004"/>
                        </a:ext>
                      </a:extLst>
                    </a:gridCol>
                    <a:gridCol w="1148222">
                      <a:extLst>
                        <a:ext uri="{9D8B030D-6E8A-4147-A177-3AD203B41FA5}">
                          <a16:colId xmlns="" xmlns:a16="http://schemas.microsoft.com/office/drawing/2014/main" val="657445219"/>
                        </a:ext>
                      </a:extLst>
                    </a:gridCol>
                  </a:tblGrid>
                  <a:tr h="770572">
                    <a:tc>
                      <a:txBody>
                        <a:bodyPr/>
                        <a:lstStyle/>
                        <a:p>
                          <a:pPr algn="ctr"/>
                          <a:r>
                            <a:rPr lang="en-US" sz="1400" dirty="0" smtClean="0">
                              <a:latin typeface="Book Antiqua" panose="02040602050305030304" pitchFamily="18" charset="0"/>
                            </a:rPr>
                            <a:t>Group </a:t>
                          </a:r>
                        </a:p>
                        <a:p>
                          <a:pPr algn="ctr"/>
                          <a:r>
                            <a:rPr lang="en-US" sz="1400" dirty="0" smtClean="0">
                              <a:latin typeface="Book Antiqua" panose="02040602050305030304" pitchFamily="18" charset="0"/>
                            </a:rPr>
                            <a:t>size g</a:t>
                          </a:r>
                        </a:p>
                      </a:txBody>
                      <a:tcPr/>
                    </a:tc>
                    <a:tc>
                      <a:txBody>
                        <a:bodyPr/>
                        <a:lstStyle/>
                        <a:p>
                          <a:pPr algn="ctr"/>
                          <a:r>
                            <a:rPr lang="en-US" sz="1400" dirty="0" smtClean="0">
                              <a:latin typeface="Book Antiqua" panose="02040602050305030304" pitchFamily="18" charset="0"/>
                            </a:rPr>
                            <a:t>Waitlist</a:t>
                          </a:r>
                          <a:r>
                            <a:rPr lang="en-US" sz="1400" baseline="0" dirty="0" smtClean="0">
                              <a:latin typeface="Book Antiqua" panose="02040602050305030304" pitchFamily="18" charset="0"/>
                            </a:rPr>
                            <a:t> position</a:t>
                          </a:r>
                        </a:p>
                        <a:p>
                          <a:pPr algn="ctr"/>
                          <a:r>
                            <a:rPr lang="en-US" sz="1400" baseline="0" dirty="0" smtClean="0">
                              <a:latin typeface="Book Antiqua" panose="02040602050305030304" pitchFamily="18" charset="0"/>
                            </a:rPr>
                            <a:t> (mean)</a:t>
                          </a:r>
                          <a:endParaRPr lang="en-US" sz="1400" dirty="0">
                            <a:latin typeface="Book Antiqua" panose="02040602050305030304" pitchFamily="18" charset="0"/>
                          </a:endParaRPr>
                        </a:p>
                      </a:txBody>
                      <a:tcPr/>
                    </a:tc>
                    <a:tc>
                      <a:txBody>
                        <a:bodyPr/>
                        <a:lstStyle/>
                        <a:p>
                          <a:pPr algn="ctr"/>
                          <a:r>
                            <a:rPr lang="en-US" sz="1400" dirty="0" smtClean="0">
                              <a:latin typeface="Book Antiqua" panose="02040602050305030304" pitchFamily="18" charset="0"/>
                            </a:rPr>
                            <a:t>Waitlist position</a:t>
                          </a:r>
                        </a:p>
                        <a:p>
                          <a:pPr algn="ctr"/>
                          <a:r>
                            <a:rPr lang="en-US" sz="1400" baseline="0" dirty="0" smtClean="0">
                              <a:latin typeface="Book Antiqua" panose="02040602050305030304" pitchFamily="18" charset="0"/>
                            </a:rPr>
                            <a:t> (max)</a:t>
                          </a:r>
                          <a:endParaRPr lang="en-US" sz="1400" dirty="0">
                            <a:latin typeface="Book Antiqua" panose="02040602050305030304" pitchFamily="18" charset="0"/>
                          </a:endParaRPr>
                        </a:p>
                      </a:txBody>
                      <a:tcPr/>
                    </a:tc>
                    <a:tc>
                      <a:txBody>
                        <a:bodyPr/>
                        <a:lstStyle/>
                        <a:p>
                          <a:pPr algn="ctr"/>
                          <a:r>
                            <a:rPr lang="en-US" sz="1400" dirty="0" smtClean="0">
                              <a:latin typeface="Book Antiqua" panose="02040602050305030304" pitchFamily="18" charset="0"/>
                            </a:rPr>
                            <a:t>Average </a:t>
                          </a:r>
                        </a:p>
                        <a:p>
                          <a:pPr algn="ctr"/>
                          <a:r>
                            <a:rPr lang="en-US" sz="1400" dirty="0" smtClean="0">
                              <a:latin typeface="Book Antiqua" panose="02040602050305030304" pitchFamily="18" charset="0"/>
                            </a:rPr>
                            <a:t>q</a:t>
                          </a:r>
                          <a:r>
                            <a:rPr lang="en-US" sz="1400" baseline="0" dirty="0" smtClean="0">
                              <a:latin typeface="Book Antiqua" panose="02040602050305030304" pitchFamily="18" charset="0"/>
                            </a:rPr>
                            <a:t> </a:t>
                          </a:r>
                        </a:p>
                      </a:txBody>
                      <a:tcPr/>
                    </a:tc>
                    <a:tc>
                      <a:txBody>
                        <a:bodyPr/>
                        <a:lstStyle/>
                        <a:p>
                          <a:pPr algn="ctr"/>
                          <a:r>
                            <a:rPr lang="en-US" sz="1400" dirty="0" smtClean="0">
                              <a:latin typeface="Book Antiqua" panose="02040602050305030304" pitchFamily="18" charset="0"/>
                            </a:rPr>
                            <a:t>Average  utility</a:t>
                          </a:r>
                        </a:p>
                        <a:p>
                          <a:pPr algn="ctr"/>
                          <a:r>
                            <a:rPr lang="en-US" sz="1400" dirty="0" smtClean="0">
                              <a:latin typeface="Book Antiqua" panose="02040602050305030304" pitchFamily="18" charset="0"/>
                            </a:rPr>
                            <a:t> (year)</a:t>
                          </a:r>
                          <a:endParaRPr lang="en-US" sz="1400" dirty="0">
                            <a:latin typeface="Book Antiqua" panose="02040602050305030304" pitchFamily="18" charset="0"/>
                          </a:endParaRPr>
                        </a:p>
                      </a:txBody>
                      <a:tcPr/>
                    </a:tc>
                    <a:tc>
                      <a:txBody>
                        <a:bodyPr/>
                        <a:lstStyle/>
                        <a:p>
                          <a:pPr algn="ctr"/>
                          <a:r>
                            <a:rPr lang="en-US" sz="1400" dirty="0" smtClean="0">
                              <a:latin typeface="Book Antiqua" panose="02040602050305030304" pitchFamily="18" charset="0"/>
                            </a:rPr>
                            <a:t>Total utility</a:t>
                          </a:r>
                        </a:p>
                        <a:p>
                          <a:pPr algn="ctr"/>
                          <a:r>
                            <a:rPr lang="en-US" sz="1400" dirty="0" smtClean="0">
                              <a:latin typeface="Book Antiqua" panose="02040602050305030304" pitchFamily="18" charset="0"/>
                            </a:rPr>
                            <a:t>(year)</a:t>
                          </a:r>
                          <a:endParaRPr lang="en-US" sz="1400" dirty="0">
                            <a:latin typeface="Book Antiqua" panose="02040602050305030304" pitchFamily="18" charset="0"/>
                          </a:endParaRPr>
                        </a:p>
                      </a:txBody>
                      <a:tcPr/>
                    </a:tc>
                    <a:extLst>
                      <a:ext uri="{0D108BD9-81ED-4DB2-BD59-A6C34878D82A}">
                        <a16:rowId xmlns="" xmlns:a16="http://schemas.microsoft.com/office/drawing/2014/main" val="10000"/>
                      </a:ext>
                    </a:extLst>
                  </a:tr>
                  <a:tr h="321072">
                    <a:tc>
                      <a:txBody>
                        <a:bodyPr/>
                        <a:lstStyle/>
                        <a:p>
                          <a:pPr algn="ctr"/>
                          <a:r>
                            <a:rPr lang="en-US" sz="1400" dirty="0" smtClean="0">
                              <a:latin typeface="Book Antiqua" panose="02040602050305030304" pitchFamily="18" charset="0"/>
                            </a:rPr>
                            <a:t>5</a:t>
                          </a:r>
                          <a:endParaRPr lang="en-US" sz="1400" dirty="0">
                            <a:latin typeface="Book Antiqua" panose="02040602050305030304" pitchFamily="18" charset="0"/>
                          </a:endParaRPr>
                        </a:p>
                      </a:txBody>
                      <a:tcPr/>
                    </a:tc>
                    <a:tc>
                      <a:txBody>
                        <a:bodyPr/>
                        <a:lstStyle/>
                        <a:p>
                          <a:pPr algn="ctr"/>
                          <a:r>
                            <a:rPr lang="en-US" sz="1400" dirty="0" smtClean="0">
                              <a:latin typeface="Book Antiqua" panose="02040602050305030304" pitchFamily="18" charset="0"/>
                            </a:rPr>
                            <a:t>6</a:t>
                          </a:r>
                          <a:endParaRPr lang="en-US" sz="1400" dirty="0">
                            <a:latin typeface="Book Antiqua" panose="02040602050305030304" pitchFamily="18" charset="0"/>
                          </a:endParaRPr>
                        </a:p>
                      </a:txBody>
                      <a:tcPr/>
                    </a:tc>
                    <a:tc>
                      <a:txBody>
                        <a:bodyPr/>
                        <a:lstStyle/>
                        <a:p>
                          <a:pPr algn="ctr"/>
                          <a:r>
                            <a:rPr lang="en-US" sz="1400" dirty="0" smtClean="0">
                              <a:latin typeface="Book Antiqua" panose="02040602050305030304" pitchFamily="18" charset="0"/>
                            </a:rPr>
                            <a:t>45</a:t>
                          </a:r>
                          <a:endParaRPr lang="en-US" sz="1400" dirty="0">
                            <a:latin typeface="Book Antiqua" panose="02040602050305030304" pitchFamily="18" charset="0"/>
                          </a:endParaRPr>
                        </a:p>
                      </a:txBody>
                      <a:tcPr/>
                    </a:tc>
                    <a:tc>
                      <a:txBody>
                        <a:bodyPr/>
                        <a:lstStyle/>
                        <a:p>
                          <a:pPr algn="ctr"/>
                          <a:r>
                            <a:rPr lang="en-US" sz="1400" dirty="0" smtClean="0">
                              <a:latin typeface="Book Antiqua" panose="02040602050305030304" pitchFamily="18" charset="0"/>
                            </a:rPr>
                            <a:t>0.66</a:t>
                          </a:r>
                          <a:endParaRPr lang="en-US" sz="1400" dirty="0">
                            <a:latin typeface="Book Antiqua" panose="02040602050305030304" pitchFamily="18" charset="0"/>
                          </a:endParaRPr>
                        </a:p>
                      </a:txBody>
                      <a:tcPr/>
                    </a:tc>
                    <a:tc>
                      <a:txBody>
                        <a:bodyPr/>
                        <a:lstStyle/>
                        <a:p>
                          <a:pPr algn="ctr"/>
                          <a:r>
                            <a:rPr lang="en-US" sz="1400" dirty="0" smtClean="0">
                              <a:latin typeface="Book Antiqua" panose="02040602050305030304" pitchFamily="18" charset="0"/>
                            </a:rPr>
                            <a:t>11.03</a:t>
                          </a:r>
                          <a:endParaRPr lang="en-US" sz="1400" dirty="0">
                            <a:latin typeface="Book Antiqua" panose="02040602050305030304" pitchFamily="18" charset="0"/>
                          </a:endParaRPr>
                        </a:p>
                      </a:txBody>
                      <a:tcPr/>
                    </a:tc>
                    <a:tc>
                      <a:txBody>
                        <a:bodyPr/>
                        <a:lstStyle/>
                        <a:p>
                          <a:pPr algn="ctr"/>
                          <a:r>
                            <a:rPr lang="en-US" sz="1400" dirty="0" smtClean="0">
                              <a:latin typeface="Book Antiqua" panose="02040602050305030304" pitchFamily="18" charset="0"/>
                            </a:rPr>
                            <a:t>284.48</a:t>
                          </a:r>
                          <a:endParaRPr lang="en-US" sz="1400" dirty="0">
                            <a:latin typeface="Book Antiqua" panose="02040602050305030304" pitchFamily="18" charset="0"/>
                          </a:endParaRPr>
                        </a:p>
                      </a:txBody>
                      <a:tcPr/>
                    </a:tc>
                    <a:extLst>
                      <a:ext uri="{0D108BD9-81ED-4DB2-BD59-A6C34878D82A}">
                        <a16:rowId xmlns="" xmlns:a16="http://schemas.microsoft.com/office/drawing/2014/main" val="10001"/>
                      </a:ext>
                    </a:extLst>
                  </a:tr>
                  <a:tr h="321072">
                    <a:tc>
                      <a:txBody>
                        <a:bodyPr/>
                        <a:lstStyle/>
                        <a:p>
                          <a:pPr algn="ctr"/>
                          <a:r>
                            <a:rPr lang="en-US" sz="1400" dirty="0" smtClean="0">
                              <a:latin typeface="Book Antiqua" panose="02040602050305030304" pitchFamily="18" charset="0"/>
                            </a:rPr>
                            <a:t>10</a:t>
                          </a:r>
                          <a:endParaRPr lang="en-US" sz="1400" dirty="0">
                            <a:latin typeface="Book Antiqua" panose="02040602050305030304" pitchFamily="18" charset="0"/>
                          </a:endParaRPr>
                        </a:p>
                      </a:txBody>
                      <a:tcPr/>
                    </a:tc>
                    <a:tc>
                      <a:txBody>
                        <a:bodyPr/>
                        <a:lstStyle/>
                        <a:p>
                          <a:pPr algn="ctr"/>
                          <a:r>
                            <a:rPr lang="en-US" sz="1400" dirty="0" smtClean="0">
                              <a:latin typeface="Book Antiqua" panose="02040602050305030304" pitchFamily="18" charset="0"/>
                            </a:rPr>
                            <a:t>8</a:t>
                          </a:r>
                          <a:endParaRPr lang="en-US" sz="1400" dirty="0">
                            <a:latin typeface="Book Antiqua" panose="02040602050305030304" pitchFamily="18" charset="0"/>
                          </a:endParaRPr>
                        </a:p>
                      </a:txBody>
                      <a:tcPr/>
                    </a:tc>
                    <a:tc>
                      <a:txBody>
                        <a:bodyPr/>
                        <a:lstStyle/>
                        <a:p>
                          <a:pPr algn="ctr"/>
                          <a:r>
                            <a:rPr lang="en-US" sz="1400" dirty="0" smtClean="0">
                              <a:latin typeface="Book Antiqua" panose="02040602050305030304" pitchFamily="18" charset="0"/>
                            </a:rPr>
                            <a:t>80</a:t>
                          </a:r>
                          <a:endParaRPr lang="en-US" sz="1400" dirty="0">
                            <a:latin typeface="Book Antiqua" panose="02040602050305030304" pitchFamily="18" charset="0"/>
                          </a:endParaRPr>
                        </a:p>
                      </a:txBody>
                      <a:tcPr/>
                    </a:tc>
                    <a:tc>
                      <a:txBody>
                        <a:bodyPr/>
                        <a:lstStyle/>
                        <a:p>
                          <a:pPr algn="ctr"/>
                          <a:r>
                            <a:rPr lang="en-US" sz="1400" dirty="0" smtClean="0">
                              <a:latin typeface="Book Antiqua" panose="02040602050305030304" pitchFamily="18" charset="0"/>
                            </a:rPr>
                            <a:t>0.62</a:t>
                          </a:r>
                          <a:endParaRPr lang="en-US" sz="1400" dirty="0">
                            <a:latin typeface="Book Antiqua" panose="02040602050305030304" pitchFamily="18" charset="0"/>
                          </a:endParaRPr>
                        </a:p>
                      </a:txBody>
                      <a:tcPr/>
                    </a:tc>
                    <a:tc>
                      <a:txBody>
                        <a:bodyPr/>
                        <a:lstStyle/>
                        <a:p>
                          <a:pPr algn="ctr"/>
                          <a:r>
                            <a:rPr lang="en-US" sz="1400" dirty="0" smtClean="0">
                              <a:latin typeface="Book Antiqua" panose="02040602050305030304" pitchFamily="18" charset="0"/>
                            </a:rPr>
                            <a:t>10.99</a:t>
                          </a:r>
                          <a:endParaRPr lang="en-US" sz="1400" dirty="0">
                            <a:latin typeface="Book Antiqua" panose="02040602050305030304" pitchFamily="18" charset="0"/>
                          </a:endParaRPr>
                        </a:p>
                      </a:txBody>
                      <a:tcPr/>
                    </a:tc>
                    <a:tc>
                      <a:txBody>
                        <a:bodyPr/>
                        <a:lstStyle/>
                        <a:p>
                          <a:pPr algn="ctr"/>
                          <a:r>
                            <a:rPr lang="en-US" sz="1400" dirty="0" smtClean="0">
                              <a:latin typeface="Book Antiqua" panose="02040602050305030304" pitchFamily="18" charset="0"/>
                            </a:rPr>
                            <a:t>312.72</a:t>
                          </a:r>
                          <a:endParaRPr lang="en-US" sz="1400" dirty="0">
                            <a:latin typeface="Book Antiqua" panose="02040602050305030304" pitchFamily="18" charset="0"/>
                          </a:endParaRPr>
                        </a:p>
                      </a:txBody>
                      <a:tcPr/>
                    </a:tc>
                    <a:extLst>
                      <a:ext uri="{0D108BD9-81ED-4DB2-BD59-A6C34878D82A}">
                        <a16:rowId xmlns="" xmlns:a16="http://schemas.microsoft.com/office/drawing/2014/main" val="10002"/>
                      </a:ext>
                    </a:extLst>
                  </a:tr>
                  <a:tr h="321072">
                    <a:tc>
                      <a:txBody>
                        <a:bodyPr/>
                        <a:lstStyle/>
                        <a:p>
                          <a:pPr algn="ctr"/>
                          <a:r>
                            <a:rPr lang="en-US" sz="1400" dirty="0" smtClean="0">
                              <a:latin typeface="Book Antiqua" panose="02040602050305030304" pitchFamily="18" charset="0"/>
                            </a:rPr>
                            <a:t>20</a:t>
                          </a:r>
                          <a:endParaRPr lang="en-US" sz="1400" dirty="0">
                            <a:latin typeface="Book Antiqua" panose="02040602050305030304" pitchFamily="18" charset="0"/>
                          </a:endParaRPr>
                        </a:p>
                      </a:txBody>
                      <a:tcPr/>
                    </a:tc>
                    <a:tc>
                      <a:txBody>
                        <a:bodyPr/>
                        <a:lstStyle/>
                        <a:p>
                          <a:pPr algn="ctr"/>
                          <a:r>
                            <a:rPr lang="en-US" sz="1400" dirty="0" smtClean="0">
                              <a:latin typeface="Book Antiqua" panose="02040602050305030304" pitchFamily="18" charset="0"/>
                            </a:rPr>
                            <a:t>10</a:t>
                          </a:r>
                          <a:endParaRPr lang="en-US" sz="1400" dirty="0">
                            <a:latin typeface="Book Antiqua" panose="02040602050305030304" pitchFamily="18" charset="0"/>
                          </a:endParaRPr>
                        </a:p>
                      </a:txBody>
                      <a:tcPr/>
                    </a:tc>
                    <a:tc>
                      <a:txBody>
                        <a:bodyPr/>
                        <a:lstStyle/>
                        <a:p>
                          <a:pPr algn="ctr"/>
                          <a:r>
                            <a:rPr lang="en-US" sz="1400" dirty="0" smtClean="0">
                              <a:latin typeface="Book Antiqua" panose="02040602050305030304" pitchFamily="18" charset="0"/>
                            </a:rPr>
                            <a:t>119</a:t>
                          </a:r>
                          <a:endParaRPr lang="en-US" sz="1400" dirty="0">
                            <a:latin typeface="Book Antiqua" panose="02040602050305030304" pitchFamily="18" charset="0"/>
                          </a:endParaRPr>
                        </a:p>
                      </a:txBody>
                      <a:tcPr/>
                    </a:tc>
                    <a:tc>
                      <a:txBody>
                        <a:bodyPr/>
                        <a:lstStyle/>
                        <a:p>
                          <a:pPr algn="ctr"/>
                          <a:r>
                            <a:rPr lang="en-US" sz="1400" dirty="0" smtClean="0">
                              <a:latin typeface="Book Antiqua" panose="02040602050305030304" pitchFamily="18" charset="0"/>
                            </a:rPr>
                            <a:t>0.6</a:t>
                          </a:r>
                          <a:endParaRPr lang="en-US" sz="1400" dirty="0">
                            <a:latin typeface="Book Antiqua" panose="02040602050305030304" pitchFamily="18" charset="0"/>
                          </a:endParaRPr>
                        </a:p>
                      </a:txBody>
                      <a:tcPr/>
                    </a:tc>
                    <a:tc>
                      <a:txBody>
                        <a:bodyPr/>
                        <a:lstStyle/>
                        <a:p>
                          <a:pPr algn="ctr"/>
                          <a:r>
                            <a:rPr lang="en-US" sz="1400" dirty="0" smtClean="0">
                              <a:latin typeface="Book Antiqua" panose="02040602050305030304" pitchFamily="18" charset="0"/>
                            </a:rPr>
                            <a:t>10.9</a:t>
                          </a:r>
                          <a:endParaRPr lang="en-US" sz="1400" dirty="0">
                            <a:latin typeface="Book Antiqua" panose="02040602050305030304" pitchFamily="18" charset="0"/>
                          </a:endParaRPr>
                        </a:p>
                      </a:txBody>
                      <a:tcPr/>
                    </a:tc>
                    <a:tc>
                      <a:txBody>
                        <a:bodyPr/>
                        <a:lstStyle/>
                        <a:p>
                          <a:pPr algn="ctr"/>
                          <a:r>
                            <a:rPr lang="en-US" sz="1400" dirty="0" smtClean="0">
                              <a:latin typeface="Book Antiqua" panose="02040602050305030304" pitchFamily="18" charset="0"/>
                            </a:rPr>
                            <a:t>321.17</a:t>
                          </a:r>
                          <a:endParaRPr lang="en-US" sz="1400" dirty="0">
                            <a:latin typeface="Book Antiqua" panose="02040602050305030304" pitchFamily="18" charset="0"/>
                          </a:endParaRPr>
                        </a:p>
                      </a:txBody>
                      <a:tcPr/>
                    </a:tc>
                    <a:extLst>
                      <a:ext uri="{0D108BD9-81ED-4DB2-BD59-A6C34878D82A}">
                        <a16:rowId xmlns="" xmlns:a16="http://schemas.microsoft.com/office/drawing/2014/main" val="10003"/>
                      </a:ext>
                    </a:extLst>
                  </a:tr>
                  <a:tr h="321072">
                    <a:tc>
                      <a:txBody>
                        <a:bodyPr/>
                        <a:lstStyle/>
                        <a:p>
                          <a:pPr algn="ctr"/>
                          <a:r>
                            <a:rPr lang="en-US" sz="1400" dirty="0" smtClean="0">
                              <a:latin typeface="Book Antiqua" panose="02040602050305030304" pitchFamily="18" charset="0"/>
                            </a:rPr>
                            <a:t>100</a:t>
                          </a:r>
                          <a:endParaRPr lang="en-US" sz="1400" dirty="0">
                            <a:latin typeface="Book Antiqua" panose="02040602050305030304" pitchFamily="18" charset="0"/>
                          </a:endParaRPr>
                        </a:p>
                      </a:txBody>
                      <a:tcPr/>
                    </a:tc>
                    <a:tc>
                      <a:txBody>
                        <a:bodyPr/>
                        <a:lstStyle/>
                        <a:p>
                          <a:pPr algn="ctr"/>
                          <a:r>
                            <a:rPr lang="en-US" sz="1400" dirty="0" smtClean="0">
                              <a:latin typeface="Book Antiqua" panose="02040602050305030304" pitchFamily="18" charset="0"/>
                            </a:rPr>
                            <a:t>22</a:t>
                          </a:r>
                          <a:endParaRPr lang="en-US" sz="1400" dirty="0">
                            <a:latin typeface="Book Antiqua" panose="02040602050305030304" pitchFamily="18" charset="0"/>
                          </a:endParaRPr>
                        </a:p>
                      </a:txBody>
                      <a:tcPr/>
                    </a:tc>
                    <a:tc>
                      <a:txBody>
                        <a:bodyPr/>
                        <a:lstStyle/>
                        <a:p>
                          <a:pPr algn="ctr"/>
                          <a:r>
                            <a:rPr lang="en-US" sz="1400" dirty="0" smtClean="0">
                              <a:latin typeface="Book Antiqua" panose="02040602050305030304" pitchFamily="18" charset="0"/>
                            </a:rPr>
                            <a:t>344</a:t>
                          </a:r>
                          <a:endParaRPr lang="en-US" sz="1400" dirty="0">
                            <a:latin typeface="Book Antiqua" panose="02040602050305030304" pitchFamily="18" charset="0"/>
                          </a:endParaRPr>
                        </a:p>
                      </a:txBody>
                      <a:tcPr/>
                    </a:tc>
                    <a:tc>
                      <a:txBody>
                        <a:bodyPr/>
                        <a:lstStyle/>
                        <a:p>
                          <a:pPr algn="ctr"/>
                          <a:r>
                            <a:rPr lang="en-US" sz="1400" dirty="0" smtClean="0">
                              <a:latin typeface="Book Antiqua" panose="02040602050305030304" pitchFamily="18" charset="0"/>
                            </a:rPr>
                            <a:t>0.57</a:t>
                          </a:r>
                          <a:endParaRPr lang="en-US" sz="1400" dirty="0">
                            <a:latin typeface="Book Antiqua" panose="02040602050305030304" pitchFamily="18" charset="0"/>
                          </a:endParaRPr>
                        </a:p>
                      </a:txBody>
                      <a:tcPr/>
                    </a:tc>
                    <a:tc>
                      <a:txBody>
                        <a:bodyPr/>
                        <a:lstStyle/>
                        <a:p>
                          <a:pPr algn="ctr"/>
                          <a:r>
                            <a:rPr lang="en-US" sz="1400" dirty="0" smtClean="0">
                              <a:latin typeface="Book Antiqua" panose="02040602050305030304" pitchFamily="18" charset="0"/>
                            </a:rPr>
                            <a:t>10.82</a:t>
                          </a:r>
                          <a:endParaRPr lang="en-US" sz="1400" dirty="0">
                            <a:latin typeface="Book Antiqua" panose="02040602050305030304" pitchFamily="18" charset="0"/>
                          </a:endParaRPr>
                        </a:p>
                      </a:txBody>
                      <a:tcPr/>
                    </a:tc>
                    <a:tc>
                      <a:txBody>
                        <a:bodyPr/>
                        <a:lstStyle/>
                        <a:p>
                          <a:pPr algn="ctr"/>
                          <a:r>
                            <a:rPr lang="en-US" sz="1400" dirty="0" smtClean="0">
                              <a:latin typeface="Book Antiqua" panose="02040602050305030304" pitchFamily="18" charset="0"/>
                            </a:rPr>
                            <a:t>331.22</a:t>
                          </a:r>
                          <a:endParaRPr lang="en-US" sz="1400" dirty="0">
                            <a:latin typeface="Book Antiqua" panose="02040602050305030304" pitchFamily="18" charset="0"/>
                          </a:endParaRPr>
                        </a:p>
                      </a:txBody>
                      <a:tcPr/>
                    </a:tc>
                    <a:extLst>
                      <a:ext uri="{0D108BD9-81ED-4DB2-BD59-A6C34878D82A}">
                        <a16:rowId xmlns="" xmlns:a16="http://schemas.microsoft.com/office/drawing/2014/main" val="10004"/>
                      </a:ext>
                    </a:extLst>
                  </a:tr>
                  <a:tr h="321072">
                    <a:tc>
                      <a:txBody>
                        <a:bodyPr/>
                        <a:lstStyle/>
                        <a:p>
                          <a:pPr algn="ctr"/>
                          <a14:m>
                            <m:oMathPara xmlns:m="http://schemas.openxmlformats.org/officeDocument/2006/math">
                              <m:oMathParaPr>
                                <m:jc m:val="centerGroup"/>
                              </m:oMathParaPr>
                              <m:oMath xmlns:m="http://schemas.openxmlformats.org/officeDocument/2006/math">
                                <m:r>
                                  <a:rPr lang="en-US" sz="1400" smtClean="0">
                                    <a:latin typeface="Cambria Math" panose="02040503050406030204" pitchFamily="18" charset="0"/>
                                  </a:rPr>
                                  <m:t>∞</m:t>
                                </m:r>
                              </m:oMath>
                            </m:oMathPara>
                          </a14:m>
                          <a:endParaRPr lang="en-US" sz="1400" b="0" dirty="0" smtClean="0">
                            <a:latin typeface="Book Antiqua" panose="02040602050305030304" pitchFamily="18" charset="0"/>
                          </a:endParaRPr>
                        </a:p>
                      </a:txBody>
                      <a:tcPr/>
                    </a:tc>
                    <a:tc>
                      <a:txBody>
                        <a:bodyPr/>
                        <a:lstStyle/>
                        <a:p>
                          <a:pPr algn="ctr"/>
                          <a:r>
                            <a:rPr lang="en-US" sz="1400" dirty="0" smtClean="0">
                              <a:latin typeface="Book Antiqua" panose="02040602050305030304" pitchFamily="18" charset="0"/>
                            </a:rPr>
                            <a:t>58</a:t>
                          </a:r>
                          <a:endParaRPr lang="en-US" sz="1400" dirty="0">
                            <a:latin typeface="Book Antiqua" panose="02040602050305030304" pitchFamily="18" charset="0"/>
                          </a:endParaRPr>
                        </a:p>
                      </a:txBody>
                      <a:tcPr/>
                    </a:tc>
                    <a:tc>
                      <a:txBody>
                        <a:bodyPr/>
                        <a:lstStyle/>
                        <a:p>
                          <a:pPr algn="ctr"/>
                          <a:r>
                            <a:rPr lang="en-US" sz="1400" dirty="0" smtClean="0">
                              <a:latin typeface="Book Antiqua" panose="02040602050305030304" pitchFamily="18" charset="0"/>
                            </a:rPr>
                            <a:t>1,383</a:t>
                          </a:r>
                          <a:endParaRPr lang="en-US" sz="1400" dirty="0">
                            <a:latin typeface="Book Antiqua" panose="02040602050305030304" pitchFamily="18" charset="0"/>
                          </a:endParaRPr>
                        </a:p>
                      </a:txBody>
                      <a:tcPr/>
                    </a:tc>
                    <a:tc>
                      <a:txBody>
                        <a:bodyPr/>
                        <a:lstStyle/>
                        <a:p>
                          <a:pPr algn="ctr"/>
                          <a:r>
                            <a:rPr lang="en-US" sz="1400" dirty="0" smtClean="0">
                              <a:latin typeface="Book Antiqua" panose="02040602050305030304" pitchFamily="18" charset="0"/>
                            </a:rPr>
                            <a:t>0.55</a:t>
                          </a:r>
                          <a:endParaRPr lang="en-US" sz="1400" dirty="0">
                            <a:latin typeface="Book Antiqua" panose="02040602050305030304" pitchFamily="18" charset="0"/>
                          </a:endParaRPr>
                        </a:p>
                      </a:txBody>
                      <a:tcPr/>
                    </a:tc>
                    <a:tc>
                      <a:txBody>
                        <a:bodyPr/>
                        <a:lstStyle/>
                        <a:p>
                          <a:pPr algn="ctr"/>
                          <a:r>
                            <a:rPr lang="en-US" sz="1400" dirty="0" smtClean="0">
                              <a:latin typeface="Book Antiqua" panose="02040602050305030304" pitchFamily="18" charset="0"/>
                            </a:rPr>
                            <a:t>10.80</a:t>
                          </a:r>
                          <a:endParaRPr lang="en-US" sz="1400" dirty="0">
                            <a:latin typeface="Book Antiqua" panose="02040602050305030304" pitchFamily="18" charset="0"/>
                          </a:endParaRPr>
                        </a:p>
                      </a:txBody>
                      <a:tcPr/>
                    </a:tc>
                    <a:tc>
                      <a:txBody>
                        <a:bodyPr/>
                        <a:lstStyle/>
                        <a:p>
                          <a:pPr algn="ctr"/>
                          <a:r>
                            <a:rPr lang="en-US" sz="1400" dirty="0" smtClean="0">
                              <a:latin typeface="Book Antiqua" panose="02040602050305030304" pitchFamily="18" charset="0"/>
                            </a:rPr>
                            <a:t>339</a:t>
                          </a:r>
                          <a:endParaRPr lang="en-US" sz="1400" dirty="0">
                            <a:latin typeface="Book Antiqua" panose="02040602050305030304" pitchFamily="18" charset="0"/>
                          </a:endParaRPr>
                        </a:p>
                      </a:txBody>
                      <a:tcPr/>
                    </a:tc>
                    <a:extLst>
                      <a:ext uri="{0D108BD9-81ED-4DB2-BD59-A6C34878D82A}">
                        <a16:rowId xmlns="" xmlns:a16="http://schemas.microsoft.com/office/drawing/2014/main" val="10005"/>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116046376"/>
                  </p:ext>
                </p:extLst>
              </p:nvPr>
            </p:nvGraphicFramePr>
            <p:xfrm>
              <a:off x="935051" y="1481695"/>
              <a:ext cx="7298530" cy="2375932"/>
            </p:xfrm>
            <a:graphic>
              <a:graphicData uri="http://schemas.openxmlformats.org/drawingml/2006/table">
                <a:tbl>
                  <a:tblPr firstRow="1" bandRow="1">
                    <a:tableStyleId>{68D230F3-CF80-4859-8CE7-A43EE81993B5}</a:tableStyleId>
                  </a:tblPr>
                  <a:tblGrid>
                    <a:gridCol w="772371">
                      <a:extLst>
                        <a:ext uri="{9D8B030D-6E8A-4147-A177-3AD203B41FA5}">
                          <a16:colId xmlns="" xmlns:a16="http://schemas.microsoft.com/office/drawing/2014/main" xmlns:a14="http://schemas.microsoft.com/office/drawing/2010/main" val="20000"/>
                        </a:ext>
                      </a:extLst>
                    </a:gridCol>
                    <a:gridCol w="1514675">
                      <a:extLst>
                        <a:ext uri="{9D8B030D-6E8A-4147-A177-3AD203B41FA5}">
                          <a16:colId xmlns="" xmlns:a16="http://schemas.microsoft.com/office/drawing/2014/main" xmlns:a14="http://schemas.microsoft.com/office/drawing/2010/main" val="20001"/>
                        </a:ext>
                      </a:extLst>
                    </a:gridCol>
                    <a:gridCol w="1514675">
                      <a:extLst>
                        <a:ext uri="{9D8B030D-6E8A-4147-A177-3AD203B41FA5}">
                          <a16:colId xmlns="" xmlns:a16="http://schemas.microsoft.com/office/drawing/2014/main" xmlns:a14="http://schemas.microsoft.com/office/drawing/2010/main" val="20002"/>
                        </a:ext>
                      </a:extLst>
                    </a:gridCol>
                    <a:gridCol w="1029009">
                      <a:extLst>
                        <a:ext uri="{9D8B030D-6E8A-4147-A177-3AD203B41FA5}">
                          <a16:colId xmlns="" xmlns:a16="http://schemas.microsoft.com/office/drawing/2014/main" xmlns:a14="http://schemas.microsoft.com/office/drawing/2010/main" val="20003"/>
                        </a:ext>
                      </a:extLst>
                    </a:gridCol>
                    <a:gridCol w="1319578">
                      <a:extLst>
                        <a:ext uri="{9D8B030D-6E8A-4147-A177-3AD203B41FA5}">
                          <a16:colId xmlns="" xmlns:a16="http://schemas.microsoft.com/office/drawing/2014/main" xmlns:a14="http://schemas.microsoft.com/office/drawing/2010/main" val="20004"/>
                        </a:ext>
                      </a:extLst>
                    </a:gridCol>
                    <a:gridCol w="1148222">
                      <a:extLst>
                        <a:ext uri="{9D8B030D-6E8A-4147-A177-3AD203B41FA5}">
                          <a16:colId xmlns="" xmlns:a16="http://schemas.microsoft.com/office/drawing/2014/main" xmlns:a14="http://schemas.microsoft.com/office/drawing/2010/main" val="657445219"/>
                        </a:ext>
                      </a:extLst>
                    </a:gridCol>
                  </a:tblGrid>
                  <a:tr h="770572">
                    <a:tc>
                      <a:txBody>
                        <a:bodyPr/>
                        <a:lstStyle/>
                        <a:p>
                          <a:pPr algn="ctr"/>
                          <a:r>
                            <a:rPr lang="en-US" sz="1400" dirty="0" smtClean="0">
                              <a:latin typeface="Book Antiqua" panose="02040602050305030304" pitchFamily="18" charset="0"/>
                            </a:rPr>
                            <a:t>Group </a:t>
                          </a:r>
                        </a:p>
                        <a:p>
                          <a:pPr algn="ctr"/>
                          <a:r>
                            <a:rPr lang="en-US" sz="1400" dirty="0" smtClean="0">
                              <a:latin typeface="Book Antiqua" panose="02040602050305030304" pitchFamily="18" charset="0"/>
                            </a:rPr>
                            <a:t>size g</a:t>
                          </a:r>
                        </a:p>
                      </a:txBody>
                      <a:tcPr/>
                    </a:tc>
                    <a:tc>
                      <a:txBody>
                        <a:bodyPr/>
                        <a:lstStyle/>
                        <a:p>
                          <a:pPr algn="ctr"/>
                          <a:r>
                            <a:rPr lang="en-US" sz="1400" dirty="0" smtClean="0">
                              <a:latin typeface="Book Antiqua" panose="02040602050305030304" pitchFamily="18" charset="0"/>
                            </a:rPr>
                            <a:t>Waitlist</a:t>
                          </a:r>
                          <a:r>
                            <a:rPr lang="en-US" sz="1400" baseline="0" dirty="0" smtClean="0">
                              <a:latin typeface="Book Antiqua" panose="02040602050305030304" pitchFamily="18" charset="0"/>
                            </a:rPr>
                            <a:t> position</a:t>
                          </a:r>
                        </a:p>
                        <a:p>
                          <a:pPr algn="ctr"/>
                          <a:r>
                            <a:rPr lang="en-US" sz="1400" baseline="0" dirty="0" smtClean="0">
                              <a:latin typeface="Book Antiqua" panose="02040602050305030304" pitchFamily="18" charset="0"/>
                            </a:rPr>
                            <a:t> (mean)</a:t>
                          </a:r>
                          <a:endParaRPr lang="en-US" sz="1400" dirty="0">
                            <a:latin typeface="Book Antiqua" panose="02040602050305030304" pitchFamily="18" charset="0"/>
                          </a:endParaRPr>
                        </a:p>
                      </a:txBody>
                      <a:tcPr/>
                    </a:tc>
                    <a:tc>
                      <a:txBody>
                        <a:bodyPr/>
                        <a:lstStyle/>
                        <a:p>
                          <a:pPr algn="ctr"/>
                          <a:r>
                            <a:rPr lang="en-US" sz="1400" dirty="0" smtClean="0">
                              <a:latin typeface="Book Antiqua" panose="02040602050305030304" pitchFamily="18" charset="0"/>
                            </a:rPr>
                            <a:t>Waitlist position</a:t>
                          </a:r>
                        </a:p>
                        <a:p>
                          <a:pPr algn="ctr"/>
                          <a:r>
                            <a:rPr lang="en-US" sz="1400" baseline="0" dirty="0" smtClean="0">
                              <a:latin typeface="Book Antiqua" panose="02040602050305030304" pitchFamily="18" charset="0"/>
                            </a:rPr>
                            <a:t> (max)</a:t>
                          </a:r>
                          <a:endParaRPr lang="en-US" sz="1400" dirty="0">
                            <a:latin typeface="Book Antiqua" panose="02040602050305030304" pitchFamily="18" charset="0"/>
                          </a:endParaRPr>
                        </a:p>
                      </a:txBody>
                      <a:tcPr/>
                    </a:tc>
                    <a:tc>
                      <a:txBody>
                        <a:bodyPr/>
                        <a:lstStyle/>
                        <a:p>
                          <a:pPr algn="ctr"/>
                          <a:r>
                            <a:rPr lang="en-US" sz="1400" dirty="0" smtClean="0">
                              <a:latin typeface="Book Antiqua" panose="02040602050305030304" pitchFamily="18" charset="0"/>
                            </a:rPr>
                            <a:t>Average </a:t>
                          </a:r>
                        </a:p>
                        <a:p>
                          <a:pPr algn="ctr"/>
                          <a:r>
                            <a:rPr lang="en-US" sz="1400" dirty="0" smtClean="0">
                              <a:latin typeface="Book Antiqua" panose="02040602050305030304" pitchFamily="18" charset="0"/>
                            </a:rPr>
                            <a:t>q</a:t>
                          </a:r>
                          <a:r>
                            <a:rPr lang="en-US" sz="1400" baseline="0" dirty="0" smtClean="0">
                              <a:latin typeface="Book Antiqua" panose="02040602050305030304" pitchFamily="18" charset="0"/>
                            </a:rPr>
                            <a:t> </a:t>
                          </a:r>
                        </a:p>
                      </a:txBody>
                      <a:tcPr/>
                    </a:tc>
                    <a:tc>
                      <a:txBody>
                        <a:bodyPr/>
                        <a:lstStyle/>
                        <a:p>
                          <a:pPr algn="ctr"/>
                          <a:r>
                            <a:rPr lang="en-US" sz="1400" dirty="0" smtClean="0">
                              <a:latin typeface="Book Antiqua" panose="02040602050305030304" pitchFamily="18" charset="0"/>
                            </a:rPr>
                            <a:t>Average  utility</a:t>
                          </a:r>
                        </a:p>
                        <a:p>
                          <a:pPr algn="ctr"/>
                          <a:r>
                            <a:rPr lang="en-US" sz="1400" dirty="0" smtClean="0">
                              <a:latin typeface="Book Antiqua" panose="02040602050305030304" pitchFamily="18" charset="0"/>
                            </a:rPr>
                            <a:t> (year)</a:t>
                          </a:r>
                          <a:endParaRPr lang="en-US" sz="1400" dirty="0">
                            <a:latin typeface="Book Antiqua" panose="02040602050305030304" pitchFamily="18" charset="0"/>
                          </a:endParaRPr>
                        </a:p>
                      </a:txBody>
                      <a:tcPr/>
                    </a:tc>
                    <a:tc>
                      <a:txBody>
                        <a:bodyPr/>
                        <a:lstStyle/>
                        <a:p>
                          <a:pPr algn="ctr"/>
                          <a:r>
                            <a:rPr lang="en-US" sz="1400" dirty="0" smtClean="0">
                              <a:latin typeface="Book Antiqua" panose="02040602050305030304" pitchFamily="18" charset="0"/>
                            </a:rPr>
                            <a:t>Total utility</a:t>
                          </a:r>
                        </a:p>
                        <a:p>
                          <a:pPr algn="ctr"/>
                          <a:r>
                            <a:rPr lang="en-US" sz="1400" dirty="0" smtClean="0">
                              <a:latin typeface="Book Antiqua" panose="02040602050305030304" pitchFamily="18" charset="0"/>
                            </a:rPr>
                            <a:t>(year)</a:t>
                          </a:r>
                          <a:endParaRPr lang="en-US" sz="1400" dirty="0">
                            <a:latin typeface="Book Antiqua" panose="02040602050305030304" pitchFamily="18" charset="0"/>
                          </a:endParaRPr>
                        </a:p>
                      </a:txBody>
                      <a:tcPr/>
                    </a:tc>
                    <a:extLst>
                      <a:ext uri="{0D108BD9-81ED-4DB2-BD59-A6C34878D82A}">
                        <a16:rowId xmlns="" xmlns:a16="http://schemas.microsoft.com/office/drawing/2014/main" xmlns:a14="http://schemas.microsoft.com/office/drawing/2010/main" val="10000"/>
                      </a:ext>
                    </a:extLst>
                  </a:tr>
                  <a:tr h="321072">
                    <a:tc>
                      <a:txBody>
                        <a:bodyPr/>
                        <a:lstStyle/>
                        <a:p>
                          <a:pPr algn="ctr"/>
                          <a:r>
                            <a:rPr lang="en-US" sz="1400" dirty="0" smtClean="0">
                              <a:latin typeface="Book Antiqua" panose="02040602050305030304" pitchFamily="18" charset="0"/>
                            </a:rPr>
                            <a:t>5</a:t>
                          </a:r>
                          <a:endParaRPr lang="en-US" sz="1400" dirty="0">
                            <a:latin typeface="Book Antiqua" panose="02040602050305030304" pitchFamily="18" charset="0"/>
                          </a:endParaRPr>
                        </a:p>
                      </a:txBody>
                      <a:tcPr/>
                    </a:tc>
                    <a:tc>
                      <a:txBody>
                        <a:bodyPr/>
                        <a:lstStyle/>
                        <a:p>
                          <a:pPr algn="ctr"/>
                          <a:r>
                            <a:rPr lang="en-US" sz="1400" dirty="0" smtClean="0">
                              <a:latin typeface="Book Antiqua" panose="02040602050305030304" pitchFamily="18" charset="0"/>
                            </a:rPr>
                            <a:t>6</a:t>
                          </a:r>
                          <a:endParaRPr lang="en-US" sz="1400" dirty="0">
                            <a:latin typeface="Book Antiqua" panose="02040602050305030304" pitchFamily="18" charset="0"/>
                          </a:endParaRPr>
                        </a:p>
                      </a:txBody>
                      <a:tcPr/>
                    </a:tc>
                    <a:tc>
                      <a:txBody>
                        <a:bodyPr/>
                        <a:lstStyle/>
                        <a:p>
                          <a:pPr algn="ctr"/>
                          <a:r>
                            <a:rPr lang="en-US" sz="1400" dirty="0" smtClean="0">
                              <a:latin typeface="Book Antiqua" panose="02040602050305030304" pitchFamily="18" charset="0"/>
                            </a:rPr>
                            <a:t>45</a:t>
                          </a:r>
                          <a:endParaRPr lang="en-US" sz="1400" dirty="0">
                            <a:latin typeface="Book Antiqua" panose="02040602050305030304" pitchFamily="18" charset="0"/>
                          </a:endParaRPr>
                        </a:p>
                      </a:txBody>
                      <a:tcPr/>
                    </a:tc>
                    <a:tc>
                      <a:txBody>
                        <a:bodyPr/>
                        <a:lstStyle/>
                        <a:p>
                          <a:pPr algn="ctr"/>
                          <a:r>
                            <a:rPr lang="en-US" sz="1400" dirty="0" smtClean="0">
                              <a:latin typeface="Book Antiqua" panose="02040602050305030304" pitchFamily="18" charset="0"/>
                            </a:rPr>
                            <a:t>0.66</a:t>
                          </a:r>
                          <a:endParaRPr lang="en-US" sz="1400" dirty="0">
                            <a:latin typeface="Book Antiqua" panose="02040602050305030304" pitchFamily="18" charset="0"/>
                          </a:endParaRPr>
                        </a:p>
                      </a:txBody>
                      <a:tcPr/>
                    </a:tc>
                    <a:tc>
                      <a:txBody>
                        <a:bodyPr/>
                        <a:lstStyle/>
                        <a:p>
                          <a:pPr algn="ctr"/>
                          <a:r>
                            <a:rPr lang="en-US" sz="1400" dirty="0" smtClean="0">
                              <a:latin typeface="Book Antiqua" panose="02040602050305030304" pitchFamily="18" charset="0"/>
                            </a:rPr>
                            <a:t>11.03</a:t>
                          </a:r>
                          <a:endParaRPr lang="en-US" sz="1400" dirty="0">
                            <a:latin typeface="Book Antiqua" panose="02040602050305030304" pitchFamily="18" charset="0"/>
                          </a:endParaRPr>
                        </a:p>
                      </a:txBody>
                      <a:tcPr/>
                    </a:tc>
                    <a:tc>
                      <a:txBody>
                        <a:bodyPr/>
                        <a:lstStyle/>
                        <a:p>
                          <a:pPr algn="ctr"/>
                          <a:r>
                            <a:rPr lang="en-US" sz="1400" dirty="0" smtClean="0">
                              <a:latin typeface="Book Antiqua" panose="02040602050305030304" pitchFamily="18" charset="0"/>
                            </a:rPr>
                            <a:t>284.48</a:t>
                          </a:r>
                          <a:endParaRPr lang="en-US" sz="1400" dirty="0">
                            <a:latin typeface="Book Antiqua" panose="02040602050305030304" pitchFamily="18" charset="0"/>
                          </a:endParaRPr>
                        </a:p>
                      </a:txBody>
                      <a:tcPr/>
                    </a:tc>
                    <a:extLst>
                      <a:ext uri="{0D108BD9-81ED-4DB2-BD59-A6C34878D82A}">
                        <a16:rowId xmlns="" xmlns:a16="http://schemas.microsoft.com/office/drawing/2014/main" xmlns:a14="http://schemas.microsoft.com/office/drawing/2010/main" val="10001"/>
                      </a:ext>
                    </a:extLst>
                  </a:tr>
                  <a:tr h="321072">
                    <a:tc>
                      <a:txBody>
                        <a:bodyPr/>
                        <a:lstStyle/>
                        <a:p>
                          <a:pPr algn="ctr"/>
                          <a:r>
                            <a:rPr lang="en-US" sz="1400" dirty="0" smtClean="0">
                              <a:latin typeface="Book Antiqua" panose="02040602050305030304" pitchFamily="18" charset="0"/>
                            </a:rPr>
                            <a:t>10</a:t>
                          </a:r>
                          <a:endParaRPr lang="en-US" sz="1400" dirty="0">
                            <a:latin typeface="Book Antiqua" panose="02040602050305030304" pitchFamily="18" charset="0"/>
                          </a:endParaRPr>
                        </a:p>
                      </a:txBody>
                      <a:tcPr/>
                    </a:tc>
                    <a:tc>
                      <a:txBody>
                        <a:bodyPr/>
                        <a:lstStyle/>
                        <a:p>
                          <a:pPr algn="ctr"/>
                          <a:r>
                            <a:rPr lang="en-US" sz="1400" dirty="0" smtClean="0">
                              <a:latin typeface="Book Antiqua" panose="02040602050305030304" pitchFamily="18" charset="0"/>
                            </a:rPr>
                            <a:t>8</a:t>
                          </a:r>
                          <a:endParaRPr lang="en-US" sz="1400" dirty="0">
                            <a:latin typeface="Book Antiqua" panose="02040602050305030304" pitchFamily="18" charset="0"/>
                          </a:endParaRPr>
                        </a:p>
                      </a:txBody>
                      <a:tcPr/>
                    </a:tc>
                    <a:tc>
                      <a:txBody>
                        <a:bodyPr/>
                        <a:lstStyle/>
                        <a:p>
                          <a:pPr algn="ctr"/>
                          <a:r>
                            <a:rPr lang="en-US" sz="1400" dirty="0" smtClean="0">
                              <a:latin typeface="Book Antiqua" panose="02040602050305030304" pitchFamily="18" charset="0"/>
                            </a:rPr>
                            <a:t>80</a:t>
                          </a:r>
                          <a:endParaRPr lang="en-US" sz="1400" dirty="0">
                            <a:latin typeface="Book Antiqua" panose="02040602050305030304" pitchFamily="18" charset="0"/>
                          </a:endParaRPr>
                        </a:p>
                      </a:txBody>
                      <a:tcPr/>
                    </a:tc>
                    <a:tc>
                      <a:txBody>
                        <a:bodyPr/>
                        <a:lstStyle/>
                        <a:p>
                          <a:pPr algn="ctr"/>
                          <a:r>
                            <a:rPr lang="en-US" sz="1400" dirty="0" smtClean="0">
                              <a:latin typeface="Book Antiqua" panose="02040602050305030304" pitchFamily="18" charset="0"/>
                            </a:rPr>
                            <a:t>0.62</a:t>
                          </a:r>
                          <a:endParaRPr lang="en-US" sz="1400" dirty="0">
                            <a:latin typeface="Book Antiqua" panose="02040602050305030304" pitchFamily="18" charset="0"/>
                          </a:endParaRPr>
                        </a:p>
                      </a:txBody>
                      <a:tcPr/>
                    </a:tc>
                    <a:tc>
                      <a:txBody>
                        <a:bodyPr/>
                        <a:lstStyle/>
                        <a:p>
                          <a:pPr algn="ctr"/>
                          <a:r>
                            <a:rPr lang="en-US" sz="1400" dirty="0" smtClean="0">
                              <a:latin typeface="Book Antiqua" panose="02040602050305030304" pitchFamily="18" charset="0"/>
                            </a:rPr>
                            <a:t>10.99</a:t>
                          </a:r>
                          <a:endParaRPr lang="en-US" sz="1400" dirty="0">
                            <a:latin typeface="Book Antiqua" panose="02040602050305030304" pitchFamily="18" charset="0"/>
                          </a:endParaRPr>
                        </a:p>
                      </a:txBody>
                      <a:tcPr/>
                    </a:tc>
                    <a:tc>
                      <a:txBody>
                        <a:bodyPr/>
                        <a:lstStyle/>
                        <a:p>
                          <a:pPr algn="ctr"/>
                          <a:r>
                            <a:rPr lang="en-US" sz="1400" dirty="0" smtClean="0">
                              <a:latin typeface="Book Antiqua" panose="02040602050305030304" pitchFamily="18" charset="0"/>
                            </a:rPr>
                            <a:t>312.72</a:t>
                          </a:r>
                          <a:endParaRPr lang="en-US" sz="1400" dirty="0">
                            <a:latin typeface="Book Antiqua" panose="02040602050305030304" pitchFamily="18" charset="0"/>
                          </a:endParaRPr>
                        </a:p>
                      </a:txBody>
                      <a:tcPr/>
                    </a:tc>
                    <a:extLst>
                      <a:ext uri="{0D108BD9-81ED-4DB2-BD59-A6C34878D82A}">
                        <a16:rowId xmlns="" xmlns:a16="http://schemas.microsoft.com/office/drawing/2014/main" xmlns:a14="http://schemas.microsoft.com/office/drawing/2010/main" val="10002"/>
                      </a:ext>
                    </a:extLst>
                  </a:tr>
                  <a:tr h="321072">
                    <a:tc>
                      <a:txBody>
                        <a:bodyPr/>
                        <a:lstStyle/>
                        <a:p>
                          <a:pPr algn="ctr"/>
                          <a:r>
                            <a:rPr lang="en-US" sz="1400" dirty="0" smtClean="0">
                              <a:latin typeface="Book Antiqua" panose="02040602050305030304" pitchFamily="18" charset="0"/>
                            </a:rPr>
                            <a:t>20</a:t>
                          </a:r>
                          <a:endParaRPr lang="en-US" sz="1400" dirty="0">
                            <a:latin typeface="Book Antiqua" panose="02040602050305030304" pitchFamily="18" charset="0"/>
                          </a:endParaRPr>
                        </a:p>
                      </a:txBody>
                      <a:tcPr/>
                    </a:tc>
                    <a:tc>
                      <a:txBody>
                        <a:bodyPr/>
                        <a:lstStyle/>
                        <a:p>
                          <a:pPr algn="ctr"/>
                          <a:r>
                            <a:rPr lang="en-US" sz="1400" dirty="0" smtClean="0">
                              <a:latin typeface="Book Antiqua" panose="02040602050305030304" pitchFamily="18" charset="0"/>
                            </a:rPr>
                            <a:t>10</a:t>
                          </a:r>
                          <a:endParaRPr lang="en-US" sz="1400" dirty="0">
                            <a:latin typeface="Book Antiqua" panose="02040602050305030304" pitchFamily="18" charset="0"/>
                          </a:endParaRPr>
                        </a:p>
                      </a:txBody>
                      <a:tcPr/>
                    </a:tc>
                    <a:tc>
                      <a:txBody>
                        <a:bodyPr/>
                        <a:lstStyle/>
                        <a:p>
                          <a:pPr algn="ctr"/>
                          <a:r>
                            <a:rPr lang="en-US" sz="1400" dirty="0" smtClean="0">
                              <a:latin typeface="Book Antiqua" panose="02040602050305030304" pitchFamily="18" charset="0"/>
                            </a:rPr>
                            <a:t>119</a:t>
                          </a:r>
                          <a:endParaRPr lang="en-US" sz="1400" dirty="0">
                            <a:latin typeface="Book Antiqua" panose="02040602050305030304" pitchFamily="18" charset="0"/>
                          </a:endParaRPr>
                        </a:p>
                      </a:txBody>
                      <a:tcPr/>
                    </a:tc>
                    <a:tc>
                      <a:txBody>
                        <a:bodyPr/>
                        <a:lstStyle/>
                        <a:p>
                          <a:pPr algn="ctr"/>
                          <a:r>
                            <a:rPr lang="en-US" sz="1400" dirty="0" smtClean="0">
                              <a:latin typeface="Book Antiqua" panose="02040602050305030304" pitchFamily="18" charset="0"/>
                            </a:rPr>
                            <a:t>0.6</a:t>
                          </a:r>
                          <a:endParaRPr lang="en-US" sz="1400" dirty="0">
                            <a:latin typeface="Book Antiqua" panose="02040602050305030304" pitchFamily="18" charset="0"/>
                          </a:endParaRPr>
                        </a:p>
                      </a:txBody>
                      <a:tcPr/>
                    </a:tc>
                    <a:tc>
                      <a:txBody>
                        <a:bodyPr/>
                        <a:lstStyle/>
                        <a:p>
                          <a:pPr algn="ctr"/>
                          <a:r>
                            <a:rPr lang="en-US" sz="1400" dirty="0" smtClean="0">
                              <a:latin typeface="Book Antiqua" panose="02040602050305030304" pitchFamily="18" charset="0"/>
                            </a:rPr>
                            <a:t>10.9</a:t>
                          </a:r>
                          <a:endParaRPr lang="en-US" sz="1400" dirty="0">
                            <a:latin typeface="Book Antiqua" panose="02040602050305030304" pitchFamily="18" charset="0"/>
                          </a:endParaRPr>
                        </a:p>
                      </a:txBody>
                      <a:tcPr/>
                    </a:tc>
                    <a:tc>
                      <a:txBody>
                        <a:bodyPr/>
                        <a:lstStyle/>
                        <a:p>
                          <a:pPr algn="ctr"/>
                          <a:r>
                            <a:rPr lang="en-US" sz="1400" dirty="0" smtClean="0">
                              <a:latin typeface="Book Antiqua" panose="02040602050305030304" pitchFamily="18" charset="0"/>
                            </a:rPr>
                            <a:t>321.17</a:t>
                          </a:r>
                          <a:endParaRPr lang="en-US" sz="1400" dirty="0">
                            <a:latin typeface="Book Antiqua" panose="02040602050305030304" pitchFamily="18" charset="0"/>
                          </a:endParaRPr>
                        </a:p>
                      </a:txBody>
                      <a:tcPr/>
                    </a:tc>
                    <a:extLst>
                      <a:ext uri="{0D108BD9-81ED-4DB2-BD59-A6C34878D82A}">
                        <a16:rowId xmlns="" xmlns:a16="http://schemas.microsoft.com/office/drawing/2014/main" xmlns:a14="http://schemas.microsoft.com/office/drawing/2010/main" val="10003"/>
                      </a:ext>
                    </a:extLst>
                  </a:tr>
                  <a:tr h="321072">
                    <a:tc>
                      <a:txBody>
                        <a:bodyPr/>
                        <a:lstStyle/>
                        <a:p>
                          <a:pPr algn="ctr"/>
                          <a:r>
                            <a:rPr lang="en-US" sz="1400" dirty="0" smtClean="0">
                              <a:latin typeface="Book Antiqua" panose="02040602050305030304" pitchFamily="18" charset="0"/>
                            </a:rPr>
                            <a:t>100</a:t>
                          </a:r>
                          <a:endParaRPr lang="en-US" sz="1400" dirty="0">
                            <a:latin typeface="Book Antiqua" panose="02040602050305030304" pitchFamily="18" charset="0"/>
                          </a:endParaRPr>
                        </a:p>
                      </a:txBody>
                      <a:tcPr/>
                    </a:tc>
                    <a:tc>
                      <a:txBody>
                        <a:bodyPr/>
                        <a:lstStyle/>
                        <a:p>
                          <a:pPr algn="ctr"/>
                          <a:r>
                            <a:rPr lang="en-US" sz="1400" dirty="0" smtClean="0">
                              <a:latin typeface="Book Antiqua" panose="02040602050305030304" pitchFamily="18" charset="0"/>
                            </a:rPr>
                            <a:t>22</a:t>
                          </a:r>
                          <a:endParaRPr lang="en-US" sz="1400" dirty="0">
                            <a:latin typeface="Book Antiqua" panose="02040602050305030304" pitchFamily="18" charset="0"/>
                          </a:endParaRPr>
                        </a:p>
                      </a:txBody>
                      <a:tcPr/>
                    </a:tc>
                    <a:tc>
                      <a:txBody>
                        <a:bodyPr/>
                        <a:lstStyle/>
                        <a:p>
                          <a:pPr algn="ctr"/>
                          <a:r>
                            <a:rPr lang="en-US" sz="1400" dirty="0" smtClean="0">
                              <a:latin typeface="Book Antiqua" panose="02040602050305030304" pitchFamily="18" charset="0"/>
                            </a:rPr>
                            <a:t>344</a:t>
                          </a:r>
                          <a:endParaRPr lang="en-US" sz="1400" dirty="0">
                            <a:latin typeface="Book Antiqua" panose="02040602050305030304" pitchFamily="18" charset="0"/>
                          </a:endParaRPr>
                        </a:p>
                      </a:txBody>
                      <a:tcPr/>
                    </a:tc>
                    <a:tc>
                      <a:txBody>
                        <a:bodyPr/>
                        <a:lstStyle/>
                        <a:p>
                          <a:pPr algn="ctr"/>
                          <a:r>
                            <a:rPr lang="en-US" sz="1400" dirty="0" smtClean="0">
                              <a:latin typeface="Book Antiqua" panose="02040602050305030304" pitchFamily="18" charset="0"/>
                            </a:rPr>
                            <a:t>0.57</a:t>
                          </a:r>
                          <a:endParaRPr lang="en-US" sz="1400" dirty="0">
                            <a:latin typeface="Book Antiqua" panose="02040602050305030304" pitchFamily="18" charset="0"/>
                          </a:endParaRPr>
                        </a:p>
                      </a:txBody>
                      <a:tcPr/>
                    </a:tc>
                    <a:tc>
                      <a:txBody>
                        <a:bodyPr/>
                        <a:lstStyle/>
                        <a:p>
                          <a:pPr algn="ctr"/>
                          <a:r>
                            <a:rPr lang="en-US" sz="1400" dirty="0" smtClean="0">
                              <a:latin typeface="Book Antiqua" panose="02040602050305030304" pitchFamily="18" charset="0"/>
                            </a:rPr>
                            <a:t>10.82</a:t>
                          </a:r>
                          <a:endParaRPr lang="en-US" sz="1400" dirty="0">
                            <a:latin typeface="Book Antiqua" panose="02040602050305030304" pitchFamily="18" charset="0"/>
                          </a:endParaRPr>
                        </a:p>
                      </a:txBody>
                      <a:tcPr/>
                    </a:tc>
                    <a:tc>
                      <a:txBody>
                        <a:bodyPr/>
                        <a:lstStyle/>
                        <a:p>
                          <a:pPr algn="ctr"/>
                          <a:r>
                            <a:rPr lang="en-US" sz="1400" dirty="0" smtClean="0">
                              <a:latin typeface="Book Antiqua" panose="02040602050305030304" pitchFamily="18" charset="0"/>
                            </a:rPr>
                            <a:t>331.22</a:t>
                          </a:r>
                          <a:endParaRPr lang="en-US" sz="1400" dirty="0">
                            <a:latin typeface="Book Antiqua" panose="02040602050305030304" pitchFamily="18" charset="0"/>
                          </a:endParaRPr>
                        </a:p>
                      </a:txBody>
                      <a:tcPr/>
                    </a:tc>
                    <a:extLst>
                      <a:ext uri="{0D108BD9-81ED-4DB2-BD59-A6C34878D82A}">
                        <a16:rowId xmlns="" xmlns:a16="http://schemas.microsoft.com/office/drawing/2014/main" xmlns:a14="http://schemas.microsoft.com/office/drawing/2010/main" val="10004"/>
                      </a:ext>
                    </a:extLst>
                  </a:tr>
                  <a:tr h="321072">
                    <a:tc>
                      <a:txBody>
                        <a:bodyPr/>
                        <a:lstStyle/>
                        <a:p>
                          <a:endParaRPr lang="en-US"/>
                        </a:p>
                      </a:txBody>
                      <a:tcPr>
                        <a:blipFill rotWithShape="1">
                          <a:blip r:embed="rId2"/>
                          <a:stretch>
                            <a:fillRect t="-637736" r="-843307" b="-13208"/>
                          </a:stretch>
                        </a:blipFill>
                      </a:tcPr>
                    </a:tc>
                    <a:tc>
                      <a:txBody>
                        <a:bodyPr/>
                        <a:lstStyle/>
                        <a:p>
                          <a:pPr algn="ctr"/>
                          <a:r>
                            <a:rPr lang="en-US" sz="1400" dirty="0" smtClean="0">
                              <a:latin typeface="Book Antiqua" panose="02040602050305030304" pitchFamily="18" charset="0"/>
                            </a:rPr>
                            <a:t>58</a:t>
                          </a:r>
                          <a:endParaRPr lang="en-US" sz="1400" dirty="0">
                            <a:latin typeface="Book Antiqua" panose="02040602050305030304" pitchFamily="18" charset="0"/>
                          </a:endParaRPr>
                        </a:p>
                      </a:txBody>
                      <a:tcPr/>
                    </a:tc>
                    <a:tc>
                      <a:txBody>
                        <a:bodyPr/>
                        <a:lstStyle/>
                        <a:p>
                          <a:pPr algn="ctr"/>
                          <a:r>
                            <a:rPr lang="en-US" sz="1400" dirty="0" smtClean="0">
                              <a:latin typeface="Book Antiqua" panose="02040602050305030304" pitchFamily="18" charset="0"/>
                            </a:rPr>
                            <a:t>1,383</a:t>
                          </a:r>
                          <a:endParaRPr lang="en-US" sz="1400" dirty="0">
                            <a:latin typeface="Book Antiqua" panose="02040602050305030304" pitchFamily="18" charset="0"/>
                          </a:endParaRPr>
                        </a:p>
                      </a:txBody>
                      <a:tcPr/>
                    </a:tc>
                    <a:tc>
                      <a:txBody>
                        <a:bodyPr/>
                        <a:lstStyle/>
                        <a:p>
                          <a:pPr algn="ctr"/>
                          <a:r>
                            <a:rPr lang="en-US" sz="1400" dirty="0" smtClean="0">
                              <a:latin typeface="Book Antiqua" panose="02040602050305030304" pitchFamily="18" charset="0"/>
                            </a:rPr>
                            <a:t>0.55</a:t>
                          </a:r>
                          <a:endParaRPr lang="en-US" sz="1400" dirty="0">
                            <a:latin typeface="Book Antiqua" panose="02040602050305030304" pitchFamily="18" charset="0"/>
                          </a:endParaRPr>
                        </a:p>
                      </a:txBody>
                      <a:tcPr/>
                    </a:tc>
                    <a:tc>
                      <a:txBody>
                        <a:bodyPr/>
                        <a:lstStyle/>
                        <a:p>
                          <a:pPr algn="ctr"/>
                          <a:r>
                            <a:rPr lang="en-US" sz="1400" dirty="0" smtClean="0">
                              <a:latin typeface="Book Antiqua" panose="02040602050305030304" pitchFamily="18" charset="0"/>
                            </a:rPr>
                            <a:t>10.80</a:t>
                          </a:r>
                          <a:endParaRPr lang="en-US" sz="1400" dirty="0">
                            <a:latin typeface="Book Antiqua" panose="02040602050305030304" pitchFamily="18" charset="0"/>
                          </a:endParaRPr>
                        </a:p>
                      </a:txBody>
                      <a:tcPr/>
                    </a:tc>
                    <a:tc>
                      <a:txBody>
                        <a:bodyPr/>
                        <a:lstStyle/>
                        <a:p>
                          <a:pPr algn="ctr"/>
                          <a:r>
                            <a:rPr lang="en-US" sz="1400" dirty="0" smtClean="0">
                              <a:latin typeface="Book Antiqua" panose="02040602050305030304" pitchFamily="18" charset="0"/>
                            </a:rPr>
                            <a:t>339</a:t>
                          </a:r>
                          <a:endParaRPr lang="en-US" sz="1400" dirty="0">
                            <a:latin typeface="Book Antiqua" panose="02040602050305030304" pitchFamily="18" charset="0"/>
                          </a:endParaRPr>
                        </a:p>
                      </a:txBody>
                      <a:tcPr/>
                    </a:tc>
                    <a:extLst>
                      <a:ext uri="{0D108BD9-81ED-4DB2-BD59-A6C34878D82A}">
                        <a16:rowId xmlns="" xmlns:a16="http://schemas.microsoft.com/office/drawing/2014/main" xmlns:a14="http://schemas.microsoft.com/office/drawing/2010/main" val="10005"/>
                      </a:ext>
                    </a:extLst>
                  </a:tr>
                </a:tbl>
              </a:graphicData>
            </a:graphic>
          </p:graphicFrame>
        </mc:Fallback>
      </mc:AlternateContent>
      <p:sp>
        <p:nvSpPr>
          <p:cNvPr id="6" name="Rectangle 5"/>
          <p:cNvSpPr/>
          <p:nvPr/>
        </p:nvSpPr>
        <p:spPr>
          <a:xfrm>
            <a:off x="292893" y="276910"/>
            <a:ext cx="8565356" cy="757130"/>
          </a:xfrm>
          <a:prstGeom prst="rect">
            <a:avLst/>
          </a:prstGeom>
        </p:spPr>
        <p:txBody>
          <a:bodyPr wrap="square">
            <a:spAutoFit/>
          </a:bodyPr>
          <a:lstStyle/>
          <a:p>
            <a:pPr algn="ctr" defTabSz="685800">
              <a:lnSpc>
                <a:spcPct val="90000"/>
              </a:lnSpc>
              <a:spcBef>
                <a:spcPts val="750"/>
              </a:spcBef>
            </a:pPr>
            <a:r>
              <a:rPr lang="en-US" sz="2400" dirty="0">
                <a:solidFill>
                  <a:schemeClr val="accent1">
                    <a:lumMod val="75000"/>
                  </a:schemeClr>
                </a:solidFill>
                <a:latin typeface="+mj-lt"/>
                <a:ea typeface="+mj-ea"/>
                <a:cs typeface="+mj-cs"/>
              </a:rPr>
              <a:t>The Effect of Information Sharing on Patient Post Transplant Utility Based on Region 6 Kidneys Supply and Demands</a:t>
            </a:r>
          </a:p>
        </p:txBody>
      </p:sp>
      <p:sp>
        <p:nvSpPr>
          <p:cNvPr id="3" name="Rounded Rectangle 2"/>
          <p:cNvSpPr/>
          <p:nvPr/>
        </p:nvSpPr>
        <p:spPr>
          <a:xfrm>
            <a:off x="4871803" y="2166079"/>
            <a:ext cx="1986197" cy="1836295"/>
          </a:xfrm>
          <a:prstGeom prst="roundRect">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7" name="Rounded Rectangle 6"/>
          <p:cNvSpPr/>
          <p:nvPr/>
        </p:nvSpPr>
        <p:spPr>
          <a:xfrm>
            <a:off x="7027890" y="2217295"/>
            <a:ext cx="1141750" cy="1785079"/>
          </a:xfrm>
          <a:prstGeom prst="roundRect">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15101661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xmlns:p14="http://schemas.microsoft.com/office/powerpoint/2010/mai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0" y="4760913"/>
            <a:ext cx="2057400" cy="274637"/>
          </a:xfrm>
          <a:prstGeom prst="rect">
            <a:avLst/>
          </a:prstGeom>
        </p:spPr>
        <p:txBody>
          <a:bodyPr/>
          <a:lstStyle/>
          <a:p>
            <a:fld id="{69E57DC2-970A-4B3E-BB1C-7A09969E49DF}" type="slidenum">
              <a:rPr lang="en-US" smtClean="0"/>
              <a:pPr/>
              <a:t>23</a:t>
            </a:fld>
            <a:endParaRPr lang="en-US" dirty="0"/>
          </a:p>
        </p:txBody>
      </p:sp>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2084810493"/>
                  </p:ext>
                </p:extLst>
              </p:nvPr>
            </p:nvGraphicFramePr>
            <p:xfrm>
              <a:off x="458916" y="1839114"/>
              <a:ext cx="8124899" cy="2103120"/>
            </p:xfrm>
            <a:graphic>
              <a:graphicData uri="http://schemas.openxmlformats.org/drawingml/2006/table">
                <a:tbl>
                  <a:tblPr firstRow="1" bandRow="1">
                    <a:tableStyleId>{68D230F3-CF80-4859-8CE7-A43EE81993B5}</a:tableStyleId>
                  </a:tblPr>
                  <a:tblGrid>
                    <a:gridCol w="985466">
                      <a:extLst>
                        <a:ext uri="{9D8B030D-6E8A-4147-A177-3AD203B41FA5}">
                          <a16:colId xmlns:a16="http://schemas.microsoft.com/office/drawing/2014/main" xmlns="" val="20000"/>
                        </a:ext>
                      </a:extLst>
                    </a:gridCol>
                    <a:gridCol w="1812071">
                      <a:extLst>
                        <a:ext uri="{9D8B030D-6E8A-4147-A177-3AD203B41FA5}">
                          <a16:colId xmlns:a16="http://schemas.microsoft.com/office/drawing/2014/main" xmlns="" val="20001"/>
                        </a:ext>
                      </a:extLst>
                    </a:gridCol>
                    <a:gridCol w="1728831">
                      <a:extLst>
                        <a:ext uri="{9D8B030D-6E8A-4147-A177-3AD203B41FA5}">
                          <a16:colId xmlns:a16="http://schemas.microsoft.com/office/drawing/2014/main" xmlns="" val="20002"/>
                        </a:ext>
                      </a:extLst>
                    </a:gridCol>
                    <a:gridCol w="1722429">
                      <a:extLst>
                        <a:ext uri="{9D8B030D-6E8A-4147-A177-3AD203B41FA5}">
                          <a16:colId xmlns:a16="http://schemas.microsoft.com/office/drawing/2014/main" xmlns="" val="20003"/>
                        </a:ext>
                      </a:extLst>
                    </a:gridCol>
                    <a:gridCol w="1876102">
                      <a:extLst>
                        <a:ext uri="{9D8B030D-6E8A-4147-A177-3AD203B41FA5}">
                          <a16:colId xmlns:a16="http://schemas.microsoft.com/office/drawing/2014/main" xmlns="" val="20004"/>
                        </a:ext>
                      </a:extLst>
                    </a:gridCol>
                  </a:tblGrid>
                  <a:tr h="284465">
                    <a:tc>
                      <a:txBody>
                        <a:bodyPr/>
                        <a:lstStyle/>
                        <a:p>
                          <a:pPr marL="0" algn="ctr" defTabSz="685800" rtl="0" eaLnBrk="1" latinLnBrk="0" hangingPunct="1"/>
                          <a:r>
                            <a:rPr lang="en-US" sz="1600" b="1" kern="1200" dirty="0" smtClean="0">
                              <a:solidFill>
                                <a:schemeClr val="tx1"/>
                              </a:solidFill>
                              <a:latin typeface="Book Antiqua" panose="02040602050305030304" pitchFamily="18" charset="0"/>
                              <a:ea typeface="+mn-ea"/>
                              <a:cs typeface="+mn-cs"/>
                            </a:rPr>
                            <a:t>Group size </a:t>
                          </a:r>
                        </a:p>
                      </a:txBody>
                      <a:tcPr/>
                    </a:tc>
                    <a:tc>
                      <a:txBody>
                        <a:bodyPr/>
                        <a:lstStyle/>
                        <a:p>
                          <a:pPr marL="0" algn="ctr" defTabSz="685800" rtl="0" eaLnBrk="1" latinLnBrk="0" hangingPunct="1"/>
                          <a:r>
                            <a:rPr lang="en-US" sz="1600" b="1" kern="1200" dirty="0" smtClean="0">
                              <a:solidFill>
                                <a:schemeClr val="tx1"/>
                              </a:solidFill>
                              <a:latin typeface="Book Antiqua" panose="02040602050305030304" pitchFamily="18" charset="0"/>
                              <a:ea typeface="+mn-ea"/>
                              <a:cs typeface="+mn-cs"/>
                            </a:rPr>
                            <a:t>Kidney utilization rate</a:t>
                          </a:r>
                          <a:endParaRPr lang="en-US" sz="1600" b="1" kern="1200" dirty="0">
                            <a:solidFill>
                              <a:schemeClr val="tx1"/>
                            </a:solidFill>
                            <a:latin typeface="Book Antiqua" panose="02040602050305030304" pitchFamily="18" charset="0"/>
                            <a:ea typeface="+mn-ea"/>
                            <a:cs typeface="+mn-cs"/>
                          </a:endParaRPr>
                        </a:p>
                      </a:txBody>
                      <a:tcPr/>
                    </a:tc>
                    <a:tc>
                      <a:txBody>
                        <a:bodyPr/>
                        <a:lstStyle/>
                        <a:p>
                          <a:pPr marL="0" algn="ctr" defTabSz="685800" rtl="0" eaLnBrk="1" latinLnBrk="0" hangingPunct="1"/>
                          <a:r>
                            <a:rPr lang="en-US" sz="1600" b="1" kern="1200" dirty="0" smtClean="0">
                              <a:solidFill>
                                <a:schemeClr val="tx1"/>
                              </a:solidFill>
                              <a:latin typeface="Book Antiqua" panose="02040602050305030304" pitchFamily="18" charset="0"/>
                              <a:ea typeface="+mn-ea"/>
                              <a:cs typeface="+mn-cs"/>
                            </a:rPr>
                            <a:t>Kidney discard</a:t>
                          </a:r>
                        </a:p>
                        <a:p>
                          <a:pPr marL="0" algn="ctr" defTabSz="685800" rtl="0" eaLnBrk="1" latinLnBrk="0" hangingPunct="1"/>
                          <a:r>
                            <a:rPr lang="en-US" sz="1600" b="1" kern="1200" dirty="0" smtClean="0">
                              <a:solidFill>
                                <a:schemeClr val="tx1"/>
                              </a:solidFill>
                              <a:latin typeface="Book Antiqua" panose="02040602050305030304" pitchFamily="18" charset="0"/>
                              <a:ea typeface="+mn-ea"/>
                              <a:cs typeface="+mn-cs"/>
                            </a:rPr>
                            <a:t> rate</a:t>
                          </a:r>
                          <a:endParaRPr lang="en-US" sz="1600" b="1" kern="1200" dirty="0">
                            <a:solidFill>
                              <a:schemeClr val="tx1"/>
                            </a:solidFill>
                            <a:latin typeface="Book Antiqua" panose="02040602050305030304" pitchFamily="18" charset="0"/>
                            <a:ea typeface="+mn-ea"/>
                            <a:cs typeface="+mn-cs"/>
                          </a:endParaRPr>
                        </a:p>
                      </a:txBody>
                      <a:tcPr/>
                    </a:tc>
                    <a:tc>
                      <a:txBody>
                        <a:bodyPr/>
                        <a:lstStyle/>
                        <a:p>
                          <a:pPr marL="0" algn="ctr" defTabSz="685800" rtl="0" eaLnBrk="1" latinLnBrk="0" hangingPunct="1"/>
                          <a:r>
                            <a:rPr lang="en-US" sz="1600" b="1" kern="1200" dirty="0" smtClean="0">
                              <a:solidFill>
                                <a:schemeClr val="tx1"/>
                              </a:solidFill>
                              <a:latin typeface="Book Antiqua" panose="02040602050305030304" pitchFamily="18" charset="0"/>
                              <a:ea typeface="+mn-ea"/>
                              <a:cs typeface="+mn-cs"/>
                            </a:rPr>
                            <a:t>Waitlist removal rate</a:t>
                          </a:r>
                          <a:endParaRPr lang="en-US" sz="1600" b="1" kern="1200" dirty="0">
                            <a:solidFill>
                              <a:schemeClr val="tx1"/>
                            </a:solidFill>
                            <a:latin typeface="Book Antiqua" panose="02040602050305030304" pitchFamily="18" charset="0"/>
                            <a:ea typeface="+mn-ea"/>
                            <a:cs typeface="+mn-cs"/>
                          </a:endParaRPr>
                        </a:p>
                      </a:txBody>
                      <a:tcPr/>
                    </a:tc>
                    <a:tc>
                      <a:txBody>
                        <a:bodyPr/>
                        <a:lstStyle/>
                        <a:p>
                          <a:pPr marL="0" algn="ctr" defTabSz="685800" rtl="0" eaLnBrk="1" latinLnBrk="0" hangingPunct="1"/>
                          <a:r>
                            <a:rPr lang="en-US" sz="1600" b="1" kern="1200" dirty="0" smtClean="0">
                              <a:solidFill>
                                <a:schemeClr val="tx1"/>
                              </a:solidFill>
                              <a:latin typeface="Book Antiqua" panose="02040602050305030304" pitchFamily="18" charset="0"/>
                              <a:ea typeface="+mn-ea"/>
                              <a:cs typeface="+mn-cs"/>
                            </a:rPr>
                            <a:t>Kidney transplant rate</a:t>
                          </a:r>
                          <a:endParaRPr lang="en-US" sz="1600" b="1" kern="1200" dirty="0">
                            <a:solidFill>
                              <a:schemeClr val="tx1"/>
                            </a:solidFill>
                            <a:latin typeface="Book Antiqua" panose="02040602050305030304" pitchFamily="18" charset="0"/>
                            <a:ea typeface="+mn-ea"/>
                            <a:cs typeface="+mn-cs"/>
                          </a:endParaRPr>
                        </a:p>
                      </a:txBody>
                      <a:tcPr/>
                    </a:tc>
                    <a:extLst>
                      <a:ext uri="{0D108BD9-81ED-4DB2-BD59-A6C34878D82A}">
                        <a16:rowId xmlns:a16="http://schemas.microsoft.com/office/drawing/2014/main" xmlns="" val="10000"/>
                      </a:ext>
                    </a:extLst>
                  </a:tr>
                  <a:tr h="280487">
                    <a:tc>
                      <a:txBody>
                        <a:bodyPr/>
                        <a:lstStyle/>
                        <a:p>
                          <a:pPr marL="0" algn="ctr" defTabSz="685800" rtl="0" eaLnBrk="1" latinLnBrk="0" hangingPunct="1"/>
                          <a:r>
                            <a:rPr lang="en-US" sz="1400" kern="1200" dirty="0" smtClean="0">
                              <a:solidFill>
                                <a:schemeClr val="tx1"/>
                              </a:solidFill>
                              <a:latin typeface="Book Antiqua" panose="02040602050305030304" pitchFamily="18" charset="0"/>
                              <a:ea typeface="+mn-ea"/>
                              <a:cs typeface="+mn-cs"/>
                            </a:rPr>
                            <a:t>5</a:t>
                          </a:r>
                          <a:endParaRPr lang="en-US" sz="1400" kern="1200" dirty="0">
                            <a:solidFill>
                              <a:schemeClr val="tx1"/>
                            </a:solidFill>
                            <a:latin typeface="Book Antiqua" panose="02040602050305030304" pitchFamily="18" charset="0"/>
                            <a:ea typeface="+mn-ea"/>
                            <a:cs typeface="+mn-cs"/>
                          </a:endParaRPr>
                        </a:p>
                      </a:txBody>
                      <a:tcPr/>
                    </a:tc>
                    <a:tc>
                      <a:txBody>
                        <a:bodyPr/>
                        <a:lstStyle/>
                        <a:p>
                          <a:pPr marL="0" algn="ctr" defTabSz="685800" rtl="0" eaLnBrk="1" latinLnBrk="0" hangingPunct="1"/>
                          <a:r>
                            <a:rPr lang="en-US" sz="1400" kern="1200" dirty="0" smtClean="0">
                              <a:solidFill>
                                <a:schemeClr val="tx1"/>
                              </a:solidFill>
                              <a:latin typeface="Book Antiqua" panose="02040602050305030304" pitchFamily="18" charset="0"/>
                              <a:ea typeface="+mn-ea"/>
                              <a:cs typeface="+mn-cs"/>
                            </a:rPr>
                            <a:t>85%</a:t>
                          </a:r>
                          <a:endParaRPr lang="en-US" sz="1400" kern="1200" dirty="0">
                            <a:solidFill>
                              <a:schemeClr val="tx1"/>
                            </a:solidFill>
                            <a:latin typeface="Book Antiqua" panose="02040602050305030304" pitchFamily="18" charset="0"/>
                            <a:ea typeface="+mn-ea"/>
                            <a:cs typeface="+mn-cs"/>
                          </a:endParaRPr>
                        </a:p>
                      </a:txBody>
                      <a:tcPr/>
                    </a:tc>
                    <a:tc>
                      <a:txBody>
                        <a:bodyPr/>
                        <a:lstStyle/>
                        <a:p>
                          <a:pPr marL="0" algn="ctr" defTabSz="685800" rtl="0" eaLnBrk="1" latinLnBrk="0" hangingPunct="1"/>
                          <a:r>
                            <a:rPr lang="en-US" sz="1400" kern="1200" dirty="0" smtClean="0">
                              <a:solidFill>
                                <a:schemeClr val="tx1"/>
                              </a:solidFill>
                              <a:latin typeface="Book Antiqua" panose="02040602050305030304" pitchFamily="18" charset="0"/>
                              <a:ea typeface="+mn-ea"/>
                              <a:cs typeface="+mn-cs"/>
                            </a:rPr>
                            <a:t>15%</a:t>
                          </a:r>
                          <a:endParaRPr lang="en-US" sz="1400" kern="1200" dirty="0">
                            <a:solidFill>
                              <a:schemeClr val="tx1"/>
                            </a:solidFill>
                            <a:latin typeface="Book Antiqua" panose="02040602050305030304" pitchFamily="18" charset="0"/>
                            <a:ea typeface="+mn-ea"/>
                            <a:cs typeface="+mn-cs"/>
                          </a:endParaRPr>
                        </a:p>
                      </a:txBody>
                      <a:tcPr/>
                    </a:tc>
                    <a:tc>
                      <a:txBody>
                        <a:bodyPr/>
                        <a:lstStyle/>
                        <a:p>
                          <a:pPr marL="0" algn="ctr" defTabSz="685800" rtl="0" eaLnBrk="1" latinLnBrk="0" hangingPunct="1"/>
                          <a:r>
                            <a:rPr lang="en-US" sz="1400" kern="1200" dirty="0" smtClean="0">
                              <a:solidFill>
                                <a:schemeClr val="tx1"/>
                              </a:solidFill>
                              <a:latin typeface="Book Antiqua" panose="02040602050305030304" pitchFamily="18" charset="0"/>
                              <a:ea typeface="+mn-ea"/>
                              <a:cs typeface="+mn-cs"/>
                            </a:rPr>
                            <a:t>8.9%</a:t>
                          </a:r>
                          <a:endParaRPr lang="en-US" sz="1400" kern="1200" dirty="0">
                            <a:solidFill>
                              <a:schemeClr val="tx1"/>
                            </a:solidFill>
                            <a:latin typeface="Book Antiqua" panose="02040602050305030304" pitchFamily="18" charset="0"/>
                            <a:ea typeface="+mn-ea"/>
                            <a:cs typeface="+mn-cs"/>
                          </a:endParaRPr>
                        </a:p>
                      </a:txBody>
                      <a:tcPr/>
                    </a:tc>
                    <a:tc>
                      <a:txBody>
                        <a:bodyPr/>
                        <a:lstStyle/>
                        <a:p>
                          <a:pPr marL="0" algn="ctr" defTabSz="685800" rtl="0" eaLnBrk="1" latinLnBrk="0" hangingPunct="1"/>
                          <a:r>
                            <a:rPr lang="en-US" sz="1400" kern="1200" dirty="0" smtClean="0">
                              <a:solidFill>
                                <a:schemeClr val="tx1"/>
                              </a:solidFill>
                              <a:latin typeface="Book Antiqua" panose="02040602050305030304" pitchFamily="18" charset="0"/>
                              <a:ea typeface="+mn-ea"/>
                              <a:cs typeface="+mn-cs"/>
                            </a:rPr>
                            <a:t>17%</a:t>
                          </a:r>
                          <a:endParaRPr lang="en-US" sz="1400" kern="1200" dirty="0">
                            <a:solidFill>
                              <a:schemeClr val="tx1"/>
                            </a:solidFill>
                            <a:latin typeface="Book Antiqua" panose="02040602050305030304" pitchFamily="18" charset="0"/>
                            <a:ea typeface="+mn-ea"/>
                            <a:cs typeface="+mn-cs"/>
                          </a:endParaRPr>
                        </a:p>
                      </a:txBody>
                      <a:tcPr/>
                    </a:tc>
                    <a:extLst>
                      <a:ext uri="{0D108BD9-81ED-4DB2-BD59-A6C34878D82A}">
                        <a16:rowId xmlns:a16="http://schemas.microsoft.com/office/drawing/2014/main" xmlns="" val="10001"/>
                      </a:ext>
                    </a:extLst>
                  </a:tr>
                  <a:tr h="280487">
                    <a:tc>
                      <a:txBody>
                        <a:bodyPr/>
                        <a:lstStyle/>
                        <a:p>
                          <a:pPr marL="0" algn="ctr" defTabSz="685800" rtl="0" eaLnBrk="1" latinLnBrk="0" hangingPunct="1"/>
                          <a:r>
                            <a:rPr lang="en-US" sz="1400" kern="1200" dirty="0" smtClean="0">
                              <a:solidFill>
                                <a:schemeClr val="tx1"/>
                              </a:solidFill>
                              <a:latin typeface="Book Antiqua" panose="02040602050305030304" pitchFamily="18" charset="0"/>
                              <a:ea typeface="+mn-ea"/>
                              <a:cs typeface="+mn-cs"/>
                            </a:rPr>
                            <a:t>10</a:t>
                          </a:r>
                          <a:endParaRPr lang="en-US" sz="1400" kern="1200" dirty="0">
                            <a:solidFill>
                              <a:schemeClr val="tx1"/>
                            </a:solidFill>
                            <a:latin typeface="Book Antiqua" panose="02040602050305030304" pitchFamily="18" charset="0"/>
                            <a:ea typeface="+mn-ea"/>
                            <a:cs typeface="+mn-cs"/>
                          </a:endParaRPr>
                        </a:p>
                      </a:txBody>
                      <a:tcPr/>
                    </a:tc>
                    <a:tc>
                      <a:txBody>
                        <a:bodyPr/>
                        <a:lstStyle/>
                        <a:p>
                          <a:pPr marL="0" algn="ctr" defTabSz="685800" rtl="0" eaLnBrk="1" latinLnBrk="0" hangingPunct="1"/>
                          <a:r>
                            <a:rPr lang="en-US" sz="1400" kern="1200" dirty="0" smtClean="0">
                              <a:solidFill>
                                <a:schemeClr val="tx1"/>
                              </a:solidFill>
                              <a:latin typeface="Book Antiqua" panose="02040602050305030304" pitchFamily="18" charset="0"/>
                              <a:ea typeface="+mn-ea"/>
                              <a:cs typeface="+mn-cs"/>
                            </a:rPr>
                            <a:t>90.9%</a:t>
                          </a:r>
                          <a:endParaRPr lang="en-US" sz="1400" kern="1200" dirty="0">
                            <a:solidFill>
                              <a:schemeClr val="tx1"/>
                            </a:solidFill>
                            <a:latin typeface="Book Antiqua" panose="02040602050305030304" pitchFamily="18" charset="0"/>
                            <a:ea typeface="+mn-ea"/>
                            <a:cs typeface="+mn-cs"/>
                          </a:endParaRPr>
                        </a:p>
                      </a:txBody>
                      <a:tcPr/>
                    </a:tc>
                    <a:tc>
                      <a:txBody>
                        <a:bodyPr/>
                        <a:lstStyle/>
                        <a:p>
                          <a:pPr marL="0" algn="ctr" defTabSz="685800" rtl="0" eaLnBrk="1" latinLnBrk="0" hangingPunct="1"/>
                          <a:r>
                            <a:rPr lang="en-US" sz="1400" kern="1200" dirty="0" smtClean="0">
                              <a:solidFill>
                                <a:schemeClr val="tx1"/>
                              </a:solidFill>
                              <a:latin typeface="Book Antiqua" panose="02040602050305030304" pitchFamily="18" charset="0"/>
                              <a:ea typeface="+mn-ea"/>
                              <a:cs typeface="+mn-cs"/>
                            </a:rPr>
                            <a:t>9.1%</a:t>
                          </a:r>
                          <a:endParaRPr lang="en-US" sz="1400" kern="1200" dirty="0">
                            <a:solidFill>
                              <a:schemeClr val="tx1"/>
                            </a:solidFill>
                            <a:latin typeface="Book Antiqua" panose="02040602050305030304" pitchFamily="18" charset="0"/>
                            <a:ea typeface="+mn-ea"/>
                            <a:cs typeface="+mn-cs"/>
                          </a:endParaRPr>
                        </a:p>
                      </a:txBody>
                      <a:tcPr/>
                    </a:tc>
                    <a:tc>
                      <a:txBody>
                        <a:bodyPr/>
                        <a:lstStyle/>
                        <a:p>
                          <a:pPr marL="0" algn="ctr" defTabSz="685800" rtl="0" eaLnBrk="1" latinLnBrk="0" hangingPunct="1"/>
                          <a:r>
                            <a:rPr lang="en-US" sz="1400" kern="1200" dirty="0" smtClean="0">
                              <a:solidFill>
                                <a:schemeClr val="tx1"/>
                              </a:solidFill>
                              <a:latin typeface="Book Antiqua" panose="02040602050305030304" pitchFamily="18" charset="0"/>
                              <a:ea typeface="+mn-ea"/>
                              <a:cs typeface="+mn-cs"/>
                            </a:rPr>
                            <a:t>8.3%</a:t>
                          </a:r>
                          <a:endParaRPr lang="en-US" sz="1400" kern="1200" dirty="0">
                            <a:solidFill>
                              <a:schemeClr val="tx1"/>
                            </a:solidFill>
                            <a:latin typeface="Book Antiqua" panose="02040602050305030304" pitchFamily="18" charset="0"/>
                            <a:ea typeface="+mn-ea"/>
                            <a:cs typeface="+mn-cs"/>
                          </a:endParaRPr>
                        </a:p>
                      </a:txBody>
                      <a:tcPr/>
                    </a:tc>
                    <a:tc>
                      <a:txBody>
                        <a:bodyPr/>
                        <a:lstStyle/>
                        <a:p>
                          <a:pPr marL="0" algn="ctr" defTabSz="685800" rtl="0" eaLnBrk="1" latinLnBrk="0" hangingPunct="1"/>
                          <a:r>
                            <a:rPr lang="en-US" sz="1400" kern="1200" dirty="0" smtClean="0">
                              <a:solidFill>
                                <a:schemeClr val="tx1"/>
                              </a:solidFill>
                              <a:latin typeface="Book Antiqua" panose="02040602050305030304" pitchFamily="18" charset="0"/>
                              <a:ea typeface="+mn-ea"/>
                              <a:cs typeface="+mn-cs"/>
                            </a:rPr>
                            <a:t>20%</a:t>
                          </a:r>
                          <a:endParaRPr lang="en-US" sz="1400" kern="1200" dirty="0">
                            <a:solidFill>
                              <a:schemeClr val="tx1"/>
                            </a:solidFill>
                            <a:latin typeface="Book Antiqua" panose="02040602050305030304" pitchFamily="18" charset="0"/>
                            <a:ea typeface="+mn-ea"/>
                            <a:cs typeface="+mn-cs"/>
                          </a:endParaRPr>
                        </a:p>
                      </a:txBody>
                      <a:tcPr/>
                    </a:tc>
                    <a:extLst>
                      <a:ext uri="{0D108BD9-81ED-4DB2-BD59-A6C34878D82A}">
                        <a16:rowId xmlns:a16="http://schemas.microsoft.com/office/drawing/2014/main" xmlns="" val="10002"/>
                      </a:ext>
                    </a:extLst>
                  </a:tr>
                  <a:tr h="280487">
                    <a:tc>
                      <a:txBody>
                        <a:bodyPr/>
                        <a:lstStyle/>
                        <a:p>
                          <a:pPr marL="0" algn="ctr" defTabSz="685800" rtl="0" eaLnBrk="1" latinLnBrk="0" hangingPunct="1"/>
                          <a:r>
                            <a:rPr lang="en-US" sz="1400" kern="1200" dirty="0" smtClean="0">
                              <a:solidFill>
                                <a:schemeClr val="tx1"/>
                              </a:solidFill>
                              <a:latin typeface="Book Antiqua" panose="02040602050305030304" pitchFamily="18" charset="0"/>
                              <a:ea typeface="+mn-ea"/>
                              <a:cs typeface="+mn-cs"/>
                            </a:rPr>
                            <a:t>20</a:t>
                          </a:r>
                          <a:endParaRPr lang="en-US" sz="1400" kern="1200" dirty="0">
                            <a:solidFill>
                              <a:schemeClr val="tx1"/>
                            </a:solidFill>
                            <a:latin typeface="Book Antiqua" panose="02040602050305030304" pitchFamily="18" charset="0"/>
                            <a:ea typeface="+mn-ea"/>
                            <a:cs typeface="+mn-cs"/>
                          </a:endParaRPr>
                        </a:p>
                      </a:txBody>
                      <a:tcPr/>
                    </a:tc>
                    <a:tc>
                      <a:txBody>
                        <a:bodyPr/>
                        <a:lstStyle/>
                        <a:p>
                          <a:pPr marL="0" algn="ctr" defTabSz="685800" rtl="0" eaLnBrk="1" latinLnBrk="0" hangingPunct="1"/>
                          <a:r>
                            <a:rPr lang="en-US" sz="1400" kern="1200" dirty="0" smtClean="0">
                              <a:solidFill>
                                <a:schemeClr val="tx1"/>
                              </a:solidFill>
                              <a:latin typeface="Book Antiqua" panose="02040602050305030304" pitchFamily="18" charset="0"/>
                              <a:ea typeface="+mn-ea"/>
                              <a:cs typeface="+mn-cs"/>
                            </a:rPr>
                            <a:t>94.3%</a:t>
                          </a:r>
                          <a:endParaRPr lang="en-US" sz="1400" kern="1200" dirty="0">
                            <a:solidFill>
                              <a:schemeClr val="tx1"/>
                            </a:solidFill>
                            <a:latin typeface="Book Antiqua" panose="02040602050305030304" pitchFamily="18" charset="0"/>
                            <a:ea typeface="+mn-ea"/>
                            <a:cs typeface="+mn-cs"/>
                          </a:endParaRPr>
                        </a:p>
                      </a:txBody>
                      <a:tcPr/>
                    </a:tc>
                    <a:tc>
                      <a:txBody>
                        <a:bodyPr/>
                        <a:lstStyle/>
                        <a:p>
                          <a:pPr marL="0" algn="ctr" defTabSz="685800" rtl="0" eaLnBrk="1" latinLnBrk="0" hangingPunct="1"/>
                          <a:r>
                            <a:rPr lang="en-US" sz="1400" kern="1200" dirty="0" smtClean="0">
                              <a:solidFill>
                                <a:schemeClr val="tx1"/>
                              </a:solidFill>
                              <a:latin typeface="Book Antiqua" panose="02040602050305030304" pitchFamily="18" charset="0"/>
                              <a:ea typeface="+mn-ea"/>
                              <a:cs typeface="+mn-cs"/>
                            </a:rPr>
                            <a:t>5.7%</a:t>
                          </a:r>
                          <a:endParaRPr lang="en-US" sz="1400" kern="1200" dirty="0">
                            <a:solidFill>
                              <a:schemeClr val="tx1"/>
                            </a:solidFill>
                            <a:latin typeface="Book Antiqua" panose="02040602050305030304" pitchFamily="18" charset="0"/>
                            <a:ea typeface="+mn-ea"/>
                            <a:cs typeface="+mn-cs"/>
                          </a:endParaRPr>
                        </a:p>
                      </a:txBody>
                      <a:tcPr/>
                    </a:tc>
                    <a:tc>
                      <a:txBody>
                        <a:bodyPr/>
                        <a:lstStyle/>
                        <a:p>
                          <a:pPr marL="0" algn="ctr" defTabSz="685800" rtl="0" eaLnBrk="1" latinLnBrk="0" hangingPunct="1"/>
                          <a:r>
                            <a:rPr lang="en-US" sz="1400" kern="1200" dirty="0" smtClean="0">
                              <a:solidFill>
                                <a:schemeClr val="tx1"/>
                              </a:solidFill>
                              <a:latin typeface="Book Antiqua" panose="02040602050305030304" pitchFamily="18" charset="0"/>
                              <a:ea typeface="+mn-ea"/>
                              <a:cs typeface="+mn-cs"/>
                            </a:rPr>
                            <a:t>7.9%</a:t>
                          </a:r>
                          <a:endParaRPr lang="en-US" sz="1400" kern="1200" dirty="0">
                            <a:solidFill>
                              <a:schemeClr val="tx1"/>
                            </a:solidFill>
                            <a:latin typeface="Book Antiqua" panose="02040602050305030304" pitchFamily="18" charset="0"/>
                            <a:ea typeface="+mn-ea"/>
                            <a:cs typeface="+mn-cs"/>
                          </a:endParaRPr>
                        </a:p>
                      </a:txBody>
                      <a:tcPr/>
                    </a:tc>
                    <a:tc>
                      <a:txBody>
                        <a:bodyPr/>
                        <a:lstStyle/>
                        <a:p>
                          <a:pPr marL="0" algn="ctr" defTabSz="685800" rtl="0" eaLnBrk="1" latinLnBrk="0" hangingPunct="1"/>
                          <a:r>
                            <a:rPr lang="en-US" sz="1400" kern="1200" dirty="0" smtClean="0">
                              <a:solidFill>
                                <a:schemeClr val="tx1"/>
                              </a:solidFill>
                              <a:latin typeface="Book Antiqua" panose="02040602050305030304" pitchFamily="18" charset="0"/>
                              <a:ea typeface="+mn-ea"/>
                              <a:cs typeface="+mn-cs"/>
                            </a:rPr>
                            <a:t>21.5%</a:t>
                          </a:r>
                          <a:endParaRPr lang="en-US" sz="1400" kern="1200" dirty="0">
                            <a:solidFill>
                              <a:schemeClr val="tx1"/>
                            </a:solidFill>
                            <a:latin typeface="Book Antiqua" panose="02040602050305030304" pitchFamily="18" charset="0"/>
                            <a:ea typeface="+mn-ea"/>
                            <a:cs typeface="+mn-cs"/>
                          </a:endParaRPr>
                        </a:p>
                      </a:txBody>
                      <a:tcPr/>
                    </a:tc>
                    <a:extLst>
                      <a:ext uri="{0D108BD9-81ED-4DB2-BD59-A6C34878D82A}">
                        <a16:rowId xmlns:a16="http://schemas.microsoft.com/office/drawing/2014/main" xmlns="" val="10003"/>
                      </a:ext>
                    </a:extLst>
                  </a:tr>
                  <a:tr h="280487">
                    <a:tc>
                      <a:txBody>
                        <a:bodyPr/>
                        <a:lstStyle/>
                        <a:p>
                          <a:pPr marL="0" algn="ctr" defTabSz="685800" rtl="0" eaLnBrk="1" latinLnBrk="0" hangingPunct="1"/>
                          <a:r>
                            <a:rPr lang="en-US" sz="1400" kern="1200" dirty="0" smtClean="0">
                              <a:solidFill>
                                <a:schemeClr val="tx1"/>
                              </a:solidFill>
                              <a:latin typeface="Book Antiqua" panose="02040602050305030304" pitchFamily="18" charset="0"/>
                              <a:ea typeface="+mn-ea"/>
                              <a:cs typeface="+mn-cs"/>
                            </a:rPr>
                            <a:t>100</a:t>
                          </a:r>
                          <a:endParaRPr lang="en-US" sz="1400" kern="1200" dirty="0">
                            <a:solidFill>
                              <a:schemeClr val="tx1"/>
                            </a:solidFill>
                            <a:latin typeface="Book Antiqua" panose="02040602050305030304" pitchFamily="18" charset="0"/>
                            <a:ea typeface="+mn-ea"/>
                            <a:cs typeface="+mn-cs"/>
                          </a:endParaRPr>
                        </a:p>
                      </a:txBody>
                      <a:tcPr/>
                    </a:tc>
                    <a:tc>
                      <a:txBody>
                        <a:bodyPr/>
                        <a:lstStyle/>
                        <a:p>
                          <a:pPr marL="0" algn="ctr" defTabSz="685800" rtl="0" eaLnBrk="1" latinLnBrk="0" hangingPunct="1"/>
                          <a:r>
                            <a:rPr lang="en-US" sz="1400" kern="1200" dirty="0" smtClean="0">
                              <a:solidFill>
                                <a:schemeClr val="tx1"/>
                              </a:solidFill>
                              <a:latin typeface="Book Antiqua" panose="02040602050305030304" pitchFamily="18" charset="0"/>
                              <a:ea typeface="+mn-ea"/>
                              <a:cs typeface="+mn-cs"/>
                            </a:rPr>
                            <a:t>98.5%</a:t>
                          </a:r>
                          <a:endParaRPr lang="en-US" sz="1400" kern="1200" dirty="0">
                            <a:solidFill>
                              <a:schemeClr val="tx1"/>
                            </a:solidFill>
                            <a:latin typeface="Book Antiqua" panose="02040602050305030304" pitchFamily="18" charset="0"/>
                            <a:ea typeface="+mn-ea"/>
                            <a:cs typeface="+mn-cs"/>
                          </a:endParaRPr>
                        </a:p>
                      </a:txBody>
                      <a:tcPr/>
                    </a:tc>
                    <a:tc>
                      <a:txBody>
                        <a:bodyPr/>
                        <a:lstStyle/>
                        <a:p>
                          <a:pPr marL="0" algn="ctr" defTabSz="685800" rtl="0" eaLnBrk="1" latinLnBrk="0" hangingPunct="1"/>
                          <a:r>
                            <a:rPr lang="en-US" sz="1400" kern="1200" dirty="0" smtClean="0">
                              <a:solidFill>
                                <a:schemeClr val="tx1"/>
                              </a:solidFill>
                              <a:latin typeface="Book Antiqua" panose="02040602050305030304" pitchFamily="18" charset="0"/>
                              <a:ea typeface="+mn-ea"/>
                              <a:cs typeface="+mn-cs"/>
                            </a:rPr>
                            <a:t>1.5%</a:t>
                          </a:r>
                          <a:endParaRPr lang="en-US" sz="1400" kern="1200" dirty="0">
                            <a:solidFill>
                              <a:schemeClr val="tx1"/>
                            </a:solidFill>
                            <a:latin typeface="Book Antiqua" panose="02040602050305030304" pitchFamily="18" charset="0"/>
                            <a:ea typeface="+mn-ea"/>
                            <a:cs typeface="+mn-cs"/>
                          </a:endParaRPr>
                        </a:p>
                      </a:txBody>
                      <a:tcPr/>
                    </a:tc>
                    <a:tc>
                      <a:txBody>
                        <a:bodyPr/>
                        <a:lstStyle/>
                        <a:p>
                          <a:pPr marL="0" algn="ctr" defTabSz="685800" rtl="0" eaLnBrk="1" latinLnBrk="0" hangingPunct="1"/>
                          <a:r>
                            <a:rPr lang="en-US" sz="1400" kern="1200" dirty="0" smtClean="0">
                              <a:solidFill>
                                <a:schemeClr val="tx1"/>
                              </a:solidFill>
                              <a:latin typeface="Book Antiqua" panose="02040602050305030304" pitchFamily="18" charset="0"/>
                              <a:ea typeface="+mn-ea"/>
                              <a:cs typeface="+mn-cs"/>
                            </a:rPr>
                            <a:t>7.3%</a:t>
                          </a:r>
                          <a:endParaRPr lang="en-US" sz="1400" kern="1200" dirty="0">
                            <a:solidFill>
                              <a:schemeClr val="tx1"/>
                            </a:solidFill>
                            <a:latin typeface="Book Antiqua" panose="02040602050305030304" pitchFamily="18" charset="0"/>
                            <a:ea typeface="+mn-ea"/>
                            <a:cs typeface="+mn-cs"/>
                          </a:endParaRPr>
                        </a:p>
                      </a:txBody>
                      <a:tcPr/>
                    </a:tc>
                    <a:tc>
                      <a:txBody>
                        <a:bodyPr/>
                        <a:lstStyle/>
                        <a:p>
                          <a:pPr marL="0" algn="ctr" defTabSz="685800" rtl="0" eaLnBrk="1" latinLnBrk="0" hangingPunct="1"/>
                          <a:r>
                            <a:rPr lang="en-US" sz="1400" kern="1200" dirty="0" smtClean="0">
                              <a:solidFill>
                                <a:schemeClr val="tx1"/>
                              </a:solidFill>
                              <a:latin typeface="Book Antiqua" panose="02040602050305030304" pitchFamily="18" charset="0"/>
                              <a:ea typeface="+mn-ea"/>
                              <a:cs typeface="+mn-cs"/>
                            </a:rPr>
                            <a:t>23.8%</a:t>
                          </a:r>
                          <a:endParaRPr lang="en-US" sz="1400" kern="1200" dirty="0">
                            <a:solidFill>
                              <a:schemeClr val="tx1"/>
                            </a:solidFill>
                            <a:latin typeface="Book Antiqua" panose="02040602050305030304" pitchFamily="18" charset="0"/>
                            <a:ea typeface="+mn-ea"/>
                            <a:cs typeface="+mn-cs"/>
                          </a:endParaRPr>
                        </a:p>
                      </a:txBody>
                      <a:tcPr/>
                    </a:tc>
                    <a:extLst>
                      <a:ext uri="{0D108BD9-81ED-4DB2-BD59-A6C34878D82A}">
                        <a16:rowId xmlns:a16="http://schemas.microsoft.com/office/drawing/2014/main" xmlns="" val="10004"/>
                      </a:ext>
                    </a:extLst>
                  </a:tr>
                  <a:tr h="283550">
                    <a:tc>
                      <a:txBody>
                        <a:bodyPr/>
                        <a:lstStyle/>
                        <a:p>
                          <a:pPr marL="0" algn="ctr" defTabSz="685800" rtl="0" eaLnBrk="1" latinLnBrk="0" hangingPunct="1"/>
                          <a14:m>
                            <m:oMathPara xmlns:m="http://schemas.openxmlformats.org/officeDocument/2006/math">
                              <m:oMathParaPr>
                                <m:jc m:val="centerGroup"/>
                              </m:oMathParaPr>
                              <m:oMath xmlns:m="http://schemas.openxmlformats.org/officeDocument/2006/math">
                                <m:r>
                                  <a:rPr lang="en-US" sz="1400" kern="1200" smtClean="0">
                                    <a:solidFill>
                                      <a:schemeClr val="tx1"/>
                                    </a:solidFill>
                                    <a:latin typeface="Cambria Math"/>
                                    <a:ea typeface="+mn-ea"/>
                                    <a:cs typeface="+mn-cs"/>
                                  </a:rPr>
                                  <m:t>∞</m:t>
                                </m:r>
                              </m:oMath>
                            </m:oMathPara>
                          </a14:m>
                          <a:endParaRPr lang="en-US" sz="1400" kern="1200" dirty="0" smtClean="0">
                            <a:solidFill>
                              <a:schemeClr val="tx1"/>
                            </a:solidFill>
                            <a:latin typeface="Book Antiqua" panose="02040602050305030304" pitchFamily="18" charset="0"/>
                            <a:ea typeface="+mn-ea"/>
                            <a:cs typeface="+mn-cs"/>
                          </a:endParaRPr>
                        </a:p>
                      </a:txBody>
                      <a:tcPr/>
                    </a:tc>
                    <a:tc>
                      <a:txBody>
                        <a:bodyPr/>
                        <a:lstStyle/>
                        <a:p>
                          <a:pPr marL="0" algn="ctr" defTabSz="685800" rtl="0" eaLnBrk="1" latinLnBrk="0" hangingPunct="1"/>
                          <a:r>
                            <a:rPr lang="en-US" sz="1400" kern="1200" dirty="0" smtClean="0">
                              <a:solidFill>
                                <a:schemeClr val="tx1"/>
                              </a:solidFill>
                              <a:latin typeface="Book Antiqua" panose="02040602050305030304" pitchFamily="18" charset="0"/>
                              <a:ea typeface="+mn-ea"/>
                              <a:cs typeface="+mn-cs"/>
                            </a:rPr>
                            <a:t>100%</a:t>
                          </a:r>
                          <a:endParaRPr lang="en-US" sz="1400" kern="1200" dirty="0">
                            <a:solidFill>
                              <a:schemeClr val="tx1"/>
                            </a:solidFill>
                            <a:latin typeface="Book Antiqua" panose="02040602050305030304" pitchFamily="18" charset="0"/>
                            <a:ea typeface="+mn-ea"/>
                            <a:cs typeface="+mn-cs"/>
                          </a:endParaRPr>
                        </a:p>
                      </a:txBody>
                      <a:tcPr/>
                    </a:tc>
                    <a:tc>
                      <a:txBody>
                        <a:bodyPr/>
                        <a:lstStyle/>
                        <a:p>
                          <a:pPr marL="0" algn="ctr" defTabSz="685800" rtl="0" eaLnBrk="1" latinLnBrk="0" hangingPunct="1"/>
                          <a:r>
                            <a:rPr lang="en-US" sz="1400" kern="1200" dirty="0" smtClean="0">
                              <a:solidFill>
                                <a:schemeClr val="tx1"/>
                              </a:solidFill>
                              <a:latin typeface="Book Antiqua" panose="02040602050305030304" pitchFamily="18" charset="0"/>
                              <a:ea typeface="+mn-ea"/>
                              <a:cs typeface="+mn-cs"/>
                            </a:rPr>
                            <a:t>0%</a:t>
                          </a:r>
                          <a:endParaRPr lang="en-US" sz="1400" kern="1200" dirty="0">
                            <a:solidFill>
                              <a:schemeClr val="tx1"/>
                            </a:solidFill>
                            <a:latin typeface="Book Antiqua" panose="02040602050305030304" pitchFamily="18" charset="0"/>
                            <a:ea typeface="+mn-ea"/>
                            <a:cs typeface="+mn-cs"/>
                          </a:endParaRPr>
                        </a:p>
                      </a:txBody>
                      <a:tcPr/>
                    </a:tc>
                    <a:tc>
                      <a:txBody>
                        <a:bodyPr/>
                        <a:lstStyle/>
                        <a:p>
                          <a:pPr marL="0" algn="ctr" defTabSz="685800" rtl="0" eaLnBrk="1" latinLnBrk="0" hangingPunct="1"/>
                          <a:r>
                            <a:rPr lang="en-US" sz="1400" kern="1200" dirty="0" smtClean="0">
                              <a:solidFill>
                                <a:schemeClr val="tx1"/>
                              </a:solidFill>
                              <a:latin typeface="Book Antiqua" panose="02040602050305030304" pitchFamily="18" charset="0"/>
                              <a:ea typeface="+mn-ea"/>
                              <a:cs typeface="+mn-cs"/>
                            </a:rPr>
                            <a:t>7.1%</a:t>
                          </a:r>
                          <a:endParaRPr lang="en-US" sz="1400" kern="1200" dirty="0">
                            <a:solidFill>
                              <a:schemeClr val="tx1"/>
                            </a:solidFill>
                            <a:latin typeface="Book Antiqua" panose="02040602050305030304" pitchFamily="18" charset="0"/>
                            <a:ea typeface="+mn-ea"/>
                            <a:cs typeface="+mn-cs"/>
                          </a:endParaRPr>
                        </a:p>
                      </a:txBody>
                      <a:tcPr/>
                    </a:tc>
                    <a:tc>
                      <a:txBody>
                        <a:bodyPr/>
                        <a:lstStyle/>
                        <a:p>
                          <a:pPr marL="0" algn="ctr" defTabSz="685800" rtl="0" eaLnBrk="1" latinLnBrk="0" hangingPunct="1"/>
                          <a:r>
                            <a:rPr lang="en-US" sz="1400" kern="1200" dirty="0" smtClean="0">
                              <a:solidFill>
                                <a:schemeClr val="tx1"/>
                              </a:solidFill>
                              <a:latin typeface="Book Antiqua" panose="02040602050305030304" pitchFamily="18" charset="0"/>
                              <a:ea typeface="+mn-ea"/>
                              <a:cs typeface="+mn-cs"/>
                            </a:rPr>
                            <a:t>25.2%</a:t>
                          </a:r>
                          <a:endParaRPr lang="en-US" sz="1400" kern="1200" dirty="0">
                            <a:solidFill>
                              <a:schemeClr val="tx1"/>
                            </a:solidFill>
                            <a:latin typeface="Book Antiqua" panose="02040602050305030304" pitchFamily="18" charset="0"/>
                            <a:ea typeface="+mn-ea"/>
                            <a:cs typeface="+mn-cs"/>
                          </a:endParaRPr>
                        </a:p>
                      </a:txBody>
                      <a:tcPr/>
                    </a:tc>
                    <a:extLst>
                      <a:ext uri="{0D108BD9-81ED-4DB2-BD59-A6C34878D82A}">
                        <a16:rowId xmlns:a16="http://schemas.microsoft.com/office/drawing/2014/main" xmlns="" val="10005"/>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2084810493"/>
                  </p:ext>
                </p:extLst>
              </p:nvPr>
            </p:nvGraphicFramePr>
            <p:xfrm>
              <a:off x="458916" y="1839114"/>
              <a:ext cx="8124899" cy="2103120"/>
            </p:xfrm>
            <a:graphic>
              <a:graphicData uri="http://schemas.openxmlformats.org/drawingml/2006/table">
                <a:tbl>
                  <a:tblPr firstRow="1" bandRow="1">
                    <a:tableStyleId>{68D230F3-CF80-4859-8CE7-A43EE81993B5}</a:tableStyleId>
                  </a:tblPr>
                  <a:tblGrid>
                    <a:gridCol w="985466">
                      <a:extLst>
                        <a:ext uri="{9D8B030D-6E8A-4147-A177-3AD203B41FA5}">
                          <a16:colId xmlns:a16="http://schemas.microsoft.com/office/drawing/2014/main" xmlns="" xmlns:a14="http://schemas.microsoft.com/office/drawing/2010/main" val="20000"/>
                        </a:ext>
                      </a:extLst>
                    </a:gridCol>
                    <a:gridCol w="1812071">
                      <a:extLst>
                        <a:ext uri="{9D8B030D-6E8A-4147-A177-3AD203B41FA5}">
                          <a16:colId xmlns:a16="http://schemas.microsoft.com/office/drawing/2014/main" xmlns="" xmlns:a14="http://schemas.microsoft.com/office/drawing/2010/main" val="20001"/>
                        </a:ext>
                      </a:extLst>
                    </a:gridCol>
                    <a:gridCol w="1728831">
                      <a:extLst>
                        <a:ext uri="{9D8B030D-6E8A-4147-A177-3AD203B41FA5}">
                          <a16:colId xmlns:a16="http://schemas.microsoft.com/office/drawing/2014/main" xmlns="" xmlns:a14="http://schemas.microsoft.com/office/drawing/2010/main" val="20002"/>
                        </a:ext>
                      </a:extLst>
                    </a:gridCol>
                    <a:gridCol w="1722429">
                      <a:extLst>
                        <a:ext uri="{9D8B030D-6E8A-4147-A177-3AD203B41FA5}">
                          <a16:colId xmlns:a16="http://schemas.microsoft.com/office/drawing/2014/main" xmlns="" xmlns:a14="http://schemas.microsoft.com/office/drawing/2010/main" val="20003"/>
                        </a:ext>
                      </a:extLst>
                    </a:gridCol>
                    <a:gridCol w="1876102">
                      <a:extLst>
                        <a:ext uri="{9D8B030D-6E8A-4147-A177-3AD203B41FA5}">
                          <a16:colId xmlns:a16="http://schemas.microsoft.com/office/drawing/2014/main" xmlns="" xmlns:a14="http://schemas.microsoft.com/office/drawing/2010/main" val="20004"/>
                        </a:ext>
                      </a:extLst>
                    </a:gridCol>
                  </a:tblGrid>
                  <a:tr h="579120">
                    <a:tc>
                      <a:txBody>
                        <a:bodyPr/>
                        <a:lstStyle/>
                        <a:p>
                          <a:pPr marL="0" algn="ctr" defTabSz="685800" rtl="0" eaLnBrk="1" latinLnBrk="0" hangingPunct="1"/>
                          <a:r>
                            <a:rPr lang="en-US" sz="1600" b="1" kern="1200" dirty="0" smtClean="0">
                              <a:solidFill>
                                <a:schemeClr val="tx1"/>
                              </a:solidFill>
                              <a:latin typeface="Book Antiqua" panose="02040602050305030304" pitchFamily="18" charset="0"/>
                              <a:ea typeface="+mn-ea"/>
                              <a:cs typeface="+mn-cs"/>
                            </a:rPr>
                            <a:t>Group size </a:t>
                          </a:r>
                        </a:p>
                      </a:txBody>
                      <a:tcPr/>
                    </a:tc>
                    <a:tc>
                      <a:txBody>
                        <a:bodyPr/>
                        <a:lstStyle/>
                        <a:p>
                          <a:pPr marL="0" algn="ctr" defTabSz="685800" rtl="0" eaLnBrk="1" latinLnBrk="0" hangingPunct="1"/>
                          <a:r>
                            <a:rPr lang="en-US" sz="1600" b="1" kern="1200" dirty="0" smtClean="0">
                              <a:solidFill>
                                <a:schemeClr val="tx1"/>
                              </a:solidFill>
                              <a:latin typeface="Book Antiqua" panose="02040602050305030304" pitchFamily="18" charset="0"/>
                              <a:ea typeface="+mn-ea"/>
                              <a:cs typeface="+mn-cs"/>
                            </a:rPr>
                            <a:t>Kidney utilization rate</a:t>
                          </a:r>
                          <a:endParaRPr lang="en-US" sz="1600" b="1" kern="1200" dirty="0">
                            <a:solidFill>
                              <a:schemeClr val="tx1"/>
                            </a:solidFill>
                            <a:latin typeface="Book Antiqua" panose="02040602050305030304" pitchFamily="18" charset="0"/>
                            <a:ea typeface="+mn-ea"/>
                            <a:cs typeface="+mn-cs"/>
                          </a:endParaRPr>
                        </a:p>
                      </a:txBody>
                      <a:tcPr/>
                    </a:tc>
                    <a:tc>
                      <a:txBody>
                        <a:bodyPr/>
                        <a:lstStyle/>
                        <a:p>
                          <a:pPr marL="0" algn="ctr" defTabSz="685800" rtl="0" eaLnBrk="1" latinLnBrk="0" hangingPunct="1"/>
                          <a:r>
                            <a:rPr lang="en-US" sz="1600" b="1" kern="1200" dirty="0" smtClean="0">
                              <a:solidFill>
                                <a:schemeClr val="tx1"/>
                              </a:solidFill>
                              <a:latin typeface="Book Antiqua" panose="02040602050305030304" pitchFamily="18" charset="0"/>
                              <a:ea typeface="+mn-ea"/>
                              <a:cs typeface="+mn-cs"/>
                            </a:rPr>
                            <a:t>Kidney discard</a:t>
                          </a:r>
                        </a:p>
                        <a:p>
                          <a:pPr marL="0" algn="ctr" defTabSz="685800" rtl="0" eaLnBrk="1" latinLnBrk="0" hangingPunct="1"/>
                          <a:r>
                            <a:rPr lang="en-US" sz="1600" b="1" kern="1200" dirty="0" smtClean="0">
                              <a:solidFill>
                                <a:schemeClr val="tx1"/>
                              </a:solidFill>
                              <a:latin typeface="Book Antiqua" panose="02040602050305030304" pitchFamily="18" charset="0"/>
                              <a:ea typeface="+mn-ea"/>
                              <a:cs typeface="+mn-cs"/>
                            </a:rPr>
                            <a:t> rate</a:t>
                          </a:r>
                          <a:endParaRPr lang="en-US" sz="1600" b="1" kern="1200" dirty="0">
                            <a:solidFill>
                              <a:schemeClr val="tx1"/>
                            </a:solidFill>
                            <a:latin typeface="Book Antiqua" panose="02040602050305030304" pitchFamily="18" charset="0"/>
                            <a:ea typeface="+mn-ea"/>
                            <a:cs typeface="+mn-cs"/>
                          </a:endParaRPr>
                        </a:p>
                      </a:txBody>
                      <a:tcPr/>
                    </a:tc>
                    <a:tc>
                      <a:txBody>
                        <a:bodyPr/>
                        <a:lstStyle/>
                        <a:p>
                          <a:pPr marL="0" algn="ctr" defTabSz="685800" rtl="0" eaLnBrk="1" latinLnBrk="0" hangingPunct="1"/>
                          <a:r>
                            <a:rPr lang="en-US" sz="1600" b="1" kern="1200" dirty="0" smtClean="0">
                              <a:solidFill>
                                <a:schemeClr val="tx1"/>
                              </a:solidFill>
                              <a:latin typeface="Book Antiqua" panose="02040602050305030304" pitchFamily="18" charset="0"/>
                              <a:ea typeface="+mn-ea"/>
                              <a:cs typeface="+mn-cs"/>
                            </a:rPr>
                            <a:t>Waitlist removal rate</a:t>
                          </a:r>
                          <a:endParaRPr lang="en-US" sz="1600" b="1" kern="1200" dirty="0">
                            <a:solidFill>
                              <a:schemeClr val="tx1"/>
                            </a:solidFill>
                            <a:latin typeface="Book Antiqua" panose="02040602050305030304" pitchFamily="18" charset="0"/>
                            <a:ea typeface="+mn-ea"/>
                            <a:cs typeface="+mn-cs"/>
                          </a:endParaRPr>
                        </a:p>
                      </a:txBody>
                      <a:tcPr/>
                    </a:tc>
                    <a:tc>
                      <a:txBody>
                        <a:bodyPr/>
                        <a:lstStyle/>
                        <a:p>
                          <a:pPr marL="0" algn="ctr" defTabSz="685800" rtl="0" eaLnBrk="1" latinLnBrk="0" hangingPunct="1"/>
                          <a:r>
                            <a:rPr lang="en-US" sz="1600" b="1" kern="1200" dirty="0" smtClean="0">
                              <a:solidFill>
                                <a:schemeClr val="tx1"/>
                              </a:solidFill>
                              <a:latin typeface="Book Antiqua" panose="02040602050305030304" pitchFamily="18" charset="0"/>
                              <a:ea typeface="+mn-ea"/>
                              <a:cs typeface="+mn-cs"/>
                            </a:rPr>
                            <a:t>Kidney transplant rate</a:t>
                          </a:r>
                          <a:endParaRPr lang="en-US" sz="1600" b="1" kern="1200" dirty="0">
                            <a:solidFill>
                              <a:schemeClr val="tx1"/>
                            </a:solidFill>
                            <a:latin typeface="Book Antiqua" panose="02040602050305030304" pitchFamily="18" charset="0"/>
                            <a:ea typeface="+mn-ea"/>
                            <a:cs typeface="+mn-cs"/>
                          </a:endParaRPr>
                        </a:p>
                      </a:txBody>
                      <a:tcPr/>
                    </a:tc>
                    <a:extLst>
                      <a:ext uri="{0D108BD9-81ED-4DB2-BD59-A6C34878D82A}">
                        <a16:rowId xmlns:a16="http://schemas.microsoft.com/office/drawing/2014/main" xmlns="" xmlns:a14="http://schemas.microsoft.com/office/drawing/2010/main" val="10000"/>
                      </a:ext>
                    </a:extLst>
                  </a:tr>
                  <a:tr h="304800">
                    <a:tc>
                      <a:txBody>
                        <a:bodyPr/>
                        <a:lstStyle/>
                        <a:p>
                          <a:pPr marL="0" algn="ctr" defTabSz="685800" rtl="0" eaLnBrk="1" latinLnBrk="0" hangingPunct="1"/>
                          <a:r>
                            <a:rPr lang="en-US" sz="1400" kern="1200" dirty="0" smtClean="0">
                              <a:solidFill>
                                <a:schemeClr val="tx1"/>
                              </a:solidFill>
                              <a:latin typeface="Book Antiqua" panose="02040602050305030304" pitchFamily="18" charset="0"/>
                              <a:ea typeface="+mn-ea"/>
                              <a:cs typeface="+mn-cs"/>
                            </a:rPr>
                            <a:t>5</a:t>
                          </a:r>
                          <a:endParaRPr lang="en-US" sz="1400" kern="1200" dirty="0">
                            <a:solidFill>
                              <a:schemeClr val="tx1"/>
                            </a:solidFill>
                            <a:latin typeface="Book Antiqua" panose="02040602050305030304" pitchFamily="18" charset="0"/>
                            <a:ea typeface="+mn-ea"/>
                            <a:cs typeface="+mn-cs"/>
                          </a:endParaRPr>
                        </a:p>
                      </a:txBody>
                      <a:tcPr/>
                    </a:tc>
                    <a:tc>
                      <a:txBody>
                        <a:bodyPr/>
                        <a:lstStyle/>
                        <a:p>
                          <a:pPr marL="0" algn="ctr" defTabSz="685800" rtl="0" eaLnBrk="1" latinLnBrk="0" hangingPunct="1"/>
                          <a:r>
                            <a:rPr lang="en-US" sz="1400" kern="1200" dirty="0" smtClean="0">
                              <a:solidFill>
                                <a:schemeClr val="tx1"/>
                              </a:solidFill>
                              <a:latin typeface="Book Antiqua" panose="02040602050305030304" pitchFamily="18" charset="0"/>
                              <a:ea typeface="+mn-ea"/>
                              <a:cs typeface="+mn-cs"/>
                            </a:rPr>
                            <a:t>85%</a:t>
                          </a:r>
                          <a:endParaRPr lang="en-US" sz="1400" kern="1200" dirty="0">
                            <a:solidFill>
                              <a:schemeClr val="tx1"/>
                            </a:solidFill>
                            <a:latin typeface="Book Antiqua" panose="02040602050305030304" pitchFamily="18" charset="0"/>
                            <a:ea typeface="+mn-ea"/>
                            <a:cs typeface="+mn-cs"/>
                          </a:endParaRPr>
                        </a:p>
                      </a:txBody>
                      <a:tcPr/>
                    </a:tc>
                    <a:tc>
                      <a:txBody>
                        <a:bodyPr/>
                        <a:lstStyle/>
                        <a:p>
                          <a:pPr marL="0" algn="ctr" defTabSz="685800" rtl="0" eaLnBrk="1" latinLnBrk="0" hangingPunct="1"/>
                          <a:r>
                            <a:rPr lang="en-US" sz="1400" kern="1200" dirty="0" smtClean="0">
                              <a:solidFill>
                                <a:schemeClr val="tx1"/>
                              </a:solidFill>
                              <a:latin typeface="Book Antiqua" panose="02040602050305030304" pitchFamily="18" charset="0"/>
                              <a:ea typeface="+mn-ea"/>
                              <a:cs typeface="+mn-cs"/>
                            </a:rPr>
                            <a:t>15%</a:t>
                          </a:r>
                          <a:endParaRPr lang="en-US" sz="1400" kern="1200" dirty="0">
                            <a:solidFill>
                              <a:schemeClr val="tx1"/>
                            </a:solidFill>
                            <a:latin typeface="Book Antiqua" panose="02040602050305030304" pitchFamily="18" charset="0"/>
                            <a:ea typeface="+mn-ea"/>
                            <a:cs typeface="+mn-cs"/>
                          </a:endParaRPr>
                        </a:p>
                      </a:txBody>
                      <a:tcPr/>
                    </a:tc>
                    <a:tc>
                      <a:txBody>
                        <a:bodyPr/>
                        <a:lstStyle/>
                        <a:p>
                          <a:pPr marL="0" algn="ctr" defTabSz="685800" rtl="0" eaLnBrk="1" latinLnBrk="0" hangingPunct="1"/>
                          <a:r>
                            <a:rPr lang="en-US" sz="1400" kern="1200" dirty="0" smtClean="0">
                              <a:solidFill>
                                <a:schemeClr val="tx1"/>
                              </a:solidFill>
                              <a:latin typeface="Book Antiqua" panose="02040602050305030304" pitchFamily="18" charset="0"/>
                              <a:ea typeface="+mn-ea"/>
                              <a:cs typeface="+mn-cs"/>
                            </a:rPr>
                            <a:t>8.9%</a:t>
                          </a:r>
                          <a:endParaRPr lang="en-US" sz="1400" kern="1200" dirty="0">
                            <a:solidFill>
                              <a:schemeClr val="tx1"/>
                            </a:solidFill>
                            <a:latin typeface="Book Antiqua" panose="02040602050305030304" pitchFamily="18" charset="0"/>
                            <a:ea typeface="+mn-ea"/>
                            <a:cs typeface="+mn-cs"/>
                          </a:endParaRPr>
                        </a:p>
                      </a:txBody>
                      <a:tcPr/>
                    </a:tc>
                    <a:tc>
                      <a:txBody>
                        <a:bodyPr/>
                        <a:lstStyle/>
                        <a:p>
                          <a:pPr marL="0" algn="ctr" defTabSz="685800" rtl="0" eaLnBrk="1" latinLnBrk="0" hangingPunct="1"/>
                          <a:r>
                            <a:rPr lang="en-US" sz="1400" kern="1200" dirty="0" smtClean="0">
                              <a:solidFill>
                                <a:schemeClr val="tx1"/>
                              </a:solidFill>
                              <a:latin typeface="Book Antiqua" panose="02040602050305030304" pitchFamily="18" charset="0"/>
                              <a:ea typeface="+mn-ea"/>
                              <a:cs typeface="+mn-cs"/>
                            </a:rPr>
                            <a:t>17%</a:t>
                          </a:r>
                          <a:endParaRPr lang="en-US" sz="1400" kern="1200" dirty="0">
                            <a:solidFill>
                              <a:schemeClr val="tx1"/>
                            </a:solidFill>
                            <a:latin typeface="Book Antiqua" panose="02040602050305030304" pitchFamily="18" charset="0"/>
                            <a:ea typeface="+mn-ea"/>
                            <a:cs typeface="+mn-cs"/>
                          </a:endParaRPr>
                        </a:p>
                      </a:txBody>
                      <a:tcPr/>
                    </a:tc>
                    <a:extLst>
                      <a:ext uri="{0D108BD9-81ED-4DB2-BD59-A6C34878D82A}">
                        <a16:rowId xmlns:a16="http://schemas.microsoft.com/office/drawing/2014/main" xmlns="" xmlns:a14="http://schemas.microsoft.com/office/drawing/2010/main" val="10001"/>
                      </a:ext>
                    </a:extLst>
                  </a:tr>
                  <a:tr h="304800">
                    <a:tc>
                      <a:txBody>
                        <a:bodyPr/>
                        <a:lstStyle/>
                        <a:p>
                          <a:pPr marL="0" algn="ctr" defTabSz="685800" rtl="0" eaLnBrk="1" latinLnBrk="0" hangingPunct="1"/>
                          <a:r>
                            <a:rPr lang="en-US" sz="1400" kern="1200" dirty="0" smtClean="0">
                              <a:solidFill>
                                <a:schemeClr val="tx1"/>
                              </a:solidFill>
                              <a:latin typeface="Book Antiqua" panose="02040602050305030304" pitchFamily="18" charset="0"/>
                              <a:ea typeface="+mn-ea"/>
                              <a:cs typeface="+mn-cs"/>
                            </a:rPr>
                            <a:t>10</a:t>
                          </a:r>
                          <a:endParaRPr lang="en-US" sz="1400" kern="1200" dirty="0">
                            <a:solidFill>
                              <a:schemeClr val="tx1"/>
                            </a:solidFill>
                            <a:latin typeface="Book Antiqua" panose="02040602050305030304" pitchFamily="18" charset="0"/>
                            <a:ea typeface="+mn-ea"/>
                            <a:cs typeface="+mn-cs"/>
                          </a:endParaRPr>
                        </a:p>
                      </a:txBody>
                      <a:tcPr/>
                    </a:tc>
                    <a:tc>
                      <a:txBody>
                        <a:bodyPr/>
                        <a:lstStyle/>
                        <a:p>
                          <a:pPr marL="0" algn="ctr" defTabSz="685800" rtl="0" eaLnBrk="1" latinLnBrk="0" hangingPunct="1"/>
                          <a:r>
                            <a:rPr lang="en-US" sz="1400" kern="1200" dirty="0" smtClean="0">
                              <a:solidFill>
                                <a:schemeClr val="tx1"/>
                              </a:solidFill>
                              <a:latin typeface="Book Antiqua" panose="02040602050305030304" pitchFamily="18" charset="0"/>
                              <a:ea typeface="+mn-ea"/>
                              <a:cs typeface="+mn-cs"/>
                            </a:rPr>
                            <a:t>90.9%</a:t>
                          </a:r>
                          <a:endParaRPr lang="en-US" sz="1400" kern="1200" dirty="0">
                            <a:solidFill>
                              <a:schemeClr val="tx1"/>
                            </a:solidFill>
                            <a:latin typeface="Book Antiqua" panose="02040602050305030304" pitchFamily="18" charset="0"/>
                            <a:ea typeface="+mn-ea"/>
                            <a:cs typeface="+mn-cs"/>
                          </a:endParaRPr>
                        </a:p>
                      </a:txBody>
                      <a:tcPr/>
                    </a:tc>
                    <a:tc>
                      <a:txBody>
                        <a:bodyPr/>
                        <a:lstStyle/>
                        <a:p>
                          <a:pPr marL="0" algn="ctr" defTabSz="685800" rtl="0" eaLnBrk="1" latinLnBrk="0" hangingPunct="1"/>
                          <a:r>
                            <a:rPr lang="en-US" sz="1400" kern="1200" dirty="0" smtClean="0">
                              <a:solidFill>
                                <a:schemeClr val="tx1"/>
                              </a:solidFill>
                              <a:latin typeface="Book Antiqua" panose="02040602050305030304" pitchFamily="18" charset="0"/>
                              <a:ea typeface="+mn-ea"/>
                              <a:cs typeface="+mn-cs"/>
                            </a:rPr>
                            <a:t>9.1%</a:t>
                          </a:r>
                          <a:endParaRPr lang="en-US" sz="1400" kern="1200" dirty="0">
                            <a:solidFill>
                              <a:schemeClr val="tx1"/>
                            </a:solidFill>
                            <a:latin typeface="Book Antiqua" panose="02040602050305030304" pitchFamily="18" charset="0"/>
                            <a:ea typeface="+mn-ea"/>
                            <a:cs typeface="+mn-cs"/>
                          </a:endParaRPr>
                        </a:p>
                      </a:txBody>
                      <a:tcPr/>
                    </a:tc>
                    <a:tc>
                      <a:txBody>
                        <a:bodyPr/>
                        <a:lstStyle/>
                        <a:p>
                          <a:pPr marL="0" algn="ctr" defTabSz="685800" rtl="0" eaLnBrk="1" latinLnBrk="0" hangingPunct="1"/>
                          <a:r>
                            <a:rPr lang="en-US" sz="1400" kern="1200" dirty="0" smtClean="0">
                              <a:solidFill>
                                <a:schemeClr val="tx1"/>
                              </a:solidFill>
                              <a:latin typeface="Book Antiqua" panose="02040602050305030304" pitchFamily="18" charset="0"/>
                              <a:ea typeface="+mn-ea"/>
                              <a:cs typeface="+mn-cs"/>
                            </a:rPr>
                            <a:t>8.3%</a:t>
                          </a:r>
                          <a:endParaRPr lang="en-US" sz="1400" kern="1200" dirty="0">
                            <a:solidFill>
                              <a:schemeClr val="tx1"/>
                            </a:solidFill>
                            <a:latin typeface="Book Antiqua" panose="02040602050305030304" pitchFamily="18" charset="0"/>
                            <a:ea typeface="+mn-ea"/>
                            <a:cs typeface="+mn-cs"/>
                          </a:endParaRPr>
                        </a:p>
                      </a:txBody>
                      <a:tcPr/>
                    </a:tc>
                    <a:tc>
                      <a:txBody>
                        <a:bodyPr/>
                        <a:lstStyle/>
                        <a:p>
                          <a:pPr marL="0" algn="ctr" defTabSz="685800" rtl="0" eaLnBrk="1" latinLnBrk="0" hangingPunct="1"/>
                          <a:r>
                            <a:rPr lang="en-US" sz="1400" kern="1200" dirty="0" smtClean="0">
                              <a:solidFill>
                                <a:schemeClr val="tx1"/>
                              </a:solidFill>
                              <a:latin typeface="Book Antiqua" panose="02040602050305030304" pitchFamily="18" charset="0"/>
                              <a:ea typeface="+mn-ea"/>
                              <a:cs typeface="+mn-cs"/>
                            </a:rPr>
                            <a:t>20%</a:t>
                          </a:r>
                          <a:endParaRPr lang="en-US" sz="1400" kern="1200" dirty="0">
                            <a:solidFill>
                              <a:schemeClr val="tx1"/>
                            </a:solidFill>
                            <a:latin typeface="Book Antiqua" panose="02040602050305030304" pitchFamily="18" charset="0"/>
                            <a:ea typeface="+mn-ea"/>
                            <a:cs typeface="+mn-cs"/>
                          </a:endParaRPr>
                        </a:p>
                      </a:txBody>
                      <a:tcPr/>
                    </a:tc>
                    <a:extLst>
                      <a:ext uri="{0D108BD9-81ED-4DB2-BD59-A6C34878D82A}">
                        <a16:rowId xmlns:a16="http://schemas.microsoft.com/office/drawing/2014/main" xmlns="" xmlns:a14="http://schemas.microsoft.com/office/drawing/2010/main" val="10002"/>
                      </a:ext>
                    </a:extLst>
                  </a:tr>
                  <a:tr h="304800">
                    <a:tc>
                      <a:txBody>
                        <a:bodyPr/>
                        <a:lstStyle/>
                        <a:p>
                          <a:pPr marL="0" algn="ctr" defTabSz="685800" rtl="0" eaLnBrk="1" latinLnBrk="0" hangingPunct="1"/>
                          <a:r>
                            <a:rPr lang="en-US" sz="1400" kern="1200" dirty="0" smtClean="0">
                              <a:solidFill>
                                <a:schemeClr val="tx1"/>
                              </a:solidFill>
                              <a:latin typeface="Book Antiqua" panose="02040602050305030304" pitchFamily="18" charset="0"/>
                              <a:ea typeface="+mn-ea"/>
                              <a:cs typeface="+mn-cs"/>
                            </a:rPr>
                            <a:t>20</a:t>
                          </a:r>
                          <a:endParaRPr lang="en-US" sz="1400" kern="1200" dirty="0">
                            <a:solidFill>
                              <a:schemeClr val="tx1"/>
                            </a:solidFill>
                            <a:latin typeface="Book Antiqua" panose="02040602050305030304" pitchFamily="18" charset="0"/>
                            <a:ea typeface="+mn-ea"/>
                            <a:cs typeface="+mn-cs"/>
                          </a:endParaRPr>
                        </a:p>
                      </a:txBody>
                      <a:tcPr/>
                    </a:tc>
                    <a:tc>
                      <a:txBody>
                        <a:bodyPr/>
                        <a:lstStyle/>
                        <a:p>
                          <a:pPr marL="0" algn="ctr" defTabSz="685800" rtl="0" eaLnBrk="1" latinLnBrk="0" hangingPunct="1"/>
                          <a:r>
                            <a:rPr lang="en-US" sz="1400" kern="1200" dirty="0" smtClean="0">
                              <a:solidFill>
                                <a:schemeClr val="tx1"/>
                              </a:solidFill>
                              <a:latin typeface="Book Antiqua" panose="02040602050305030304" pitchFamily="18" charset="0"/>
                              <a:ea typeface="+mn-ea"/>
                              <a:cs typeface="+mn-cs"/>
                            </a:rPr>
                            <a:t>94.3%</a:t>
                          </a:r>
                          <a:endParaRPr lang="en-US" sz="1400" kern="1200" dirty="0">
                            <a:solidFill>
                              <a:schemeClr val="tx1"/>
                            </a:solidFill>
                            <a:latin typeface="Book Antiqua" panose="02040602050305030304" pitchFamily="18" charset="0"/>
                            <a:ea typeface="+mn-ea"/>
                            <a:cs typeface="+mn-cs"/>
                          </a:endParaRPr>
                        </a:p>
                      </a:txBody>
                      <a:tcPr/>
                    </a:tc>
                    <a:tc>
                      <a:txBody>
                        <a:bodyPr/>
                        <a:lstStyle/>
                        <a:p>
                          <a:pPr marL="0" algn="ctr" defTabSz="685800" rtl="0" eaLnBrk="1" latinLnBrk="0" hangingPunct="1"/>
                          <a:r>
                            <a:rPr lang="en-US" sz="1400" kern="1200" dirty="0" smtClean="0">
                              <a:solidFill>
                                <a:schemeClr val="tx1"/>
                              </a:solidFill>
                              <a:latin typeface="Book Antiqua" panose="02040602050305030304" pitchFamily="18" charset="0"/>
                              <a:ea typeface="+mn-ea"/>
                              <a:cs typeface="+mn-cs"/>
                            </a:rPr>
                            <a:t>5.7%</a:t>
                          </a:r>
                          <a:endParaRPr lang="en-US" sz="1400" kern="1200" dirty="0">
                            <a:solidFill>
                              <a:schemeClr val="tx1"/>
                            </a:solidFill>
                            <a:latin typeface="Book Antiqua" panose="02040602050305030304" pitchFamily="18" charset="0"/>
                            <a:ea typeface="+mn-ea"/>
                            <a:cs typeface="+mn-cs"/>
                          </a:endParaRPr>
                        </a:p>
                      </a:txBody>
                      <a:tcPr/>
                    </a:tc>
                    <a:tc>
                      <a:txBody>
                        <a:bodyPr/>
                        <a:lstStyle/>
                        <a:p>
                          <a:pPr marL="0" algn="ctr" defTabSz="685800" rtl="0" eaLnBrk="1" latinLnBrk="0" hangingPunct="1"/>
                          <a:r>
                            <a:rPr lang="en-US" sz="1400" kern="1200" dirty="0" smtClean="0">
                              <a:solidFill>
                                <a:schemeClr val="tx1"/>
                              </a:solidFill>
                              <a:latin typeface="Book Antiqua" panose="02040602050305030304" pitchFamily="18" charset="0"/>
                              <a:ea typeface="+mn-ea"/>
                              <a:cs typeface="+mn-cs"/>
                            </a:rPr>
                            <a:t>7.9%</a:t>
                          </a:r>
                          <a:endParaRPr lang="en-US" sz="1400" kern="1200" dirty="0">
                            <a:solidFill>
                              <a:schemeClr val="tx1"/>
                            </a:solidFill>
                            <a:latin typeface="Book Antiqua" panose="02040602050305030304" pitchFamily="18" charset="0"/>
                            <a:ea typeface="+mn-ea"/>
                            <a:cs typeface="+mn-cs"/>
                          </a:endParaRPr>
                        </a:p>
                      </a:txBody>
                      <a:tcPr/>
                    </a:tc>
                    <a:tc>
                      <a:txBody>
                        <a:bodyPr/>
                        <a:lstStyle/>
                        <a:p>
                          <a:pPr marL="0" algn="ctr" defTabSz="685800" rtl="0" eaLnBrk="1" latinLnBrk="0" hangingPunct="1"/>
                          <a:r>
                            <a:rPr lang="en-US" sz="1400" kern="1200" dirty="0" smtClean="0">
                              <a:solidFill>
                                <a:schemeClr val="tx1"/>
                              </a:solidFill>
                              <a:latin typeface="Book Antiqua" panose="02040602050305030304" pitchFamily="18" charset="0"/>
                              <a:ea typeface="+mn-ea"/>
                              <a:cs typeface="+mn-cs"/>
                            </a:rPr>
                            <a:t>21.5%</a:t>
                          </a:r>
                          <a:endParaRPr lang="en-US" sz="1400" kern="1200" dirty="0">
                            <a:solidFill>
                              <a:schemeClr val="tx1"/>
                            </a:solidFill>
                            <a:latin typeface="Book Antiqua" panose="02040602050305030304" pitchFamily="18" charset="0"/>
                            <a:ea typeface="+mn-ea"/>
                            <a:cs typeface="+mn-cs"/>
                          </a:endParaRPr>
                        </a:p>
                      </a:txBody>
                      <a:tcPr/>
                    </a:tc>
                    <a:extLst>
                      <a:ext uri="{0D108BD9-81ED-4DB2-BD59-A6C34878D82A}">
                        <a16:rowId xmlns:a16="http://schemas.microsoft.com/office/drawing/2014/main" xmlns="" xmlns:a14="http://schemas.microsoft.com/office/drawing/2010/main" val="10003"/>
                      </a:ext>
                    </a:extLst>
                  </a:tr>
                  <a:tr h="304800">
                    <a:tc>
                      <a:txBody>
                        <a:bodyPr/>
                        <a:lstStyle/>
                        <a:p>
                          <a:pPr marL="0" algn="ctr" defTabSz="685800" rtl="0" eaLnBrk="1" latinLnBrk="0" hangingPunct="1"/>
                          <a:r>
                            <a:rPr lang="en-US" sz="1400" kern="1200" dirty="0" smtClean="0">
                              <a:solidFill>
                                <a:schemeClr val="tx1"/>
                              </a:solidFill>
                              <a:latin typeface="Book Antiqua" panose="02040602050305030304" pitchFamily="18" charset="0"/>
                              <a:ea typeface="+mn-ea"/>
                              <a:cs typeface="+mn-cs"/>
                            </a:rPr>
                            <a:t>100</a:t>
                          </a:r>
                          <a:endParaRPr lang="en-US" sz="1400" kern="1200" dirty="0">
                            <a:solidFill>
                              <a:schemeClr val="tx1"/>
                            </a:solidFill>
                            <a:latin typeface="Book Antiqua" panose="02040602050305030304" pitchFamily="18" charset="0"/>
                            <a:ea typeface="+mn-ea"/>
                            <a:cs typeface="+mn-cs"/>
                          </a:endParaRPr>
                        </a:p>
                      </a:txBody>
                      <a:tcPr/>
                    </a:tc>
                    <a:tc>
                      <a:txBody>
                        <a:bodyPr/>
                        <a:lstStyle/>
                        <a:p>
                          <a:pPr marL="0" algn="ctr" defTabSz="685800" rtl="0" eaLnBrk="1" latinLnBrk="0" hangingPunct="1"/>
                          <a:r>
                            <a:rPr lang="en-US" sz="1400" kern="1200" dirty="0" smtClean="0">
                              <a:solidFill>
                                <a:schemeClr val="tx1"/>
                              </a:solidFill>
                              <a:latin typeface="Book Antiqua" panose="02040602050305030304" pitchFamily="18" charset="0"/>
                              <a:ea typeface="+mn-ea"/>
                              <a:cs typeface="+mn-cs"/>
                            </a:rPr>
                            <a:t>98.5%</a:t>
                          </a:r>
                          <a:endParaRPr lang="en-US" sz="1400" kern="1200" dirty="0">
                            <a:solidFill>
                              <a:schemeClr val="tx1"/>
                            </a:solidFill>
                            <a:latin typeface="Book Antiqua" panose="02040602050305030304" pitchFamily="18" charset="0"/>
                            <a:ea typeface="+mn-ea"/>
                            <a:cs typeface="+mn-cs"/>
                          </a:endParaRPr>
                        </a:p>
                      </a:txBody>
                      <a:tcPr/>
                    </a:tc>
                    <a:tc>
                      <a:txBody>
                        <a:bodyPr/>
                        <a:lstStyle/>
                        <a:p>
                          <a:pPr marL="0" algn="ctr" defTabSz="685800" rtl="0" eaLnBrk="1" latinLnBrk="0" hangingPunct="1"/>
                          <a:r>
                            <a:rPr lang="en-US" sz="1400" kern="1200" dirty="0" smtClean="0">
                              <a:solidFill>
                                <a:schemeClr val="tx1"/>
                              </a:solidFill>
                              <a:latin typeface="Book Antiqua" panose="02040602050305030304" pitchFamily="18" charset="0"/>
                              <a:ea typeface="+mn-ea"/>
                              <a:cs typeface="+mn-cs"/>
                            </a:rPr>
                            <a:t>1.5%</a:t>
                          </a:r>
                          <a:endParaRPr lang="en-US" sz="1400" kern="1200" dirty="0">
                            <a:solidFill>
                              <a:schemeClr val="tx1"/>
                            </a:solidFill>
                            <a:latin typeface="Book Antiqua" panose="02040602050305030304" pitchFamily="18" charset="0"/>
                            <a:ea typeface="+mn-ea"/>
                            <a:cs typeface="+mn-cs"/>
                          </a:endParaRPr>
                        </a:p>
                      </a:txBody>
                      <a:tcPr/>
                    </a:tc>
                    <a:tc>
                      <a:txBody>
                        <a:bodyPr/>
                        <a:lstStyle/>
                        <a:p>
                          <a:pPr marL="0" algn="ctr" defTabSz="685800" rtl="0" eaLnBrk="1" latinLnBrk="0" hangingPunct="1"/>
                          <a:r>
                            <a:rPr lang="en-US" sz="1400" kern="1200" dirty="0" smtClean="0">
                              <a:solidFill>
                                <a:schemeClr val="tx1"/>
                              </a:solidFill>
                              <a:latin typeface="Book Antiqua" panose="02040602050305030304" pitchFamily="18" charset="0"/>
                              <a:ea typeface="+mn-ea"/>
                              <a:cs typeface="+mn-cs"/>
                            </a:rPr>
                            <a:t>7.3%</a:t>
                          </a:r>
                          <a:endParaRPr lang="en-US" sz="1400" kern="1200" dirty="0">
                            <a:solidFill>
                              <a:schemeClr val="tx1"/>
                            </a:solidFill>
                            <a:latin typeface="Book Antiqua" panose="02040602050305030304" pitchFamily="18" charset="0"/>
                            <a:ea typeface="+mn-ea"/>
                            <a:cs typeface="+mn-cs"/>
                          </a:endParaRPr>
                        </a:p>
                      </a:txBody>
                      <a:tcPr/>
                    </a:tc>
                    <a:tc>
                      <a:txBody>
                        <a:bodyPr/>
                        <a:lstStyle/>
                        <a:p>
                          <a:pPr marL="0" algn="ctr" defTabSz="685800" rtl="0" eaLnBrk="1" latinLnBrk="0" hangingPunct="1"/>
                          <a:r>
                            <a:rPr lang="en-US" sz="1400" kern="1200" dirty="0" smtClean="0">
                              <a:solidFill>
                                <a:schemeClr val="tx1"/>
                              </a:solidFill>
                              <a:latin typeface="Book Antiqua" panose="02040602050305030304" pitchFamily="18" charset="0"/>
                              <a:ea typeface="+mn-ea"/>
                              <a:cs typeface="+mn-cs"/>
                            </a:rPr>
                            <a:t>23.8%</a:t>
                          </a:r>
                          <a:endParaRPr lang="en-US" sz="1400" kern="1200" dirty="0">
                            <a:solidFill>
                              <a:schemeClr val="tx1"/>
                            </a:solidFill>
                            <a:latin typeface="Book Antiqua" panose="02040602050305030304" pitchFamily="18" charset="0"/>
                            <a:ea typeface="+mn-ea"/>
                            <a:cs typeface="+mn-cs"/>
                          </a:endParaRPr>
                        </a:p>
                      </a:txBody>
                      <a:tcPr/>
                    </a:tc>
                    <a:extLst>
                      <a:ext uri="{0D108BD9-81ED-4DB2-BD59-A6C34878D82A}">
                        <a16:rowId xmlns:a16="http://schemas.microsoft.com/office/drawing/2014/main" xmlns="" xmlns:a14="http://schemas.microsoft.com/office/drawing/2010/main" val="10004"/>
                      </a:ext>
                    </a:extLst>
                  </a:tr>
                  <a:tr h="304800">
                    <a:tc>
                      <a:txBody>
                        <a:bodyPr/>
                        <a:lstStyle/>
                        <a:p>
                          <a:endParaRPr lang="en-US"/>
                        </a:p>
                      </a:txBody>
                      <a:tcPr>
                        <a:blipFill rotWithShape="1">
                          <a:blip r:embed="rId3"/>
                          <a:stretch>
                            <a:fillRect t="-596000" r="-723457" b="-20000"/>
                          </a:stretch>
                        </a:blipFill>
                      </a:tcPr>
                    </a:tc>
                    <a:tc>
                      <a:txBody>
                        <a:bodyPr/>
                        <a:lstStyle/>
                        <a:p>
                          <a:pPr marL="0" algn="ctr" defTabSz="685800" rtl="0" eaLnBrk="1" latinLnBrk="0" hangingPunct="1"/>
                          <a:r>
                            <a:rPr lang="en-US" sz="1400" kern="1200" dirty="0" smtClean="0">
                              <a:solidFill>
                                <a:schemeClr val="tx1"/>
                              </a:solidFill>
                              <a:latin typeface="Book Antiqua" panose="02040602050305030304" pitchFamily="18" charset="0"/>
                              <a:ea typeface="+mn-ea"/>
                              <a:cs typeface="+mn-cs"/>
                            </a:rPr>
                            <a:t>100%</a:t>
                          </a:r>
                          <a:endParaRPr lang="en-US" sz="1400" kern="1200" dirty="0">
                            <a:solidFill>
                              <a:schemeClr val="tx1"/>
                            </a:solidFill>
                            <a:latin typeface="Book Antiqua" panose="02040602050305030304" pitchFamily="18" charset="0"/>
                            <a:ea typeface="+mn-ea"/>
                            <a:cs typeface="+mn-cs"/>
                          </a:endParaRPr>
                        </a:p>
                      </a:txBody>
                      <a:tcPr/>
                    </a:tc>
                    <a:tc>
                      <a:txBody>
                        <a:bodyPr/>
                        <a:lstStyle/>
                        <a:p>
                          <a:pPr marL="0" algn="ctr" defTabSz="685800" rtl="0" eaLnBrk="1" latinLnBrk="0" hangingPunct="1"/>
                          <a:r>
                            <a:rPr lang="en-US" sz="1400" kern="1200" dirty="0" smtClean="0">
                              <a:solidFill>
                                <a:schemeClr val="tx1"/>
                              </a:solidFill>
                              <a:latin typeface="Book Antiqua" panose="02040602050305030304" pitchFamily="18" charset="0"/>
                              <a:ea typeface="+mn-ea"/>
                              <a:cs typeface="+mn-cs"/>
                            </a:rPr>
                            <a:t>0%</a:t>
                          </a:r>
                          <a:endParaRPr lang="en-US" sz="1400" kern="1200" dirty="0">
                            <a:solidFill>
                              <a:schemeClr val="tx1"/>
                            </a:solidFill>
                            <a:latin typeface="Book Antiqua" panose="02040602050305030304" pitchFamily="18" charset="0"/>
                            <a:ea typeface="+mn-ea"/>
                            <a:cs typeface="+mn-cs"/>
                          </a:endParaRPr>
                        </a:p>
                      </a:txBody>
                      <a:tcPr/>
                    </a:tc>
                    <a:tc>
                      <a:txBody>
                        <a:bodyPr/>
                        <a:lstStyle/>
                        <a:p>
                          <a:pPr marL="0" algn="ctr" defTabSz="685800" rtl="0" eaLnBrk="1" latinLnBrk="0" hangingPunct="1"/>
                          <a:r>
                            <a:rPr lang="en-US" sz="1400" kern="1200" dirty="0" smtClean="0">
                              <a:solidFill>
                                <a:schemeClr val="tx1"/>
                              </a:solidFill>
                              <a:latin typeface="Book Antiqua" panose="02040602050305030304" pitchFamily="18" charset="0"/>
                              <a:ea typeface="+mn-ea"/>
                              <a:cs typeface="+mn-cs"/>
                            </a:rPr>
                            <a:t>7.1%</a:t>
                          </a:r>
                          <a:endParaRPr lang="en-US" sz="1400" kern="1200" dirty="0">
                            <a:solidFill>
                              <a:schemeClr val="tx1"/>
                            </a:solidFill>
                            <a:latin typeface="Book Antiqua" panose="02040602050305030304" pitchFamily="18" charset="0"/>
                            <a:ea typeface="+mn-ea"/>
                            <a:cs typeface="+mn-cs"/>
                          </a:endParaRPr>
                        </a:p>
                      </a:txBody>
                      <a:tcPr/>
                    </a:tc>
                    <a:tc>
                      <a:txBody>
                        <a:bodyPr/>
                        <a:lstStyle/>
                        <a:p>
                          <a:pPr marL="0" algn="ctr" defTabSz="685800" rtl="0" eaLnBrk="1" latinLnBrk="0" hangingPunct="1"/>
                          <a:r>
                            <a:rPr lang="en-US" sz="1400" kern="1200" dirty="0" smtClean="0">
                              <a:solidFill>
                                <a:schemeClr val="tx1"/>
                              </a:solidFill>
                              <a:latin typeface="Book Antiqua" panose="02040602050305030304" pitchFamily="18" charset="0"/>
                              <a:ea typeface="+mn-ea"/>
                              <a:cs typeface="+mn-cs"/>
                            </a:rPr>
                            <a:t>25.2%</a:t>
                          </a:r>
                          <a:endParaRPr lang="en-US" sz="1400" kern="1200" dirty="0">
                            <a:solidFill>
                              <a:schemeClr val="tx1"/>
                            </a:solidFill>
                            <a:latin typeface="Book Antiqua" panose="02040602050305030304" pitchFamily="18" charset="0"/>
                            <a:ea typeface="+mn-ea"/>
                            <a:cs typeface="+mn-cs"/>
                          </a:endParaRPr>
                        </a:p>
                      </a:txBody>
                      <a:tcPr/>
                    </a:tc>
                    <a:extLst>
                      <a:ext uri="{0D108BD9-81ED-4DB2-BD59-A6C34878D82A}">
                        <a16:rowId xmlns:a16="http://schemas.microsoft.com/office/drawing/2014/main" xmlns="" xmlns:a14="http://schemas.microsoft.com/office/drawing/2010/main" val="10005"/>
                      </a:ext>
                    </a:extLst>
                  </a:tr>
                </a:tbl>
              </a:graphicData>
            </a:graphic>
          </p:graphicFrame>
        </mc:Fallback>
      </mc:AlternateContent>
      <p:sp>
        <p:nvSpPr>
          <p:cNvPr id="6" name="Rectangle 5"/>
          <p:cNvSpPr/>
          <p:nvPr/>
        </p:nvSpPr>
        <p:spPr>
          <a:xfrm>
            <a:off x="0" y="320433"/>
            <a:ext cx="8910969" cy="757900"/>
          </a:xfrm>
          <a:prstGeom prst="rect">
            <a:avLst/>
          </a:prstGeom>
        </p:spPr>
        <p:txBody>
          <a:bodyPr wrap="square">
            <a:spAutoFit/>
          </a:bodyPr>
          <a:lstStyle/>
          <a:p>
            <a:pPr algn="ctr" defTabSz="685800">
              <a:lnSpc>
                <a:spcPct val="90000"/>
              </a:lnSpc>
              <a:spcBef>
                <a:spcPts val="750"/>
              </a:spcBef>
            </a:pPr>
            <a:r>
              <a:rPr lang="en-US" sz="2400" dirty="0">
                <a:solidFill>
                  <a:schemeClr val="accent1">
                    <a:lumMod val="75000"/>
                  </a:schemeClr>
                </a:solidFill>
                <a:latin typeface="Book Antiqua" panose="02040602050305030304" pitchFamily="18" charset="0"/>
                <a:ea typeface="+mj-ea"/>
                <a:cs typeface="+mj-cs"/>
              </a:rPr>
              <a:t>Kidney </a:t>
            </a:r>
            <a:r>
              <a:rPr lang="en-US" sz="2400" dirty="0" smtClean="0">
                <a:solidFill>
                  <a:schemeClr val="accent1">
                    <a:lumMod val="75000"/>
                  </a:schemeClr>
                </a:solidFill>
                <a:latin typeface="Book Antiqua" panose="02040602050305030304" pitchFamily="18" charset="0"/>
                <a:ea typeface="+mj-ea"/>
                <a:cs typeface="+mj-cs"/>
              </a:rPr>
              <a:t>Utilization, Waitlist Removal, and Kidney Transplant </a:t>
            </a:r>
            <a:r>
              <a:rPr lang="en-US" sz="2400" dirty="0">
                <a:solidFill>
                  <a:schemeClr val="accent1">
                    <a:lumMod val="75000"/>
                  </a:schemeClr>
                </a:solidFill>
                <a:latin typeface="Book Antiqua" panose="02040602050305030304" pitchFamily="18" charset="0"/>
                <a:ea typeface="+mj-ea"/>
                <a:cs typeface="+mj-cs"/>
              </a:rPr>
              <a:t>Rates </a:t>
            </a:r>
            <a:r>
              <a:rPr lang="en-US" sz="2400" dirty="0" smtClean="0">
                <a:solidFill>
                  <a:schemeClr val="accent1">
                    <a:lumMod val="75000"/>
                  </a:schemeClr>
                </a:solidFill>
                <a:latin typeface="Book Antiqua" panose="02040602050305030304" pitchFamily="18" charset="0"/>
                <a:ea typeface="+mj-ea"/>
                <a:cs typeface="+mj-cs"/>
              </a:rPr>
              <a:t>In Region 6</a:t>
            </a:r>
            <a:endParaRPr lang="en-US" sz="2400" dirty="0">
              <a:solidFill>
                <a:schemeClr val="accent1">
                  <a:lumMod val="75000"/>
                </a:schemeClr>
              </a:solidFill>
              <a:latin typeface="Book Antiqua" panose="02040602050305030304" pitchFamily="18" charset="0"/>
              <a:ea typeface="+mj-ea"/>
              <a:cs typeface="+mj-cs"/>
            </a:endParaRPr>
          </a:p>
        </p:txBody>
      </p:sp>
      <p:sp>
        <p:nvSpPr>
          <p:cNvPr id="3" name="Oval 2"/>
          <p:cNvSpPr/>
          <p:nvPr/>
        </p:nvSpPr>
        <p:spPr>
          <a:xfrm>
            <a:off x="3665095" y="2615784"/>
            <a:ext cx="846944" cy="50217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4512039" y="2682203"/>
            <a:ext cx="846944" cy="369332"/>
          </a:xfrm>
          <a:prstGeom prst="rect">
            <a:avLst/>
          </a:prstGeom>
          <a:noFill/>
        </p:spPr>
        <p:txBody>
          <a:bodyPr wrap="square" rtlCol="0">
            <a:spAutoFit/>
          </a:bodyPr>
          <a:lstStyle/>
          <a:p>
            <a:r>
              <a:rPr lang="en-US" dirty="0" smtClean="0">
                <a:solidFill>
                  <a:srgbClr val="FF0000"/>
                </a:solidFill>
              </a:rPr>
              <a:t>-39%</a:t>
            </a:r>
            <a:endParaRPr lang="en-US" dirty="0">
              <a:solidFill>
                <a:srgbClr val="FF0000"/>
              </a:solidFill>
            </a:endParaRPr>
          </a:p>
        </p:txBody>
      </p:sp>
    </p:spTree>
    <p:extLst>
      <p:ext uri="{BB962C8B-B14F-4D97-AF65-F5344CB8AC3E}">
        <p14:creationId xmlns:p14="http://schemas.microsoft.com/office/powerpoint/2010/main" val="5928499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xmlns:p14="http://schemas.microsoft.com/office/powerpoint/2010/mai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smtClean="0">
                <a:solidFill>
                  <a:schemeClr val="accent1">
                    <a:lumMod val="75000"/>
                  </a:schemeClr>
                </a:solidFill>
                <a:latin typeface="+mj-lt"/>
              </a:rPr>
              <a:t> Concluding Remarks</a:t>
            </a:r>
            <a:endParaRPr lang="en-US" sz="2800" dirty="0">
              <a:solidFill>
                <a:schemeClr val="accent1">
                  <a:lumMod val="75000"/>
                </a:schemeClr>
              </a:solidFill>
              <a:latin typeface="+mj-lt"/>
            </a:endParaRPr>
          </a:p>
        </p:txBody>
      </p:sp>
      <p:sp>
        <p:nvSpPr>
          <p:cNvPr id="3" name="Content Placeholder 2"/>
          <p:cNvSpPr>
            <a:spLocks noGrp="1"/>
          </p:cNvSpPr>
          <p:nvPr>
            <p:ph idx="1"/>
          </p:nvPr>
        </p:nvSpPr>
        <p:spPr>
          <a:xfrm>
            <a:off x="317901" y="1115736"/>
            <a:ext cx="8159037" cy="4027764"/>
          </a:xfrm>
        </p:spPr>
        <p:txBody>
          <a:bodyPr>
            <a:normAutofit/>
          </a:bodyPr>
          <a:lstStyle/>
          <a:p>
            <a:pPr>
              <a:spcBef>
                <a:spcPct val="0"/>
              </a:spcBef>
              <a:spcAft>
                <a:spcPct val="0"/>
              </a:spcAft>
            </a:pPr>
            <a:r>
              <a:rPr lang="en-US" sz="2000" dirty="0" smtClean="0">
                <a:latin typeface="+mn-lt"/>
                <a:ea typeface="ＭＳ Ｐゴシック" charset="0"/>
                <a:cs typeface="ＭＳ Ｐゴシック" charset="0"/>
              </a:rPr>
              <a:t>High organ discard rates are a known problem.</a:t>
            </a:r>
          </a:p>
          <a:p>
            <a:pPr marL="0" indent="0">
              <a:spcBef>
                <a:spcPct val="0"/>
              </a:spcBef>
              <a:spcAft>
                <a:spcPct val="0"/>
              </a:spcAft>
              <a:buNone/>
            </a:pPr>
            <a:endParaRPr lang="en-US" sz="2000" dirty="0" smtClean="0">
              <a:ea typeface="ＭＳ Ｐゴシック" charset="0"/>
              <a:cs typeface="ＭＳ Ｐゴシック" charset="0"/>
            </a:endParaRPr>
          </a:p>
          <a:p>
            <a:pPr>
              <a:spcBef>
                <a:spcPct val="0"/>
              </a:spcBef>
              <a:spcAft>
                <a:spcPct val="0"/>
              </a:spcAft>
            </a:pPr>
            <a:r>
              <a:rPr lang="en-US" sz="2000" dirty="0" smtClean="0">
                <a:ea typeface="ＭＳ Ｐゴシック" charset="0"/>
                <a:cs typeface="ＭＳ Ｐゴシック" charset="0"/>
              </a:rPr>
              <a:t>UNOS encourages the development of </a:t>
            </a:r>
            <a:r>
              <a:rPr lang="en-US" sz="2000" dirty="0">
                <a:ea typeface="ＭＳ Ｐゴシック" charset="0"/>
                <a:cs typeface="ＭＳ Ｐゴシック" charset="0"/>
              </a:rPr>
              <a:t>modern technology such as mobile </a:t>
            </a:r>
            <a:r>
              <a:rPr lang="en-US" sz="2000" dirty="0" smtClean="0">
                <a:ea typeface="ＭＳ Ｐゴシック" charset="0"/>
                <a:cs typeface="ＭＳ Ｐゴシック" charset="0"/>
              </a:rPr>
              <a:t>devices to facilitate organ allocation.</a:t>
            </a:r>
          </a:p>
          <a:p>
            <a:pPr>
              <a:spcBef>
                <a:spcPct val="0"/>
              </a:spcBef>
              <a:spcAft>
                <a:spcPct val="0"/>
              </a:spcAft>
            </a:pPr>
            <a:endParaRPr lang="en-US" sz="2000" dirty="0">
              <a:ea typeface="ＭＳ Ｐゴシック" charset="0"/>
              <a:cs typeface="ＭＳ Ｐゴシック" charset="0"/>
            </a:endParaRPr>
          </a:p>
          <a:p>
            <a:pPr>
              <a:spcBef>
                <a:spcPct val="0"/>
              </a:spcBef>
              <a:spcAft>
                <a:spcPct val="0"/>
              </a:spcAft>
            </a:pPr>
            <a:r>
              <a:rPr lang="en-US" sz="2000" dirty="0" smtClean="0">
                <a:ea typeface="ＭＳ Ｐゴシック" charset="0"/>
                <a:cs typeface="ＭＳ Ｐゴシック" charset="0"/>
              </a:rPr>
              <a:t>The presented simulation model shows what the impact of different information strategies are.</a:t>
            </a:r>
          </a:p>
          <a:p>
            <a:pPr>
              <a:spcBef>
                <a:spcPct val="0"/>
              </a:spcBef>
              <a:spcAft>
                <a:spcPct val="0"/>
              </a:spcAft>
            </a:pPr>
            <a:endParaRPr lang="en-US" sz="2000" dirty="0">
              <a:ea typeface="ＭＳ Ｐゴシック" charset="0"/>
              <a:cs typeface="ＭＳ Ｐゴシック" charset="0"/>
            </a:endParaRPr>
          </a:p>
          <a:p>
            <a:pPr>
              <a:spcBef>
                <a:spcPct val="0"/>
              </a:spcBef>
              <a:spcAft>
                <a:spcPct val="0"/>
              </a:spcAft>
            </a:pPr>
            <a:r>
              <a:rPr lang="en-US" sz="2000" dirty="0" smtClean="0">
                <a:ea typeface="ＭＳ Ｐゴシック" charset="0"/>
                <a:cs typeface="ＭＳ Ｐゴシック" charset="0"/>
              </a:rPr>
              <a:t>Challenge: Incentive system for information sharing.</a:t>
            </a:r>
            <a:endParaRPr lang="en-US" sz="2000" dirty="0">
              <a:ea typeface="ＭＳ Ｐゴシック" charset="0"/>
              <a:cs typeface="ＭＳ Ｐゴシック" charset="0"/>
            </a:endParaRPr>
          </a:p>
          <a:p>
            <a:pPr>
              <a:spcBef>
                <a:spcPct val="0"/>
              </a:spcBef>
              <a:spcAft>
                <a:spcPct val="0"/>
              </a:spcAft>
            </a:pPr>
            <a:endParaRPr lang="en-US" sz="2000" dirty="0" smtClean="0">
              <a:ea typeface="ＭＳ Ｐゴシック" charset="0"/>
              <a:cs typeface="ＭＳ Ｐゴシック" charset="0"/>
            </a:endParaRPr>
          </a:p>
          <a:p>
            <a:pPr marL="0" indent="0" fontAlgn="base">
              <a:spcBef>
                <a:spcPct val="0"/>
              </a:spcBef>
              <a:spcAft>
                <a:spcPct val="0"/>
              </a:spcAft>
              <a:buNone/>
            </a:pPr>
            <a:endParaRPr lang="en-US" sz="2000" dirty="0">
              <a:ea typeface="ＭＳ Ｐゴシック" charset="0"/>
              <a:cs typeface="ＭＳ Ｐゴシック" charset="0"/>
            </a:endParaRPr>
          </a:p>
        </p:txBody>
      </p:sp>
      <p:sp>
        <p:nvSpPr>
          <p:cNvPr id="4" name="Slide Number Placeholder 3"/>
          <p:cNvSpPr>
            <a:spLocks noGrp="1"/>
          </p:cNvSpPr>
          <p:nvPr>
            <p:ph type="sldNum" sz="quarter" idx="4294967295"/>
          </p:nvPr>
        </p:nvSpPr>
        <p:spPr>
          <a:xfrm>
            <a:off x="0" y="4760913"/>
            <a:ext cx="2057400" cy="274637"/>
          </a:xfrm>
          <a:prstGeom prst="rect">
            <a:avLst/>
          </a:prstGeom>
        </p:spPr>
        <p:txBody>
          <a:bodyPr/>
          <a:lstStyle/>
          <a:p>
            <a:fld id="{69E57DC2-970A-4B3E-BB1C-7A09969E49DF}" type="slidenum">
              <a:rPr lang="en-US" smtClean="0"/>
              <a:t>24</a:t>
            </a:fld>
            <a:endParaRPr lang="en-US" dirty="0"/>
          </a:p>
        </p:txBody>
      </p:sp>
    </p:spTree>
    <p:extLst>
      <p:ext uri="{BB962C8B-B14F-4D97-AF65-F5344CB8AC3E}">
        <p14:creationId xmlns:p14="http://schemas.microsoft.com/office/powerpoint/2010/main" val="372395957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xmlns:p14="http://schemas.microsoft.com/office/powerpoint/2010/main">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0" y="4760913"/>
            <a:ext cx="2057400" cy="274637"/>
          </a:xfrm>
          <a:prstGeom prst="rect">
            <a:avLst/>
          </a:prstGeom>
        </p:spPr>
        <p:txBody>
          <a:bodyPr/>
          <a:lstStyle/>
          <a:p>
            <a:fld id="{69E57DC2-970A-4B3E-BB1C-7A09969E49DF}" type="slidenum">
              <a:rPr lang="en-US" smtClean="0"/>
              <a:pPr/>
              <a:t>25</a:t>
            </a:fld>
            <a:endParaRPr lang="en-US" dirty="0"/>
          </a:p>
        </p:txBody>
      </p:sp>
      <p:sp>
        <p:nvSpPr>
          <p:cNvPr id="3" name="Text Placeholder 2"/>
          <p:cNvSpPr>
            <a:spLocks noGrp="1"/>
          </p:cNvSpPr>
          <p:nvPr>
            <p:ph type="body" idx="4294967295"/>
          </p:nvPr>
        </p:nvSpPr>
        <p:spPr>
          <a:xfrm>
            <a:off x="3721718" y="714426"/>
            <a:ext cx="5186722" cy="3580760"/>
          </a:xfrm>
        </p:spPr>
        <p:txBody>
          <a:bodyPr>
            <a:noAutofit/>
          </a:bodyPr>
          <a:lstStyle/>
          <a:p>
            <a:pPr marL="0" indent="0" algn="ctr">
              <a:buNone/>
            </a:pPr>
            <a:r>
              <a:rPr lang="en-US" sz="7200" dirty="0" smtClean="0">
                <a:solidFill>
                  <a:schemeClr val="accent1">
                    <a:lumMod val="75000"/>
                  </a:schemeClr>
                </a:solidFill>
                <a:latin typeface="+mn-lt"/>
                <a:ea typeface="+mj-ea"/>
                <a:cs typeface="+mj-cs"/>
              </a:rPr>
              <a:t>Questions?</a:t>
            </a:r>
          </a:p>
          <a:p>
            <a:pPr marL="0" indent="0" algn="ctr">
              <a:buNone/>
            </a:pPr>
            <a:endParaRPr lang="en-US" sz="7200" dirty="0">
              <a:solidFill>
                <a:schemeClr val="accent1">
                  <a:lumMod val="75000"/>
                </a:schemeClr>
              </a:solidFill>
              <a:ea typeface="+mj-ea"/>
              <a:cs typeface="+mj-cs"/>
            </a:endParaRPr>
          </a:p>
          <a:p>
            <a:pPr marL="0" indent="0" algn="ctr">
              <a:buNone/>
            </a:pPr>
            <a:r>
              <a:rPr lang="en-US" dirty="0" smtClean="0">
                <a:solidFill>
                  <a:schemeClr val="accent1">
                    <a:lumMod val="75000"/>
                  </a:schemeClr>
                </a:solidFill>
                <a:ea typeface="+mj-ea"/>
                <a:cs typeface="+mj-cs"/>
              </a:rPr>
              <a:t>Contact Information</a:t>
            </a:r>
          </a:p>
          <a:p>
            <a:pPr marL="0" indent="0" algn="ctr">
              <a:buNone/>
            </a:pPr>
            <a:r>
              <a:rPr lang="en-US" dirty="0" smtClean="0">
                <a:solidFill>
                  <a:schemeClr val="accent1">
                    <a:lumMod val="75000"/>
                  </a:schemeClr>
                </a:solidFill>
                <a:ea typeface="+mj-ea"/>
                <a:cs typeface="+mj-cs"/>
              </a:rPr>
              <a:t>Michael </a:t>
            </a:r>
            <a:r>
              <a:rPr lang="en-US" dirty="0" err="1" smtClean="0">
                <a:solidFill>
                  <a:schemeClr val="accent1">
                    <a:lumMod val="75000"/>
                  </a:schemeClr>
                </a:solidFill>
                <a:ea typeface="+mj-ea"/>
                <a:cs typeface="+mj-cs"/>
              </a:rPr>
              <a:t>Hahsler</a:t>
            </a:r>
            <a:endParaRPr lang="en-US" dirty="0">
              <a:solidFill>
                <a:schemeClr val="accent1">
                  <a:lumMod val="75000"/>
                </a:schemeClr>
              </a:solidFill>
              <a:ea typeface="+mj-ea"/>
              <a:cs typeface="+mj-cs"/>
            </a:endParaRPr>
          </a:p>
          <a:p>
            <a:pPr marL="0" indent="0" algn="ctr">
              <a:buNone/>
            </a:pPr>
            <a:r>
              <a:rPr lang="en-US" dirty="0" smtClean="0">
                <a:solidFill>
                  <a:schemeClr val="accent1">
                    <a:lumMod val="75000"/>
                  </a:schemeClr>
                </a:solidFill>
                <a:ea typeface="+mj-ea"/>
                <a:cs typeface="+mj-cs"/>
              </a:rPr>
              <a:t> mhahsler@lyle.smu.edu</a:t>
            </a:r>
            <a:endParaRPr lang="en-US" dirty="0">
              <a:solidFill>
                <a:schemeClr val="accent1">
                  <a:lumMod val="75000"/>
                </a:schemeClr>
              </a:solidFill>
              <a:ea typeface="+mj-ea"/>
              <a:cs typeface="+mj-cs"/>
            </a:endParaRPr>
          </a:p>
        </p:txBody>
      </p:sp>
    </p:spTree>
    <p:extLst>
      <p:ext uri="{BB962C8B-B14F-4D97-AF65-F5344CB8AC3E}">
        <p14:creationId xmlns:p14="http://schemas.microsoft.com/office/powerpoint/2010/main" val="89031883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xmlns:p14="http://schemas.microsoft.com/office/powerpoint/2010/main">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0" y="116681"/>
            <a:ext cx="8558214" cy="926307"/>
          </a:xfrm>
        </p:spPr>
        <p:txBody>
          <a:bodyPr>
            <a:normAutofit/>
          </a:bodyPr>
          <a:lstStyle/>
          <a:p>
            <a:pPr algn="ctr">
              <a:spcBef>
                <a:spcPts val="750"/>
              </a:spcBef>
            </a:pPr>
            <a:r>
              <a:rPr lang="en-US" sz="2800" dirty="0">
                <a:solidFill>
                  <a:schemeClr val="accent1">
                    <a:lumMod val="75000"/>
                  </a:schemeClr>
                </a:solidFill>
                <a:latin typeface="+mj-lt"/>
              </a:rPr>
              <a:t>Kidney Transplant and Waitlist Mortality Rates Improvement</a:t>
            </a:r>
          </a:p>
        </p:txBody>
      </p:sp>
      <p:pic>
        <p:nvPicPr>
          <p:cNvPr id="5" name="Content Placeholder 4"/>
          <p:cNvPicPr>
            <a:picLocks noGrp="1" noChangeAspect="1"/>
          </p:cNvPicPr>
          <p:nvPr>
            <p:ph idx="1"/>
          </p:nvPr>
        </p:nvPicPr>
        <p:blipFill>
          <a:blip r:embed="rId2"/>
          <a:stretch>
            <a:fillRect/>
          </a:stretch>
        </p:blipFill>
        <p:spPr>
          <a:xfrm>
            <a:off x="1010763" y="1270001"/>
            <a:ext cx="6851011" cy="3263900"/>
          </a:xfrm>
          <a:prstGeom prst="rect">
            <a:avLst/>
          </a:prstGeom>
        </p:spPr>
      </p:pic>
      <p:sp>
        <p:nvSpPr>
          <p:cNvPr id="4" name="Slide Number Placeholder 3"/>
          <p:cNvSpPr>
            <a:spLocks noGrp="1"/>
          </p:cNvSpPr>
          <p:nvPr>
            <p:ph type="sldNum" sz="quarter" idx="4294967295"/>
          </p:nvPr>
        </p:nvSpPr>
        <p:spPr>
          <a:xfrm>
            <a:off x="0" y="4760913"/>
            <a:ext cx="2057400" cy="274637"/>
          </a:xfrm>
          <a:prstGeom prst="rect">
            <a:avLst/>
          </a:prstGeom>
        </p:spPr>
        <p:txBody>
          <a:bodyPr/>
          <a:lstStyle/>
          <a:p>
            <a:fld id="{69E57DC2-970A-4B3E-BB1C-7A09969E49DF}" type="slidenum">
              <a:rPr lang="en-US" smtClean="0"/>
              <a:t>26</a:t>
            </a:fld>
            <a:endParaRPr lang="en-US" dirty="0"/>
          </a:p>
        </p:txBody>
      </p:sp>
    </p:spTree>
    <p:extLst>
      <p:ext uri="{BB962C8B-B14F-4D97-AF65-F5344CB8AC3E}">
        <p14:creationId xmlns:p14="http://schemas.microsoft.com/office/powerpoint/2010/main" val="257785179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0" y="4760913"/>
            <a:ext cx="2057400" cy="274637"/>
          </a:xfrm>
          <a:prstGeom prst="rect">
            <a:avLst/>
          </a:prstGeom>
        </p:spPr>
        <p:txBody>
          <a:bodyPr/>
          <a:lstStyle/>
          <a:p>
            <a:fld id="{69E57DC2-970A-4B3E-BB1C-7A09969E49DF}" type="slidenum">
              <a:rPr lang="en-US" smtClean="0"/>
              <a:pPr/>
              <a:t>27</a:t>
            </a:fld>
            <a:endParaRPr lang="en-US" dirty="0"/>
          </a:p>
        </p:txBody>
      </p:sp>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1334623766"/>
                  </p:ext>
                </p:extLst>
              </p:nvPr>
            </p:nvGraphicFramePr>
            <p:xfrm>
              <a:off x="384765" y="748156"/>
              <a:ext cx="8283681" cy="2598156"/>
            </p:xfrm>
            <a:graphic>
              <a:graphicData uri="http://schemas.openxmlformats.org/drawingml/2006/table">
                <a:tbl>
                  <a:tblPr/>
                  <a:tblGrid>
                    <a:gridCol w="878213">
                      <a:extLst>
                        <a:ext uri="{9D8B030D-6E8A-4147-A177-3AD203B41FA5}">
                          <a16:colId xmlns:a16="http://schemas.microsoft.com/office/drawing/2014/main" xmlns="" val="20000"/>
                        </a:ext>
                      </a:extLst>
                    </a:gridCol>
                    <a:gridCol w="568255">
                      <a:extLst>
                        <a:ext uri="{9D8B030D-6E8A-4147-A177-3AD203B41FA5}">
                          <a16:colId xmlns:a16="http://schemas.microsoft.com/office/drawing/2014/main" xmlns="" val="20001"/>
                        </a:ext>
                      </a:extLst>
                    </a:gridCol>
                    <a:gridCol w="370227">
                      <a:extLst>
                        <a:ext uri="{9D8B030D-6E8A-4147-A177-3AD203B41FA5}">
                          <a16:colId xmlns:a16="http://schemas.microsoft.com/office/drawing/2014/main" xmlns="" val="20002"/>
                        </a:ext>
                      </a:extLst>
                    </a:gridCol>
                    <a:gridCol w="559646">
                      <a:extLst>
                        <a:ext uri="{9D8B030D-6E8A-4147-A177-3AD203B41FA5}">
                          <a16:colId xmlns:a16="http://schemas.microsoft.com/office/drawing/2014/main" xmlns="" val="20003"/>
                        </a:ext>
                      </a:extLst>
                    </a:gridCol>
                    <a:gridCol w="284128">
                      <a:extLst>
                        <a:ext uri="{9D8B030D-6E8A-4147-A177-3AD203B41FA5}">
                          <a16:colId xmlns:a16="http://schemas.microsoft.com/office/drawing/2014/main" xmlns="" val="20004"/>
                        </a:ext>
                      </a:extLst>
                    </a:gridCol>
                    <a:gridCol w="353007">
                      <a:extLst>
                        <a:ext uri="{9D8B030D-6E8A-4147-A177-3AD203B41FA5}">
                          <a16:colId xmlns:a16="http://schemas.microsoft.com/office/drawing/2014/main" xmlns="" val="20005"/>
                        </a:ext>
                      </a:extLst>
                    </a:gridCol>
                    <a:gridCol w="640359">
                      <a:extLst>
                        <a:ext uri="{9D8B030D-6E8A-4147-A177-3AD203B41FA5}">
                          <a16:colId xmlns:a16="http://schemas.microsoft.com/office/drawing/2014/main" xmlns="" val="20006"/>
                        </a:ext>
                      </a:extLst>
                    </a:gridCol>
                    <a:gridCol w="710559">
                      <a:extLst>
                        <a:ext uri="{9D8B030D-6E8A-4147-A177-3AD203B41FA5}">
                          <a16:colId xmlns:a16="http://schemas.microsoft.com/office/drawing/2014/main" xmlns="" val="20007"/>
                        </a:ext>
                      </a:extLst>
                    </a:gridCol>
                    <a:gridCol w="921391">
                      <a:extLst>
                        <a:ext uri="{9D8B030D-6E8A-4147-A177-3AD203B41FA5}">
                          <a16:colId xmlns:a16="http://schemas.microsoft.com/office/drawing/2014/main" xmlns="" val="20008"/>
                        </a:ext>
                      </a:extLst>
                    </a:gridCol>
                    <a:gridCol w="279400">
                      <a:extLst>
                        <a:ext uri="{9D8B030D-6E8A-4147-A177-3AD203B41FA5}">
                          <a16:colId xmlns:a16="http://schemas.microsoft.com/office/drawing/2014/main" xmlns="" val="20009"/>
                        </a:ext>
                      </a:extLst>
                    </a:gridCol>
                    <a:gridCol w="381000">
                      <a:extLst>
                        <a:ext uri="{9D8B030D-6E8A-4147-A177-3AD203B41FA5}">
                          <a16:colId xmlns:a16="http://schemas.microsoft.com/office/drawing/2014/main" xmlns="" val="20010"/>
                        </a:ext>
                      </a:extLst>
                    </a:gridCol>
                    <a:gridCol w="626627">
                      <a:extLst>
                        <a:ext uri="{9D8B030D-6E8A-4147-A177-3AD203B41FA5}">
                          <a16:colId xmlns:a16="http://schemas.microsoft.com/office/drawing/2014/main" xmlns="" val="20011"/>
                        </a:ext>
                      </a:extLst>
                    </a:gridCol>
                    <a:gridCol w="749300">
                      <a:extLst>
                        <a:ext uri="{9D8B030D-6E8A-4147-A177-3AD203B41FA5}">
                          <a16:colId xmlns:a16="http://schemas.microsoft.com/office/drawing/2014/main" xmlns="" val="20012"/>
                        </a:ext>
                      </a:extLst>
                    </a:gridCol>
                    <a:gridCol w="961569">
                      <a:extLst>
                        <a:ext uri="{9D8B030D-6E8A-4147-A177-3AD203B41FA5}">
                          <a16:colId xmlns:a16="http://schemas.microsoft.com/office/drawing/2014/main" xmlns="" val="20013"/>
                        </a:ext>
                      </a:extLst>
                    </a:gridCol>
                  </a:tblGrid>
                  <a:tr h="181519">
                    <a:tc>
                      <a:txBody>
                        <a:bodyPr/>
                        <a:lstStyle/>
                        <a:p>
                          <a:pPr algn="ctr" fontAlgn="b"/>
                          <a:r>
                            <a:rPr lang="en-US" sz="1100" b="0" i="0" u="none" strike="noStrike" dirty="0">
                              <a:solidFill>
                                <a:srgbClr val="000000"/>
                              </a:solidFill>
                              <a:effectLst/>
                              <a:latin typeface="Book Antiqua" panose="02040602050305030304" pitchFamily="18" charset="0"/>
                            </a:rPr>
                            <a:t> </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3">
                      <a:txBody>
                        <a:bodyPr/>
                        <a:lstStyle/>
                        <a:p>
                          <a:pPr algn="ctr" fontAlgn="b"/>
                          <a:r>
                            <a:rPr lang="en-US" sz="1100" b="0" i="0" u="none" strike="noStrike">
                              <a:solidFill>
                                <a:srgbClr val="000000"/>
                              </a:solidFill>
                              <a:effectLst/>
                              <a:latin typeface="Book Antiqua" panose="02040602050305030304" pitchFamily="18" charset="0"/>
                            </a:rPr>
                            <a:t>Data</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BEEC"/>
                        </a:solidFill>
                      </a:tcPr>
                    </a:tc>
                    <a:tc hMerge="1">
                      <a:txBody>
                        <a:bodyPr/>
                        <a:lstStyle/>
                        <a:p>
                          <a:endParaRPr lang="en-US"/>
                        </a:p>
                      </a:txBody>
                      <a:tcPr/>
                    </a:tc>
                    <a:tc hMerge="1">
                      <a:txBody>
                        <a:bodyPr/>
                        <a:lstStyle/>
                        <a:p>
                          <a:endParaRPr lang="en-US"/>
                        </a:p>
                      </a:txBody>
                      <a:tcPr/>
                    </a:tc>
                    <a:tc gridSpan="5">
                      <a:txBody>
                        <a:bodyPr/>
                        <a:lstStyle/>
                        <a:p>
                          <a:pPr algn="ctr" fontAlgn="b"/>
                          <a:r>
                            <a:rPr lang="en-US" sz="1100" b="0" i="0" u="none" strike="noStrike" dirty="0">
                              <a:solidFill>
                                <a:srgbClr val="000000"/>
                              </a:solidFill>
                              <a:effectLst/>
                              <a:latin typeface="Book Antiqua" panose="02040602050305030304" pitchFamily="18" charset="0"/>
                            </a:rPr>
                            <a:t>Provider</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BBEDB"/>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fontAlgn="b"/>
                          <a:r>
                            <a:rPr lang="en-US" sz="1100" b="0" i="0" u="none" strike="noStrike">
                              <a:solidFill>
                                <a:srgbClr val="000000"/>
                              </a:solidFill>
                              <a:effectLst/>
                              <a:latin typeface="Book Antiqua" panose="02040602050305030304" pitchFamily="18" charset="0"/>
                            </a:rPr>
                            <a:t>Social Optimal</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ctr" fontAlgn="b"/>
                          <a:r>
                            <a:rPr lang="en-US" sz="1100" b="0" i="0" u="none" strike="noStrike">
                              <a:solidFill>
                                <a:srgbClr val="000000"/>
                              </a:solidFill>
                              <a:effectLst/>
                              <a:latin typeface="Book Antiqua" panose="02040602050305030304" pitchFamily="18" charset="0"/>
                            </a:rPr>
                            <a:t>Citation Policy </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7C80"/>
                        </a:solidFill>
                      </a:tcPr>
                    </a:tc>
                    <a:extLst>
                      <a:ext uri="{0D108BD9-81ED-4DB2-BD59-A6C34878D82A}">
                        <a16:rowId xmlns:a16="http://schemas.microsoft.com/office/drawing/2014/main" xmlns="" val="10000"/>
                      </a:ext>
                    </a:extLst>
                  </a:tr>
                  <a:tr h="234756">
                    <a:tc>
                      <a:txBody>
                        <a:bodyPr/>
                        <a:lstStyle/>
                        <a:p>
                          <a:pPr algn="ctr" fontAlgn="b"/>
                          <a:r>
                            <a:rPr lang="en-US" sz="1100" b="0" i="0" u="none" strike="noStrike" dirty="0">
                              <a:solidFill>
                                <a:srgbClr val="000000"/>
                              </a:solidFill>
                              <a:effectLst/>
                              <a:latin typeface="Book Antiqua" panose="02040602050305030304" pitchFamily="18" charset="0"/>
                            </a:rPr>
                            <a:t>Region</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1100" b="0" i="1" u="none" strike="noStrike" smtClean="0">
                                        <a:solidFill>
                                          <a:srgbClr val="000000"/>
                                        </a:solidFill>
                                        <a:effectLst/>
                                        <a:latin typeface="Cambria Math"/>
                                      </a:rPr>
                                    </m:ctrlPr>
                                  </m:sSubPr>
                                  <m:e>
                                    <m:r>
                                      <a:rPr lang="en-US" sz="1100" b="0" i="1" u="none" strike="noStrike" smtClean="0">
                                        <a:solidFill>
                                          <a:srgbClr val="000000"/>
                                        </a:solidFill>
                                        <a:effectLst/>
                                        <a:latin typeface="Cambria Math" panose="02040503050406030204" pitchFamily="18" charset="0"/>
                                      </a:rPr>
                                      <m:t>𝜇</m:t>
                                    </m:r>
                                  </m:e>
                                  <m:sub>
                                    <m:r>
                                      <a:rPr lang="en-US" sz="1100" b="0" i="1" u="none" strike="noStrike" smtClean="0">
                                        <a:solidFill>
                                          <a:srgbClr val="000000"/>
                                        </a:solidFill>
                                        <a:effectLst/>
                                        <a:latin typeface="Cambria Math" panose="02040503050406030204" pitchFamily="18" charset="0"/>
                                      </a:rPr>
                                      <m:t>𝑜</m:t>
                                    </m:r>
                                  </m:sub>
                                </m:sSub>
                              </m:oMath>
                            </m:oMathPara>
                          </a14:m>
                          <a:endParaRPr lang="en-US" sz="1100" b="0" i="0" u="none" strike="noStrike" dirty="0">
                            <a:solidFill>
                              <a:srgbClr val="000000"/>
                            </a:solidFill>
                            <a:effectLst/>
                            <a:latin typeface="Book Antiqua" panose="02040602050305030304" pitchFamily="18" charset="0"/>
                          </a:endParaRP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BEEC"/>
                        </a:solidFill>
                      </a:tcPr>
                    </a:tc>
                    <a:tc>
                      <a:txBody>
                        <a:bodyPr/>
                        <a:lstStyle/>
                        <a:p>
                          <a:pPr algn="ctr" fontAlgn="b"/>
                          <a14:m>
                            <m:oMathPara xmlns:m="http://schemas.openxmlformats.org/officeDocument/2006/math">
                              <m:oMathParaPr>
                                <m:jc m:val="centerGroup"/>
                              </m:oMathParaPr>
                              <m:oMath xmlns:m="http://schemas.openxmlformats.org/officeDocument/2006/math">
                                <m:r>
                                  <a:rPr lang="en-US" sz="1100" b="0" i="1" u="none" strike="noStrike" dirty="0" smtClean="0">
                                    <a:solidFill>
                                      <a:srgbClr val="000000"/>
                                    </a:solidFill>
                                    <a:effectLst/>
                                    <a:latin typeface="Cambria Math" panose="02040503050406030204" pitchFamily="18" charset="0"/>
                                  </a:rPr>
                                  <m:t>h</m:t>
                                </m:r>
                                <m:r>
                                  <a:rPr lang="en-US" sz="1100" b="0" i="1" u="none" strike="noStrike" dirty="0" smtClean="0">
                                    <a:solidFill>
                                      <a:srgbClr val="000000"/>
                                    </a:solidFill>
                                    <a:effectLst/>
                                    <a:latin typeface="Cambria Math" panose="02040503050406030204" pitchFamily="18" charset="0"/>
                                  </a:rPr>
                                  <m:t>′</m:t>
                                </m:r>
                              </m:oMath>
                            </m:oMathPara>
                          </a14:m>
                          <a:endParaRPr lang="en-US" sz="1100" b="0" i="0" u="none" strike="noStrike" dirty="0">
                            <a:solidFill>
                              <a:srgbClr val="000000"/>
                            </a:solidFill>
                            <a:effectLst/>
                            <a:latin typeface="Book Antiqua" panose="02040602050305030304" pitchFamily="18" charset="0"/>
                          </a:endParaRP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BEEC"/>
                        </a:solidFill>
                      </a:tcPr>
                    </a:tc>
                    <a:tc>
                      <a:txBody>
                        <a:bodyPr/>
                        <a:lstStyle/>
                        <a:p>
                          <a:pPr algn="ctr" fontAlgn="b"/>
                          <a14:m>
                            <m:oMathPara xmlns:m="http://schemas.openxmlformats.org/officeDocument/2006/math">
                              <m:oMathParaPr>
                                <m:jc m:val="centerGroup"/>
                              </m:oMathParaPr>
                              <m:oMath xmlns:m="http://schemas.openxmlformats.org/officeDocument/2006/math">
                                <m:sSup>
                                  <m:sSupPr>
                                    <m:ctrlPr>
                                      <a:rPr lang="en-US" sz="1100" b="0" i="1" u="none" strike="noStrike" smtClean="0">
                                        <a:solidFill>
                                          <a:srgbClr val="000000"/>
                                        </a:solidFill>
                                        <a:effectLst/>
                                        <a:latin typeface="Cambria Math"/>
                                      </a:rPr>
                                    </m:ctrlPr>
                                  </m:sSupPr>
                                  <m:e>
                                    <m:r>
                                      <a:rPr lang="en-US" sz="1100" b="0" i="1" u="none" strike="noStrike" smtClean="0">
                                        <a:solidFill>
                                          <a:srgbClr val="000000"/>
                                        </a:solidFill>
                                        <a:effectLst/>
                                        <a:latin typeface="Cambria Math" panose="02040503050406030204" pitchFamily="18" charset="0"/>
                                      </a:rPr>
                                      <m:t>𝑤</m:t>
                                    </m:r>
                                  </m:e>
                                  <m:sup>
                                    <m:r>
                                      <a:rPr lang="en-US" sz="1100" b="0" i="1" u="none" strike="noStrike" smtClean="0">
                                        <a:solidFill>
                                          <a:srgbClr val="000000"/>
                                        </a:solidFill>
                                        <a:effectLst/>
                                        <a:latin typeface="Cambria Math" panose="02040503050406030204" pitchFamily="18" charset="0"/>
                                      </a:rPr>
                                      <m:t>′</m:t>
                                    </m:r>
                                  </m:sup>
                                </m:sSup>
                                <m:r>
                                  <a:rPr lang="en-US" sz="1100" b="0" i="1" u="none" strike="noStrike" smtClean="0">
                                    <a:solidFill>
                                      <a:srgbClr val="000000"/>
                                    </a:solidFill>
                                    <a:effectLst/>
                                    <a:latin typeface="Cambria Math" panose="02040503050406030204" pitchFamily="18" charset="0"/>
                                  </a:rPr>
                                  <m:t>+</m:t>
                                </m:r>
                                <m:sSub>
                                  <m:sSubPr>
                                    <m:ctrlPr>
                                      <a:rPr lang="en-US" sz="1100" b="0" i="1" u="none" strike="noStrike" smtClean="0">
                                        <a:solidFill>
                                          <a:srgbClr val="000000"/>
                                        </a:solidFill>
                                        <a:effectLst/>
                                        <a:latin typeface="Cambria Math"/>
                                      </a:rPr>
                                    </m:ctrlPr>
                                  </m:sSubPr>
                                  <m:e>
                                    <m:r>
                                      <a:rPr lang="en-US" sz="1100" b="0" i="1" u="none" strike="noStrike" smtClean="0">
                                        <a:solidFill>
                                          <a:srgbClr val="000000"/>
                                        </a:solidFill>
                                        <a:effectLst/>
                                        <a:latin typeface="Cambria Math" panose="02040503050406030204" pitchFamily="18" charset="0"/>
                                      </a:rPr>
                                      <m:t>𝑤</m:t>
                                    </m:r>
                                  </m:e>
                                  <m:sub>
                                    <m:r>
                                      <a:rPr lang="en-US" sz="1100" b="0" i="1" u="none" strike="noStrike" smtClean="0">
                                        <a:solidFill>
                                          <a:srgbClr val="000000"/>
                                        </a:solidFill>
                                        <a:effectLst/>
                                        <a:latin typeface="Cambria Math" panose="02040503050406030204" pitchFamily="18" charset="0"/>
                                      </a:rPr>
                                      <m:t>𝑡</m:t>
                                    </m:r>
                                  </m:sub>
                                </m:sSub>
                              </m:oMath>
                            </m:oMathPara>
                          </a14:m>
                          <a:endParaRPr lang="en-US" sz="1100" b="0" i="0" u="none" strike="noStrike" dirty="0">
                            <a:solidFill>
                              <a:srgbClr val="000000"/>
                            </a:solidFill>
                            <a:effectLst/>
                            <a:latin typeface="Book Antiqua" panose="02040602050305030304" pitchFamily="18" charset="0"/>
                          </a:endParaRP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BEEC"/>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1100" b="0" i="1" u="none" strike="noStrike" smtClean="0">
                                        <a:solidFill>
                                          <a:srgbClr val="000000"/>
                                        </a:solidFill>
                                        <a:effectLst/>
                                        <a:latin typeface="Cambria Math"/>
                                      </a:rPr>
                                    </m:ctrlPr>
                                  </m:sSubPr>
                                  <m:e>
                                    <m:r>
                                      <a:rPr lang="en-US" sz="1100" b="0" i="1" u="none" strike="noStrike" smtClean="0">
                                        <a:solidFill>
                                          <a:srgbClr val="000000"/>
                                        </a:solidFill>
                                        <a:effectLst/>
                                        <a:latin typeface="Cambria Math" panose="02040503050406030204" pitchFamily="18" charset="0"/>
                                      </a:rPr>
                                      <m:t>𝑘</m:t>
                                    </m:r>
                                  </m:e>
                                  <m:sub>
                                    <m:r>
                                      <a:rPr lang="en-US" sz="1100" b="0" i="1" u="none" strike="noStrike" smtClean="0">
                                        <a:solidFill>
                                          <a:srgbClr val="000000"/>
                                        </a:solidFill>
                                        <a:effectLst/>
                                        <a:latin typeface="Cambria Math" panose="02040503050406030204" pitchFamily="18" charset="0"/>
                                      </a:rPr>
                                      <m:t>𝑡</m:t>
                                    </m:r>
                                  </m:sub>
                                </m:sSub>
                              </m:oMath>
                            </m:oMathPara>
                          </a14:m>
                          <a:endParaRPr lang="en-US" sz="1100" b="0" i="0" u="none" strike="noStrike" dirty="0">
                            <a:solidFill>
                              <a:srgbClr val="000000"/>
                            </a:solidFill>
                            <a:effectLst/>
                            <a:latin typeface="Book Antiqua" panose="02040602050305030304" pitchFamily="18" charset="0"/>
                          </a:endParaRP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BBEDB"/>
                        </a:solidFill>
                      </a:tcPr>
                    </a:tc>
                    <a:tc>
                      <a:txBody>
                        <a:bodyPr/>
                        <a:lstStyle/>
                        <a:p>
                          <a:pPr algn="ctr" fontAlgn="b"/>
                          <a14:m>
                            <m:oMathPara xmlns:m="http://schemas.openxmlformats.org/officeDocument/2006/math">
                              <m:oMathParaPr>
                                <m:jc m:val="centerGroup"/>
                              </m:oMathParaPr>
                              <m:oMath xmlns:m="http://schemas.openxmlformats.org/officeDocument/2006/math">
                                <m:sSup>
                                  <m:sSupPr>
                                    <m:ctrlPr>
                                      <a:rPr lang="en-US" sz="1100" b="0" i="1" u="none" strike="noStrike" smtClean="0">
                                        <a:solidFill>
                                          <a:srgbClr val="000000"/>
                                        </a:solidFill>
                                        <a:effectLst/>
                                        <a:latin typeface="Cambria Math"/>
                                      </a:rPr>
                                    </m:ctrlPr>
                                  </m:sSupPr>
                                  <m:e>
                                    <m:r>
                                      <a:rPr lang="en-US" sz="1100" b="0" i="1" u="none" strike="noStrike" smtClean="0">
                                        <a:solidFill>
                                          <a:srgbClr val="000000"/>
                                        </a:solidFill>
                                        <a:effectLst/>
                                        <a:latin typeface="Cambria Math" panose="02040503050406030204" pitchFamily="18" charset="0"/>
                                      </a:rPr>
                                      <m:t>𝑈</m:t>
                                    </m:r>
                                  </m:e>
                                  <m:sup>
                                    <m:r>
                                      <a:rPr lang="en-US" sz="1100" b="0" i="1" u="none" strike="noStrike" smtClean="0">
                                        <a:solidFill>
                                          <a:srgbClr val="000000"/>
                                        </a:solidFill>
                                        <a:effectLst/>
                                        <a:latin typeface="Cambria Math" panose="02040503050406030204" pitchFamily="18" charset="0"/>
                                      </a:rPr>
                                      <m:t>𝑝</m:t>
                                    </m:r>
                                  </m:sup>
                                </m:sSup>
                              </m:oMath>
                            </m:oMathPara>
                          </a14:m>
                          <a:endParaRPr lang="en-US" sz="1100" b="0" i="0" u="none" strike="noStrike" dirty="0">
                            <a:solidFill>
                              <a:srgbClr val="000000"/>
                            </a:solidFill>
                            <a:effectLst/>
                            <a:latin typeface="Book Antiqua" panose="02040602050305030304" pitchFamily="18" charset="0"/>
                          </a:endParaRP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BBEDB"/>
                        </a:solidFill>
                      </a:tcPr>
                    </a:tc>
                    <a:tc>
                      <a:txBody>
                        <a:bodyPr/>
                        <a:lstStyle/>
                        <a:p>
                          <a:pPr algn="ctr" fontAlgn="b"/>
                          <a14:m>
                            <m:oMathPara xmlns:m="http://schemas.openxmlformats.org/officeDocument/2006/math">
                              <m:oMathParaPr>
                                <m:jc m:val="centerGroup"/>
                              </m:oMathParaPr>
                              <m:oMath xmlns:m="http://schemas.openxmlformats.org/officeDocument/2006/math">
                                <m:r>
                                  <a:rPr lang="en-US" sz="1100" b="0" i="1" u="none" strike="noStrike" smtClean="0">
                                    <a:solidFill>
                                      <a:srgbClr val="000000"/>
                                    </a:solidFill>
                                    <a:effectLst/>
                                    <a:latin typeface="Cambria Math" panose="02040503050406030204" pitchFamily="18" charset="0"/>
                                  </a:rPr>
                                  <m:t>𝐹</m:t>
                                </m:r>
                                <m:r>
                                  <a:rPr lang="en-US" sz="1100" b="0" i="1" u="none" strike="noStrike" smtClean="0">
                                    <a:solidFill>
                                      <a:srgbClr val="000000"/>
                                    </a:solidFill>
                                    <a:effectLst/>
                                    <a:latin typeface="Cambria Math" panose="02040503050406030204" pitchFamily="18" charset="0"/>
                                  </a:rPr>
                                  <m:t>(</m:t>
                                </m:r>
                                <m:sSub>
                                  <m:sSubPr>
                                    <m:ctrlPr>
                                      <a:rPr lang="en-US" sz="1100" b="0" i="1" u="none" strike="noStrike" smtClean="0">
                                        <a:solidFill>
                                          <a:srgbClr val="000000"/>
                                        </a:solidFill>
                                        <a:effectLst/>
                                        <a:latin typeface="Cambria Math"/>
                                      </a:rPr>
                                    </m:ctrlPr>
                                  </m:sSubPr>
                                  <m:e>
                                    <m:r>
                                      <a:rPr lang="en-US" sz="1100" b="0" i="1" u="none" strike="noStrike" smtClean="0">
                                        <a:solidFill>
                                          <a:srgbClr val="000000"/>
                                        </a:solidFill>
                                        <a:effectLst/>
                                        <a:latin typeface="Cambria Math" panose="02040503050406030204" pitchFamily="18" charset="0"/>
                                      </a:rPr>
                                      <m:t>𝑘</m:t>
                                    </m:r>
                                  </m:e>
                                  <m:sub>
                                    <m:r>
                                      <a:rPr lang="en-US" sz="1100" b="0" i="1" u="none" strike="noStrike" smtClean="0">
                                        <a:solidFill>
                                          <a:srgbClr val="000000"/>
                                        </a:solidFill>
                                        <a:effectLst/>
                                        <a:latin typeface="Cambria Math" panose="02040503050406030204" pitchFamily="18" charset="0"/>
                                      </a:rPr>
                                      <m:t>𝑡</m:t>
                                    </m:r>
                                  </m:sub>
                                </m:sSub>
                                <m:r>
                                  <a:rPr lang="en-US" sz="1100" b="0" i="1" u="none" strike="noStrike" smtClean="0">
                                    <a:solidFill>
                                      <a:srgbClr val="000000"/>
                                    </a:solidFill>
                                    <a:effectLst/>
                                    <a:latin typeface="Cambria Math" panose="02040503050406030204" pitchFamily="18" charset="0"/>
                                  </a:rPr>
                                  <m:t>,</m:t>
                                </m:r>
                                <m:r>
                                  <a:rPr lang="en-US" sz="1100" b="0" i="1" u="none" strike="noStrike" smtClean="0">
                                    <a:solidFill>
                                      <a:srgbClr val="000000"/>
                                    </a:solidFill>
                                    <a:effectLst/>
                                    <a:latin typeface="Cambria Math" panose="02040503050406030204" pitchFamily="18" charset="0"/>
                                  </a:rPr>
                                  <m:t>h</m:t>
                                </m:r>
                                <m:r>
                                  <a:rPr lang="en-US" sz="1100" b="0" i="1" u="none" strike="noStrike" smtClean="0">
                                    <a:solidFill>
                                      <a:srgbClr val="000000"/>
                                    </a:solidFill>
                                    <a:effectLst/>
                                    <a:latin typeface="Cambria Math" panose="02040503050406030204" pitchFamily="18" charset="0"/>
                                  </a:rPr>
                                  <m:t>,</m:t>
                                </m:r>
                                <m:r>
                                  <a:rPr lang="en-US" sz="1100" b="0" i="1" u="none" strike="noStrike" smtClean="0">
                                    <a:solidFill>
                                      <a:srgbClr val="000000"/>
                                    </a:solidFill>
                                    <a:effectLst/>
                                    <a:latin typeface="Cambria Math" panose="02040503050406030204" pitchFamily="18" charset="0"/>
                                  </a:rPr>
                                  <m:t>𝑡</m:t>
                                </m:r>
                                <m:r>
                                  <a:rPr lang="en-US" sz="1100" b="0" i="1" u="none" strike="noStrike" smtClean="0">
                                    <a:solidFill>
                                      <a:srgbClr val="000000"/>
                                    </a:solidFill>
                                    <a:effectLst/>
                                    <a:latin typeface="Cambria Math" panose="02040503050406030204" pitchFamily="18" charset="0"/>
                                  </a:rPr>
                                  <m:t>)</m:t>
                                </m:r>
                              </m:oMath>
                            </m:oMathPara>
                          </a14:m>
                          <a:endParaRPr lang="en-US" sz="1100" b="0" i="0" u="none" strike="noStrike" dirty="0">
                            <a:solidFill>
                              <a:srgbClr val="000000"/>
                            </a:solidFill>
                            <a:effectLst/>
                            <a:latin typeface="Book Antiqua" panose="02040602050305030304" pitchFamily="18" charset="0"/>
                          </a:endParaRP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BBEDB"/>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1100" b="0" i="1" u="none" strike="noStrike" smtClean="0">
                                        <a:solidFill>
                                          <a:srgbClr val="000000"/>
                                        </a:solidFill>
                                        <a:effectLst/>
                                        <a:latin typeface="Cambria Math"/>
                                      </a:rPr>
                                    </m:ctrlPr>
                                  </m:sSubPr>
                                  <m:e>
                                    <m:r>
                                      <a:rPr lang="en-US" sz="1100" b="0" i="1" u="none" strike="noStrike" smtClean="0">
                                        <a:solidFill>
                                          <a:srgbClr val="000000"/>
                                        </a:solidFill>
                                        <a:effectLst/>
                                        <a:latin typeface="Cambria Math" panose="02040503050406030204" pitchFamily="18" charset="0"/>
                                      </a:rPr>
                                      <m:t>𝐶</m:t>
                                    </m:r>
                                  </m:e>
                                  <m:sub>
                                    <m:r>
                                      <a:rPr lang="en-US" sz="1100" b="0" i="1" u="none" strike="noStrike" smtClean="0">
                                        <a:solidFill>
                                          <a:srgbClr val="000000"/>
                                        </a:solidFill>
                                        <a:effectLst/>
                                        <a:latin typeface="Cambria Math" panose="02040503050406030204" pitchFamily="18" charset="0"/>
                                      </a:rPr>
                                      <m:t>𝑝</m:t>
                                    </m:r>
                                  </m:sub>
                                </m:sSub>
                                <m:sSub>
                                  <m:sSubPr>
                                    <m:ctrlPr>
                                      <a:rPr lang="en-US" sz="1100" b="0" i="1" u="none" strike="noStrike" smtClean="0">
                                        <a:solidFill>
                                          <a:srgbClr val="000000"/>
                                        </a:solidFill>
                                        <a:effectLst/>
                                        <a:latin typeface="Cambria Math"/>
                                      </a:rPr>
                                    </m:ctrlPr>
                                  </m:sSubPr>
                                  <m:e>
                                    <m:r>
                                      <a:rPr lang="en-US" sz="1100" b="0" i="1" u="none" strike="noStrike" smtClean="0">
                                        <a:solidFill>
                                          <a:srgbClr val="000000"/>
                                        </a:solidFill>
                                        <a:effectLst/>
                                        <a:latin typeface="Cambria Math" panose="02040503050406030204" pitchFamily="18" charset="0"/>
                                      </a:rPr>
                                      <m:t>𝑓</m:t>
                                    </m:r>
                                  </m:e>
                                  <m:sub>
                                    <m:r>
                                      <a:rPr lang="en-US" sz="1100" b="0" i="1" u="none" strike="noStrike" smtClean="0">
                                        <a:solidFill>
                                          <a:srgbClr val="000000"/>
                                        </a:solidFill>
                                        <a:effectLst/>
                                        <a:latin typeface="Cambria Math" panose="02040503050406030204" pitchFamily="18" charset="0"/>
                                      </a:rPr>
                                      <m:t>𝑝</m:t>
                                    </m:r>
                                  </m:sub>
                                </m:sSub>
                              </m:oMath>
                            </m:oMathPara>
                          </a14:m>
                          <a:endParaRPr lang="en-US" sz="1100" b="0" i="0" u="none" strike="noStrike" dirty="0">
                            <a:solidFill>
                              <a:srgbClr val="000000"/>
                            </a:solidFill>
                            <a:effectLst/>
                            <a:latin typeface="Book Antiqua" panose="02040602050305030304" pitchFamily="18" charset="0"/>
                          </a:endParaRP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BBEDB"/>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1100" b="0" i="1" u="none" strike="noStrike" smtClean="0">
                                        <a:solidFill>
                                          <a:srgbClr val="000000"/>
                                        </a:solidFill>
                                        <a:effectLst/>
                                        <a:latin typeface="Cambria Math"/>
                                      </a:rPr>
                                    </m:ctrlPr>
                                  </m:sSubPr>
                                  <m:e>
                                    <m:r>
                                      <a:rPr lang="en-US" sz="1100" b="0" i="1" u="none" strike="noStrike" smtClean="0">
                                        <a:solidFill>
                                          <a:srgbClr val="000000"/>
                                        </a:solidFill>
                                        <a:effectLst/>
                                        <a:latin typeface="Cambria Math" panose="02040503050406030204" pitchFamily="18" charset="0"/>
                                      </a:rPr>
                                      <m:t>𝐶</m:t>
                                    </m:r>
                                  </m:e>
                                  <m:sub>
                                    <m:r>
                                      <a:rPr lang="en-US" sz="1100" b="0" i="1" u="none" strike="noStrike" smtClean="0">
                                        <a:solidFill>
                                          <a:srgbClr val="000000"/>
                                        </a:solidFill>
                                        <a:effectLst/>
                                        <a:latin typeface="Cambria Math" panose="02040503050406030204" pitchFamily="18" charset="0"/>
                                      </a:rPr>
                                      <m:t>𝑝</m:t>
                                    </m:r>
                                  </m:sub>
                                </m:sSub>
                                <m:sSub>
                                  <m:sSubPr>
                                    <m:ctrlPr>
                                      <a:rPr lang="en-US" sz="1100" b="0" i="1" u="none" strike="noStrike" smtClean="0">
                                        <a:solidFill>
                                          <a:srgbClr val="000000"/>
                                        </a:solidFill>
                                        <a:effectLst/>
                                        <a:latin typeface="Cambria Math"/>
                                      </a:rPr>
                                    </m:ctrlPr>
                                  </m:sSubPr>
                                  <m:e>
                                    <m:r>
                                      <a:rPr lang="en-US" sz="1100" b="0" i="1" u="none" strike="noStrike" smtClean="0">
                                        <a:solidFill>
                                          <a:srgbClr val="000000"/>
                                        </a:solidFill>
                                        <a:effectLst/>
                                        <a:latin typeface="Cambria Math" panose="02040503050406030204" pitchFamily="18" charset="0"/>
                                      </a:rPr>
                                      <m:t>𝑓</m:t>
                                    </m:r>
                                  </m:e>
                                  <m:sub>
                                    <m:r>
                                      <a:rPr lang="en-US" sz="1100" b="0" i="1" u="none" strike="noStrike" smtClean="0">
                                        <a:solidFill>
                                          <a:srgbClr val="000000"/>
                                        </a:solidFill>
                                        <a:effectLst/>
                                        <a:latin typeface="Cambria Math" panose="02040503050406030204" pitchFamily="18" charset="0"/>
                                      </a:rPr>
                                      <m:t>𝑝</m:t>
                                    </m:r>
                                  </m:sub>
                                </m:sSub>
                                <m:r>
                                  <a:rPr lang="en-US" sz="1100" b="0" i="1" u="none" strike="noStrike" smtClean="0">
                                    <a:solidFill>
                                      <a:srgbClr val="000000"/>
                                    </a:solidFill>
                                    <a:effectLst/>
                                    <a:latin typeface="Cambria Math" panose="02040503050406030204" pitchFamily="18" charset="0"/>
                                  </a:rPr>
                                  <m:t>𝐹</m:t>
                                </m:r>
                                <m:r>
                                  <a:rPr lang="en-US" sz="1100" b="0" i="1" u="none" strike="noStrike" smtClean="0">
                                    <a:solidFill>
                                      <a:srgbClr val="000000"/>
                                    </a:solidFill>
                                    <a:effectLst/>
                                    <a:latin typeface="Cambria Math" panose="02040503050406030204" pitchFamily="18" charset="0"/>
                                  </a:rPr>
                                  <m:t>(</m:t>
                                </m:r>
                                <m:sSub>
                                  <m:sSubPr>
                                    <m:ctrlPr>
                                      <a:rPr lang="en-US" sz="1100" b="0" i="1" u="none" strike="noStrike" smtClean="0">
                                        <a:solidFill>
                                          <a:srgbClr val="000000"/>
                                        </a:solidFill>
                                        <a:effectLst/>
                                        <a:latin typeface="Cambria Math"/>
                                      </a:rPr>
                                    </m:ctrlPr>
                                  </m:sSubPr>
                                  <m:e>
                                    <m:r>
                                      <a:rPr lang="en-US" sz="1100" b="0" i="1" u="none" strike="noStrike" smtClean="0">
                                        <a:solidFill>
                                          <a:srgbClr val="000000"/>
                                        </a:solidFill>
                                        <a:effectLst/>
                                        <a:latin typeface="Cambria Math" panose="02040503050406030204" pitchFamily="18" charset="0"/>
                                      </a:rPr>
                                      <m:t>𝑘</m:t>
                                    </m:r>
                                  </m:e>
                                  <m:sub>
                                    <m:r>
                                      <a:rPr lang="en-US" sz="1100" b="0" i="1" u="none" strike="noStrike" smtClean="0">
                                        <a:solidFill>
                                          <a:srgbClr val="000000"/>
                                        </a:solidFill>
                                        <a:effectLst/>
                                        <a:latin typeface="Cambria Math" panose="02040503050406030204" pitchFamily="18" charset="0"/>
                                      </a:rPr>
                                      <m:t>𝑡</m:t>
                                    </m:r>
                                  </m:sub>
                                </m:sSub>
                                <m:r>
                                  <a:rPr lang="en-US" sz="1100" b="0" i="1" u="none" strike="noStrike" smtClean="0">
                                    <a:solidFill>
                                      <a:srgbClr val="000000"/>
                                    </a:solidFill>
                                    <a:effectLst/>
                                    <a:latin typeface="Cambria Math" panose="02040503050406030204" pitchFamily="18" charset="0"/>
                                  </a:rPr>
                                  <m:t>,</m:t>
                                </m:r>
                                <m:r>
                                  <a:rPr lang="en-US" sz="1100" b="0" i="1" u="none" strike="noStrike" smtClean="0">
                                    <a:solidFill>
                                      <a:srgbClr val="000000"/>
                                    </a:solidFill>
                                    <a:effectLst/>
                                    <a:latin typeface="Cambria Math" panose="02040503050406030204" pitchFamily="18" charset="0"/>
                                  </a:rPr>
                                  <m:t>h</m:t>
                                </m:r>
                                <m:r>
                                  <a:rPr lang="en-US" sz="1100" b="0" i="1" u="none" strike="noStrike" smtClean="0">
                                    <a:solidFill>
                                      <a:srgbClr val="000000"/>
                                    </a:solidFill>
                                    <a:effectLst/>
                                    <a:latin typeface="Cambria Math" panose="02040503050406030204" pitchFamily="18" charset="0"/>
                                  </a:rPr>
                                  <m:t>,</m:t>
                                </m:r>
                                <m:r>
                                  <a:rPr lang="en-US" sz="1100" b="0" i="1" u="none" strike="noStrike" smtClean="0">
                                    <a:solidFill>
                                      <a:srgbClr val="000000"/>
                                    </a:solidFill>
                                    <a:effectLst/>
                                    <a:latin typeface="Cambria Math" panose="02040503050406030204" pitchFamily="18" charset="0"/>
                                  </a:rPr>
                                  <m:t>𝑡</m:t>
                                </m:r>
                                <m:r>
                                  <a:rPr lang="en-US" sz="1100" b="0" i="1" u="none" strike="noStrike" smtClean="0">
                                    <a:solidFill>
                                      <a:srgbClr val="000000"/>
                                    </a:solidFill>
                                    <a:effectLst/>
                                    <a:latin typeface="Cambria Math" panose="02040503050406030204" pitchFamily="18" charset="0"/>
                                  </a:rPr>
                                  <m:t>)</m:t>
                                </m:r>
                              </m:oMath>
                            </m:oMathPara>
                          </a14:m>
                          <a:endParaRPr lang="en-US" sz="1100" b="0" i="0" u="none" strike="noStrike" dirty="0">
                            <a:solidFill>
                              <a:srgbClr val="000000"/>
                            </a:solidFill>
                            <a:effectLst/>
                            <a:latin typeface="Book Antiqua" panose="02040602050305030304" pitchFamily="18" charset="0"/>
                          </a:endParaRP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BBEDB"/>
                        </a:solidFill>
                      </a:tcPr>
                    </a:tc>
                    <a:tc>
                      <a:txBody>
                        <a:bodyPr/>
                        <a:lstStyle/>
                        <a:p>
                          <a:pPr algn="ctr" fontAlgn="b"/>
                          <a14:m>
                            <m:oMathPara xmlns:m="http://schemas.openxmlformats.org/officeDocument/2006/math">
                              <m:oMathParaPr>
                                <m:jc m:val="centerGroup"/>
                              </m:oMathParaPr>
                              <m:oMath xmlns:m="http://schemas.openxmlformats.org/officeDocument/2006/math">
                                <m:sSubSup>
                                  <m:sSubSupPr>
                                    <m:ctrlPr>
                                      <a:rPr lang="en-US" sz="1100" b="0" i="1" u="none" strike="noStrike" smtClean="0">
                                        <a:solidFill>
                                          <a:srgbClr val="000000"/>
                                        </a:solidFill>
                                        <a:effectLst/>
                                        <a:latin typeface="Cambria Math"/>
                                      </a:rPr>
                                    </m:ctrlPr>
                                  </m:sSubSupPr>
                                  <m:e>
                                    <m:r>
                                      <a:rPr lang="en-US" sz="1100" b="0" i="1" u="none" strike="noStrike" smtClean="0">
                                        <a:solidFill>
                                          <a:srgbClr val="000000"/>
                                        </a:solidFill>
                                        <a:effectLst/>
                                        <a:latin typeface="Cambria Math" panose="02040503050406030204" pitchFamily="18" charset="0"/>
                                      </a:rPr>
                                      <m:t>𝑘</m:t>
                                    </m:r>
                                  </m:e>
                                  <m:sub>
                                    <m:r>
                                      <a:rPr lang="en-US" sz="1100" b="0" i="1" u="none" strike="noStrike" smtClean="0">
                                        <a:solidFill>
                                          <a:srgbClr val="000000"/>
                                        </a:solidFill>
                                        <a:effectLst/>
                                        <a:latin typeface="Cambria Math" panose="02040503050406030204" pitchFamily="18" charset="0"/>
                                      </a:rPr>
                                      <m:t>𝑠</m:t>
                                    </m:r>
                                  </m:sub>
                                  <m:sup>
                                    <m:r>
                                      <a:rPr lang="en-US" sz="1100" b="0" i="1" u="none" strike="noStrike" smtClean="0">
                                        <a:solidFill>
                                          <a:srgbClr val="000000"/>
                                        </a:solidFill>
                                        <a:effectLst/>
                                        <a:latin typeface="Cambria Math" panose="02040503050406030204" pitchFamily="18" charset="0"/>
                                      </a:rPr>
                                      <m:t>∗</m:t>
                                    </m:r>
                                  </m:sup>
                                </m:sSubSup>
                              </m:oMath>
                            </m:oMathPara>
                          </a14:m>
                          <a:endParaRPr lang="en-US" sz="1100" b="0" i="0" u="none" strike="noStrike" dirty="0">
                            <a:solidFill>
                              <a:srgbClr val="000000"/>
                            </a:solidFill>
                            <a:effectLst/>
                            <a:latin typeface="Book Antiqua" panose="02040602050305030304" pitchFamily="18" charset="0"/>
                          </a:endParaRP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b"/>
                          <a14:m>
                            <m:oMathPara xmlns:m="http://schemas.openxmlformats.org/officeDocument/2006/math">
                              <m:oMathParaPr>
                                <m:jc m:val="centerGroup"/>
                              </m:oMathParaPr>
                              <m:oMath xmlns:m="http://schemas.openxmlformats.org/officeDocument/2006/math">
                                <m:sSup>
                                  <m:sSupPr>
                                    <m:ctrlPr>
                                      <a:rPr lang="en-US" sz="1100" b="0" i="1" u="none" strike="noStrike" smtClean="0">
                                        <a:solidFill>
                                          <a:srgbClr val="000000"/>
                                        </a:solidFill>
                                        <a:effectLst/>
                                        <a:latin typeface="Cambria Math"/>
                                      </a:rPr>
                                    </m:ctrlPr>
                                  </m:sSupPr>
                                  <m:e>
                                    <m:r>
                                      <a:rPr lang="en-US" sz="1100" b="0" i="1" u="none" strike="noStrike" smtClean="0">
                                        <a:solidFill>
                                          <a:srgbClr val="000000"/>
                                        </a:solidFill>
                                        <a:effectLst/>
                                        <a:latin typeface="Cambria Math" panose="02040503050406030204" pitchFamily="18" charset="0"/>
                                      </a:rPr>
                                      <m:t>𝑈</m:t>
                                    </m:r>
                                  </m:e>
                                  <m:sup>
                                    <m:r>
                                      <a:rPr lang="en-US" sz="1100" b="0" i="1" u="none" strike="noStrike" smtClean="0">
                                        <a:solidFill>
                                          <a:srgbClr val="000000"/>
                                        </a:solidFill>
                                        <a:effectLst/>
                                        <a:latin typeface="Cambria Math" panose="02040503050406030204" pitchFamily="18" charset="0"/>
                                      </a:rPr>
                                      <m:t>𝑐</m:t>
                                    </m:r>
                                  </m:sup>
                                </m:sSup>
                              </m:oMath>
                            </m:oMathPara>
                          </a14:m>
                          <a:endParaRPr lang="en-US" sz="1100" b="0" i="0" u="none" strike="noStrike" dirty="0">
                            <a:solidFill>
                              <a:srgbClr val="000000"/>
                            </a:solidFill>
                            <a:effectLst/>
                            <a:latin typeface="Book Antiqua" panose="02040602050305030304" pitchFamily="18" charset="0"/>
                          </a:endParaRP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100" b="0" i="1" u="none" strike="noStrike" smtClean="0">
                                    <a:solidFill>
                                      <a:srgbClr val="000000"/>
                                    </a:solidFill>
                                    <a:effectLst/>
                                    <a:latin typeface="Cambria Math" panose="02040503050406030204" pitchFamily="18" charset="0"/>
                                  </a:rPr>
                                  <m:t>𝐹</m:t>
                                </m:r>
                                <m:r>
                                  <a:rPr lang="en-US" sz="1100" b="0" i="1" u="none" strike="noStrike" smtClean="0">
                                    <a:solidFill>
                                      <a:srgbClr val="000000"/>
                                    </a:solidFill>
                                    <a:effectLst/>
                                    <a:latin typeface="Cambria Math" panose="02040503050406030204" pitchFamily="18" charset="0"/>
                                  </a:rPr>
                                  <m:t>(</m:t>
                                </m:r>
                                <m:sSub>
                                  <m:sSubPr>
                                    <m:ctrlPr>
                                      <a:rPr lang="en-US" sz="1100" b="0" i="1" u="none" strike="noStrike" smtClean="0">
                                        <a:solidFill>
                                          <a:srgbClr val="000000"/>
                                        </a:solidFill>
                                        <a:effectLst/>
                                        <a:latin typeface="Cambria Math"/>
                                      </a:rPr>
                                    </m:ctrlPr>
                                  </m:sSubPr>
                                  <m:e>
                                    <m:r>
                                      <a:rPr lang="en-US" sz="1100" b="0" i="1" u="none" strike="noStrike" smtClean="0">
                                        <a:solidFill>
                                          <a:srgbClr val="000000"/>
                                        </a:solidFill>
                                        <a:effectLst/>
                                        <a:latin typeface="Cambria Math" panose="02040503050406030204" pitchFamily="18" charset="0"/>
                                      </a:rPr>
                                      <m:t>𝑘</m:t>
                                    </m:r>
                                  </m:e>
                                  <m:sub>
                                    <m:r>
                                      <a:rPr lang="en-US" sz="1100" b="0" i="1" u="none" strike="noStrike" smtClean="0">
                                        <a:solidFill>
                                          <a:srgbClr val="000000"/>
                                        </a:solidFill>
                                        <a:effectLst/>
                                        <a:latin typeface="Cambria Math" panose="02040503050406030204" pitchFamily="18" charset="0"/>
                                      </a:rPr>
                                      <m:t>𝑡</m:t>
                                    </m:r>
                                  </m:sub>
                                </m:sSub>
                                <m:r>
                                  <a:rPr lang="en-US" sz="1100" b="0" i="1" u="none" strike="noStrike" smtClean="0">
                                    <a:solidFill>
                                      <a:srgbClr val="000000"/>
                                    </a:solidFill>
                                    <a:effectLst/>
                                    <a:latin typeface="Cambria Math" panose="02040503050406030204" pitchFamily="18" charset="0"/>
                                  </a:rPr>
                                  <m:t>,</m:t>
                                </m:r>
                                <m:r>
                                  <a:rPr lang="en-US" sz="1100" b="0" i="1" u="none" strike="noStrike" smtClean="0">
                                    <a:solidFill>
                                      <a:srgbClr val="000000"/>
                                    </a:solidFill>
                                    <a:effectLst/>
                                    <a:latin typeface="Cambria Math" panose="02040503050406030204" pitchFamily="18" charset="0"/>
                                  </a:rPr>
                                  <m:t>h</m:t>
                                </m:r>
                                <m:r>
                                  <a:rPr lang="en-US" sz="1100" b="0" i="1" u="none" strike="noStrike" smtClean="0">
                                    <a:solidFill>
                                      <a:srgbClr val="000000"/>
                                    </a:solidFill>
                                    <a:effectLst/>
                                    <a:latin typeface="Cambria Math" panose="02040503050406030204" pitchFamily="18" charset="0"/>
                                  </a:rPr>
                                  <m:t>,</m:t>
                                </m:r>
                                <m:r>
                                  <a:rPr lang="en-US" sz="1100" b="0" i="1" u="none" strike="noStrike" smtClean="0">
                                    <a:solidFill>
                                      <a:srgbClr val="000000"/>
                                    </a:solidFill>
                                    <a:effectLst/>
                                    <a:latin typeface="Cambria Math" panose="02040503050406030204" pitchFamily="18" charset="0"/>
                                  </a:rPr>
                                  <m:t>𝑡</m:t>
                                </m:r>
                                <m:r>
                                  <a:rPr lang="en-US" sz="1100" b="0" i="1" u="none" strike="noStrike" smtClean="0">
                                    <a:solidFill>
                                      <a:srgbClr val="000000"/>
                                    </a:solidFill>
                                    <a:effectLst/>
                                    <a:latin typeface="Cambria Math" panose="02040503050406030204" pitchFamily="18" charset="0"/>
                                  </a:rPr>
                                  <m:t>)</m:t>
                                </m:r>
                              </m:oMath>
                            </m:oMathPara>
                          </a14:m>
                          <a:endParaRPr lang="en-US" sz="1100" b="0" i="0" u="none" strike="noStrike" dirty="0">
                            <a:solidFill>
                              <a:srgbClr val="000000"/>
                            </a:solidFill>
                            <a:effectLst/>
                            <a:latin typeface="Book Antiqua" panose="02040602050305030304" pitchFamily="18" charset="0"/>
                          </a:endParaRP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b"/>
                          <a14:m>
                            <m:oMathPara xmlns:m="http://schemas.openxmlformats.org/officeDocument/2006/math">
                              <m:oMathParaPr>
                                <m:jc m:val="centerGroup"/>
                              </m:oMathParaPr>
                              <m:oMath xmlns:m="http://schemas.openxmlformats.org/officeDocument/2006/math">
                                <m:sSubSup>
                                  <m:sSubSupPr>
                                    <m:ctrlPr>
                                      <a:rPr lang="en-US" sz="1100" b="0" i="1" u="none" strike="noStrike" smtClean="0">
                                        <a:solidFill>
                                          <a:srgbClr val="000000"/>
                                        </a:solidFill>
                                        <a:effectLst/>
                                        <a:latin typeface="Cambria Math"/>
                                      </a:rPr>
                                    </m:ctrlPr>
                                  </m:sSubSupPr>
                                  <m:e>
                                    <m:r>
                                      <a:rPr lang="en-US" sz="1100" b="0" i="1" u="none" strike="noStrike" smtClean="0">
                                        <a:solidFill>
                                          <a:srgbClr val="000000"/>
                                        </a:solidFill>
                                        <a:effectLst/>
                                        <a:latin typeface="Cambria Math" panose="02040503050406030204" pitchFamily="18" charset="0"/>
                                      </a:rPr>
                                      <m:t>𝐶</m:t>
                                    </m:r>
                                  </m:e>
                                  <m:sub>
                                    <m:r>
                                      <a:rPr lang="en-US" sz="1100" b="0" i="1" u="none" strike="noStrike" smtClean="0">
                                        <a:solidFill>
                                          <a:srgbClr val="000000"/>
                                        </a:solidFill>
                                        <a:effectLst/>
                                        <a:latin typeface="Cambria Math" panose="02040503050406030204" pitchFamily="18" charset="0"/>
                                      </a:rPr>
                                      <m:t>𝑝</m:t>
                                    </m:r>
                                  </m:sub>
                                  <m:sup>
                                    <m:r>
                                      <a:rPr lang="en-US" sz="1100" b="0" i="1" u="none" strike="noStrike" smtClean="0">
                                        <a:solidFill>
                                          <a:srgbClr val="000000"/>
                                        </a:solidFill>
                                        <a:effectLst/>
                                        <a:latin typeface="Cambria Math" panose="02040503050406030204" pitchFamily="18" charset="0"/>
                                      </a:rPr>
                                      <m:t>∗</m:t>
                                    </m:r>
                                  </m:sup>
                                </m:sSubSup>
                                <m:sSubSup>
                                  <m:sSubSupPr>
                                    <m:ctrlPr>
                                      <a:rPr lang="en-US" sz="1100" b="0" i="1" u="none" strike="noStrike" smtClean="0">
                                        <a:solidFill>
                                          <a:srgbClr val="000000"/>
                                        </a:solidFill>
                                        <a:effectLst/>
                                        <a:latin typeface="Cambria Math"/>
                                      </a:rPr>
                                    </m:ctrlPr>
                                  </m:sSubSupPr>
                                  <m:e>
                                    <m:r>
                                      <a:rPr lang="en-US" sz="1100" b="0" i="1" u="none" strike="noStrike" smtClean="0">
                                        <a:solidFill>
                                          <a:srgbClr val="000000"/>
                                        </a:solidFill>
                                        <a:effectLst/>
                                        <a:latin typeface="Cambria Math" panose="02040503050406030204" pitchFamily="18" charset="0"/>
                                      </a:rPr>
                                      <m:t>𝑓</m:t>
                                    </m:r>
                                  </m:e>
                                  <m:sub>
                                    <m:r>
                                      <a:rPr lang="en-US" sz="1100" b="0" i="1" u="none" strike="noStrike" smtClean="0">
                                        <a:solidFill>
                                          <a:srgbClr val="000000"/>
                                        </a:solidFill>
                                        <a:effectLst/>
                                        <a:latin typeface="Cambria Math" panose="02040503050406030204" pitchFamily="18" charset="0"/>
                                      </a:rPr>
                                      <m:t>𝑝</m:t>
                                    </m:r>
                                  </m:sub>
                                  <m:sup>
                                    <m:r>
                                      <a:rPr lang="en-US" sz="1100" b="0" i="1" u="none" strike="noStrike" smtClean="0">
                                        <a:solidFill>
                                          <a:srgbClr val="000000"/>
                                        </a:solidFill>
                                        <a:effectLst/>
                                        <a:latin typeface="Cambria Math" panose="02040503050406030204" pitchFamily="18" charset="0"/>
                                      </a:rPr>
                                      <m:t>∗</m:t>
                                    </m:r>
                                  </m:sup>
                                </m:sSubSup>
                              </m:oMath>
                            </m:oMathPara>
                          </a14:m>
                          <a:endParaRPr lang="en-US" sz="1100" b="0" i="0" u="none" strike="noStrike" dirty="0">
                            <a:solidFill>
                              <a:srgbClr val="000000"/>
                            </a:solidFill>
                            <a:effectLst/>
                            <a:latin typeface="Book Antiqua" panose="02040602050305030304" pitchFamily="18" charset="0"/>
                          </a:endParaRP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b"/>
                          <a14:m>
                            <m:oMathPara xmlns:m="http://schemas.openxmlformats.org/officeDocument/2006/math">
                              <m:oMathParaPr>
                                <m:jc m:val="centerGroup"/>
                              </m:oMathParaPr>
                              <m:oMath xmlns:m="http://schemas.openxmlformats.org/officeDocument/2006/math">
                                <m:r>
                                  <m:rPr>
                                    <m:sty m:val="p"/>
                                  </m:rPr>
                                  <a:rPr lang="el-GR" sz="1100" b="0" i="1" u="none" strike="noStrike" smtClean="0">
                                    <a:solidFill>
                                      <a:srgbClr val="000000"/>
                                    </a:solidFill>
                                    <a:effectLst/>
                                    <a:latin typeface="Cambria Math" panose="02040503050406030204" pitchFamily="18" charset="0"/>
                                    <a:ea typeface="Cambria Math" panose="02040503050406030204" pitchFamily="18" charset="0"/>
                                  </a:rPr>
                                  <m:t>Δ</m:t>
                                </m:r>
                              </m:oMath>
                            </m:oMathPara>
                          </a14:m>
                          <a:endParaRPr lang="en-US" sz="1100" b="0" i="0" u="none" strike="noStrike" dirty="0">
                            <a:solidFill>
                              <a:srgbClr val="000000"/>
                            </a:solidFill>
                            <a:effectLst/>
                            <a:latin typeface="Book Antiqua" panose="02040602050305030304" pitchFamily="18" charset="0"/>
                          </a:endParaRP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7C80"/>
                        </a:solidFill>
                      </a:tcPr>
                    </a:tc>
                    <a:extLst>
                      <a:ext uri="{0D108BD9-81ED-4DB2-BD59-A6C34878D82A}">
                        <a16:rowId xmlns:a16="http://schemas.microsoft.com/office/drawing/2014/main" xmlns="" val="10001"/>
                      </a:ext>
                    </a:extLst>
                  </a:tr>
                  <a:tr h="181519">
                    <a:tc>
                      <a:txBody>
                        <a:bodyPr/>
                        <a:lstStyle/>
                        <a:p>
                          <a:pPr algn="ctr" fontAlgn="b"/>
                          <a:r>
                            <a:rPr lang="en-US" sz="1100" b="0" i="0" u="none" strike="noStrike">
                              <a:solidFill>
                                <a:srgbClr val="70AD47"/>
                              </a:solidFill>
                              <a:effectLst/>
                              <a:latin typeface="Book Antiqua" panose="02040602050305030304" pitchFamily="18" charset="0"/>
                            </a:rPr>
                            <a:t>1</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70AD47"/>
                              </a:solidFill>
                              <a:effectLst/>
                              <a:latin typeface="Book Antiqua" panose="02040602050305030304" pitchFamily="18" charset="0"/>
                            </a:rPr>
                            <a:t>5.57</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70AD47"/>
                              </a:solidFill>
                              <a:effectLst/>
                              <a:latin typeface="Book Antiqua" panose="02040602050305030304" pitchFamily="18" charset="0"/>
                            </a:rPr>
                            <a:t>5.05</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70AD47"/>
                              </a:solidFill>
                              <a:effectLst/>
                              <a:latin typeface="Book Antiqua" panose="02040602050305030304" pitchFamily="18" charset="0"/>
                            </a:rPr>
                            <a:t>834</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70AD47"/>
                              </a:solidFill>
                              <a:effectLst/>
                              <a:latin typeface="Book Antiqua" panose="02040602050305030304" pitchFamily="18" charset="0"/>
                            </a:rPr>
                            <a:t>0.56</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70AD47"/>
                              </a:solidFill>
                              <a:effectLst/>
                              <a:latin typeface="Book Antiqua" panose="02040602050305030304" pitchFamily="18" charset="0"/>
                            </a:rPr>
                            <a:t>10.37</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70AD47"/>
                              </a:solidFill>
                              <a:effectLst/>
                              <a:latin typeface="Book Antiqua" panose="02040602050305030304" pitchFamily="18" charset="0"/>
                            </a:rPr>
                            <a:t>0.051</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70AD47"/>
                              </a:solidFill>
                              <a:effectLst/>
                              <a:latin typeface="Book Antiqua" panose="02040602050305030304" pitchFamily="18" charset="0"/>
                            </a:rPr>
                            <a:t>$259,302</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70AD47"/>
                              </a:solidFill>
                              <a:effectLst/>
                              <a:latin typeface="Book Antiqua" panose="02040602050305030304" pitchFamily="18" charset="0"/>
                            </a:rPr>
                            <a:t>$6,259</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70AD47"/>
                              </a:solidFill>
                              <a:effectLst/>
                              <a:latin typeface="Book Antiqua" panose="02040602050305030304" pitchFamily="18" charset="0"/>
                            </a:rPr>
                            <a:t>0.60</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70AD47"/>
                              </a:solidFill>
                              <a:effectLst/>
                              <a:latin typeface="Book Antiqua" panose="02040602050305030304" pitchFamily="18" charset="0"/>
                            </a:rPr>
                            <a:t>11.12</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70AD47"/>
                              </a:solidFill>
                              <a:effectLst/>
                              <a:latin typeface="Book Antiqua" panose="02040602050305030304" pitchFamily="18" charset="0"/>
                            </a:rPr>
                            <a:t>0.049</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70AD47"/>
                              </a:solidFill>
                              <a:effectLst/>
                              <a:latin typeface="Book Antiqua" panose="02040602050305030304" pitchFamily="18" charset="0"/>
                            </a:rPr>
                            <a:t>$289,292</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70AD47"/>
                              </a:solidFill>
                              <a:effectLst/>
                              <a:latin typeface="Book Antiqua" panose="02040602050305030304" pitchFamily="18" charset="0"/>
                            </a:rPr>
                            <a:t>-$1,259</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2"/>
                      </a:ext>
                    </a:extLst>
                  </a:tr>
                  <a:tr h="181519">
                    <a:tc>
                      <a:txBody>
                        <a:bodyPr/>
                        <a:lstStyle/>
                        <a:p>
                          <a:pPr algn="ctr" fontAlgn="b"/>
                          <a:r>
                            <a:rPr lang="en-US" sz="1100" b="0" i="0" u="none" strike="noStrike">
                              <a:solidFill>
                                <a:srgbClr val="000000"/>
                              </a:solidFill>
                              <a:effectLst/>
                              <a:latin typeface="Book Antiqua" panose="02040602050305030304" pitchFamily="18" charset="0"/>
                            </a:rPr>
                            <a:t>2</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Book Antiqua" panose="02040602050305030304" pitchFamily="18" charset="0"/>
                            </a:rPr>
                            <a:t>5.99</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4.98</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Book Antiqua" panose="02040602050305030304" pitchFamily="18" charset="0"/>
                            </a:rPr>
                            <a:t>818</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0.52</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10.58</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0.055</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$228,077</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Book Antiqua" panose="02040602050305030304" pitchFamily="18" charset="0"/>
                            </a:rPr>
                            <a:t>$7,392</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0.62</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11.61</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0.047</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$288,030</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-$2,392</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3"/>
                      </a:ext>
                    </a:extLst>
                  </a:tr>
                  <a:tr h="181519">
                    <a:tc>
                      <a:txBody>
                        <a:bodyPr/>
                        <a:lstStyle/>
                        <a:p>
                          <a:pPr algn="ctr" fontAlgn="b"/>
                          <a:r>
                            <a:rPr lang="en-US" sz="1100" b="0" i="0" u="none" strike="noStrike">
                              <a:solidFill>
                                <a:srgbClr val="FF0000"/>
                              </a:solidFill>
                              <a:effectLst/>
                              <a:latin typeface="Book Antiqua" panose="02040602050305030304" pitchFamily="18" charset="0"/>
                            </a:rPr>
                            <a:t>3</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FF0000"/>
                              </a:solidFill>
                              <a:effectLst/>
                              <a:latin typeface="Book Antiqua" panose="02040602050305030304" pitchFamily="18" charset="0"/>
                            </a:rPr>
                            <a:t>8.51</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FF0000"/>
                              </a:solidFill>
                              <a:effectLst/>
                              <a:latin typeface="Book Antiqua" panose="02040602050305030304" pitchFamily="18" charset="0"/>
                            </a:rPr>
                            <a:t>5.49</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FF0000"/>
                              </a:solidFill>
                              <a:effectLst/>
                              <a:latin typeface="Book Antiqua" panose="02040602050305030304" pitchFamily="18" charset="0"/>
                            </a:rPr>
                            <a:t>728</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FF0000"/>
                              </a:solidFill>
                              <a:effectLst/>
                              <a:latin typeface="Book Antiqua" panose="02040602050305030304" pitchFamily="18" charset="0"/>
                            </a:rPr>
                            <a:t>0.55</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FF0000"/>
                              </a:solidFill>
                              <a:effectLst/>
                              <a:latin typeface="Book Antiqua" panose="02040602050305030304" pitchFamily="18" charset="0"/>
                            </a:rPr>
                            <a:t>11.78</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FF0000"/>
                              </a:solidFill>
                              <a:effectLst/>
                              <a:latin typeface="Book Antiqua" panose="02040602050305030304" pitchFamily="18" charset="0"/>
                            </a:rPr>
                            <a:t>0.045</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FF0000"/>
                              </a:solidFill>
                              <a:effectLst/>
                              <a:latin typeface="Book Antiqua" panose="02040602050305030304" pitchFamily="18" charset="0"/>
                            </a:rPr>
                            <a:t>$274,472</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FF0000"/>
                              </a:solidFill>
                              <a:effectLst/>
                              <a:latin typeface="Book Antiqua" panose="02040602050305030304" pitchFamily="18" charset="0"/>
                            </a:rPr>
                            <a:t>$8,132</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FF0000"/>
                              </a:solidFill>
                              <a:effectLst/>
                              <a:latin typeface="Book Antiqua" panose="02040602050305030304" pitchFamily="18" charset="0"/>
                            </a:rPr>
                            <a:t>0.69</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FF0000"/>
                              </a:solidFill>
                              <a:effectLst/>
                              <a:latin typeface="Book Antiqua" panose="02040602050305030304" pitchFamily="18" charset="0"/>
                            </a:rPr>
                            <a:t>12.87</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FF0000"/>
                              </a:solidFill>
                              <a:effectLst/>
                              <a:latin typeface="Book Antiqua" panose="02040602050305030304" pitchFamily="18" charset="0"/>
                            </a:rPr>
                            <a:t>0.034</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FF0000"/>
                              </a:solidFill>
                              <a:effectLst/>
                              <a:latin typeface="Book Antiqua" panose="02040602050305030304" pitchFamily="18" charset="0"/>
                            </a:rPr>
                            <a:t>$367,216</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FF0000"/>
                              </a:solidFill>
                              <a:effectLst/>
                              <a:latin typeface="Book Antiqua" panose="02040602050305030304" pitchFamily="18" charset="0"/>
                            </a:rPr>
                            <a:t>-$3,132</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4"/>
                      </a:ext>
                    </a:extLst>
                  </a:tr>
                  <a:tr h="181519">
                    <a:tc>
                      <a:txBody>
                        <a:bodyPr/>
                        <a:lstStyle/>
                        <a:p>
                          <a:pPr algn="ctr" fontAlgn="b"/>
                          <a:r>
                            <a:rPr lang="en-US" sz="1100" b="0" i="0" u="none" strike="noStrike">
                              <a:solidFill>
                                <a:srgbClr val="000000"/>
                              </a:solidFill>
                              <a:effectLst/>
                              <a:latin typeface="Book Antiqua" panose="02040602050305030304" pitchFamily="18" charset="0"/>
                            </a:rPr>
                            <a:t>4</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7.99</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5.63</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627</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0.60</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11.94</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0.044</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$283,909</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$7,080</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0.69</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12.74</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0.037</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$343,089</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-$2,080</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5"/>
                      </a:ext>
                    </a:extLst>
                  </a:tr>
                  <a:tr h="181519">
                    <a:tc>
                      <a:txBody>
                        <a:bodyPr/>
                        <a:lstStyle/>
                        <a:p>
                          <a:pPr algn="ctr" fontAlgn="b"/>
                          <a:r>
                            <a:rPr lang="en-US" sz="1100" b="0" i="0" u="none" strike="noStrike">
                              <a:solidFill>
                                <a:srgbClr val="000000"/>
                              </a:solidFill>
                              <a:effectLst/>
                              <a:latin typeface="Book Antiqua" panose="02040602050305030304" pitchFamily="18" charset="0"/>
                            </a:rPr>
                            <a:t>5</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4.87</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5.72</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904</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0.55</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11.13</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0.049</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$267,067</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Book Antiqua" panose="02040602050305030304" pitchFamily="18" charset="0"/>
                            </a:rPr>
                            <a:t>$6,840</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0.63</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12.00</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0.044</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$315,082</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-$1,840</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6"/>
                      </a:ext>
                    </a:extLst>
                  </a:tr>
                  <a:tr h="181519">
                    <a:tc>
                      <a:txBody>
                        <a:bodyPr/>
                        <a:lstStyle/>
                        <a:p>
                          <a:pPr algn="ctr" fontAlgn="b"/>
                          <a:r>
                            <a:rPr lang="en-US" sz="1100" b="0" i="0" u="none" strike="noStrike">
                              <a:solidFill>
                                <a:srgbClr val="000000"/>
                              </a:solidFill>
                              <a:effectLst/>
                              <a:latin typeface="Book Antiqua" panose="02040602050305030304" pitchFamily="18" charset="0"/>
                            </a:rPr>
                            <a:t>6</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10.45</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5.21</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677</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0.61</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11.50</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0.046</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$272,461</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$6,790</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0.67</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12.25</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0.042</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$317,394</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-$1,790</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7"/>
                      </a:ext>
                    </a:extLst>
                  </a:tr>
                  <a:tr h="181519">
                    <a:tc>
                      <a:txBody>
                        <a:bodyPr/>
                        <a:lstStyle/>
                        <a:p>
                          <a:pPr algn="ctr" fontAlgn="b"/>
                          <a:r>
                            <a:rPr lang="en-US" sz="1100" b="0" i="0" u="none" strike="noStrike">
                              <a:solidFill>
                                <a:srgbClr val="000000"/>
                              </a:solidFill>
                              <a:effectLst/>
                              <a:latin typeface="Book Antiqua" panose="02040602050305030304" pitchFamily="18" charset="0"/>
                            </a:rPr>
                            <a:t>7</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5.64</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5.27</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920</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Book Antiqua" panose="02040602050305030304" pitchFamily="18" charset="0"/>
                            </a:rPr>
                            <a:t>0.55</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10.74</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Book Antiqua" panose="02040602050305030304" pitchFamily="18" charset="0"/>
                            </a:rPr>
                            <a:t>0.05</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$256,210</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$6,746</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0.61</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11.60</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0.047</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$303,094</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-$1,746</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8"/>
                      </a:ext>
                    </a:extLst>
                  </a:tr>
                  <a:tr h="181519">
                    <a:tc>
                      <a:txBody>
                        <a:bodyPr/>
                        <a:lstStyle/>
                        <a:p>
                          <a:pPr algn="ctr" fontAlgn="b"/>
                          <a:r>
                            <a:rPr lang="en-US" sz="1100" b="0" i="0" u="none" strike="noStrike">
                              <a:solidFill>
                                <a:srgbClr val="000000"/>
                              </a:solidFill>
                              <a:effectLst/>
                              <a:latin typeface="Book Antiqua" panose="02040602050305030304" pitchFamily="18" charset="0"/>
                            </a:rPr>
                            <a:t>8</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14.02</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5.26</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658</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0.59</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Book Antiqua" panose="02040602050305030304" pitchFamily="18" charset="0"/>
                            </a:rPr>
                            <a:t>11.73</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Book Antiqua" panose="02040602050305030304" pitchFamily="18" charset="0"/>
                            </a:rPr>
                            <a:t>0.044</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Book Antiqua" panose="02040602050305030304" pitchFamily="18" charset="0"/>
                            </a:rPr>
                            <a:t>$284,139</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Book Antiqua" panose="02040602050305030304" pitchFamily="18" charset="0"/>
                            </a:rPr>
                            <a:t>$7,632</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0.69</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12.66</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0.035</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$358,202</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-$2,632</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9"/>
                      </a:ext>
                    </a:extLst>
                  </a:tr>
                  <a:tr h="181519">
                    <a:tc>
                      <a:txBody>
                        <a:bodyPr/>
                        <a:lstStyle/>
                        <a:p>
                          <a:pPr algn="ctr" fontAlgn="b"/>
                          <a:r>
                            <a:rPr lang="en-US" sz="1100" b="0" i="0" u="none" strike="noStrike">
                              <a:solidFill>
                                <a:srgbClr val="000000"/>
                              </a:solidFill>
                              <a:effectLst/>
                              <a:latin typeface="Book Antiqua" panose="02040602050305030304" pitchFamily="18" charset="0"/>
                            </a:rPr>
                            <a:t>9</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3.41</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5.05</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945</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0.48</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Book Antiqua" panose="02040602050305030304" pitchFamily="18" charset="0"/>
                            </a:rPr>
                            <a:t>9.53</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0.059</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$218,991</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Book Antiqua" panose="02040602050305030304" pitchFamily="18" charset="0"/>
                            </a:rPr>
                            <a:t>$6,298</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Book Antiqua" panose="02040602050305030304" pitchFamily="18" charset="0"/>
                            </a:rPr>
                            <a:t>0.53</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Book Antiqua" panose="02040602050305030304" pitchFamily="18" charset="0"/>
                            </a:rPr>
                            <a:t>10.40</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Book Antiqua" panose="02040602050305030304" pitchFamily="18" charset="0"/>
                            </a:rPr>
                            <a:t>0.058</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Book Antiqua" panose="02040602050305030304" pitchFamily="18" charset="0"/>
                            </a:rPr>
                            <a:t>$244,518</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-$1,298</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10"/>
                      </a:ext>
                    </a:extLst>
                  </a:tr>
                  <a:tr h="181519">
                    <a:tc>
                      <a:txBody>
                        <a:bodyPr/>
                        <a:lstStyle/>
                        <a:p>
                          <a:pPr algn="ctr" fontAlgn="b"/>
                          <a:r>
                            <a:rPr lang="en-US" sz="1100" b="0" i="0" u="none" strike="noStrike">
                              <a:solidFill>
                                <a:srgbClr val="000000"/>
                              </a:solidFill>
                              <a:effectLst/>
                              <a:latin typeface="Book Antiqua" panose="02040602050305030304" pitchFamily="18" charset="0"/>
                            </a:rPr>
                            <a:t>10</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10.37</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5.14</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753</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0.58</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11.60</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0.045</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$268,734</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$7,643</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0.68</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Book Antiqua" panose="02040602050305030304" pitchFamily="18" charset="0"/>
                            </a:rPr>
                            <a:t>12.54</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Book Antiqua" panose="02040602050305030304" pitchFamily="18" charset="0"/>
                            </a:rPr>
                            <a:t>0.037</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Book Antiqua" panose="02040602050305030304" pitchFamily="18" charset="0"/>
                            </a:rPr>
                            <a:t>$343,209</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Book Antiqua" panose="02040602050305030304" pitchFamily="18" charset="0"/>
                            </a:rPr>
                            <a:t>-$2,643</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11"/>
                      </a:ext>
                    </a:extLst>
                  </a:tr>
                  <a:tr h="185172">
                    <a:tc>
                      <a:txBody>
                        <a:bodyPr/>
                        <a:lstStyle/>
                        <a:p>
                          <a:pPr algn="ctr" fontAlgn="b"/>
                          <a:r>
                            <a:rPr lang="en-US" sz="1100" b="0" i="0" u="none" strike="noStrike">
                              <a:solidFill>
                                <a:srgbClr val="000000"/>
                              </a:solidFill>
                              <a:effectLst/>
                              <a:latin typeface="Book Antiqua" panose="02040602050305030304" pitchFamily="18" charset="0"/>
                            </a:rPr>
                            <a:t>11</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5.13</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5.58</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718</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0.54</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11.39</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0.048</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$263,215</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$7,277</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0.65</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12.36</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0.039</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$324,950</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Book Antiqua" panose="02040602050305030304" pitchFamily="18" charset="0"/>
                            </a:rPr>
                            <a:t>-$2,277</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12"/>
                      </a:ext>
                    </a:extLst>
                  </a:tr>
                  <a:tr h="181519">
                    <a:tc>
                      <a:txBody>
                        <a:bodyPr/>
                        <a:lstStyle/>
                        <a:p>
                          <a:pPr algn="ctr" fontAlgn="b"/>
                          <a:r>
                            <a:rPr lang="en-US" sz="1100" b="0" i="0" u="none" strike="noStrike">
                              <a:solidFill>
                                <a:srgbClr val="000000"/>
                              </a:solidFill>
                              <a:effectLst/>
                              <a:latin typeface="Book Antiqua" panose="02040602050305030304" pitchFamily="18" charset="0"/>
                            </a:rPr>
                            <a:t>Average</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7.45</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5.31</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780</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0.56</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11.12</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0.05</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Book Antiqua" panose="02040602050305030304" pitchFamily="18" charset="0"/>
                            </a:rPr>
                            <a:t>$261,507</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$7,099</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0.64</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12.01</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0.04</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Book Antiqua" panose="02040602050305030304" pitchFamily="18" charset="0"/>
                            </a:rPr>
                            <a:t>$317,643</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Book Antiqua" panose="02040602050305030304" pitchFamily="18" charset="0"/>
                            </a:rPr>
                            <a:t>-$2,099</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13"/>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1334623766"/>
                  </p:ext>
                </p:extLst>
              </p:nvPr>
            </p:nvGraphicFramePr>
            <p:xfrm>
              <a:off x="384765" y="748156"/>
              <a:ext cx="8283681" cy="2598156"/>
            </p:xfrm>
            <a:graphic>
              <a:graphicData uri="http://schemas.openxmlformats.org/drawingml/2006/table">
                <a:tbl>
                  <a:tblPr/>
                  <a:tblGrid>
                    <a:gridCol w="878213"/>
                    <a:gridCol w="568255"/>
                    <a:gridCol w="370227"/>
                    <a:gridCol w="559646"/>
                    <a:gridCol w="284128"/>
                    <a:gridCol w="353007"/>
                    <a:gridCol w="640359"/>
                    <a:gridCol w="710559"/>
                    <a:gridCol w="921391"/>
                    <a:gridCol w="279400"/>
                    <a:gridCol w="381000"/>
                    <a:gridCol w="626627"/>
                    <a:gridCol w="749300"/>
                    <a:gridCol w="961569"/>
                  </a:tblGrid>
                  <a:tr h="181519">
                    <a:tc>
                      <a:txBody>
                        <a:bodyPr/>
                        <a:lstStyle/>
                        <a:p>
                          <a:pPr algn="ctr" fontAlgn="b"/>
                          <a:r>
                            <a:rPr lang="en-US" sz="1100" b="0" i="0" u="none" strike="noStrike" dirty="0">
                              <a:solidFill>
                                <a:srgbClr val="000000"/>
                              </a:solidFill>
                              <a:effectLst/>
                              <a:latin typeface="Book Antiqua" panose="02040602050305030304" pitchFamily="18" charset="0"/>
                            </a:rPr>
                            <a:t> </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3">
                      <a:txBody>
                        <a:bodyPr/>
                        <a:lstStyle/>
                        <a:p>
                          <a:pPr algn="ctr" fontAlgn="b"/>
                          <a:r>
                            <a:rPr lang="en-US" sz="1100" b="0" i="0" u="none" strike="noStrike">
                              <a:solidFill>
                                <a:srgbClr val="000000"/>
                              </a:solidFill>
                              <a:effectLst/>
                              <a:latin typeface="Book Antiqua" panose="02040602050305030304" pitchFamily="18" charset="0"/>
                            </a:rPr>
                            <a:t>Data</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BEEC"/>
                        </a:solidFill>
                      </a:tcPr>
                    </a:tc>
                    <a:tc hMerge="1">
                      <a:txBody>
                        <a:bodyPr/>
                        <a:lstStyle/>
                        <a:p>
                          <a:endParaRPr lang="en-US"/>
                        </a:p>
                      </a:txBody>
                      <a:tcPr/>
                    </a:tc>
                    <a:tc hMerge="1">
                      <a:txBody>
                        <a:bodyPr/>
                        <a:lstStyle/>
                        <a:p>
                          <a:endParaRPr lang="en-US"/>
                        </a:p>
                      </a:txBody>
                      <a:tcPr/>
                    </a:tc>
                    <a:tc gridSpan="5">
                      <a:txBody>
                        <a:bodyPr/>
                        <a:lstStyle/>
                        <a:p>
                          <a:pPr algn="ctr" fontAlgn="b"/>
                          <a:r>
                            <a:rPr lang="en-US" sz="1100" b="0" i="0" u="none" strike="noStrike" dirty="0">
                              <a:solidFill>
                                <a:srgbClr val="000000"/>
                              </a:solidFill>
                              <a:effectLst/>
                              <a:latin typeface="Book Antiqua" panose="02040602050305030304" pitchFamily="18" charset="0"/>
                            </a:rPr>
                            <a:t>Provider</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BBEDB"/>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fontAlgn="b"/>
                          <a:r>
                            <a:rPr lang="en-US" sz="1100" b="0" i="0" u="none" strike="noStrike">
                              <a:solidFill>
                                <a:srgbClr val="000000"/>
                              </a:solidFill>
                              <a:effectLst/>
                              <a:latin typeface="Book Antiqua" panose="02040602050305030304" pitchFamily="18" charset="0"/>
                            </a:rPr>
                            <a:t>Social Optimal</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ctr" fontAlgn="b"/>
                          <a:r>
                            <a:rPr lang="en-US" sz="1100" b="0" i="0" u="none" strike="noStrike">
                              <a:solidFill>
                                <a:srgbClr val="000000"/>
                              </a:solidFill>
                              <a:effectLst/>
                              <a:latin typeface="Book Antiqua" panose="02040602050305030304" pitchFamily="18" charset="0"/>
                            </a:rPr>
                            <a:t>Citation Policy </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7C80"/>
                        </a:solidFill>
                      </a:tcPr>
                    </a:tc>
                  </a:tr>
                  <a:tr h="234756">
                    <a:tc>
                      <a:txBody>
                        <a:bodyPr/>
                        <a:lstStyle/>
                        <a:p>
                          <a:pPr algn="ctr" fontAlgn="b"/>
                          <a:r>
                            <a:rPr lang="en-US" sz="1100" b="0" i="0" u="none" strike="noStrike" dirty="0">
                              <a:solidFill>
                                <a:srgbClr val="000000"/>
                              </a:solidFill>
                              <a:effectLst/>
                              <a:latin typeface="Book Antiqua" panose="02040602050305030304" pitchFamily="18" charset="0"/>
                            </a:rPr>
                            <a:t>Region</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endParaRPr lang="en-US"/>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rotWithShape="0">
                          <a:blip r:embed="rId4"/>
                          <a:stretch>
                            <a:fillRect l="-155914" t="-92105" r="-1208602" b="-981579"/>
                          </a:stretch>
                        </a:blipFill>
                      </a:tcPr>
                    </a:tc>
                    <a:tc>
                      <a:txBody>
                        <a:bodyPr/>
                        <a:lstStyle/>
                        <a:p>
                          <a:endParaRPr lang="en-US"/>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rotWithShape="0">
                          <a:blip r:embed="rId4"/>
                          <a:stretch>
                            <a:fillRect l="-390164" t="-92105" r="-1742623" b="-981579"/>
                          </a:stretch>
                        </a:blipFill>
                      </a:tcPr>
                    </a:tc>
                    <a:tc>
                      <a:txBody>
                        <a:bodyPr/>
                        <a:lstStyle/>
                        <a:p>
                          <a:endParaRPr lang="en-US"/>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rotWithShape="0">
                          <a:blip r:embed="rId4"/>
                          <a:stretch>
                            <a:fillRect l="-325000" t="-92105" r="-1055435" b="-981579"/>
                          </a:stretch>
                        </a:blipFill>
                      </a:tcPr>
                    </a:tc>
                    <a:tc>
                      <a:txBody>
                        <a:bodyPr/>
                        <a:lstStyle/>
                        <a:p>
                          <a:endParaRPr lang="en-US"/>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rotWithShape="0">
                          <a:blip r:embed="rId4"/>
                          <a:stretch>
                            <a:fillRect l="-850000" t="-92105" r="-2010870" b="-981579"/>
                          </a:stretch>
                        </a:blipFill>
                      </a:tcPr>
                    </a:tc>
                    <a:tc>
                      <a:txBody>
                        <a:bodyPr/>
                        <a:lstStyle/>
                        <a:p>
                          <a:endParaRPr lang="en-US"/>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rotWithShape="0">
                          <a:blip r:embed="rId4"/>
                          <a:stretch>
                            <a:fillRect l="-753448" t="-92105" r="-1494828" b="-981579"/>
                          </a:stretch>
                        </a:blipFill>
                      </a:tcPr>
                    </a:tc>
                    <a:tc>
                      <a:txBody>
                        <a:bodyPr/>
                        <a:lstStyle/>
                        <a:p>
                          <a:endParaRPr lang="en-US"/>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rotWithShape="0">
                          <a:blip r:embed="rId4"/>
                          <a:stretch>
                            <a:fillRect l="-471429" t="-92105" r="-725714" b="-981579"/>
                          </a:stretch>
                        </a:blipFill>
                      </a:tcPr>
                    </a:tc>
                    <a:tc>
                      <a:txBody>
                        <a:bodyPr/>
                        <a:lstStyle/>
                        <a:p>
                          <a:endParaRPr lang="en-US"/>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rotWithShape="0">
                          <a:blip r:embed="rId4"/>
                          <a:stretch>
                            <a:fillRect l="-512821" t="-92105" r="-551282" b="-981579"/>
                          </a:stretch>
                        </a:blipFill>
                      </a:tcPr>
                    </a:tc>
                    <a:tc>
                      <a:txBody>
                        <a:bodyPr/>
                        <a:lstStyle/>
                        <a:p>
                          <a:endParaRPr lang="en-US"/>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rotWithShape="0">
                          <a:blip r:embed="rId4"/>
                          <a:stretch>
                            <a:fillRect l="-474834" t="-92105" r="-327152" b="-981579"/>
                          </a:stretch>
                        </a:blipFill>
                      </a:tcPr>
                    </a:tc>
                    <a:tc>
                      <a:txBody>
                        <a:bodyPr/>
                        <a:lstStyle/>
                        <a:p>
                          <a:endParaRPr lang="en-US"/>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rotWithShape="0">
                          <a:blip r:embed="rId4"/>
                          <a:stretch>
                            <a:fillRect l="-1886957" t="-92105" r="-973913" b="-981579"/>
                          </a:stretch>
                        </a:blipFill>
                      </a:tcPr>
                    </a:tc>
                    <a:tc>
                      <a:txBody>
                        <a:bodyPr/>
                        <a:lstStyle/>
                        <a:p>
                          <a:endParaRPr lang="en-US"/>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rotWithShape="0">
                          <a:blip r:embed="rId4"/>
                          <a:stretch>
                            <a:fillRect l="-1450794" t="-92105" r="-611111" b="-981579"/>
                          </a:stretch>
                        </a:blipFill>
                      </a:tcPr>
                    </a:tc>
                    <a:tc>
                      <a:txBody>
                        <a:bodyPr/>
                        <a:lstStyle/>
                        <a:p>
                          <a:endParaRPr lang="en-US"/>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rotWithShape="0">
                          <a:blip r:embed="rId4"/>
                          <a:stretch>
                            <a:fillRect l="-957843" t="-92105" r="-277451" b="-981579"/>
                          </a:stretch>
                        </a:blipFill>
                      </a:tcPr>
                    </a:tc>
                    <a:tc>
                      <a:txBody>
                        <a:bodyPr/>
                        <a:lstStyle/>
                        <a:p>
                          <a:endParaRPr lang="en-US"/>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rotWithShape="0">
                          <a:blip r:embed="rId4"/>
                          <a:stretch>
                            <a:fillRect l="-877236" t="-92105" r="-130081" b="-981579"/>
                          </a:stretch>
                        </a:blipFill>
                      </a:tcPr>
                    </a:tc>
                    <a:tc>
                      <a:txBody>
                        <a:bodyPr/>
                        <a:lstStyle/>
                        <a:p>
                          <a:endParaRPr lang="en-US"/>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blipFill rotWithShape="0">
                          <a:blip r:embed="rId4"/>
                          <a:stretch>
                            <a:fillRect l="-760759" t="-92105" r="-1266" b="-981579"/>
                          </a:stretch>
                        </a:blipFill>
                      </a:tcPr>
                    </a:tc>
                  </a:tr>
                  <a:tr h="181519">
                    <a:tc>
                      <a:txBody>
                        <a:bodyPr/>
                        <a:lstStyle/>
                        <a:p>
                          <a:pPr algn="ctr" fontAlgn="b"/>
                          <a:r>
                            <a:rPr lang="en-US" sz="1100" b="0" i="0" u="none" strike="noStrike">
                              <a:solidFill>
                                <a:srgbClr val="70AD47"/>
                              </a:solidFill>
                              <a:effectLst/>
                              <a:latin typeface="Book Antiqua" panose="02040602050305030304" pitchFamily="18" charset="0"/>
                            </a:rPr>
                            <a:t>1</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70AD47"/>
                              </a:solidFill>
                              <a:effectLst/>
                              <a:latin typeface="Book Antiqua" panose="02040602050305030304" pitchFamily="18" charset="0"/>
                            </a:rPr>
                            <a:t>5.57</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70AD47"/>
                              </a:solidFill>
                              <a:effectLst/>
                              <a:latin typeface="Book Antiqua" panose="02040602050305030304" pitchFamily="18" charset="0"/>
                            </a:rPr>
                            <a:t>5.05</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70AD47"/>
                              </a:solidFill>
                              <a:effectLst/>
                              <a:latin typeface="Book Antiqua" panose="02040602050305030304" pitchFamily="18" charset="0"/>
                            </a:rPr>
                            <a:t>834</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70AD47"/>
                              </a:solidFill>
                              <a:effectLst/>
                              <a:latin typeface="Book Antiqua" panose="02040602050305030304" pitchFamily="18" charset="0"/>
                            </a:rPr>
                            <a:t>0.56</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70AD47"/>
                              </a:solidFill>
                              <a:effectLst/>
                              <a:latin typeface="Book Antiqua" panose="02040602050305030304" pitchFamily="18" charset="0"/>
                            </a:rPr>
                            <a:t>10.37</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70AD47"/>
                              </a:solidFill>
                              <a:effectLst/>
                              <a:latin typeface="Book Antiqua" panose="02040602050305030304" pitchFamily="18" charset="0"/>
                            </a:rPr>
                            <a:t>0.051</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70AD47"/>
                              </a:solidFill>
                              <a:effectLst/>
                              <a:latin typeface="Book Antiqua" panose="02040602050305030304" pitchFamily="18" charset="0"/>
                            </a:rPr>
                            <a:t>$259,302</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70AD47"/>
                              </a:solidFill>
                              <a:effectLst/>
                              <a:latin typeface="Book Antiqua" panose="02040602050305030304" pitchFamily="18" charset="0"/>
                            </a:rPr>
                            <a:t>$6,259</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70AD47"/>
                              </a:solidFill>
                              <a:effectLst/>
                              <a:latin typeface="Book Antiqua" panose="02040602050305030304" pitchFamily="18" charset="0"/>
                            </a:rPr>
                            <a:t>0.60</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70AD47"/>
                              </a:solidFill>
                              <a:effectLst/>
                              <a:latin typeface="Book Antiqua" panose="02040602050305030304" pitchFamily="18" charset="0"/>
                            </a:rPr>
                            <a:t>11.12</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70AD47"/>
                              </a:solidFill>
                              <a:effectLst/>
                              <a:latin typeface="Book Antiqua" panose="02040602050305030304" pitchFamily="18" charset="0"/>
                            </a:rPr>
                            <a:t>0.049</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70AD47"/>
                              </a:solidFill>
                              <a:effectLst/>
                              <a:latin typeface="Book Antiqua" panose="02040602050305030304" pitchFamily="18" charset="0"/>
                            </a:rPr>
                            <a:t>$289,292</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70AD47"/>
                              </a:solidFill>
                              <a:effectLst/>
                              <a:latin typeface="Book Antiqua" panose="02040602050305030304" pitchFamily="18" charset="0"/>
                            </a:rPr>
                            <a:t>-$1,259</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81519">
                    <a:tc>
                      <a:txBody>
                        <a:bodyPr/>
                        <a:lstStyle/>
                        <a:p>
                          <a:pPr algn="ctr" fontAlgn="b"/>
                          <a:r>
                            <a:rPr lang="en-US" sz="1100" b="0" i="0" u="none" strike="noStrike">
                              <a:solidFill>
                                <a:srgbClr val="000000"/>
                              </a:solidFill>
                              <a:effectLst/>
                              <a:latin typeface="Book Antiqua" panose="02040602050305030304" pitchFamily="18" charset="0"/>
                            </a:rPr>
                            <a:t>2</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Book Antiqua" panose="02040602050305030304" pitchFamily="18" charset="0"/>
                            </a:rPr>
                            <a:t>5.99</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4.98</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Book Antiqua" panose="02040602050305030304" pitchFamily="18" charset="0"/>
                            </a:rPr>
                            <a:t>818</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0.52</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10.58</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0.055</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$228,077</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Book Antiqua" panose="02040602050305030304" pitchFamily="18" charset="0"/>
                            </a:rPr>
                            <a:t>$7,392</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0.62</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11.61</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0.047</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$288,030</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-$2,392</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81519">
                    <a:tc>
                      <a:txBody>
                        <a:bodyPr/>
                        <a:lstStyle/>
                        <a:p>
                          <a:pPr algn="ctr" fontAlgn="b"/>
                          <a:r>
                            <a:rPr lang="en-US" sz="1100" b="0" i="0" u="none" strike="noStrike">
                              <a:solidFill>
                                <a:srgbClr val="FF0000"/>
                              </a:solidFill>
                              <a:effectLst/>
                              <a:latin typeface="Book Antiqua" panose="02040602050305030304" pitchFamily="18" charset="0"/>
                            </a:rPr>
                            <a:t>3</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FF0000"/>
                              </a:solidFill>
                              <a:effectLst/>
                              <a:latin typeface="Book Antiqua" panose="02040602050305030304" pitchFamily="18" charset="0"/>
                            </a:rPr>
                            <a:t>8.51</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FF0000"/>
                              </a:solidFill>
                              <a:effectLst/>
                              <a:latin typeface="Book Antiqua" panose="02040602050305030304" pitchFamily="18" charset="0"/>
                            </a:rPr>
                            <a:t>5.49</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FF0000"/>
                              </a:solidFill>
                              <a:effectLst/>
                              <a:latin typeface="Book Antiqua" panose="02040602050305030304" pitchFamily="18" charset="0"/>
                            </a:rPr>
                            <a:t>728</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FF0000"/>
                              </a:solidFill>
                              <a:effectLst/>
                              <a:latin typeface="Book Antiqua" panose="02040602050305030304" pitchFamily="18" charset="0"/>
                            </a:rPr>
                            <a:t>0.55</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FF0000"/>
                              </a:solidFill>
                              <a:effectLst/>
                              <a:latin typeface="Book Antiqua" panose="02040602050305030304" pitchFamily="18" charset="0"/>
                            </a:rPr>
                            <a:t>11.78</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FF0000"/>
                              </a:solidFill>
                              <a:effectLst/>
                              <a:latin typeface="Book Antiqua" panose="02040602050305030304" pitchFamily="18" charset="0"/>
                            </a:rPr>
                            <a:t>0.045</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FF0000"/>
                              </a:solidFill>
                              <a:effectLst/>
                              <a:latin typeface="Book Antiqua" panose="02040602050305030304" pitchFamily="18" charset="0"/>
                            </a:rPr>
                            <a:t>$274,472</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FF0000"/>
                              </a:solidFill>
                              <a:effectLst/>
                              <a:latin typeface="Book Antiqua" panose="02040602050305030304" pitchFamily="18" charset="0"/>
                            </a:rPr>
                            <a:t>$8,132</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FF0000"/>
                              </a:solidFill>
                              <a:effectLst/>
                              <a:latin typeface="Book Antiqua" panose="02040602050305030304" pitchFamily="18" charset="0"/>
                            </a:rPr>
                            <a:t>0.69</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FF0000"/>
                              </a:solidFill>
                              <a:effectLst/>
                              <a:latin typeface="Book Antiqua" panose="02040602050305030304" pitchFamily="18" charset="0"/>
                            </a:rPr>
                            <a:t>12.87</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FF0000"/>
                              </a:solidFill>
                              <a:effectLst/>
                              <a:latin typeface="Book Antiqua" panose="02040602050305030304" pitchFamily="18" charset="0"/>
                            </a:rPr>
                            <a:t>0.034</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FF0000"/>
                              </a:solidFill>
                              <a:effectLst/>
                              <a:latin typeface="Book Antiqua" panose="02040602050305030304" pitchFamily="18" charset="0"/>
                            </a:rPr>
                            <a:t>$367,216</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FF0000"/>
                              </a:solidFill>
                              <a:effectLst/>
                              <a:latin typeface="Book Antiqua" panose="02040602050305030304" pitchFamily="18" charset="0"/>
                            </a:rPr>
                            <a:t>-$3,132</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81519">
                    <a:tc>
                      <a:txBody>
                        <a:bodyPr/>
                        <a:lstStyle/>
                        <a:p>
                          <a:pPr algn="ctr" fontAlgn="b"/>
                          <a:r>
                            <a:rPr lang="en-US" sz="1100" b="0" i="0" u="none" strike="noStrike">
                              <a:solidFill>
                                <a:srgbClr val="000000"/>
                              </a:solidFill>
                              <a:effectLst/>
                              <a:latin typeface="Book Antiqua" panose="02040602050305030304" pitchFamily="18" charset="0"/>
                            </a:rPr>
                            <a:t>4</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7.99</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5.63</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627</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0.60</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11.94</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0.044</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$283,909</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$7,080</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0.69</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12.74</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0.037</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$343,089</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-$2,080</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81519">
                    <a:tc>
                      <a:txBody>
                        <a:bodyPr/>
                        <a:lstStyle/>
                        <a:p>
                          <a:pPr algn="ctr" fontAlgn="b"/>
                          <a:r>
                            <a:rPr lang="en-US" sz="1100" b="0" i="0" u="none" strike="noStrike">
                              <a:solidFill>
                                <a:srgbClr val="000000"/>
                              </a:solidFill>
                              <a:effectLst/>
                              <a:latin typeface="Book Antiqua" panose="02040602050305030304" pitchFamily="18" charset="0"/>
                            </a:rPr>
                            <a:t>5</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4.87</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5.72</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904</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0.55</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11.13</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0.049</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$267,067</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Book Antiqua" panose="02040602050305030304" pitchFamily="18" charset="0"/>
                            </a:rPr>
                            <a:t>$6,840</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0.63</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12.00</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0.044</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$315,082</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-$1,840</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81519">
                    <a:tc>
                      <a:txBody>
                        <a:bodyPr/>
                        <a:lstStyle/>
                        <a:p>
                          <a:pPr algn="ctr" fontAlgn="b"/>
                          <a:r>
                            <a:rPr lang="en-US" sz="1100" b="0" i="0" u="none" strike="noStrike">
                              <a:solidFill>
                                <a:srgbClr val="000000"/>
                              </a:solidFill>
                              <a:effectLst/>
                              <a:latin typeface="Book Antiqua" panose="02040602050305030304" pitchFamily="18" charset="0"/>
                            </a:rPr>
                            <a:t>6</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10.45</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5.21</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677</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0.61</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11.50</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0.046</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$272,461</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$6,790</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0.67</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12.25</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0.042</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$317,394</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-$1,790</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81519">
                    <a:tc>
                      <a:txBody>
                        <a:bodyPr/>
                        <a:lstStyle/>
                        <a:p>
                          <a:pPr algn="ctr" fontAlgn="b"/>
                          <a:r>
                            <a:rPr lang="en-US" sz="1100" b="0" i="0" u="none" strike="noStrike">
                              <a:solidFill>
                                <a:srgbClr val="000000"/>
                              </a:solidFill>
                              <a:effectLst/>
                              <a:latin typeface="Book Antiqua" panose="02040602050305030304" pitchFamily="18" charset="0"/>
                            </a:rPr>
                            <a:t>7</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5.64</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5.27</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920</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Book Antiqua" panose="02040602050305030304" pitchFamily="18" charset="0"/>
                            </a:rPr>
                            <a:t>0.55</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10.74</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Book Antiqua" panose="02040602050305030304" pitchFamily="18" charset="0"/>
                            </a:rPr>
                            <a:t>0.05</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$256,210</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$6,746</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0.61</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11.60</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0.047</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$303,094</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-$1,746</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81519">
                    <a:tc>
                      <a:txBody>
                        <a:bodyPr/>
                        <a:lstStyle/>
                        <a:p>
                          <a:pPr algn="ctr" fontAlgn="b"/>
                          <a:r>
                            <a:rPr lang="en-US" sz="1100" b="0" i="0" u="none" strike="noStrike">
                              <a:solidFill>
                                <a:srgbClr val="000000"/>
                              </a:solidFill>
                              <a:effectLst/>
                              <a:latin typeface="Book Antiqua" panose="02040602050305030304" pitchFamily="18" charset="0"/>
                            </a:rPr>
                            <a:t>8</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14.02</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5.26</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658</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0.59</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Book Antiqua" panose="02040602050305030304" pitchFamily="18" charset="0"/>
                            </a:rPr>
                            <a:t>11.73</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Book Antiqua" panose="02040602050305030304" pitchFamily="18" charset="0"/>
                            </a:rPr>
                            <a:t>0.044</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Book Antiqua" panose="02040602050305030304" pitchFamily="18" charset="0"/>
                            </a:rPr>
                            <a:t>$284,139</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Book Antiqua" panose="02040602050305030304" pitchFamily="18" charset="0"/>
                            </a:rPr>
                            <a:t>$7,632</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0.69</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12.66</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0.035</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$358,202</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-$2,632</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81519">
                    <a:tc>
                      <a:txBody>
                        <a:bodyPr/>
                        <a:lstStyle/>
                        <a:p>
                          <a:pPr algn="ctr" fontAlgn="b"/>
                          <a:r>
                            <a:rPr lang="en-US" sz="1100" b="0" i="0" u="none" strike="noStrike">
                              <a:solidFill>
                                <a:srgbClr val="000000"/>
                              </a:solidFill>
                              <a:effectLst/>
                              <a:latin typeface="Book Antiqua" panose="02040602050305030304" pitchFamily="18" charset="0"/>
                            </a:rPr>
                            <a:t>9</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3.41</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5.05</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945</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0.48</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Book Antiqua" panose="02040602050305030304" pitchFamily="18" charset="0"/>
                            </a:rPr>
                            <a:t>9.53</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0.059</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$218,991</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Book Antiqua" panose="02040602050305030304" pitchFamily="18" charset="0"/>
                            </a:rPr>
                            <a:t>$6,298</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Book Antiqua" panose="02040602050305030304" pitchFamily="18" charset="0"/>
                            </a:rPr>
                            <a:t>0.53</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Book Antiqua" panose="02040602050305030304" pitchFamily="18" charset="0"/>
                            </a:rPr>
                            <a:t>10.40</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Book Antiqua" panose="02040602050305030304" pitchFamily="18" charset="0"/>
                            </a:rPr>
                            <a:t>0.058</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Book Antiqua" panose="02040602050305030304" pitchFamily="18" charset="0"/>
                            </a:rPr>
                            <a:t>$244,518</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-$1,298</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81519">
                    <a:tc>
                      <a:txBody>
                        <a:bodyPr/>
                        <a:lstStyle/>
                        <a:p>
                          <a:pPr algn="ctr" fontAlgn="b"/>
                          <a:r>
                            <a:rPr lang="en-US" sz="1100" b="0" i="0" u="none" strike="noStrike">
                              <a:solidFill>
                                <a:srgbClr val="000000"/>
                              </a:solidFill>
                              <a:effectLst/>
                              <a:latin typeface="Book Antiqua" panose="02040602050305030304" pitchFamily="18" charset="0"/>
                            </a:rPr>
                            <a:t>10</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10.37</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5.14</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753</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0.58</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11.60</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0.045</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$268,734</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$7,643</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0.68</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Book Antiqua" panose="02040602050305030304" pitchFamily="18" charset="0"/>
                            </a:rPr>
                            <a:t>12.54</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Book Antiqua" panose="02040602050305030304" pitchFamily="18" charset="0"/>
                            </a:rPr>
                            <a:t>0.037</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Book Antiqua" panose="02040602050305030304" pitchFamily="18" charset="0"/>
                            </a:rPr>
                            <a:t>$343,209</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Book Antiqua" panose="02040602050305030304" pitchFamily="18" charset="0"/>
                            </a:rPr>
                            <a:t>-$2,643</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85172">
                    <a:tc>
                      <a:txBody>
                        <a:bodyPr/>
                        <a:lstStyle/>
                        <a:p>
                          <a:pPr algn="ctr" fontAlgn="b"/>
                          <a:r>
                            <a:rPr lang="en-US" sz="1100" b="0" i="0" u="none" strike="noStrike">
                              <a:solidFill>
                                <a:srgbClr val="000000"/>
                              </a:solidFill>
                              <a:effectLst/>
                              <a:latin typeface="Book Antiqua" panose="02040602050305030304" pitchFamily="18" charset="0"/>
                            </a:rPr>
                            <a:t>11</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5.13</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5.58</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718</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0.54</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11.39</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0.048</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$263,215</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$7,277</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0.65</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12.36</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0.039</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$324,950</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Book Antiqua" panose="02040602050305030304" pitchFamily="18" charset="0"/>
                            </a:rPr>
                            <a:t>-$2,277</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81519">
                    <a:tc>
                      <a:txBody>
                        <a:bodyPr/>
                        <a:lstStyle/>
                        <a:p>
                          <a:pPr algn="ctr" fontAlgn="b"/>
                          <a:r>
                            <a:rPr lang="en-US" sz="1100" b="0" i="0" u="none" strike="noStrike">
                              <a:solidFill>
                                <a:srgbClr val="000000"/>
                              </a:solidFill>
                              <a:effectLst/>
                              <a:latin typeface="Book Antiqua" panose="02040602050305030304" pitchFamily="18" charset="0"/>
                            </a:rPr>
                            <a:t>Average</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7.45</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5.31</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780</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0.56</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11.12</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0.05</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Book Antiqua" panose="02040602050305030304" pitchFamily="18" charset="0"/>
                            </a:rPr>
                            <a:t>$261,507</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$7,099</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0.64</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12.01</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Book Antiqua" panose="02040602050305030304" pitchFamily="18" charset="0"/>
                            </a:rPr>
                            <a:t>0.04</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Book Antiqua" panose="02040602050305030304" pitchFamily="18" charset="0"/>
                            </a:rPr>
                            <a:t>$317,643</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Book Antiqua" panose="02040602050305030304" pitchFamily="18" charset="0"/>
                            </a:rPr>
                            <a:t>-$2,099</a:t>
                          </a:r>
                        </a:p>
                      </a:txBody>
                      <a:tcPr marL="6259" marR="6259" marT="62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mc:Fallback>
      </mc:AlternateContent>
      <p:sp>
        <p:nvSpPr>
          <p:cNvPr id="6" name="Rectangle 5"/>
          <p:cNvSpPr/>
          <p:nvPr/>
        </p:nvSpPr>
        <p:spPr>
          <a:xfrm>
            <a:off x="3006409" y="152807"/>
            <a:ext cx="3414717" cy="425501"/>
          </a:xfrm>
          <a:prstGeom prst="rect">
            <a:avLst/>
          </a:prstGeom>
        </p:spPr>
        <p:txBody>
          <a:bodyPr wrap="none">
            <a:spAutoFit/>
          </a:bodyPr>
          <a:lstStyle/>
          <a:p>
            <a:pPr algn="ctr" defTabSz="685800">
              <a:lnSpc>
                <a:spcPct val="90000"/>
              </a:lnSpc>
              <a:spcBef>
                <a:spcPts val="750"/>
              </a:spcBef>
            </a:pPr>
            <a:r>
              <a:rPr lang="en-US" sz="2400" dirty="0">
                <a:solidFill>
                  <a:schemeClr val="accent1">
                    <a:lumMod val="75000"/>
                  </a:schemeClr>
                </a:solidFill>
                <a:latin typeface="Book Antiqua" panose="02040602050305030304" pitchFamily="18" charset="0"/>
              </a:rPr>
              <a:t>Optimal Citation Policy</a:t>
            </a:r>
          </a:p>
        </p:txBody>
      </p:sp>
      <p:pic>
        <p:nvPicPr>
          <p:cNvPr id="2" name="Picture 1"/>
          <p:cNvPicPr>
            <a:picLocks noChangeAspect="1"/>
          </p:cNvPicPr>
          <p:nvPr/>
        </p:nvPicPr>
        <p:blipFill>
          <a:blip r:embed="rId5"/>
          <a:stretch>
            <a:fillRect/>
          </a:stretch>
        </p:blipFill>
        <p:spPr>
          <a:xfrm>
            <a:off x="2301875" y="3706812"/>
            <a:ext cx="4095750" cy="676275"/>
          </a:xfrm>
          <a:prstGeom prst="rect">
            <a:avLst/>
          </a:prstGeom>
        </p:spPr>
      </p:pic>
    </p:spTree>
    <p:extLst>
      <p:ext uri="{BB962C8B-B14F-4D97-AF65-F5344CB8AC3E}">
        <p14:creationId xmlns:p14="http://schemas.microsoft.com/office/powerpoint/2010/main" val="337162824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0" y="4760913"/>
            <a:ext cx="2057400" cy="274637"/>
          </a:xfrm>
          <a:prstGeom prst="rect">
            <a:avLst/>
          </a:prstGeom>
        </p:spPr>
        <p:txBody>
          <a:bodyPr/>
          <a:lstStyle/>
          <a:p>
            <a:fld id="{69E57DC2-970A-4B3E-BB1C-7A09969E49DF}" type="slidenum">
              <a:rPr lang="en-US" smtClean="0"/>
              <a:pPr/>
              <a:t>28</a:t>
            </a:fld>
            <a:endParaRPr lang="en-US" dirty="0"/>
          </a:p>
        </p:txBody>
      </p:sp>
      <p:pic>
        <p:nvPicPr>
          <p:cNvPr id="6" name="Picture 5"/>
          <p:cNvPicPr>
            <a:picLocks noChangeAspect="1"/>
          </p:cNvPicPr>
          <p:nvPr/>
        </p:nvPicPr>
        <p:blipFill>
          <a:blip r:embed="rId2"/>
          <a:stretch>
            <a:fillRect/>
          </a:stretch>
        </p:blipFill>
        <p:spPr>
          <a:xfrm>
            <a:off x="459891" y="660488"/>
            <a:ext cx="8224217" cy="3822523"/>
          </a:xfrm>
          <a:prstGeom prst="rect">
            <a:avLst/>
          </a:prstGeom>
        </p:spPr>
      </p:pic>
    </p:spTree>
    <p:extLst>
      <p:ext uri="{BB962C8B-B14F-4D97-AF65-F5344CB8AC3E}">
        <p14:creationId xmlns:p14="http://schemas.microsoft.com/office/powerpoint/2010/main" val="141223458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p:cNvSpPr>
            <a:spLocks noGrp="1"/>
          </p:cNvSpPr>
          <p:nvPr>
            <p:ph type="sldNum" sz="quarter" idx="4294967295"/>
          </p:nvPr>
        </p:nvSpPr>
        <p:spPr>
          <a:xfrm>
            <a:off x="0" y="4760913"/>
            <a:ext cx="2057400" cy="274637"/>
          </a:xfrm>
          <a:prstGeom prst="rect">
            <a:avLst/>
          </a:prstGeom>
        </p:spPr>
        <p:txBody>
          <a:bodyPr/>
          <a:lstStyle/>
          <a:p>
            <a:fld id="{69E57DC2-970A-4B3E-BB1C-7A09969E49DF}" type="slidenum">
              <a:rPr lang="en-US" smtClean="0"/>
              <a:t>29</a:t>
            </a:fld>
            <a:endParaRPr lang="en-US" dirty="0"/>
          </a:p>
        </p:txBody>
      </p:sp>
      <p:pic>
        <p:nvPicPr>
          <p:cNvPr id="3" name="Picture 2"/>
          <p:cNvPicPr>
            <a:picLocks noChangeAspect="1"/>
          </p:cNvPicPr>
          <p:nvPr/>
        </p:nvPicPr>
        <p:blipFill>
          <a:blip r:embed="rId3"/>
          <a:stretch>
            <a:fillRect/>
          </a:stretch>
        </p:blipFill>
        <p:spPr>
          <a:xfrm>
            <a:off x="892385" y="557048"/>
            <a:ext cx="7157056" cy="3465676"/>
          </a:xfrm>
          <a:prstGeom prst="rect">
            <a:avLst/>
          </a:prstGeom>
        </p:spPr>
      </p:pic>
    </p:spTree>
    <p:extLst>
      <p:ext uri="{BB962C8B-B14F-4D97-AF65-F5344CB8AC3E}">
        <p14:creationId xmlns:p14="http://schemas.microsoft.com/office/powerpoint/2010/main" val="12147508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p:cNvSpPr>
            <a:spLocks noGrp="1"/>
          </p:cNvSpPr>
          <p:nvPr>
            <p:ph type="sldNum" sz="quarter" idx="4294967295"/>
          </p:nvPr>
        </p:nvSpPr>
        <p:spPr>
          <a:xfrm>
            <a:off x="0" y="4760913"/>
            <a:ext cx="2057400" cy="274637"/>
          </a:xfrm>
          <a:prstGeom prst="rect">
            <a:avLst/>
          </a:prstGeom>
        </p:spPr>
        <p:txBody>
          <a:bodyPr/>
          <a:lstStyle/>
          <a:p>
            <a:fld id="{69E57DC2-970A-4B3E-BB1C-7A09969E49DF}" type="slidenum">
              <a:rPr lang="en-US" smtClean="0"/>
              <a:t>30</a:t>
            </a:fld>
            <a:endParaRPr lang="en-US" dirty="0"/>
          </a:p>
        </p:txBody>
      </p:sp>
      <p:pic>
        <p:nvPicPr>
          <p:cNvPr id="3" name="Picture 2"/>
          <p:cNvPicPr>
            <a:picLocks noChangeAspect="1"/>
          </p:cNvPicPr>
          <p:nvPr/>
        </p:nvPicPr>
        <p:blipFill>
          <a:blip r:embed="rId2"/>
          <a:stretch>
            <a:fillRect/>
          </a:stretch>
        </p:blipFill>
        <p:spPr>
          <a:xfrm>
            <a:off x="788276" y="356569"/>
            <a:ext cx="7034997" cy="4135673"/>
          </a:xfrm>
          <a:prstGeom prst="rect">
            <a:avLst/>
          </a:prstGeom>
        </p:spPr>
      </p:pic>
    </p:spTree>
    <p:extLst>
      <p:ext uri="{BB962C8B-B14F-4D97-AF65-F5344CB8AC3E}">
        <p14:creationId xmlns:p14="http://schemas.microsoft.com/office/powerpoint/2010/main" val="1316773612"/>
      </p:ext>
    </p:extLst>
  </p:cSld>
  <p:clrMapOvr>
    <a:masterClrMapping/>
  </p:clrMapOvr>
  <p:transition spd="slow">
    <p:fad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840755" y="736695"/>
            <a:ext cx="5462489" cy="3670110"/>
          </a:xfrm>
          <a:prstGeom prst="rect">
            <a:avLst/>
          </a:prstGeom>
        </p:spPr>
      </p:pic>
      <p:sp>
        <p:nvSpPr>
          <p:cNvPr id="4" name="Slide Number Placeholder 3"/>
          <p:cNvSpPr>
            <a:spLocks noGrp="1"/>
          </p:cNvSpPr>
          <p:nvPr>
            <p:ph type="sldNum" sz="quarter" idx="4294967295"/>
          </p:nvPr>
        </p:nvSpPr>
        <p:spPr>
          <a:xfrm>
            <a:off x="0" y="4760913"/>
            <a:ext cx="2057400" cy="274637"/>
          </a:xfrm>
          <a:prstGeom prst="rect">
            <a:avLst/>
          </a:prstGeom>
        </p:spPr>
        <p:txBody>
          <a:bodyPr/>
          <a:lstStyle/>
          <a:p>
            <a:fld id="{69E57DC2-970A-4B3E-BB1C-7A09969E49DF}" type="slidenum">
              <a:rPr lang="en-US" smtClean="0"/>
              <a:pPr/>
              <a:t>31</a:t>
            </a:fld>
            <a:endParaRPr lang="en-US" dirty="0"/>
          </a:p>
        </p:txBody>
      </p:sp>
    </p:spTree>
    <p:extLst>
      <p:ext uri="{BB962C8B-B14F-4D97-AF65-F5344CB8AC3E}">
        <p14:creationId xmlns:p14="http://schemas.microsoft.com/office/powerpoint/2010/main" val="16540351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0" y="4760913"/>
            <a:ext cx="2057400" cy="274637"/>
          </a:xfrm>
          <a:prstGeom prst="rect">
            <a:avLst/>
          </a:prstGeom>
        </p:spPr>
        <p:txBody>
          <a:bodyPr/>
          <a:lstStyle/>
          <a:p>
            <a:fld id="{69E57DC2-970A-4B3E-BB1C-7A09969E49DF}" type="slidenum">
              <a:rPr lang="en-US" smtClean="0"/>
              <a:pPr/>
              <a:t>32</a:t>
            </a:fld>
            <a:endParaRPr lang="en-US" dirty="0"/>
          </a:p>
        </p:txBody>
      </p:sp>
      <p:pic>
        <p:nvPicPr>
          <p:cNvPr id="5" name="Picture 4"/>
          <p:cNvPicPr>
            <a:picLocks noChangeAspect="1"/>
          </p:cNvPicPr>
          <p:nvPr/>
        </p:nvPicPr>
        <p:blipFill>
          <a:blip r:embed="rId2"/>
          <a:stretch>
            <a:fillRect/>
          </a:stretch>
        </p:blipFill>
        <p:spPr>
          <a:xfrm>
            <a:off x="1638350" y="1163667"/>
            <a:ext cx="5035145" cy="2918409"/>
          </a:xfrm>
          <a:prstGeom prst="rect">
            <a:avLst/>
          </a:prstGeom>
        </p:spPr>
      </p:pic>
    </p:spTree>
    <p:extLst>
      <p:ext uri="{BB962C8B-B14F-4D97-AF65-F5344CB8AC3E}">
        <p14:creationId xmlns:p14="http://schemas.microsoft.com/office/powerpoint/2010/main" val="6462095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p:cNvSpPr>
            <a:spLocks noGrp="1"/>
          </p:cNvSpPr>
          <p:nvPr>
            <p:ph type="sldNum" sz="quarter" idx="4294967295"/>
          </p:nvPr>
        </p:nvSpPr>
        <p:spPr>
          <a:xfrm>
            <a:off x="0" y="4760913"/>
            <a:ext cx="2057400" cy="274637"/>
          </a:xfrm>
          <a:prstGeom prst="rect">
            <a:avLst/>
          </a:prstGeom>
        </p:spPr>
        <p:txBody>
          <a:bodyPr/>
          <a:lstStyle/>
          <a:p>
            <a:fld id="{69E57DC2-970A-4B3E-BB1C-7A09969E49DF}" type="slidenum">
              <a:rPr lang="en-US" smtClean="0"/>
              <a:t>33</a:t>
            </a:fld>
            <a:endParaRPr lang="en-US" dirty="0"/>
          </a:p>
        </p:txBody>
      </p:sp>
      <mc:AlternateContent xmlns:mc="http://schemas.openxmlformats.org/markup-compatibility/2006" xmlns:a14="http://schemas.microsoft.com/office/drawing/2010/main">
        <mc:Choice Requires="a14">
          <p:sp>
            <p:nvSpPr>
              <p:cNvPr id="3" name="Text Placeholder 2"/>
              <p:cNvSpPr txBox="1">
                <a:spLocks/>
              </p:cNvSpPr>
              <p:nvPr/>
            </p:nvSpPr>
            <p:spPr>
              <a:xfrm>
                <a:off x="313508" y="422673"/>
                <a:ext cx="7731941" cy="3713898"/>
              </a:xfrm>
              <a:prstGeom prst="rect">
                <a:avLst/>
              </a:prstGeom>
            </p:spPr>
            <p:txBody>
              <a:bodyPr>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spcAft>
                    <a:spcPts val="0"/>
                  </a:spcAft>
                </a:pPr>
                <a14:m>
                  <m:oMath xmlns:m="http://schemas.openxmlformats.org/officeDocument/2006/math">
                    <m:sSub>
                      <m:sSubPr>
                        <m:ctrlPr>
                          <a:rPr lang="en-US" i="1" smtClean="0">
                            <a:latin typeface="Cambria Math"/>
                          </a:rPr>
                        </m:ctrlPr>
                      </m:sSubPr>
                      <m:e>
                        <m:r>
                          <a:rPr lang="en-US">
                            <a:latin typeface="Cambria Math" panose="02040503050406030204" pitchFamily="18" charset="0"/>
                          </a:rPr>
                          <m:t>𝛼</m:t>
                        </m:r>
                      </m:e>
                      <m:sub>
                        <m:r>
                          <a:rPr lang="en-US" i="1" smtClean="0">
                            <a:latin typeface="Cambria Math" panose="02040503050406030204" pitchFamily="18" charset="0"/>
                          </a:rPr>
                          <m:t>𝑐</m:t>
                        </m:r>
                      </m:sub>
                    </m:sSub>
                    <m:r>
                      <a:rPr lang="en-US">
                        <a:latin typeface="Cambria Math" panose="02040503050406030204" pitchFamily="18" charset="0"/>
                      </a:rPr>
                      <m:t>:</m:t>
                    </m:r>
                  </m:oMath>
                </a14:m>
                <a:r>
                  <a:rPr lang="en-US" dirty="0">
                    <a:latin typeface="Cambria Math" panose="02040503050406030204" pitchFamily="18" charset="0"/>
                  </a:rPr>
                  <a:t> the </a:t>
                </a:r>
                <a:r>
                  <a:rPr lang="en-US" dirty="0" smtClean="0">
                    <a:latin typeface="Cambria Math" panose="02040503050406030204" pitchFamily="18" charset="0"/>
                  </a:rPr>
                  <a:t>probability of waiting </a:t>
                </a:r>
                <a14:m>
                  <m:oMath xmlns:m="http://schemas.openxmlformats.org/officeDocument/2006/math">
                    <m:sSub>
                      <m:sSubPr>
                        <m:ctrlPr>
                          <a:rPr lang="en-US" i="1" smtClean="0">
                            <a:latin typeface="Cambria Math"/>
                          </a:rPr>
                        </m:ctrlPr>
                      </m:sSubPr>
                      <m:e>
                        <m:r>
                          <a:rPr lang="en-US" i="1" smtClean="0">
                            <a:latin typeface="Cambria Math" panose="02040503050406030204" pitchFamily="18" charset="0"/>
                          </a:rPr>
                          <m:t>𝑤</m:t>
                        </m:r>
                      </m:e>
                      <m:sub>
                        <m:r>
                          <a:rPr lang="en-US" i="1" smtClean="0">
                            <a:latin typeface="Cambria Math" panose="02040503050406030204" pitchFamily="18" charset="0"/>
                          </a:rPr>
                          <m:t>𝑡</m:t>
                        </m:r>
                      </m:sub>
                    </m:sSub>
                  </m:oMath>
                </a14:m>
                <a:r>
                  <a:rPr lang="en-US" dirty="0" smtClean="0">
                    <a:latin typeface="Cambria Math" panose="02040503050406030204" pitchFamily="18" charset="0"/>
                  </a:rPr>
                  <a:t> or less</a:t>
                </a:r>
              </a:p>
              <a:p>
                <a:pPr fontAlgn="auto">
                  <a:spcAft>
                    <a:spcPts val="0"/>
                  </a:spcAft>
                </a:pPr>
                <a:endParaRPr lang="en-US" i="1" dirty="0" smtClean="0">
                  <a:latin typeface="Cambria Math" panose="02040503050406030204" pitchFamily="18" charset="0"/>
                </a:endParaRPr>
              </a:p>
              <a:p>
                <a:pPr fontAlgn="auto">
                  <a:spcAft>
                    <a:spcPts val="0"/>
                  </a:spcAft>
                </a:pPr>
                <a14:m>
                  <m:oMath xmlns:m="http://schemas.openxmlformats.org/officeDocument/2006/math">
                    <m:r>
                      <a:rPr lang="en-US" i="1" smtClean="0">
                        <a:latin typeface="Cambria Math" panose="02040503050406030204" pitchFamily="18" charset="0"/>
                      </a:rPr>
                      <m:t>𝑃</m:t>
                    </m:r>
                    <m:d>
                      <m:dPr>
                        <m:ctrlPr>
                          <a:rPr lang="en-US" i="1" smtClean="0">
                            <a:latin typeface="Cambria Math"/>
                          </a:rPr>
                        </m:ctrlPr>
                      </m:dPr>
                      <m:e>
                        <m:r>
                          <a:rPr lang="en-US" i="1" smtClean="0">
                            <a:latin typeface="Cambria Math" panose="02040503050406030204" pitchFamily="18" charset="0"/>
                          </a:rPr>
                          <m:t>𝑊</m:t>
                        </m:r>
                        <m:d>
                          <m:dPr>
                            <m:ctrlPr>
                              <a:rPr lang="en-US" i="1" smtClean="0">
                                <a:latin typeface="Cambria Math"/>
                              </a:rPr>
                            </m:ctrlPr>
                          </m:dPr>
                          <m:e>
                            <m:r>
                              <a:rPr lang="en-US" i="1" smtClean="0">
                                <a:latin typeface="Cambria Math" panose="02040503050406030204" pitchFamily="18" charset="0"/>
                              </a:rPr>
                              <m:t>𝑘</m:t>
                            </m:r>
                          </m:e>
                        </m:d>
                        <m:r>
                          <a:rPr lang="en-US" i="1" smtClean="0">
                            <a:latin typeface="Cambria Math" panose="02040503050406030204" pitchFamily="18" charset="0"/>
                          </a:rPr>
                          <m:t>≤</m:t>
                        </m:r>
                        <m:sSub>
                          <m:sSubPr>
                            <m:ctrlPr>
                              <a:rPr lang="en-US" i="1" smtClean="0">
                                <a:latin typeface="Cambria Math"/>
                              </a:rPr>
                            </m:ctrlPr>
                          </m:sSubPr>
                          <m:e>
                            <m:r>
                              <a:rPr lang="en-US" i="1" smtClean="0">
                                <a:latin typeface="Cambria Math" panose="02040503050406030204" pitchFamily="18" charset="0"/>
                              </a:rPr>
                              <m:t>𝑤</m:t>
                            </m:r>
                          </m:e>
                          <m:sub>
                            <m:r>
                              <a:rPr lang="en-US" i="1" smtClean="0">
                                <a:latin typeface="Cambria Math" panose="02040503050406030204" pitchFamily="18" charset="0"/>
                              </a:rPr>
                              <m:t>𝑡</m:t>
                            </m:r>
                          </m:sub>
                        </m:sSub>
                      </m:e>
                    </m:d>
                    <m:r>
                      <a:rPr lang="en-US" i="1" smtClean="0">
                        <a:latin typeface="Cambria Math" panose="02040503050406030204" pitchFamily="18" charset="0"/>
                      </a:rPr>
                      <m:t>=</m:t>
                    </m:r>
                    <m:sSub>
                      <m:sSubPr>
                        <m:ctrlPr>
                          <a:rPr lang="en-US" i="1" smtClean="0">
                            <a:latin typeface="Cambria Math"/>
                          </a:rPr>
                        </m:ctrlPr>
                      </m:sSubPr>
                      <m:e>
                        <m:r>
                          <a:rPr lang="en-US" i="1" smtClean="0">
                            <a:latin typeface="Cambria Math" panose="02040503050406030204" pitchFamily="18" charset="0"/>
                          </a:rPr>
                          <m:t>𝐹</m:t>
                        </m:r>
                      </m:e>
                      <m:sub>
                        <m:r>
                          <a:rPr lang="en-US" i="1" smtClean="0">
                            <a:latin typeface="Cambria Math" panose="02040503050406030204" pitchFamily="18" charset="0"/>
                          </a:rPr>
                          <m:t>𝑊</m:t>
                        </m:r>
                        <m:d>
                          <m:dPr>
                            <m:ctrlPr>
                              <a:rPr lang="en-US" i="1" smtClean="0">
                                <a:latin typeface="Cambria Math"/>
                              </a:rPr>
                            </m:ctrlPr>
                          </m:dPr>
                          <m:e>
                            <m:r>
                              <a:rPr lang="en-US" i="1" smtClean="0">
                                <a:latin typeface="Cambria Math" panose="02040503050406030204" pitchFamily="18" charset="0"/>
                              </a:rPr>
                              <m:t>𝑘</m:t>
                            </m:r>
                          </m:e>
                        </m:d>
                      </m:sub>
                    </m:sSub>
                    <m:d>
                      <m:dPr>
                        <m:ctrlPr>
                          <a:rPr lang="en-US" i="1" smtClean="0">
                            <a:latin typeface="Cambria Math"/>
                          </a:rPr>
                        </m:ctrlPr>
                      </m:dPr>
                      <m:e>
                        <m:sSub>
                          <m:sSubPr>
                            <m:ctrlPr>
                              <a:rPr lang="en-US" i="1" smtClean="0">
                                <a:latin typeface="Cambria Math"/>
                              </a:rPr>
                            </m:ctrlPr>
                          </m:sSubPr>
                          <m:e>
                            <m:r>
                              <a:rPr lang="en-US" i="1" smtClean="0">
                                <a:latin typeface="Cambria Math" panose="02040503050406030204" pitchFamily="18" charset="0"/>
                              </a:rPr>
                              <m:t>𝑤</m:t>
                            </m:r>
                          </m:e>
                          <m:sub>
                            <m:r>
                              <a:rPr lang="en-US" i="1" smtClean="0">
                                <a:latin typeface="Cambria Math" panose="02040503050406030204" pitchFamily="18" charset="0"/>
                              </a:rPr>
                              <m:t>𝑡</m:t>
                            </m:r>
                          </m:sub>
                        </m:sSub>
                      </m:e>
                    </m:d>
                    <m:r>
                      <a:rPr lang="en-US" i="1" smtClean="0">
                        <a:latin typeface="Cambria Math" panose="02040503050406030204" pitchFamily="18" charset="0"/>
                      </a:rPr>
                      <m:t>=</m:t>
                    </m:r>
                    <m:sSub>
                      <m:sSubPr>
                        <m:ctrlPr>
                          <a:rPr lang="en-US" i="1" smtClean="0">
                            <a:latin typeface="Cambria Math"/>
                          </a:rPr>
                        </m:ctrlPr>
                      </m:sSubPr>
                      <m:e>
                        <m:r>
                          <a:rPr lang="en-US" i="1" smtClean="0">
                            <a:latin typeface="Cambria Math" panose="02040503050406030204" pitchFamily="18" charset="0"/>
                          </a:rPr>
                          <m:t>𝛼</m:t>
                        </m:r>
                      </m:e>
                      <m:sub>
                        <m:r>
                          <a:rPr lang="en-US" i="1" smtClean="0">
                            <a:latin typeface="Cambria Math" panose="02040503050406030204" pitchFamily="18" charset="0"/>
                          </a:rPr>
                          <m:t>𝑐</m:t>
                        </m:r>
                      </m:sub>
                    </m:sSub>
                  </m:oMath>
                </a14:m>
                <a:endParaRPr lang="en-US" dirty="0" smtClean="0">
                  <a:latin typeface="Cambria Math" panose="02040503050406030204" pitchFamily="18" charset="0"/>
                </a:endParaRPr>
              </a:p>
              <a:p>
                <a:pPr fontAlgn="auto">
                  <a:spcAft>
                    <a:spcPts val="0"/>
                  </a:spcAft>
                </a:pPr>
                <a:endParaRPr lang="en-US" i="1" dirty="0" smtClean="0">
                  <a:latin typeface="Cambria Math" panose="02040503050406030204" pitchFamily="18" charset="0"/>
                </a:endParaRPr>
              </a:p>
              <a:p>
                <a:pPr fontAlgn="auto">
                  <a:spcAft>
                    <a:spcPts val="0"/>
                  </a:spcAft>
                </a:pPr>
                <a14:m>
                  <m:oMath xmlns:m="http://schemas.openxmlformats.org/officeDocument/2006/math">
                    <m:sSub>
                      <m:sSubPr>
                        <m:ctrlPr>
                          <a:rPr lang="en-US" i="1">
                            <a:latin typeface="Cambria Math"/>
                          </a:rPr>
                        </m:ctrlPr>
                      </m:sSubPr>
                      <m:e>
                        <m:r>
                          <a:rPr lang="en-US" i="1">
                            <a:latin typeface="Cambria Math" panose="02040503050406030204" pitchFamily="18" charset="0"/>
                          </a:rPr>
                          <m:t>𝑤</m:t>
                        </m:r>
                      </m:e>
                      <m:sub>
                        <m:r>
                          <a:rPr lang="en-US" i="1">
                            <a:latin typeface="Cambria Math" panose="02040503050406030204" pitchFamily="18" charset="0"/>
                          </a:rPr>
                          <m:t>𝑡</m:t>
                        </m:r>
                      </m:sub>
                    </m:sSub>
                    <m:r>
                      <a:rPr lang="en-US" i="1">
                        <a:latin typeface="Cambria Math" panose="02040503050406030204" pitchFamily="18" charset="0"/>
                      </a:rPr>
                      <m:t>=</m:t>
                    </m:r>
                    <m:sSubSup>
                      <m:sSubSupPr>
                        <m:ctrlPr>
                          <a:rPr lang="en-US" i="1">
                            <a:latin typeface="Cambria Math"/>
                          </a:rPr>
                        </m:ctrlPr>
                      </m:sSubSupPr>
                      <m:e>
                        <m:r>
                          <a:rPr lang="en-US" i="1">
                            <a:latin typeface="Cambria Math" panose="02040503050406030204" pitchFamily="18" charset="0"/>
                          </a:rPr>
                          <m:t>𝐹</m:t>
                        </m:r>
                      </m:e>
                      <m:sub>
                        <m:r>
                          <a:rPr lang="en-US" i="1">
                            <a:latin typeface="Cambria Math" panose="02040503050406030204" pitchFamily="18" charset="0"/>
                          </a:rPr>
                          <m:t>𝑊</m:t>
                        </m:r>
                        <m:d>
                          <m:dPr>
                            <m:ctrlPr>
                              <a:rPr lang="en-US" i="1">
                                <a:latin typeface="Cambria Math"/>
                              </a:rPr>
                            </m:ctrlPr>
                          </m:dPr>
                          <m:e>
                            <m:r>
                              <a:rPr lang="en-US" i="1">
                                <a:latin typeface="Cambria Math" panose="02040503050406030204" pitchFamily="18" charset="0"/>
                              </a:rPr>
                              <m:t>𝑘</m:t>
                            </m:r>
                          </m:e>
                        </m:d>
                      </m:sub>
                      <m:sup>
                        <m:r>
                          <a:rPr lang="en-US" i="1">
                            <a:latin typeface="Cambria Math" panose="02040503050406030204" pitchFamily="18" charset="0"/>
                          </a:rPr>
                          <m:t>−1</m:t>
                        </m:r>
                      </m:sup>
                    </m:sSubSup>
                    <m:d>
                      <m:dPr>
                        <m:ctrlPr>
                          <a:rPr lang="en-US" i="1">
                            <a:latin typeface="Cambria Math"/>
                          </a:rPr>
                        </m:ctrlPr>
                      </m:dPr>
                      <m:e>
                        <m:sSub>
                          <m:sSubPr>
                            <m:ctrlPr>
                              <a:rPr lang="en-US" i="1">
                                <a:latin typeface="Cambria Math"/>
                              </a:rPr>
                            </m:ctrlPr>
                          </m:sSubPr>
                          <m:e>
                            <m:r>
                              <a:rPr lang="en-US" i="1">
                                <a:latin typeface="Cambria Math" panose="02040503050406030204" pitchFamily="18" charset="0"/>
                              </a:rPr>
                              <m:t>𝛼</m:t>
                            </m:r>
                          </m:e>
                          <m:sub>
                            <m:r>
                              <a:rPr lang="en-US" i="1">
                                <a:latin typeface="Cambria Math" panose="02040503050406030204" pitchFamily="18" charset="0"/>
                              </a:rPr>
                              <m:t>𝑃</m:t>
                            </m:r>
                          </m:sub>
                        </m:sSub>
                      </m:e>
                    </m:d>
                    <m:r>
                      <a:rPr lang="en-US" i="1">
                        <a:latin typeface="Cambria Math" panose="02040503050406030204" pitchFamily="18" charset="0"/>
                      </a:rPr>
                      <m:t>=</m:t>
                    </m:r>
                    <m:f>
                      <m:fPr>
                        <m:ctrlPr>
                          <a:rPr lang="en-US" i="1">
                            <a:latin typeface="Cambria Math"/>
                          </a:rPr>
                        </m:ctrlPr>
                      </m:fPr>
                      <m:num>
                        <m:func>
                          <m:funcPr>
                            <m:ctrlPr>
                              <a:rPr lang="en-US" i="1">
                                <a:latin typeface="Cambria Math"/>
                              </a:rPr>
                            </m:ctrlPr>
                          </m:funcPr>
                          <m:fName>
                            <m:r>
                              <m:rPr>
                                <m:sty m:val="p"/>
                              </m:rPr>
                              <a:rPr lang="en-US" i="0">
                                <a:latin typeface="Cambria Math" panose="02040503050406030204" pitchFamily="18" charset="0"/>
                              </a:rPr>
                              <m:t>ln</m:t>
                            </m:r>
                          </m:fName>
                          <m:e>
                            <m:d>
                              <m:dPr>
                                <m:ctrlPr>
                                  <a:rPr lang="en-US" i="1">
                                    <a:latin typeface="Cambria Math"/>
                                  </a:rPr>
                                </m:ctrlPr>
                              </m:dPr>
                              <m:e>
                                <m:f>
                                  <m:fPr>
                                    <m:ctrlPr>
                                      <a:rPr lang="en-US" i="1">
                                        <a:latin typeface="Cambria Math"/>
                                      </a:rPr>
                                    </m:ctrlPr>
                                  </m:fPr>
                                  <m:num>
                                    <m:r>
                                      <a:rPr lang="en-US" i="1">
                                        <a:latin typeface="Cambria Math" panose="02040503050406030204" pitchFamily="18" charset="0"/>
                                      </a:rPr>
                                      <m:t>1</m:t>
                                    </m:r>
                                  </m:num>
                                  <m:den>
                                    <m:r>
                                      <a:rPr lang="en-US" i="1">
                                        <a:latin typeface="Cambria Math" panose="02040503050406030204" pitchFamily="18" charset="0"/>
                                      </a:rPr>
                                      <m:t>1−</m:t>
                                    </m:r>
                                    <m:sSub>
                                      <m:sSubPr>
                                        <m:ctrlPr>
                                          <a:rPr lang="en-US" i="1">
                                            <a:latin typeface="Cambria Math"/>
                                          </a:rPr>
                                        </m:ctrlPr>
                                      </m:sSubPr>
                                      <m:e>
                                        <m:r>
                                          <a:rPr lang="en-US" i="1">
                                            <a:latin typeface="Cambria Math" panose="02040503050406030204" pitchFamily="18" charset="0"/>
                                          </a:rPr>
                                          <m:t>𝛼</m:t>
                                        </m:r>
                                      </m:e>
                                      <m:sub>
                                        <m:r>
                                          <a:rPr lang="en-US" b="0" i="1" smtClean="0">
                                            <a:latin typeface="Cambria Math" panose="02040503050406030204" pitchFamily="18" charset="0"/>
                                          </a:rPr>
                                          <m:t>𝑐</m:t>
                                        </m:r>
                                      </m:sub>
                                    </m:sSub>
                                  </m:den>
                                </m:f>
                              </m:e>
                            </m:d>
                          </m:e>
                        </m:func>
                      </m:num>
                      <m:den>
                        <m:sSub>
                          <m:sSubPr>
                            <m:ctrlPr>
                              <a:rPr lang="en-US" i="1">
                                <a:latin typeface="Cambria Math"/>
                              </a:rPr>
                            </m:ctrlPr>
                          </m:sSubPr>
                          <m:e>
                            <m:r>
                              <a:rPr lang="en-US" i="1">
                                <a:latin typeface="Cambria Math" panose="02040503050406030204" pitchFamily="18" charset="0"/>
                              </a:rPr>
                              <m:t>𝜇</m:t>
                            </m:r>
                          </m:e>
                          <m:sub>
                            <m:r>
                              <a:rPr lang="en-US" i="1">
                                <a:latin typeface="Cambria Math" panose="02040503050406030204" pitchFamily="18" charset="0"/>
                              </a:rPr>
                              <m:t>h</m:t>
                            </m:r>
                          </m:sub>
                        </m:sSub>
                        <m:d>
                          <m:dPr>
                            <m:ctrlPr>
                              <a:rPr lang="en-US" i="1">
                                <a:latin typeface="Cambria Math"/>
                              </a:rPr>
                            </m:ctrlPr>
                          </m:dPr>
                          <m:e>
                            <m:r>
                              <a:rPr lang="en-US" i="1">
                                <a:latin typeface="Cambria Math" panose="02040503050406030204" pitchFamily="18" charset="0"/>
                              </a:rPr>
                              <m:t>1−</m:t>
                            </m:r>
                            <m:r>
                              <a:rPr lang="en-US" b="0" i="1" smtClean="0">
                                <a:latin typeface="Cambria Math" panose="02040503050406030204" pitchFamily="18" charset="0"/>
                              </a:rPr>
                              <m:t>𝑘</m:t>
                            </m:r>
                          </m:e>
                        </m:d>
                      </m:den>
                    </m:f>
                  </m:oMath>
                </a14:m>
                <a:endParaRPr lang="en-US" i="1" dirty="0" smtClean="0">
                  <a:latin typeface="Cambria Math" panose="02040503050406030204" pitchFamily="18" charset="0"/>
                </a:endParaRPr>
              </a:p>
              <a:p>
                <a:pPr fontAlgn="auto">
                  <a:spcAft>
                    <a:spcPts val="0"/>
                  </a:spcAft>
                </a:pPr>
                <a:r>
                  <a:rPr lang="en-US" dirty="0" smtClean="0">
                    <a:latin typeface="Cambria Math" panose="02040503050406030204" pitchFamily="18" charset="0"/>
                  </a:rPr>
                  <a:t>Proof:</a:t>
                </a:r>
              </a:p>
              <a:p>
                <a:pPr lvl="1" fontAlgn="auto">
                  <a:spcAft>
                    <a:spcPts val="0"/>
                  </a:spcAft>
                </a:pPr>
                <a14:m>
                  <m:oMath xmlns:m="http://schemas.openxmlformats.org/officeDocument/2006/math">
                    <m:sSub>
                      <m:sSubPr>
                        <m:ctrlPr>
                          <a:rPr lang="en-US" i="1">
                            <a:latin typeface="Cambria Math"/>
                          </a:rPr>
                        </m:ctrlPr>
                      </m:sSubPr>
                      <m:e>
                        <m:r>
                          <a:rPr lang="en-US" i="1">
                            <a:latin typeface="Cambria Math" panose="02040503050406030204" pitchFamily="18" charset="0"/>
                          </a:rPr>
                          <m:t>𝐹</m:t>
                        </m:r>
                      </m:e>
                      <m:sub>
                        <m:r>
                          <a:rPr lang="en-US" i="1">
                            <a:latin typeface="Cambria Math" panose="02040503050406030204" pitchFamily="18" charset="0"/>
                          </a:rPr>
                          <m:t>𝑊</m:t>
                        </m:r>
                        <m:d>
                          <m:dPr>
                            <m:ctrlPr>
                              <a:rPr lang="en-US" i="1">
                                <a:latin typeface="Cambria Math"/>
                              </a:rPr>
                            </m:ctrlPr>
                          </m:dPr>
                          <m:e>
                            <m:r>
                              <a:rPr lang="en-US" i="1">
                                <a:latin typeface="Cambria Math" panose="02040503050406030204" pitchFamily="18" charset="0"/>
                              </a:rPr>
                              <m:t>𝑘</m:t>
                            </m:r>
                          </m:e>
                        </m:d>
                      </m:sub>
                    </m:sSub>
                    <m:d>
                      <m:dPr>
                        <m:ctrlPr>
                          <a:rPr lang="en-US" i="1">
                            <a:latin typeface="Cambria Math"/>
                          </a:rPr>
                        </m:ctrlPr>
                      </m:dPr>
                      <m:e>
                        <m:sSub>
                          <m:sSubPr>
                            <m:ctrlPr>
                              <a:rPr lang="en-US" i="1">
                                <a:latin typeface="Cambria Math"/>
                              </a:rPr>
                            </m:ctrlPr>
                          </m:sSubPr>
                          <m:e>
                            <m:r>
                              <a:rPr lang="en-US" i="1">
                                <a:latin typeface="Cambria Math" panose="02040503050406030204" pitchFamily="18" charset="0"/>
                              </a:rPr>
                              <m:t>𝑤</m:t>
                            </m:r>
                          </m:e>
                          <m:sub>
                            <m:r>
                              <a:rPr lang="en-US" i="1">
                                <a:latin typeface="Cambria Math" panose="02040503050406030204" pitchFamily="18" charset="0"/>
                              </a:rPr>
                              <m:t>𝑡</m:t>
                            </m:r>
                          </m:sub>
                        </m:sSub>
                      </m:e>
                    </m:d>
                    <m:r>
                      <a:rPr lang="en-US" b="0" i="1" smtClean="0">
                        <a:latin typeface="Cambria Math" panose="02040503050406030204" pitchFamily="18" charset="0"/>
                      </a:rPr>
                      <m:t>=1−</m:t>
                    </m:r>
                    <m:func>
                      <m:funcPr>
                        <m:ctrlPr>
                          <a:rPr lang="en-US" b="0" i="1" smtClean="0">
                            <a:latin typeface="Cambria Math"/>
                          </a:rPr>
                        </m:ctrlPr>
                      </m:funcPr>
                      <m:fName>
                        <m:r>
                          <m:rPr>
                            <m:sty m:val="p"/>
                          </m:rPr>
                          <a:rPr lang="en-US" b="0" i="0" smtClean="0">
                            <a:latin typeface="Cambria Math" panose="02040503050406030204" pitchFamily="18" charset="0"/>
                          </a:rPr>
                          <m:t>exp</m:t>
                        </m:r>
                      </m:fName>
                      <m:e>
                        <m:d>
                          <m:dPr>
                            <m:ctrlPr>
                              <a:rPr lang="en-US" b="0" i="1" smtClean="0">
                                <a:latin typeface="Cambria Math"/>
                              </a:rPr>
                            </m:ctrlPr>
                          </m:dPr>
                          <m:e>
                            <m:r>
                              <a:rPr lang="en-US" b="0" i="1" smtClean="0">
                                <a:latin typeface="Cambria Math" panose="02040503050406030204" pitchFamily="18" charset="0"/>
                              </a:rPr>
                              <m:t>−</m:t>
                            </m:r>
                            <m:sSub>
                              <m:sSubPr>
                                <m:ctrlPr>
                                  <a:rPr lang="en-US" b="0" i="1" smtClean="0">
                                    <a:latin typeface="Cambria Math"/>
                                  </a:rPr>
                                </m:ctrlPr>
                              </m:sSubPr>
                              <m:e>
                                <m:r>
                                  <a:rPr lang="en-US" b="0" i="1" smtClean="0">
                                    <a:latin typeface="Cambria Math" panose="02040503050406030204" pitchFamily="18" charset="0"/>
                                  </a:rPr>
                                  <m:t>𝜇</m:t>
                                </m:r>
                              </m:e>
                              <m:sub>
                                <m:r>
                                  <a:rPr lang="en-US" b="0" i="1" smtClean="0">
                                    <a:latin typeface="Cambria Math" panose="02040503050406030204" pitchFamily="18" charset="0"/>
                                  </a:rPr>
                                  <m:t>𝑎</m:t>
                                </m:r>
                              </m:sub>
                            </m:sSub>
                            <m:sSub>
                              <m:sSubPr>
                                <m:ctrlPr>
                                  <a:rPr lang="en-US" b="0" i="1" smtClean="0">
                                    <a:latin typeface="Cambria Math"/>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𝑡</m:t>
                                </m:r>
                              </m:sub>
                            </m:sSub>
                          </m:e>
                        </m:d>
                      </m:e>
                    </m:func>
                    <m:r>
                      <a:rPr lang="en-US" b="0" i="1" smtClean="0">
                        <a:latin typeface="Cambria Math" panose="02040503050406030204" pitchFamily="18" charset="0"/>
                      </a:rPr>
                      <m:t>=</m:t>
                    </m:r>
                    <m:sSub>
                      <m:sSubPr>
                        <m:ctrlPr>
                          <a:rPr lang="en-US" b="0" i="1" smtClean="0">
                            <a:latin typeface="Cambria Math"/>
                          </a:rPr>
                        </m:ctrlPr>
                      </m:sSubPr>
                      <m:e>
                        <m:r>
                          <a:rPr lang="en-US" b="0" i="1" smtClean="0">
                            <a:latin typeface="Cambria Math" panose="02040503050406030204" pitchFamily="18" charset="0"/>
                          </a:rPr>
                          <m:t>𝛼</m:t>
                        </m:r>
                      </m:e>
                      <m:sub>
                        <m:r>
                          <a:rPr lang="en-US" b="0" i="1" smtClean="0">
                            <a:latin typeface="Cambria Math" panose="02040503050406030204" pitchFamily="18" charset="0"/>
                          </a:rPr>
                          <m:t>𝑐</m:t>
                        </m:r>
                      </m:sub>
                    </m:sSub>
                    <m:r>
                      <a:rPr lang="en-US" b="0" i="1" smtClean="0">
                        <a:latin typeface="Cambria Math" panose="02040503050406030204" pitchFamily="18" charset="0"/>
                      </a:rPr>
                      <m:t>⇒</m:t>
                    </m:r>
                    <m:func>
                      <m:funcPr>
                        <m:ctrlPr>
                          <a:rPr lang="en-US" b="0" i="1" smtClean="0">
                            <a:latin typeface="Cambria Math"/>
                          </a:rPr>
                        </m:ctrlPr>
                      </m:funcPr>
                      <m:fName>
                        <m:r>
                          <m:rPr>
                            <m:sty m:val="p"/>
                          </m:rPr>
                          <a:rPr lang="en-US" b="0" i="0" smtClean="0">
                            <a:latin typeface="Cambria Math" panose="02040503050406030204" pitchFamily="18" charset="0"/>
                          </a:rPr>
                          <m:t>ln</m:t>
                        </m:r>
                      </m:fName>
                      <m:e>
                        <m:d>
                          <m:dPr>
                            <m:ctrlPr>
                              <a:rPr lang="en-US" b="0" i="1" smtClean="0">
                                <a:latin typeface="Cambria Math"/>
                              </a:rPr>
                            </m:ctrlPr>
                          </m:dPr>
                          <m:e>
                            <m:r>
                              <a:rPr lang="en-US" b="0" i="1" smtClean="0">
                                <a:latin typeface="Cambria Math" panose="02040503050406030204" pitchFamily="18" charset="0"/>
                              </a:rPr>
                              <m:t>1−</m:t>
                            </m:r>
                            <m:sSub>
                              <m:sSubPr>
                                <m:ctrlPr>
                                  <a:rPr lang="en-US" b="0" i="1" smtClean="0">
                                    <a:latin typeface="Cambria Math"/>
                                  </a:rPr>
                                </m:ctrlPr>
                              </m:sSubPr>
                              <m:e>
                                <m:r>
                                  <a:rPr lang="en-US" b="0" i="1" smtClean="0">
                                    <a:latin typeface="Cambria Math" panose="02040503050406030204" pitchFamily="18" charset="0"/>
                                  </a:rPr>
                                  <m:t>𝛼</m:t>
                                </m:r>
                              </m:e>
                              <m:sub>
                                <m:r>
                                  <a:rPr lang="en-US" b="0" i="1" smtClean="0">
                                    <a:latin typeface="Cambria Math" panose="02040503050406030204" pitchFamily="18" charset="0"/>
                                  </a:rPr>
                                  <m:t>𝑐</m:t>
                                </m:r>
                              </m:sub>
                            </m:sSub>
                          </m:e>
                        </m:d>
                        <m:r>
                          <a:rPr lang="en-US" b="0" i="1" smtClean="0">
                            <a:latin typeface="Cambria Math" panose="02040503050406030204" pitchFamily="18" charset="0"/>
                          </a:rPr>
                          <m:t>=−</m:t>
                        </m:r>
                        <m:sSub>
                          <m:sSubPr>
                            <m:ctrlPr>
                              <a:rPr lang="en-US" b="0" i="1" smtClean="0">
                                <a:latin typeface="Cambria Math"/>
                              </a:rPr>
                            </m:ctrlPr>
                          </m:sSubPr>
                          <m:e>
                            <m:r>
                              <a:rPr lang="en-US" b="0" i="1" smtClean="0">
                                <a:latin typeface="Cambria Math" panose="02040503050406030204" pitchFamily="18" charset="0"/>
                              </a:rPr>
                              <m:t>𝜇</m:t>
                            </m:r>
                          </m:e>
                          <m:sub>
                            <m:r>
                              <a:rPr lang="en-US" b="0" i="1" smtClean="0">
                                <a:latin typeface="Cambria Math" panose="02040503050406030204" pitchFamily="18" charset="0"/>
                              </a:rPr>
                              <m:t>𝑎</m:t>
                            </m:r>
                          </m:sub>
                        </m:sSub>
                      </m:e>
                    </m:func>
                    <m:sSub>
                      <m:sSubPr>
                        <m:ctrlPr>
                          <a:rPr lang="en-US" b="0" i="1" smtClean="0">
                            <a:latin typeface="Cambria Math"/>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𝑡</m:t>
                        </m:r>
                      </m:sub>
                    </m:sSub>
                    <m:r>
                      <a:rPr lang="en-US" b="0" i="1" smtClean="0">
                        <a:latin typeface="Cambria Math" panose="02040503050406030204" pitchFamily="18" charset="0"/>
                      </a:rPr>
                      <m:t>⇒ </m:t>
                    </m:r>
                  </m:oMath>
                </a14:m>
                <a:endParaRPr lang="en-US" b="0" dirty="0" smtClean="0">
                  <a:latin typeface="Cambria Math" panose="02040503050406030204" pitchFamily="18" charset="0"/>
                </a:endParaRPr>
              </a:p>
              <a:p>
                <a:pPr lvl="1" fontAlgn="auto">
                  <a:spcAft>
                    <a:spcPts val="0"/>
                  </a:spcAft>
                </a:pPr>
                <a14:m>
                  <m:oMath xmlns:m="http://schemas.openxmlformats.org/officeDocument/2006/math">
                    <m:sSub>
                      <m:sSubPr>
                        <m:ctrlPr>
                          <a:rPr lang="en-US" b="0" i="1" smtClean="0">
                            <a:latin typeface="Cambria Math"/>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𝑡</m:t>
                        </m:r>
                      </m:sub>
                    </m:sSub>
                    <m:r>
                      <a:rPr lang="en-US" b="0" i="1" smtClean="0">
                        <a:latin typeface="Cambria Math" panose="02040503050406030204" pitchFamily="18" charset="0"/>
                      </a:rPr>
                      <m:t>=</m:t>
                    </m:r>
                    <m:f>
                      <m:fPr>
                        <m:ctrlPr>
                          <a:rPr lang="en-US" b="0" i="1" smtClean="0">
                            <a:latin typeface="Cambria Math"/>
                          </a:rPr>
                        </m:ctrlPr>
                      </m:fPr>
                      <m:num>
                        <m:func>
                          <m:funcPr>
                            <m:ctrlPr>
                              <a:rPr lang="en-US" b="0" i="1" smtClean="0">
                                <a:latin typeface="Cambria Math"/>
                              </a:rPr>
                            </m:ctrlPr>
                          </m:funcPr>
                          <m:fName>
                            <m:r>
                              <m:rPr>
                                <m:sty m:val="p"/>
                              </m:rPr>
                              <a:rPr lang="en-US" b="0" i="0" smtClean="0">
                                <a:latin typeface="Cambria Math" panose="02040503050406030204" pitchFamily="18" charset="0"/>
                              </a:rPr>
                              <m:t>ln</m:t>
                            </m:r>
                          </m:fName>
                          <m:e>
                            <m:d>
                              <m:dPr>
                                <m:ctrlPr>
                                  <a:rPr lang="en-US" b="0" i="1" smtClean="0">
                                    <a:latin typeface="Cambria Math"/>
                                  </a:rPr>
                                </m:ctrlPr>
                              </m:dPr>
                              <m:e>
                                <m:f>
                                  <m:fPr>
                                    <m:ctrlPr>
                                      <a:rPr lang="en-US" b="0" i="1" smtClean="0">
                                        <a:latin typeface="Cambria Math"/>
                                      </a:rPr>
                                    </m:ctrlPr>
                                  </m:fPr>
                                  <m:num>
                                    <m:r>
                                      <a:rPr lang="en-US" b="0" i="1" smtClean="0">
                                        <a:latin typeface="Cambria Math" panose="02040503050406030204" pitchFamily="18" charset="0"/>
                                      </a:rPr>
                                      <m:t>1</m:t>
                                    </m:r>
                                  </m:num>
                                  <m:den>
                                    <m:r>
                                      <a:rPr lang="en-US" b="0" i="1" smtClean="0">
                                        <a:latin typeface="Cambria Math" panose="02040503050406030204" pitchFamily="18" charset="0"/>
                                      </a:rPr>
                                      <m:t>1−</m:t>
                                    </m:r>
                                    <m:sSub>
                                      <m:sSubPr>
                                        <m:ctrlPr>
                                          <a:rPr lang="en-US" b="0" i="1" smtClean="0">
                                            <a:latin typeface="Cambria Math"/>
                                          </a:rPr>
                                        </m:ctrlPr>
                                      </m:sSubPr>
                                      <m:e>
                                        <m:r>
                                          <a:rPr lang="en-US" b="0" i="1" smtClean="0">
                                            <a:latin typeface="Cambria Math" panose="02040503050406030204" pitchFamily="18" charset="0"/>
                                          </a:rPr>
                                          <m:t>𝛼</m:t>
                                        </m:r>
                                      </m:e>
                                      <m:sub>
                                        <m:r>
                                          <a:rPr lang="en-US" b="0" i="1" smtClean="0">
                                            <a:latin typeface="Cambria Math" panose="02040503050406030204" pitchFamily="18" charset="0"/>
                                          </a:rPr>
                                          <m:t>𝑐</m:t>
                                        </m:r>
                                      </m:sub>
                                    </m:sSub>
                                  </m:den>
                                </m:f>
                              </m:e>
                            </m:d>
                          </m:e>
                        </m:func>
                      </m:num>
                      <m:den>
                        <m:sSub>
                          <m:sSubPr>
                            <m:ctrlPr>
                              <a:rPr lang="en-US" b="0" i="1" smtClean="0">
                                <a:latin typeface="Cambria Math"/>
                              </a:rPr>
                            </m:ctrlPr>
                          </m:sSubPr>
                          <m:e>
                            <m:r>
                              <a:rPr lang="en-US" b="0" i="1" smtClean="0">
                                <a:latin typeface="Cambria Math" panose="02040503050406030204" pitchFamily="18" charset="0"/>
                              </a:rPr>
                              <m:t>𝜇</m:t>
                            </m:r>
                          </m:e>
                          <m:sub>
                            <m:r>
                              <a:rPr lang="en-US" b="0" i="1" smtClean="0">
                                <a:latin typeface="Cambria Math" panose="02040503050406030204" pitchFamily="18" charset="0"/>
                              </a:rPr>
                              <m:t>𝑎</m:t>
                            </m:r>
                          </m:sub>
                        </m:sSub>
                      </m:den>
                    </m:f>
                  </m:oMath>
                </a14:m>
                <a:endParaRPr lang="en-US" dirty="0">
                  <a:latin typeface="Cambria Math" panose="02040503050406030204" pitchFamily="18" charset="0"/>
                </a:endParaRPr>
              </a:p>
            </p:txBody>
          </p:sp>
        </mc:Choice>
        <mc:Fallback xmlns="">
          <p:sp>
            <p:nvSpPr>
              <p:cNvPr id="3" name="Text Placeholder 2"/>
              <p:cNvSpPr txBox="1">
                <a:spLocks noRot="1" noChangeAspect="1" noMove="1" noResize="1" noEditPoints="1" noAdjustHandles="1" noChangeArrowheads="1" noChangeShapeType="1" noTextEdit="1"/>
              </p:cNvSpPr>
              <p:nvPr/>
            </p:nvSpPr>
            <p:spPr>
              <a:xfrm>
                <a:off x="313508" y="422673"/>
                <a:ext cx="7731941" cy="3713898"/>
              </a:xfrm>
              <a:prstGeom prst="rect">
                <a:avLst/>
              </a:prstGeom>
              <a:blipFill rotWithShape="0">
                <a:blip r:embed="rId2"/>
                <a:stretch>
                  <a:fillRect l="-788" t="-1967"/>
                </a:stretch>
              </a:blipFill>
            </p:spPr>
            <p:txBody>
              <a:bodyPr/>
              <a:lstStyle/>
              <a:p>
                <a:r>
                  <a:rPr lang="en-US">
                    <a:noFill/>
                  </a:rPr>
                  <a:t> </a:t>
                </a:r>
              </a:p>
            </p:txBody>
          </p:sp>
        </mc:Fallback>
      </mc:AlternateContent>
    </p:spTree>
    <p:extLst>
      <p:ext uri="{BB962C8B-B14F-4D97-AF65-F5344CB8AC3E}">
        <p14:creationId xmlns:p14="http://schemas.microsoft.com/office/powerpoint/2010/main" val="23419228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SMU">
  <a:themeElements>
    <a:clrScheme name="SMU May 2018">
      <a:dk1>
        <a:sysClr val="windowText" lastClr="000000"/>
      </a:dk1>
      <a:lt1>
        <a:sysClr val="window" lastClr="FFFFFF"/>
      </a:lt1>
      <a:dk2>
        <a:srgbClr val="0076D8"/>
      </a:dk2>
      <a:lt2>
        <a:srgbClr val="CDCFCE"/>
      </a:lt2>
      <a:accent1>
        <a:srgbClr val="354C97"/>
      </a:accent1>
      <a:accent2>
        <a:srgbClr val="860000"/>
      </a:accent2>
      <a:accent3>
        <a:srgbClr val="E2D8B9"/>
      </a:accent3>
      <a:accent4>
        <a:srgbClr val="EFB615"/>
      </a:accent4>
      <a:accent5>
        <a:srgbClr val="457E28"/>
      </a:accent5>
      <a:accent6>
        <a:srgbClr val="66695B"/>
      </a:accent6>
      <a:hlink>
        <a:srgbClr val="219BFF"/>
      </a:hlink>
      <a:folHlink>
        <a:srgbClr val="CC0000"/>
      </a:folHlink>
    </a:clrScheme>
    <a:fontScheme name="P-T 2018">
      <a:majorFont>
        <a:latin typeface="Palatino Linotype"/>
        <a:ea typeface=""/>
        <a:cs typeface=""/>
      </a:majorFont>
      <a:minorFont>
        <a:latin typeface="Trebuchet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UniversityTemplate_07.18.18-Blue.pptx" id="{7B2840EA-E972-41B9-AE29-FC969668025C}" vid="{483B4268-7FCC-40BF-996C-1D7489B8C48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AF7EA714CC39040883754BC4B32E8BA" ma:contentTypeVersion="0" ma:contentTypeDescription="Create a new document." ma:contentTypeScope="" ma:versionID="82fca3889656e9b49c3f85370df20451">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9C28EF2-5F72-4F36-9FAB-E29A52179F4E}">
  <ds:schemaRefs>
    <ds:schemaRef ds:uri="http://schemas.microsoft.com/sharepoint/v3/contenttype/forms"/>
  </ds:schemaRefs>
</ds:datastoreItem>
</file>

<file path=customXml/itemProps2.xml><?xml version="1.0" encoding="utf-8"?>
<ds:datastoreItem xmlns:ds="http://schemas.openxmlformats.org/officeDocument/2006/customXml" ds:itemID="{64E5588E-D5D4-4A9C-9FD2-3305314A5BF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7F30D25C-2B8C-4E8E-A3EA-861E33399DB6}">
  <ds:schemaRefs>
    <ds:schemaRef ds:uri="http://purl.org/dc/terms/"/>
    <ds:schemaRef ds:uri="http://www.w3.org/XML/1998/namespace"/>
    <ds:schemaRef ds:uri="http://purl.org/dc/dcmitype/"/>
    <ds:schemaRef ds:uri="http://schemas.microsoft.com/office/2006/documentManagement/types"/>
    <ds:schemaRef ds:uri="http://schemas.openxmlformats.org/package/2006/metadata/core-properties"/>
    <ds:schemaRef ds:uri="http://schemas.microsoft.com/office/infopath/2007/PartnerControls"/>
    <ds:schemaRef ds:uri="http://purl.org/dc/elements/1.1/"/>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SMU</Template>
  <TotalTime>49403</TotalTime>
  <Words>7442</Words>
  <Application>Microsoft Office PowerPoint</Application>
  <PresentationFormat>On-screen Show (16:9)</PresentationFormat>
  <Paragraphs>1019</Paragraphs>
  <Slides>33</Slides>
  <Notes>23</Notes>
  <HiddenSlides>9</HiddenSlides>
  <MMClips>0</MMClip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SMU</vt:lpstr>
      <vt:lpstr>The Impact of Information Sharing on Organ Transplantation:  A Simulation Model  </vt:lpstr>
      <vt:lpstr>Motivation</vt:lpstr>
      <vt:lpstr>PowerPoint Presentation</vt:lpstr>
      <vt:lpstr>PowerPoint Presentation</vt:lpstr>
      <vt:lpstr>PowerPoint Presentation</vt:lpstr>
      <vt:lpstr>Literature Review</vt:lpstr>
      <vt:lpstr>Method and Questions</vt:lpstr>
      <vt:lpstr>PowerPoint Presentation</vt:lpstr>
      <vt:lpstr>Method and Questions</vt:lpstr>
      <vt:lpstr>PowerPoint Presentation</vt:lpstr>
      <vt:lpstr>PowerPoint Presentation</vt:lpstr>
      <vt:lpstr>Optimal Kidney Acceptance Threshold by Region </vt:lpstr>
      <vt:lpstr>Method and Questions</vt:lpstr>
      <vt:lpstr>Optimal Decision Without Constraints </vt:lpstr>
      <vt:lpstr>PowerPoint Presentation</vt:lpstr>
      <vt:lpstr>PowerPoint Presentation</vt:lpstr>
      <vt:lpstr>PowerPoint Presentation</vt:lpstr>
      <vt:lpstr>PowerPoint Presentation</vt:lpstr>
      <vt:lpstr>Method and Questions</vt:lpstr>
      <vt:lpstr>PowerPoint Presentation</vt:lpstr>
      <vt:lpstr>PowerPoint Presentation</vt:lpstr>
      <vt:lpstr>PowerPoint Presentation</vt:lpstr>
      <vt:lpstr>PowerPoint Presentation</vt:lpstr>
      <vt:lpstr> Concluding Remarks</vt:lpstr>
      <vt:lpstr>PowerPoint Presentation</vt:lpstr>
      <vt:lpstr>Kidney Transplant and Waitlist Mortality Rates Improvement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Southern Methodist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Snow, Andrew</dc:creator>
  <cp:lastModifiedBy>Michael</cp:lastModifiedBy>
  <cp:revision>2227</cp:revision>
  <cp:lastPrinted>2018-04-30T01:29:17Z</cp:lastPrinted>
  <dcterms:created xsi:type="dcterms:W3CDTF">2013-05-07T11:43:08Z</dcterms:created>
  <dcterms:modified xsi:type="dcterms:W3CDTF">2018-11-04T20:28:49Z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0x0101005AF7EA714CC39040883754BC4B32E8BA</vt:lpwstr>
  </property>
</Properties>
</file>